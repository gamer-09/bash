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48"/>
  </p:notesMasterIdLst>
  <p:sldIdLst>
    <p:sldId id="256" r:id="rId3"/>
    <p:sldId id="257" r:id="rId4"/>
    <p:sldId id="262" r:id="rId5"/>
    <p:sldId id="292" r:id="rId6"/>
    <p:sldId id="293" r:id="rId7"/>
    <p:sldId id="264" r:id="rId8"/>
    <p:sldId id="268" r:id="rId9"/>
    <p:sldId id="322" r:id="rId10"/>
    <p:sldId id="258" r:id="rId11"/>
    <p:sldId id="274" r:id="rId12"/>
    <p:sldId id="294" r:id="rId13"/>
    <p:sldId id="295" r:id="rId14"/>
    <p:sldId id="296" r:id="rId15"/>
    <p:sldId id="297" r:id="rId16"/>
    <p:sldId id="298" r:id="rId17"/>
    <p:sldId id="299" r:id="rId18"/>
    <p:sldId id="300" r:id="rId19"/>
    <p:sldId id="301" r:id="rId20"/>
    <p:sldId id="302" r:id="rId21"/>
    <p:sldId id="303" r:id="rId22"/>
    <p:sldId id="304" r:id="rId23"/>
    <p:sldId id="305" r:id="rId24"/>
    <p:sldId id="306" r:id="rId25"/>
    <p:sldId id="307" r:id="rId26"/>
    <p:sldId id="308" r:id="rId27"/>
    <p:sldId id="309" r:id="rId28"/>
    <p:sldId id="276" r:id="rId29"/>
    <p:sldId id="310" r:id="rId30"/>
    <p:sldId id="311" r:id="rId31"/>
    <p:sldId id="259" r:id="rId32"/>
    <p:sldId id="319" r:id="rId33"/>
    <p:sldId id="321" r:id="rId34"/>
    <p:sldId id="320" r:id="rId35"/>
    <p:sldId id="277" r:id="rId36"/>
    <p:sldId id="312" r:id="rId37"/>
    <p:sldId id="313" r:id="rId38"/>
    <p:sldId id="285" r:id="rId39"/>
    <p:sldId id="286" r:id="rId40"/>
    <p:sldId id="314" r:id="rId41"/>
    <p:sldId id="315" r:id="rId42"/>
    <p:sldId id="291" r:id="rId43"/>
    <p:sldId id="289" r:id="rId44"/>
    <p:sldId id="290" r:id="rId45"/>
    <p:sldId id="316" r:id="rId46"/>
    <p:sldId id="317" r:id="rId47"/>
  </p:sldIdLst>
  <p:sldSz cx="9144000" cy="5143500" type="screen16x9"/>
  <p:notesSz cx="6858000" cy="9144000"/>
  <p:embeddedFontLst>
    <p:embeddedFont>
      <p:font typeface="Calibri" panose="020F0502020204030204" pitchFamily="34" charset="0"/>
      <p:regular r:id="rId49"/>
      <p:bold r:id="rId50"/>
      <p:italic r:id="rId51"/>
      <p:boldItalic r:id="rId52"/>
    </p:embeddedFont>
    <p:embeddedFont>
      <p:font typeface="Cambria Math" panose="02040503050406030204" pitchFamily="18" charset="0"/>
      <p:regular r:id="rId53"/>
    </p:embeddedFont>
    <p:embeddedFont>
      <p:font typeface="Roboto" panose="02000000000000000000" pitchFamily="2" charset="0"/>
      <p:regular r:id="rId54"/>
      <p:bold r:id="rId55"/>
      <p:italic r:id="rId56"/>
      <p:boldItalic r:id="rId57"/>
    </p:embeddedFont>
    <p:embeddedFont>
      <p:font typeface="Roboto Condensed" panose="02000000000000000000" pitchFamily="2" charset="0"/>
      <p:regular r:id="rId58"/>
      <p:bold r:id="rId59"/>
      <p:italic r:id="rId60"/>
      <p:boldItalic r:id="rId6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alha Naveed" initials="TN" lastIdx="1" clrIdx="0">
    <p:extLst>
      <p:ext uri="{19B8F6BF-5375-455C-9EA6-DF929625EA0E}">
        <p15:presenceInfo xmlns:p15="http://schemas.microsoft.com/office/powerpoint/2012/main" userId="S::Talha.0967666@talmeez.pk::7e7d7d2b-7ed0-4599-9d1e-381a7fec925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AE60"/>
    <a:srgbClr val="000000"/>
    <a:srgbClr val="84F3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06" autoAdjust="0"/>
    <p:restoredTop sz="94694"/>
  </p:normalViewPr>
  <p:slideViewPr>
    <p:cSldViewPr snapToGrid="0">
      <p:cViewPr varScale="1">
        <p:scale>
          <a:sx n="85" d="100"/>
          <a:sy n="85" d="100"/>
        </p:scale>
        <p:origin x="918" y="7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font" Target="fonts/font2.fntdata"/><Relationship Id="rId55" Type="http://schemas.openxmlformats.org/officeDocument/2006/relationships/font" Target="fonts/font7.fntdata"/><Relationship Id="rId63"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font" Target="fonts/font6.fntdata"/><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5.fntdata"/><Relationship Id="rId58" Type="http://schemas.openxmlformats.org/officeDocument/2006/relationships/font" Target="fonts/font10.fntdata"/><Relationship Id="rId66"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1.fntdata"/><Relationship Id="rId57" Type="http://schemas.openxmlformats.org/officeDocument/2006/relationships/font" Target="fonts/font9.fntdata"/><Relationship Id="rId61" Type="http://schemas.openxmlformats.org/officeDocument/2006/relationships/font" Target="fonts/font13.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font" Target="fonts/font4.fntdata"/><Relationship Id="rId60" Type="http://schemas.openxmlformats.org/officeDocument/2006/relationships/font" Target="fonts/font12.fntdata"/><Relationship Id="rId65"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56" Type="http://schemas.openxmlformats.org/officeDocument/2006/relationships/font" Target="fonts/font8.fntdata"/><Relationship Id="rId64"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font" Target="fonts/font3.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70444289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94e51d7b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94e51d7b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919609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71392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2980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6" name="Google Shape;136;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650986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6" name="Google Shape;136;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188828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07982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9046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046543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538502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082526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1" name="Google Shape;191;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 name="Google Shape;198;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4" name="Google Shape;244;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1" name="Google Shape;251;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8" name="Google Shape;258;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8" name="Google Shape;258;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736600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7" name="Google Shape;267;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4" name="Google Shape;274;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1" name="Google Shape;281;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1" name="Google Shape;281;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295049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1" name="Google Shape;281;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632535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4" name="Google Shape;244;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82066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4" name="Google Shape;244;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252199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4" name="Google Shape;244;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014111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8" name="Google Shape;308;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8" name="Google Shape;308;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792963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142641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1" name="Google Shape;321;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8" name="Google Shape;328;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62347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59022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176198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5753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57076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5" name="Google Shape;335;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5" name="Google Shape;335;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560668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7" name="Google Shape;347;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6" name="Google Shape;356;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6" name="Google Shape;356;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031960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6" name="Google Shape;356;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2019731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5" name="Google Shape;375;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2" name="Google Shape;382;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5" name="Google Shape;375;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2914824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2" name="Google Shape;382;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990000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p:nvPr/>
        </p:nvSpPr>
        <p:spPr>
          <a:xfrm flipH="1">
            <a:off x="8246400" y="4245925"/>
            <a:ext cx="897600" cy="8976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4"/>
          <p:cNvSpPr/>
          <p:nvPr/>
        </p:nvSpPr>
        <p:spPr>
          <a:xfrm flipH="1">
            <a:off x="8246400" y="4245875"/>
            <a:ext cx="897600" cy="897600"/>
          </a:xfrm>
          <a:prstGeom prst="round1Rect">
            <a:avLst>
              <a:gd name="adj" fmla="val 16667"/>
            </a:avLst>
          </a:prstGeom>
          <a:solidFill>
            <a:schemeClr val="lt1">
              <a:alpha val="680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4"/>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58" name="Google Shape;58;p14"/>
          <p:cNvSpPr txBox="1">
            <a:spLocks noGrp="1"/>
          </p:cNvSpPr>
          <p:nvPr>
            <p:ph type="subTitle" idx="1"/>
          </p:nvPr>
        </p:nvSpPr>
        <p:spPr>
          <a:xfrm>
            <a:off x="390525" y="2789130"/>
            <a:ext cx="8222100" cy="432900"/>
          </a:xfrm>
          <a:prstGeom prst="rect">
            <a:avLst/>
          </a:prstGeom>
        </p:spPr>
        <p:txBody>
          <a:bodyPr spcFirstLastPara="1" wrap="square" lIns="91425" tIns="91425" rIns="91425" bIns="91425" anchor="t" anchorCtr="0"/>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59" name="Google Shape;59;p14"/>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0"/>
        <p:cNvGrpSpPr/>
        <p:nvPr/>
      </p:nvGrpSpPr>
      <p:grpSpPr>
        <a:xfrm>
          <a:off x="0" y="0"/>
          <a:ext cx="0" cy="0"/>
          <a:chOff x="0" y="0"/>
          <a:chExt cx="0" cy="0"/>
        </a:xfrm>
      </p:grpSpPr>
      <p:sp>
        <p:nvSpPr>
          <p:cNvPr id="61" name="Google Shape;61;p15"/>
          <p:cNvSpPr txBox="1">
            <a:spLocks noGrp="1"/>
          </p:cNvSpPr>
          <p:nvPr>
            <p:ph type="title"/>
          </p:nvPr>
        </p:nvSpPr>
        <p:spPr>
          <a:xfrm>
            <a:off x="460950" y="2065350"/>
            <a:ext cx="8222100" cy="1012800"/>
          </a:xfrm>
          <a:prstGeom prst="rect">
            <a:avLst/>
          </a:prstGeom>
        </p:spPr>
        <p:txBody>
          <a:bodyPr spcFirstLastPara="1" wrap="square" lIns="91425" tIns="91425" rIns="91425" bIns="91425" anchor="ctr" anchorCtr="0"/>
          <a:lstStyle>
            <a:lvl1pPr lvl="0" rtl="0">
              <a:spcBef>
                <a:spcPts val="0"/>
              </a:spcBef>
              <a:spcAft>
                <a:spcPts val="0"/>
              </a:spcAft>
              <a:buSzPts val="4200"/>
              <a:buNone/>
              <a:defRPr sz="42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a:endParaRPr/>
          </a:p>
        </p:txBody>
      </p:sp>
      <p:sp>
        <p:nvSpPr>
          <p:cNvPr id="62" name="Google Shape;62;p15"/>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9"/>
        <p:cNvGrpSpPr/>
        <p:nvPr/>
      </p:nvGrpSpPr>
      <p:grpSpPr>
        <a:xfrm>
          <a:off x="0" y="0"/>
          <a:ext cx="0" cy="0"/>
          <a:chOff x="0" y="0"/>
          <a:chExt cx="0" cy="0"/>
        </a:xfrm>
      </p:grpSpPr>
      <p:sp>
        <p:nvSpPr>
          <p:cNvPr id="70" name="Google Shape;70;p17"/>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7"/>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73" name="Google Shape;73;p17"/>
          <p:cNvSpPr txBox="1">
            <a:spLocks noGrp="1"/>
          </p:cNvSpPr>
          <p:nvPr>
            <p:ph type="body" idx="1"/>
          </p:nvPr>
        </p:nvSpPr>
        <p:spPr>
          <a:xfrm>
            <a:off x="471900" y="1919075"/>
            <a:ext cx="3999900" cy="2710200"/>
          </a:xfrm>
          <a:prstGeom prst="rect">
            <a:avLst/>
          </a:prstGeom>
        </p:spPr>
        <p:txBody>
          <a:bodyPr spcFirstLastPara="1" wrap="square" lIns="91425" tIns="91425" rIns="91425" bIns="91425" anchor="t" anchorCtr="0"/>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74" name="Google Shape;74;p17"/>
          <p:cNvSpPr txBox="1">
            <a:spLocks noGrp="1"/>
          </p:cNvSpPr>
          <p:nvPr>
            <p:ph type="body" idx="2"/>
          </p:nvPr>
        </p:nvSpPr>
        <p:spPr>
          <a:xfrm>
            <a:off x="4694250" y="1919075"/>
            <a:ext cx="3999900" cy="2710200"/>
          </a:xfrm>
          <a:prstGeom prst="rect">
            <a:avLst/>
          </a:prstGeom>
        </p:spPr>
        <p:txBody>
          <a:bodyPr spcFirstLastPara="1" wrap="square" lIns="91425" tIns="91425" rIns="91425" bIns="91425" anchor="t" anchorCtr="0"/>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75" name="Google Shape;75;p17"/>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6"/>
        <p:cNvGrpSpPr/>
        <p:nvPr/>
      </p:nvGrpSpPr>
      <p:grpSpPr>
        <a:xfrm>
          <a:off x="0" y="0"/>
          <a:ext cx="0" cy="0"/>
          <a:chOff x="0" y="0"/>
          <a:chExt cx="0" cy="0"/>
        </a:xfrm>
      </p:grpSpPr>
      <p:sp>
        <p:nvSpPr>
          <p:cNvPr id="77" name="Google Shape;77;p18"/>
          <p:cNvSpPr/>
          <p:nvPr/>
        </p:nvSpPr>
        <p:spPr>
          <a:xfrm rot="10800000" flipH="1">
            <a:off x="0" y="656400"/>
            <a:ext cx="9144000" cy="448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8"/>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8"/>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80" name="Google Shape;80;p18"/>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7"/>
        <p:cNvGrpSpPr/>
        <p:nvPr/>
      </p:nvGrpSpPr>
      <p:grpSpPr>
        <a:xfrm>
          <a:off x="0" y="0"/>
          <a:ext cx="0" cy="0"/>
          <a:chOff x="0" y="0"/>
          <a:chExt cx="0" cy="0"/>
        </a:xfrm>
      </p:grpSpPr>
      <p:sp>
        <p:nvSpPr>
          <p:cNvPr id="88" name="Google Shape;88;p20"/>
          <p:cNvSpPr txBox="1">
            <a:spLocks noGrp="1"/>
          </p:cNvSpPr>
          <p:nvPr>
            <p:ph type="title"/>
          </p:nvPr>
        </p:nvSpPr>
        <p:spPr>
          <a:xfrm>
            <a:off x="490250" y="488250"/>
            <a:ext cx="6227100" cy="4090800"/>
          </a:xfrm>
          <a:prstGeom prst="rect">
            <a:avLst/>
          </a:prstGeom>
        </p:spPr>
        <p:txBody>
          <a:bodyPr spcFirstLastPara="1" wrap="square" lIns="91425" tIns="91425" rIns="91425" bIns="91425" anchor="ctr" anchorCtr="0"/>
          <a:lstStyle>
            <a:lvl1pPr lvl="0" rtl="0">
              <a:spcBef>
                <a:spcPts val="0"/>
              </a:spcBef>
              <a:spcAft>
                <a:spcPts val="0"/>
              </a:spcAft>
              <a:buSzPts val="6000"/>
              <a:buNone/>
              <a:defRPr sz="60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endParaRPr/>
          </a:p>
        </p:txBody>
      </p:sp>
      <p:sp>
        <p:nvSpPr>
          <p:cNvPr id="89" name="Google Shape;89;p20"/>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7"/>
        <p:cNvGrpSpPr/>
        <p:nvPr/>
      </p:nvGrpSpPr>
      <p:grpSpPr>
        <a:xfrm>
          <a:off x="0" y="0"/>
          <a:ext cx="0" cy="0"/>
          <a:chOff x="0" y="0"/>
          <a:chExt cx="0" cy="0"/>
        </a:xfrm>
      </p:grpSpPr>
      <p:sp>
        <p:nvSpPr>
          <p:cNvPr id="98" name="Google Shape;98;p22"/>
          <p:cNvSpPr txBox="1"/>
          <p:nvPr/>
        </p:nvSpPr>
        <p:spPr>
          <a:xfrm rot="10800000" flipH="1">
            <a:off x="0" y="0"/>
            <a:ext cx="9144000" cy="4695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2"/>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2"/>
          <p:cNvSpPr txBox="1">
            <a:spLocks noGrp="1"/>
          </p:cNvSpPr>
          <p:nvPr>
            <p:ph type="body" idx="1"/>
          </p:nvPr>
        </p:nvSpPr>
        <p:spPr>
          <a:xfrm>
            <a:off x="57150" y="4696825"/>
            <a:ext cx="8382000" cy="446700"/>
          </a:xfrm>
          <a:prstGeom prst="rect">
            <a:avLst/>
          </a:prstGeom>
        </p:spPr>
        <p:txBody>
          <a:bodyPr spcFirstLastPara="1" wrap="square" lIns="91425" tIns="91425" rIns="91425" bIns="91425" anchor="ctr" anchorCtr="0"/>
          <a:lstStyle>
            <a:lvl1pPr marL="457200" lvl="0" indent="-228600" rtl="0">
              <a:lnSpc>
                <a:spcPct val="100000"/>
              </a:lnSpc>
              <a:spcBef>
                <a:spcPts val="0"/>
              </a:spcBef>
              <a:spcAft>
                <a:spcPts val="0"/>
              </a:spcAft>
              <a:buClr>
                <a:schemeClr val="lt1"/>
              </a:buClr>
              <a:buSzPts val="1200"/>
              <a:buNone/>
              <a:defRPr sz="1200">
                <a:solidFill>
                  <a:schemeClr val="lt1"/>
                </a:solidFill>
              </a:defRPr>
            </a:lvl1pPr>
          </a:lstStyle>
          <a:p>
            <a:endParaRPr/>
          </a:p>
        </p:txBody>
      </p:sp>
      <p:sp>
        <p:nvSpPr>
          <p:cNvPr id="101" name="Google Shape;101;p2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2"/>
        <p:cNvGrpSpPr/>
        <p:nvPr/>
      </p:nvGrpSpPr>
      <p:grpSpPr>
        <a:xfrm>
          <a:off x="0" y="0"/>
          <a:ext cx="0" cy="0"/>
          <a:chOff x="0" y="0"/>
          <a:chExt cx="0" cy="0"/>
        </a:xfrm>
      </p:grpSpPr>
      <p:sp>
        <p:nvSpPr>
          <p:cNvPr id="103" name="Google Shape;103;p23"/>
          <p:cNvSpPr txBox="1">
            <a:spLocks noGrp="1"/>
          </p:cNvSpPr>
          <p:nvPr>
            <p:ph type="title" hasCustomPrompt="1"/>
          </p:nvPr>
        </p:nvSpPr>
        <p:spPr>
          <a:xfrm>
            <a:off x="475500" y="1258525"/>
            <a:ext cx="8222100" cy="1963500"/>
          </a:xfrm>
          <a:prstGeom prst="rect">
            <a:avLst/>
          </a:prstGeom>
        </p:spPr>
        <p:txBody>
          <a:bodyPr spcFirstLastPara="1" wrap="square" lIns="91425" tIns="91425" rIns="91425" bIns="91425" anchor="b" anchorCtr="0"/>
          <a:lstStyle>
            <a:lvl1pPr lvl="0" algn="ctr" rtl="0">
              <a:spcBef>
                <a:spcPts val="0"/>
              </a:spcBef>
              <a:spcAft>
                <a:spcPts val="0"/>
              </a:spcAft>
              <a:buClr>
                <a:schemeClr val="dk2"/>
              </a:buClr>
              <a:buSzPts val="12000"/>
              <a:buNone/>
              <a:defRPr sz="12000">
                <a:solidFill>
                  <a:schemeClr val="dk2"/>
                </a:solidFill>
              </a:defRPr>
            </a:lvl1pPr>
            <a:lvl2pPr lvl="1" algn="ctr" rtl="0">
              <a:spcBef>
                <a:spcPts val="0"/>
              </a:spcBef>
              <a:spcAft>
                <a:spcPts val="0"/>
              </a:spcAft>
              <a:buClr>
                <a:schemeClr val="dk2"/>
              </a:buClr>
              <a:buSzPts val="12000"/>
              <a:buNone/>
              <a:defRPr sz="12000">
                <a:solidFill>
                  <a:schemeClr val="dk2"/>
                </a:solidFill>
              </a:defRPr>
            </a:lvl2pPr>
            <a:lvl3pPr lvl="2" algn="ctr" rtl="0">
              <a:spcBef>
                <a:spcPts val="0"/>
              </a:spcBef>
              <a:spcAft>
                <a:spcPts val="0"/>
              </a:spcAft>
              <a:buClr>
                <a:schemeClr val="dk2"/>
              </a:buClr>
              <a:buSzPts val="12000"/>
              <a:buNone/>
              <a:defRPr sz="12000">
                <a:solidFill>
                  <a:schemeClr val="dk2"/>
                </a:solidFill>
              </a:defRPr>
            </a:lvl3pPr>
            <a:lvl4pPr lvl="3" algn="ctr" rtl="0">
              <a:spcBef>
                <a:spcPts val="0"/>
              </a:spcBef>
              <a:spcAft>
                <a:spcPts val="0"/>
              </a:spcAft>
              <a:buClr>
                <a:schemeClr val="dk2"/>
              </a:buClr>
              <a:buSzPts val="12000"/>
              <a:buNone/>
              <a:defRPr sz="12000">
                <a:solidFill>
                  <a:schemeClr val="dk2"/>
                </a:solidFill>
              </a:defRPr>
            </a:lvl4pPr>
            <a:lvl5pPr lvl="4" algn="ctr" rtl="0">
              <a:spcBef>
                <a:spcPts val="0"/>
              </a:spcBef>
              <a:spcAft>
                <a:spcPts val="0"/>
              </a:spcAft>
              <a:buClr>
                <a:schemeClr val="dk2"/>
              </a:buClr>
              <a:buSzPts val="12000"/>
              <a:buNone/>
              <a:defRPr sz="12000">
                <a:solidFill>
                  <a:schemeClr val="dk2"/>
                </a:solidFill>
              </a:defRPr>
            </a:lvl5pPr>
            <a:lvl6pPr lvl="5" algn="ctr" rtl="0">
              <a:spcBef>
                <a:spcPts val="0"/>
              </a:spcBef>
              <a:spcAft>
                <a:spcPts val="0"/>
              </a:spcAft>
              <a:buClr>
                <a:schemeClr val="dk2"/>
              </a:buClr>
              <a:buSzPts val="12000"/>
              <a:buNone/>
              <a:defRPr sz="12000">
                <a:solidFill>
                  <a:schemeClr val="dk2"/>
                </a:solidFill>
              </a:defRPr>
            </a:lvl6pPr>
            <a:lvl7pPr lvl="6" algn="ctr" rtl="0">
              <a:spcBef>
                <a:spcPts val="0"/>
              </a:spcBef>
              <a:spcAft>
                <a:spcPts val="0"/>
              </a:spcAft>
              <a:buClr>
                <a:schemeClr val="dk2"/>
              </a:buClr>
              <a:buSzPts val="12000"/>
              <a:buNone/>
              <a:defRPr sz="12000">
                <a:solidFill>
                  <a:schemeClr val="dk2"/>
                </a:solidFill>
              </a:defRPr>
            </a:lvl7pPr>
            <a:lvl8pPr lvl="7" algn="ctr" rtl="0">
              <a:spcBef>
                <a:spcPts val="0"/>
              </a:spcBef>
              <a:spcAft>
                <a:spcPts val="0"/>
              </a:spcAft>
              <a:buClr>
                <a:schemeClr val="dk2"/>
              </a:buClr>
              <a:buSzPts val="12000"/>
              <a:buNone/>
              <a:defRPr sz="12000">
                <a:solidFill>
                  <a:schemeClr val="dk2"/>
                </a:solidFill>
              </a:defRPr>
            </a:lvl8pPr>
            <a:lvl9pPr lvl="8" algn="ctr" rtl="0">
              <a:spcBef>
                <a:spcPts val="0"/>
              </a:spcBef>
              <a:spcAft>
                <a:spcPts val="0"/>
              </a:spcAft>
              <a:buClr>
                <a:schemeClr val="dk2"/>
              </a:buClr>
              <a:buSzPts val="12000"/>
              <a:buNone/>
              <a:defRPr sz="12000">
                <a:solidFill>
                  <a:schemeClr val="dk2"/>
                </a:solidFill>
              </a:defRPr>
            </a:lvl9pPr>
          </a:lstStyle>
          <a:p>
            <a:r>
              <a:t>xx%</a:t>
            </a:r>
          </a:p>
        </p:txBody>
      </p:sp>
      <p:sp>
        <p:nvSpPr>
          <p:cNvPr id="104" name="Google Shape;104;p23"/>
          <p:cNvSpPr txBox="1">
            <a:spLocks noGrp="1"/>
          </p:cNvSpPr>
          <p:nvPr>
            <p:ph type="body" idx="1"/>
          </p:nvPr>
        </p:nvSpPr>
        <p:spPr>
          <a:xfrm>
            <a:off x="475500" y="3304625"/>
            <a:ext cx="8222100" cy="1300800"/>
          </a:xfrm>
          <a:prstGeom prst="rect">
            <a:avLst/>
          </a:prstGeom>
        </p:spPr>
        <p:txBody>
          <a:bodyPr spcFirstLastPara="1" wrap="square" lIns="91425" tIns="91425" rIns="91425" bIns="91425" anchor="t" anchorCtr="0"/>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
        <p:nvSpPr>
          <p:cNvPr id="105" name="Google Shape;105;p23"/>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6"/>
        <p:cNvGrpSpPr/>
        <p:nvPr/>
      </p:nvGrpSpPr>
      <p:grpSpPr>
        <a:xfrm>
          <a:off x="0" y="0"/>
          <a:ext cx="0" cy="0"/>
          <a:chOff x="0" y="0"/>
          <a:chExt cx="0" cy="0"/>
        </a:xfrm>
      </p:grpSpPr>
      <p:sp>
        <p:nvSpPr>
          <p:cNvPr id="107" name="Google Shape;107;p24"/>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63"/>
        <p:cNvGrpSpPr/>
        <p:nvPr/>
      </p:nvGrpSpPr>
      <p:grpSpPr>
        <a:xfrm>
          <a:off x="0" y="0"/>
          <a:ext cx="0" cy="0"/>
          <a:chOff x="0" y="0"/>
          <a:chExt cx="0" cy="0"/>
        </a:xfrm>
      </p:grpSpPr>
      <p:sp>
        <p:nvSpPr>
          <p:cNvPr id="64" name="Google Shape;64;p16"/>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6"/>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6"/>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67" name="Google Shape;67;p16"/>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68" name="Google Shape;68;p16"/>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9630695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90"/>
        <p:cNvGrpSpPr/>
        <p:nvPr/>
      </p:nvGrpSpPr>
      <p:grpSpPr>
        <a:xfrm>
          <a:off x="0" y="0"/>
          <a:ext cx="0" cy="0"/>
          <a:chOff x="0" y="0"/>
          <a:chExt cx="0" cy="0"/>
        </a:xfrm>
      </p:grpSpPr>
      <p:sp>
        <p:nvSpPr>
          <p:cNvPr id="91" name="Google Shape;91;p21"/>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1"/>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1"/>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lstStyle>
            <a:lvl1pPr lvl="0" algn="ctr" rtl="0">
              <a:spcBef>
                <a:spcPts val="0"/>
              </a:spcBef>
              <a:spcAft>
                <a:spcPts val="0"/>
              </a:spcAft>
              <a:buClr>
                <a:schemeClr val="dk2"/>
              </a:buClr>
              <a:buSzPts val="4200"/>
              <a:buNone/>
              <a:defRPr sz="4200">
                <a:solidFill>
                  <a:schemeClr val="dk2"/>
                </a:solidFill>
              </a:defRPr>
            </a:lvl1pPr>
            <a:lvl2pPr lvl="1" algn="ctr" rtl="0">
              <a:spcBef>
                <a:spcPts val="0"/>
              </a:spcBef>
              <a:spcAft>
                <a:spcPts val="0"/>
              </a:spcAft>
              <a:buClr>
                <a:schemeClr val="dk2"/>
              </a:buClr>
              <a:buSzPts val="4200"/>
              <a:buNone/>
              <a:defRPr sz="4200">
                <a:solidFill>
                  <a:schemeClr val="dk2"/>
                </a:solidFill>
              </a:defRPr>
            </a:lvl2pPr>
            <a:lvl3pPr lvl="2" algn="ctr" rtl="0">
              <a:spcBef>
                <a:spcPts val="0"/>
              </a:spcBef>
              <a:spcAft>
                <a:spcPts val="0"/>
              </a:spcAft>
              <a:buClr>
                <a:schemeClr val="dk2"/>
              </a:buClr>
              <a:buSzPts val="4200"/>
              <a:buNone/>
              <a:defRPr sz="4200">
                <a:solidFill>
                  <a:schemeClr val="dk2"/>
                </a:solidFill>
              </a:defRPr>
            </a:lvl3pPr>
            <a:lvl4pPr lvl="3" algn="ctr" rtl="0">
              <a:spcBef>
                <a:spcPts val="0"/>
              </a:spcBef>
              <a:spcAft>
                <a:spcPts val="0"/>
              </a:spcAft>
              <a:buClr>
                <a:schemeClr val="dk2"/>
              </a:buClr>
              <a:buSzPts val="4200"/>
              <a:buNone/>
              <a:defRPr sz="4200">
                <a:solidFill>
                  <a:schemeClr val="dk2"/>
                </a:solidFill>
              </a:defRPr>
            </a:lvl4pPr>
            <a:lvl5pPr lvl="4" algn="ctr" rtl="0">
              <a:spcBef>
                <a:spcPts val="0"/>
              </a:spcBef>
              <a:spcAft>
                <a:spcPts val="0"/>
              </a:spcAft>
              <a:buClr>
                <a:schemeClr val="dk2"/>
              </a:buClr>
              <a:buSzPts val="4200"/>
              <a:buNone/>
              <a:defRPr sz="4200">
                <a:solidFill>
                  <a:schemeClr val="dk2"/>
                </a:solidFill>
              </a:defRPr>
            </a:lvl5pPr>
            <a:lvl6pPr lvl="5" algn="ctr" rtl="0">
              <a:spcBef>
                <a:spcPts val="0"/>
              </a:spcBef>
              <a:spcAft>
                <a:spcPts val="0"/>
              </a:spcAft>
              <a:buClr>
                <a:schemeClr val="dk2"/>
              </a:buClr>
              <a:buSzPts val="4200"/>
              <a:buNone/>
              <a:defRPr sz="4200">
                <a:solidFill>
                  <a:schemeClr val="dk2"/>
                </a:solidFill>
              </a:defRPr>
            </a:lvl6pPr>
            <a:lvl7pPr lvl="6" algn="ctr" rtl="0">
              <a:spcBef>
                <a:spcPts val="0"/>
              </a:spcBef>
              <a:spcAft>
                <a:spcPts val="0"/>
              </a:spcAft>
              <a:buClr>
                <a:schemeClr val="dk2"/>
              </a:buClr>
              <a:buSzPts val="4200"/>
              <a:buNone/>
              <a:defRPr sz="4200">
                <a:solidFill>
                  <a:schemeClr val="dk2"/>
                </a:solidFill>
              </a:defRPr>
            </a:lvl7pPr>
            <a:lvl8pPr lvl="7" algn="ctr" rtl="0">
              <a:spcBef>
                <a:spcPts val="0"/>
              </a:spcBef>
              <a:spcAft>
                <a:spcPts val="0"/>
              </a:spcAft>
              <a:buClr>
                <a:schemeClr val="dk2"/>
              </a:buClr>
              <a:buSzPts val="4200"/>
              <a:buNone/>
              <a:defRPr sz="4200">
                <a:solidFill>
                  <a:schemeClr val="dk2"/>
                </a:solidFill>
              </a:defRPr>
            </a:lvl8pPr>
            <a:lvl9pPr lvl="8" algn="ctr" rtl="0">
              <a:spcBef>
                <a:spcPts val="0"/>
              </a:spcBef>
              <a:spcAft>
                <a:spcPts val="0"/>
              </a:spcAft>
              <a:buClr>
                <a:schemeClr val="dk2"/>
              </a:buClr>
              <a:buSzPts val="4200"/>
              <a:buNone/>
              <a:defRPr sz="4200">
                <a:solidFill>
                  <a:schemeClr val="dk2"/>
                </a:solidFill>
              </a:defRPr>
            </a:lvl9pPr>
          </a:lstStyle>
          <a:p>
            <a:endParaRPr/>
          </a:p>
        </p:txBody>
      </p:sp>
      <p:sp>
        <p:nvSpPr>
          <p:cNvPr id="94" name="Google Shape;94;p21"/>
          <p:cNvSpPr txBox="1">
            <a:spLocks noGrp="1"/>
          </p:cNvSpPr>
          <p:nvPr>
            <p:ph type="subTitle" idx="1"/>
          </p:nvPr>
        </p:nvSpPr>
        <p:spPr>
          <a:xfrm>
            <a:off x="265500" y="2779467"/>
            <a:ext cx="4045200" cy="1235100"/>
          </a:xfrm>
          <a:prstGeom prst="rect">
            <a:avLst/>
          </a:prstGeom>
        </p:spPr>
        <p:txBody>
          <a:bodyPr spcFirstLastPara="1" wrap="square" lIns="91425" tIns="91425" rIns="91425" bIns="91425" anchor="t" anchorCtr="0"/>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95" name="Google Shape;95;p21"/>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lstStyle>
            <a:lvl1pPr marL="457200" lvl="0" indent="-342900" rtl="0">
              <a:spcBef>
                <a:spcPts val="0"/>
              </a:spcBef>
              <a:spcAft>
                <a:spcPts val="0"/>
              </a:spcAft>
              <a:buClr>
                <a:schemeClr val="lt1"/>
              </a:buClr>
              <a:buSzPts val="1800"/>
              <a:buChar char="●"/>
              <a:defRPr>
                <a:solidFill>
                  <a:schemeClr val="lt1"/>
                </a:solidFill>
              </a:defRPr>
            </a:lvl1pPr>
            <a:lvl2pPr marL="914400" lvl="1" indent="-317500" rtl="0">
              <a:spcBef>
                <a:spcPts val="1600"/>
              </a:spcBef>
              <a:spcAft>
                <a:spcPts val="0"/>
              </a:spcAft>
              <a:buClr>
                <a:schemeClr val="lt1"/>
              </a:buClr>
              <a:buSzPts val="1400"/>
              <a:buChar char="○"/>
              <a:defRPr>
                <a:solidFill>
                  <a:schemeClr val="lt1"/>
                </a:solidFill>
              </a:defRPr>
            </a:lvl2pPr>
            <a:lvl3pPr marL="1371600" lvl="2" indent="-317500" rtl="0">
              <a:spcBef>
                <a:spcPts val="1600"/>
              </a:spcBef>
              <a:spcAft>
                <a:spcPts val="0"/>
              </a:spcAft>
              <a:buClr>
                <a:schemeClr val="lt1"/>
              </a:buClr>
              <a:buSzPts val="1400"/>
              <a:buChar char="■"/>
              <a:defRPr>
                <a:solidFill>
                  <a:schemeClr val="lt1"/>
                </a:solidFill>
              </a:defRPr>
            </a:lvl3pPr>
            <a:lvl4pPr marL="1828800" lvl="3" indent="-317500" rtl="0">
              <a:spcBef>
                <a:spcPts val="1600"/>
              </a:spcBef>
              <a:spcAft>
                <a:spcPts val="0"/>
              </a:spcAft>
              <a:buClr>
                <a:schemeClr val="lt1"/>
              </a:buClr>
              <a:buSzPts val="1400"/>
              <a:buChar char="●"/>
              <a:defRPr>
                <a:solidFill>
                  <a:schemeClr val="lt1"/>
                </a:solidFill>
              </a:defRPr>
            </a:lvl4pPr>
            <a:lvl5pPr marL="2286000" lvl="4" indent="-317500" rtl="0">
              <a:spcBef>
                <a:spcPts val="1600"/>
              </a:spcBef>
              <a:spcAft>
                <a:spcPts val="0"/>
              </a:spcAft>
              <a:buClr>
                <a:schemeClr val="lt1"/>
              </a:buClr>
              <a:buSzPts val="1400"/>
              <a:buChar char="○"/>
              <a:defRPr>
                <a:solidFill>
                  <a:schemeClr val="lt1"/>
                </a:solidFill>
              </a:defRPr>
            </a:lvl5pPr>
            <a:lvl6pPr marL="2743200" lvl="5" indent="-317500" rtl="0">
              <a:spcBef>
                <a:spcPts val="1600"/>
              </a:spcBef>
              <a:spcAft>
                <a:spcPts val="0"/>
              </a:spcAft>
              <a:buClr>
                <a:schemeClr val="lt1"/>
              </a:buClr>
              <a:buSzPts val="1400"/>
              <a:buChar char="■"/>
              <a:defRPr>
                <a:solidFill>
                  <a:schemeClr val="lt1"/>
                </a:solidFill>
              </a:defRPr>
            </a:lvl6pPr>
            <a:lvl7pPr marL="3200400" lvl="6" indent="-317500" rtl="0">
              <a:spcBef>
                <a:spcPts val="1600"/>
              </a:spcBef>
              <a:spcAft>
                <a:spcPts val="0"/>
              </a:spcAft>
              <a:buClr>
                <a:schemeClr val="lt1"/>
              </a:buClr>
              <a:buSzPts val="1400"/>
              <a:buChar char="●"/>
              <a:defRPr>
                <a:solidFill>
                  <a:schemeClr val="lt1"/>
                </a:solidFill>
              </a:defRPr>
            </a:lvl7pPr>
            <a:lvl8pPr marL="3657600" lvl="7" indent="-317500" rtl="0">
              <a:spcBef>
                <a:spcPts val="1600"/>
              </a:spcBef>
              <a:spcAft>
                <a:spcPts val="0"/>
              </a:spcAft>
              <a:buClr>
                <a:schemeClr val="lt1"/>
              </a:buClr>
              <a:buSzPts val="1400"/>
              <a:buChar char="○"/>
              <a:defRPr>
                <a:solidFill>
                  <a:schemeClr val="lt1"/>
                </a:solidFill>
              </a:defRPr>
            </a:lvl8pPr>
            <a:lvl9pPr marL="4114800" lvl="8" indent="-317500" rtl="0">
              <a:spcBef>
                <a:spcPts val="1600"/>
              </a:spcBef>
              <a:spcAft>
                <a:spcPts val="1600"/>
              </a:spcAft>
              <a:buClr>
                <a:schemeClr val="lt1"/>
              </a:buClr>
              <a:buSzPts val="1400"/>
              <a:buChar char="■"/>
              <a:defRPr>
                <a:solidFill>
                  <a:schemeClr val="lt1"/>
                </a:solidFill>
              </a:defRPr>
            </a:lvl9pPr>
          </a:lstStyle>
          <a:p>
            <a:endParaRPr/>
          </a:p>
        </p:txBody>
      </p:sp>
      <p:sp>
        <p:nvSpPr>
          <p:cNvPr id="96" name="Google Shape;96;p21"/>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4158841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material">
    <p:bg>
      <p:bgPr>
        <a:solidFill>
          <a:srgbClr val="27AE60"/>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lstStyle>
            <a:lvl1pPr lvl="0"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a:endParaRPr/>
          </a:p>
        </p:txBody>
      </p:sp>
      <p:sp>
        <p:nvSpPr>
          <p:cNvPr id="52" name="Google Shape;52;p13"/>
          <p:cNvSpPr txBox="1">
            <a:spLocks noGrp="1"/>
          </p:cNvSpPr>
          <p:nvPr>
            <p:ph type="body" idx="1"/>
          </p:nvPr>
        </p:nvSpPr>
        <p:spPr>
          <a:xfrm>
            <a:off x="471900" y="1919075"/>
            <a:ext cx="8222100" cy="2710200"/>
          </a:xfrm>
          <a:prstGeom prst="rect">
            <a:avLst/>
          </a:prstGeom>
          <a:noFill/>
          <a:ln>
            <a:noFill/>
          </a:ln>
        </p:spPr>
        <p:txBody>
          <a:bodyPr spcFirstLastPara="1" wrap="square" lIns="91425" tIns="91425" rIns="91425" bIns="91425" anchor="t" anchorCtr="0"/>
          <a:lstStyle>
            <a:lvl1pPr marL="457200" lvl="0" indent="-342900" rtl="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marL="914400" lvl="1"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marL="1371600" lvl="2"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marL="1828800" lvl="3"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marL="2286000" lvl="4"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marL="2743200" lvl="5"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marL="3200400" lvl="6"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marL="3657600" lvl="7"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marL="4114800" lvl="8" indent="-317500" rtl="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a:endParaRPr/>
          </a:p>
        </p:txBody>
      </p:sp>
      <p:sp>
        <p:nvSpPr>
          <p:cNvPr id="53" name="Google Shape;53;p13"/>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lt2"/>
                </a:solidFill>
                <a:latin typeface="Roboto"/>
                <a:ea typeface="Roboto"/>
                <a:cs typeface="Roboto"/>
                <a:sym typeface="Roboto"/>
              </a:defRPr>
            </a:lvl1pPr>
            <a:lvl2pPr lvl="1" algn="r" rtl="0">
              <a:buNone/>
              <a:defRPr sz="1000">
                <a:solidFill>
                  <a:schemeClr val="lt2"/>
                </a:solidFill>
                <a:latin typeface="Roboto"/>
                <a:ea typeface="Roboto"/>
                <a:cs typeface="Roboto"/>
                <a:sym typeface="Roboto"/>
              </a:defRPr>
            </a:lvl2pPr>
            <a:lvl3pPr lvl="2" algn="r" rtl="0">
              <a:buNone/>
              <a:defRPr sz="1000">
                <a:solidFill>
                  <a:schemeClr val="lt2"/>
                </a:solidFill>
                <a:latin typeface="Roboto"/>
                <a:ea typeface="Roboto"/>
                <a:cs typeface="Roboto"/>
                <a:sym typeface="Roboto"/>
              </a:defRPr>
            </a:lvl3pPr>
            <a:lvl4pPr lvl="3" algn="r" rtl="0">
              <a:buNone/>
              <a:defRPr sz="1000">
                <a:solidFill>
                  <a:schemeClr val="lt2"/>
                </a:solidFill>
                <a:latin typeface="Roboto"/>
                <a:ea typeface="Roboto"/>
                <a:cs typeface="Roboto"/>
                <a:sym typeface="Roboto"/>
              </a:defRPr>
            </a:lvl4pPr>
            <a:lvl5pPr lvl="4" algn="r" rtl="0">
              <a:buNone/>
              <a:defRPr sz="1000">
                <a:solidFill>
                  <a:schemeClr val="lt2"/>
                </a:solidFill>
                <a:latin typeface="Roboto"/>
                <a:ea typeface="Roboto"/>
                <a:cs typeface="Roboto"/>
                <a:sym typeface="Roboto"/>
              </a:defRPr>
            </a:lvl5pPr>
            <a:lvl6pPr lvl="5" algn="r" rtl="0">
              <a:buNone/>
              <a:defRPr sz="1000">
                <a:solidFill>
                  <a:schemeClr val="lt2"/>
                </a:solidFill>
                <a:latin typeface="Roboto"/>
                <a:ea typeface="Roboto"/>
                <a:cs typeface="Roboto"/>
                <a:sym typeface="Roboto"/>
              </a:defRPr>
            </a:lvl6pPr>
            <a:lvl7pPr lvl="6" algn="r" rtl="0">
              <a:buNone/>
              <a:defRPr sz="1000">
                <a:solidFill>
                  <a:schemeClr val="lt2"/>
                </a:solidFill>
                <a:latin typeface="Roboto"/>
                <a:ea typeface="Roboto"/>
                <a:cs typeface="Roboto"/>
                <a:sym typeface="Roboto"/>
              </a:defRPr>
            </a:lvl7pPr>
            <a:lvl8pPr lvl="7" algn="r" rtl="0">
              <a:buNone/>
              <a:defRPr sz="1000">
                <a:solidFill>
                  <a:schemeClr val="lt2"/>
                </a:solidFill>
                <a:latin typeface="Roboto"/>
                <a:ea typeface="Roboto"/>
                <a:cs typeface="Roboto"/>
                <a:sym typeface="Roboto"/>
              </a:defRPr>
            </a:lvl8pPr>
            <a:lvl9pPr lvl="8" algn="r" rtl="0">
              <a:buNone/>
              <a:defRPr sz="1000">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2" r:id="rId3"/>
    <p:sldLayoutId id="2147483663" r:id="rId4"/>
    <p:sldLayoutId id="2147483665" r:id="rId5"/>
    <p:sldLayoutId id="2147483667" r:id="rId6"/>
    <p:sldLayoutId id="2147483668" r:id="rId7"/>
    <p:sldLayoutId id="2147483669" r:id="rId8"/>
    <p:sldLayoutId id="2147483672" r:id="rId9"/>
    <p:sldLayoutId id="2147483673"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0.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0.xml"/><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7.xml"/><Relationship Id="rId1" Type="http://schemas.openxmlformats.org/officeDocument/2006/relationships/slideLayout" Target="../slideLayouts/slideLayout20.xml"/><Relationship Id="rId4" Type="http://schemas.openxmlformats.org/officeDocument/2006/relationships/image" Target="NUL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0.xml"/><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0.xml"/><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0.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3.xml"/><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4.xml"/><Relationship Id="rId1" Type="http://schemas.openxmlformats.org/officeDocument/2006/relationships/slideLayout" Target="../slideLayouts/slideLayout2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0.xml"/></Relationships>
</file>

<file path=ppt/slides/_rels/slide3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7.xml"/><Relationship Id="rId1" Type="http://schemas.openxmlformats.org/officeDocument/2006/relationships/slideLayout" Target="../slideLayouts/slideLayout21.xml"/></Relationships>
</file>

<file path=ppt/slides/_rels/slide3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8.xml"/><Relationship Id="rId1" Type="http://schemas.openxmlformats.org/officeDocument/2006/relationships/slideLayout" Target="../slideLayouts/slideLayout20.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9.xml"/><Relationship Id="rId1" Type="http://schemas.openxmlformats.org/officeDocument/2006/relationships/slideLayout" Target="../slideLayouts/slideLayout20.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0.xml"/><Relationship Id="rId1" Type="http://schemas.openxmlformats.org/officeDocument/2006/relationships/slideLayout" Target="../slideLayouts/slideLayout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41.xml"/><Relationship Id="rId1" Type="http://schemas.openxmlformats.org/officeDocument/2006/relationships/slideLayout" Target="../slideLayouts/slideLayout20.xml"/></Relationships>
</file>

<file path=ppt/slides/_rels/slide4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42.xml"/><Relationship Id="rId1" Type="http://schemas.openxmlformats.org/officeDocument/2006/relationships/slideLayout" Target="../slideLayouts/slideLayout20.xml"/></Relationships>
</file>

<file path=ppt/slides/_rels/slide4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43.xml"/><Relationship Id="rId1" Type="http://schemas.openxmlformats.org/officeDocument/2006/relationships/slideLayout" Target="../slideLayouts/slideLayout20.xml"/></Relationships>
</file>

<file path=ppt/slides/_rels/slide45.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44.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5"/>
          <p:cNvSpPr txBox="1">
            <a:spLocks noGrp="1"/>
          </p:cNvSpPr>
          <p:nvPr>
            <p:ph type="ctrTitle"/>
          </p:nvPr>
        </p:nvSpPr>
        <p:spPr>
          <a:xfrm>
            <a:off x="460950" y="1169700"/>
            <a:ext cx="8222100" cy="933600"/>
          </a:xfrm>
          <a:prstGeom prst="rect">
            <a:avLst/>
          </a:prstGeom>
        </p:spPr>
        <p:txBody>
          <a:bodyPr spcFirstLastPara="1" wrap="square" lIns="91425" tIns="91425" rIns="91425" bIns="91425" anchor="b" anchorCtr="0">
            <a:noAutofit/>
          </a:bodyPr>
          <a:lstStyle/>
          <a:p>
            <a:pPr lvl="0"/>
            <a:r>
              <a:rPr lang="en-MY" dirty="0">
                <a:latin typeface="Calibri" panose="020F0502020204030204" pitchFamily="34" charset="0"/>
              </a:rPr>
              <a:t>Atomic structure</a:t>
            </a:r>
            <a:endParaRPr dirty="0">
              <a:latin typeface="Calibri" panose="020F0502020204030204" pitchFamily="34" charset="0"/>
            </a:endParaRPr>
          </a:p>
        </p:txBody>
      </p:sp>
      <p:sp>
        <p:nvSpPr>
          <p:cNvPr id="3" name="Google Shape;118;p26"/>
          <p:cNvSpPr txBox="1"/>
          <p:nvPr/>
        </p:nvSpPr>
        <p:spPr>
          <a:xfrm>
            <a:off x="460950" y="2220136"/>
            <a:ext cx="7330800" cy="2492100"/>
          </a:xfrm>
          <a:prstGeom prst="rect">
            <a:avLst/>
          </a:prstGeom>
          <a:noFill/>
          <a:ln>
            <a:noFill/>
          </a:ln>
        </p:spPr>
        <p:txBody>
          <a:bodyPr spcFirstLastPara="1" wrap="square" lIns="91425" tIns="91425" rIns="91425" bIns="91425" anchor="t" anchorCtr="0">
            <a:noAutofit/>
          </a:bodyPr>
          <a:lstStyle/>
          <a:p>
            <a:pPr marL="114300" lvl="0">
              <a:buSzPts val="1800"/>
            </a:pPr>
            <a:r>
              <a:rPr lang="en-US" sz="1600" dirty="0">
                <a:solidFill>
                  <a:schemeClr val="bg1"/>
                </a:solidFill>
                <a:latin typeface="Calibri" panose="020F0502020204030204" pitchFamily="34" charset="0"/>
              </a:rPr>
              <a:t>1.1 Particles in the atom and atomic radius</a:t>
            </a:r>
          </a:p>
          <a:p>
            <a:pPr marL="114300" lvl="0">
              <a:buSzPts val="1800"/>
            </a:pPr>
            <a:r>
              <a:rPr lang="en-US" sz="1600" dirty="0">
                <a:solidFill>
                  <a:schemeClr val="bg1"/>
                </a:solidFill>
                <a:latin typeface="Calibri" panose="020F0502020204030204" pitchFamily="34" charset="0"/>
              </a:rPr>
              <a:t>1.2 Isotopes</a:t>
            </a:r>
          </a:p>
          <a:p>
            <a:pPr marL="114300" lvl="0">
              <a:buSzPts val="1800"/>
            </a:pPr>
            <a:r>
              <a:rPr lang="en-US" sz="1600" dirty="0">
                <a:solidFill>
                  <a:schemeClr val="bg1"/>
                </a:solidFill>
                <a:latin typeface="Calibri" panose="020F0502020204030204" pitchFamily="34" charset="0"/>
              </a:rPr>
              <a:t>1.3 Electrons, energy levels and atomic orbitals</a:t>
            </a:r>
          </a:p>
          <a:p>
            <a:pPr marL="114300" lvl="0">
              <a:buSzPts val="1800"/>
            </a:pPr>
            <a:r>
              <a:rPr lang="en-US" sz="1600" dirty="0">
                <a:solidFill>
                  <a:schemeClr val="bg1"/>
                </a:solidFill>
                <a:latin typeface="Calibri" panose="020F0502020204030204" pitchFamily="34" charset="0"/>
              </a:rPr>
              <a:t>1.4 </a:t>
            </a:r>
            <a:r>
              <a:rPr lang="en-US" sz="1600" dirty="0" err="1">
                <a:solidFill>
                  <a:schemeClr val="bg1"/>
                </a:solidFill>
                <a:latin typeface="Calibri" panose="020F0502020204030204" pitchFamily="34" charset="0"/>
              </a:rPr>
              <a:t>Ionisation</a:t>
            </a:r>
            <a:r>
              <a:rPr lang="en-US" sz="1600" dirty="0">
                <a:solidFill>
                  <a:schemeClr val="bg1"/>
                </a:solidFill>
                <a:latin typeface="Calibri" panose="020F0502020204030204" pitchFamily="34" charset="0"/>
              </a:rPr>
              <a:t> energy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latin typeface="Calibri" panose="020F0502020204030204" pitchFamily="34" charset="0"/>
              </a:rPr>
              <a:t>Introduction</a:t>
            </a:r>
            <a:endParaRPr dirty="0">
              <a:latin typeface="Calibri" panose="020F0502020204030204" pitchFamily="34" charset="0"/>
            </a:endParaRP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00050" lvl="0" indent="-285750">
              <a:buSzPts val="1800"/>
              <a:buFont typeface="Arial" panose="020B0604020202020204" pitchFamily="34" charset="0"/>
              <a:buChar char="•"/>
            </a:pPr>
            <a:r>
              <a:rPr lang="en-US" sz="1600" dirty="0">
                <a:latin typeface="Calibri" panose="020F0502020204030204" pitchFamily="34" charset="0"/>
              </a:rPr>
              <a:t>Scientists have discovered 118 elements up till now. Each element has different properties. In this article, the structure of an atom, particles within an atom and their </a:t>
            </a:r>
            <a:r>
              <a:rPr lang="en-US" sz="1600" dirty="0" err="1">
                <a:latin typeface="Calibri" panose="020F0502020204030204" pitchFamily="34" charset="0"/>
              </a:rPr>
              <a:t>behaviour</a:t>
            </a:r>
            <a:r>
              <a:rPr lang="en-US" sz="1600" dirty="0">
                <a:latin typeface="Calibri" panose="020F0502020204030204" pitchFamily="34" charset="0"/>
              </a:rPr>
              <a:t> are discussed. </a:t>
            </a:r>
          </a:p>
          <a:p>
            <a:pPr marL="400050" lvl="0" indent="-285750">
              <a:buSzPts val="1800"/>
              <a:buFont typeface="Arial" panose="020B0604020202020204" pitchFamily="34" charset="0"/>
              <a:buChar char="•"/>
            </a:pPr>
            <a:r>
              <a:rPr lang="en-US" sz="1600" dirty="0">
                <a:latin typeface="Calibri" panose="020F0502020204030204" pitchFamily="34" charset="0"/>
              </a:rPr>
              <a:t>This article also introduces the concept of how electrons are arranged in an atom. The atomic orbitals and their shapes are also discussed. The number of atomic orbitals a principal quantum shell carries is also explained in brief. The order in which electrons are filled in each atomic orbital is an important concept that links with the arrangement of elements on the periodic table. </a:t>
            </a:r>
          </a:p>
          <a:p>
            <a:pPr marL="400050" lvl="0" indent="-285750">
              <a:buSzPts val="1800"/>
              <a:buFont typeface="Arial" panose="020B0604020202020204" pitchFamily="34" charset="0"/>
              <a:buChar char="•"/>
            </a:pPr>
            <a:r>
              <a:rPr lang="en-US" sz="1600" dirty="0">
                <a:latin typeface="Calibri" panose="020F0502020204030204" pitchFamily="34" charset="0"/>
              </a:rPr>
              <a:t>Based on electronic configuration of elements, we will learn about the trend in atomic radii and </a:t>
            </a:r>
            <a:r>
              <a:rPr lang="en-US" sz="1600" dirty="0" err="1">
                <a:latin typeface="Calibri" panose="020F0502020204030204" pitchFamily="34" charset="0"/>
              </a:rPr>
              <a:t>ionisation</a:t>
            </a:r>
            <a:r>
              <a:rPr lang="en-US" sz="1600" dirty="0">
                <a:latin typeface="Calibri" panose="020F0502020204030204" pitchFamily="34" charset="0"/>
              </a:rPr>
              <a:t> energies. Using the values of successive </a:t>
            </a:r>
            <a:r>
              <a:rPr lang="en-US" sz="1600" dirty="0" err="1">
                <a:latin typeface="Calibri" panose="020F0502020204030204" pitchFamily="34" charset="0"/>
              </a:rPr>
              <a:t>ionisation</a:t>
            </a:r>
            <a:r>
              <a:rPr lang="en-US" sz="1600" dirty="0">
                <a:latin typeface="Calibri" panose="020F0502020204030204" pitchFamily="34" charset="0"/>
              </a:rPr>
              <a:t> energies, we can also deduce the position of an element.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marL="114300" lvl="0">
              <a:buSzPts val="1800"/>
            </a:pPr>
            <a:r>
              <a:rPr lang="en-MY" dirty="0">
                <a:latin typeface="Calibri" panose="020F0502020204030204" pitchFamily="34" charset="0"/>
              </a:rPr>
              <a:t>Structure of an atom</a:t>
            </a:r>
          </a:p>
        </p:txBody>
      </p:sp>
      <p:sp>
        <p:nvSpPr>
          <p:cNvPr id="118" name="Google Shape;118;p26"/>
          <p:cNvSpPr txBox="1"/>
          <p:nvPr/>
        </p:nvSpPr>
        <p:spPr>
          <a:xfrm>
            <a:off x="326571" y="1843168"/>
            <a:ext cx="5104529" cy="2492100"/>
          </a:xfrm>
          <a:prstGeom prst="rect">
            <a:avLst/>
          </a:prstGeom>
          <a:noFill/>
          <a:ln>
            <a:noFill/>
          </a:ln>
        </p:spPr>
        <p:txBody>
          <a:bodyPr spcFirstLastPara="1" wrap="square" lIns="91425" tIns="91425" rIns="91425" bIns="91425" anchor="t" anchorCtr="0">
            <a:noAutofit/>
          </a:bodyPr>
          <a:lstStyle/>
          <a:p>
            <a:pPr marL="400050" lvl="0" indent="-285750">
              <a:buSzPts val="1800"/>
              <a:buFont typeface="Arial" panose="020B0604020202020204" pitchFamily="34" charset="0"/>
              <a:buChar char="•"/>
            </a:pPr>
            <a:r>
              <a:rPr lang="en-MY" dirty="0">
                <a:latin typeface="Calibri" panose="020F0502020204030204" pitchFamily="34" charset="0"/>
              </a:rPr>
              <a:t>An atom consists of a nucleus and electrons orbiting around the nucleus. </a:t>
            </a:r>
          </a:p>
          <a:p>
            <a:pPr marL="400050" lvl="0" indent="-285750">
              <a:buSzPts val="1800"/>
              <a:buFont typeface="Arial" panose="020B0604020202020204" pitchFamily="34" charset="0"/>
              <a:buChar char="•"/>
            </a:pPr>
            <a:r>
              <a:rPr lang="en-MY" dirty="0">
                <a:latin typeface="Calibri" panose="020F0502020204030204" pitchFamily="34" charset="0"/>
              </a:rPr>
              <a:t>A nucleus consists of protons and neutrons.</a:t>
            </a:r>
          </a:p>
          <a:p>
            <a:pPr marL="400050" lvl="0" indent="-285750">
              <a:buSzPts val="1800"/>
              <a:buFont typeface="Arial" panose="020B0604020202020204" pitchFamily="34" charset="0"/>
              <a:buChar char="•"/>
            </a:pPr>
            <a:r>
              <a:rPr lang="en-MY" dirty="0">
                <a:latin typeface="Calibri" panose="020F0502020204030204" pitchFamily="34" charset="0"/>
              </a:rPr>
              <a:t>Protons are particles with a positive electrical charge and neutrons carry a neutral electrical charge. </a:t>
            </a:r>
          </a:p>
          <a:p>
            <a:pPr marL="400050" lvl="0" indent="-285750">
              <a:buSzPts val="1800"/>
              <a:buFont typeface="Arial" panose="020B0604020202020204" pitchFamily="34" charset="0"/>
              <a:buChar char="•"/>
            </a:pPr>
            <a:r>
              <a:rPr lang="en-MY" dirty="0">
                <a:latin typeface="Calibri" panose="020F0502020204030204" pitchFamily="34" charset="0"/>
              </a:rPr>
              <a:t>Both protons and neutrons have the same mass. </a:t>
            </a:r>
          </a:p>
          <a:p>
            <a:pPr marL="400050" lvl="0" indent="-285750">
              <a:buSzPts val="1800"/>
              <a:buFont typeface="Arial" panose="020B0604020202020204" pitchFamily="34" charset="0"/>
              <a:buChar char="•"/>
            </a:pPr>
            <a:r>
              <a:rPr lang="en-MY" dirty="0">
                <a:latin typeface="Calibri" panose="020F0502020204030204" pitchFamily="34" charset="0"/>
              </a:rPr>
              <a:t>An electron carries a negative electrical charge and has almost no mass.</a:t>
            </a:r>
            <a:endParaRPr dirty="0">
              <a:latin typeface="Calibri" panose="020F050202020403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31100" y="2051967"/>
            <a:ext cx="3419856" cy="2889504"/>
          </a:xfrm>
          <a:prstGeom prst="rect">
            <a:avLst/>
          </a:prstGeom>
        </p:spPr>
      </p:pic>
      <mc:AlternateContent xmlns:mc="http://schemas.openxmlformats.org/markup-compatibility/2006" xmlns:a14="http://schemas.microsoft.com/office/drawing/2010/main">
        <mc:Choice Requires="a14">
          <p:graphicFrame>
            <p:nvGraphicFramePr>
              <p:cNvPr id="5" name="Table 4"/>
              <p:cNvGraphicFramePr>
                <a:graphicFrameLocks noGrp="1"/>
              </p:cNvGraphicFramePr>
              <p:nvPr/>
            </p:nvGraphicFramePr>
            <p:xfrm>
              <a:off x="412835" y="3729065"/>
              <a:ext cx="4932000" cy="1169164"/>
            </p:xfrm>
            <a:graphic>
              <a:graphicData uri="http://schemas.openxmlformats.org/drawingml/2006/table">
                <a:tbl>
                  <a:tblPr firstRow="1" firstCol="1" bandRow="1">
                    <a:tableStyleId>{5C22544A-7EE6-4342-B048-85BDC9FD1C3A}</a:tableStyleId>
                  </a:tblPr>
                  <a:tblGrid>
                    <a:gridCol w="792000">
                      <a:extLst>
                        <a:ext uri="{9D8B030D-6E8A-4147-A177-3AD203B41FA5}">
                          <a16:colId xmlns:a16="http://schemas.microsoft.com/office/drawing/2014/main" val="20000"/>
                        </a:ext>
                      </a:extLst>
                    </a:gridCol>
                    <a:gridCol w="1332000">
                      <a:extLst>
                        <a:ext uri="{9D8B030D-6E8A-4147-A177-3AD203B41FA5}">
                          <a16:colId xmlns:a16="http://schemas.microsoft.com/office/drawing/2014/main" val="20001"/>
                        </a:ext>
                      </a:extLst>
                    </a:gridCol>
                    <a:gridCol w="1404000">
                      <a:extLst>
                        <a:ext uri="{9D8B030D-6E8A-4147-A177-3AD203B41FA5}">
                          <a16:colId xmlns:a16="http://schemas.microsoft.com/office/drawing/2014/main" val="20002"/>
                        </a:ext>
                      </a:extLst>
                    </a:gridCol>
                    <a:gridCol w="1404000">
                      <a:extLst>
                        <a:ext uri="{9D8B030D-6E8A-4147-A177-3AD203B41FA5}">
                          <a16:colId xmlns:a16="http://schemas.microsoft.com/office/drawing/2014/main" val="20003"/>
                        </a:ext>
                      </a:extLst>
                    </a:gridCol>
                  </a:tblGrid>
                  <a:tr h="192786">
                    <a:tc>
                      <a:txBody>
                        <a:bodyPr/>
                        <a:lstStyle/>
                        <a:p>
                          <a:pPr algn="ctr">
                            <a:lnSpc>
                              <a:spcPct val="115000"/>
                            </a:lnSpc>
                            <a:spcAft>
                              <a:spcPts val="0"/>
                            </a:spcAft>
                          </a:pPr>
                          <a:r>
                            <a:rPr lang="en-IN" sz="1400" b="0" dirty="0">
                              <a:solidFill>
                                <a:schemeClr val="bg1"/>
                              </a:solidFill>
                              <a:effectLst/>
                              <a:latin typeface="Calibri" panose="020F0502020204030204" pitchFamily="34" charset="0"/>
                            </a:rPr>
                            <a:t>Particle</a:t>
                          </a:r>
                          <a:endParaRPr lang="en-MY" sz="14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tc>
                      <a:txBody>
                        <a:bodyPr/>
                        <a:lstStyle/>
                        <a:p>
                          <a:pPr algn="ctr">
                            <a:lnSpc>
                              <a:spcPct val="115000"/>
                            </a:lnSpc>
                            <a:spcAft>
                              <a:spcPts val="0"/>
                            </a:spcAft>
                          </a:pPr>
                          <a:r>
                            <a:rPr lang="en-IN" sz="1400" b="0" dirty="0">
                              <a:solidFill>
                                <a:schemeClr val="bg1"/>
                              </a:solidFill>
                              <a:effectLst/>
                              <a:latin typeface="Calibri" panose="020F0502020204030204" pitchFamily="34" charset="0"/>
                            </a:rPr>
                            <a:t>Location</a:t>
                          </a:r>
                          <a:endParaRPr lang="en-MY" sz="14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tc>
                      <a:txBody>
                        <a:bodyPr/>
                        <a:lstStyle/>
                        <a:p>
                          <a:pPr algn="ctr">
                            <a:lnSpc>
                              <a:spcPct val="115000"/>
                            </a:lnSpc>
                            <a:spcAft>
                              <a:spcPts val="0"/>
                            </a:spcAft>
                          </a:pPr>
                          <a:r>
                            <a:rPr lang="en-IN" sz="1400" b="0" dirty="0">
                              <a:solidFill>
                                <a:schemeClr val="bg1"/>
                              </a:solidFill>
                              <a:effectLst/>
                              <a:latin typeface="Calibri" panose="020F0502020204030204" pitchFamily="34" charset="0"/>
                            </a:rPr>
                            <a:t>Relative mass</a:t>
                          </a:r>
                          <a:endParaRPr lang="en-MY" sz="14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tc>
                      <a:txBody>
                        <a:bodyPr/>
                        <a:lstStyle/>
                        <a:p>
                          <a:pPr algn="ctr">
                            <a:lnSpc>
                              <a:spcPct val="115000"/>
                            </a:lnSpc>
                            <a:spcAft>
                              <a:spcPts val="0"/>
                            </a:spcAft>
                          </a:pPr>
                          <a:r>
                            <a:rPr lang="en-IN" sz="1400" b="0" dirty="0">
                              <a:solidFill>
                                <a:schemeClr val="bg1"/>
                              </a:solidFill>
                              <a:effectLst/>
                              <a:latin typeface="Calibri" panose="020F0502020204030204" pitchFamily="34" charset="0"/>
                            </a:rPr>
                            <a:t>Relative charge</a:t>
                          </a:r>
                          <a:endParaRPr lang="en-MY" sz="14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extLst>
                      <a:ext uri="{0D108BD9-81ED-4DB2-BD59-A6C34878D82A}">
                        <a16:rowId xmlns:a16="http://schemas.microsoft.com/office/drawing/2014/main" val="10000"/>
                      </a:ext>
                    </a:extLst>
                  </a:tr>
                  <a:tr h="192786">
                    <a:tc>
                      <a:txBody>
                        <a:bodyPr/>
                        <a:lstStyle/>
                        <a:p>
                          <a:pPr>
                            <a:lnSpc>
                              <a:spcPct val="115000"/>
                            </a:lnSpc>
                            <a:spcAft>
                              <a:spcPts val="0"/>
                            </a:spcAft>
                          </a:pPr>
                          <a:r>
                            <a:rPr lang="en-IN" sz="1400" b="0" dirty="0">
                              <a:solidFill>
                                <a:srgbClr val="000000"/>
                              </a:solidFill>
                              <a:effectLst/>
                              <a:latin typeface="Calibri" panose="020F0502020204030204" pitchFamily="34" charset="0"/>
                            </a:rPr>
                            <a:t>Proton</a:t>
                          </a:r>
                          <a:endParaRPr lang="en-MY" sz="1400" b="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0"/>
                            </a:spcAft>
                          </a:pPr>
                          <a:r>
                            <a:rPr lang="en-IN" sz="1400" dirty="0">
                              <a:solidFill>
                                <a:srgbClr val="000000"/>
                              </a:solidFill>
                              <a:effectLst/>
                              <a:latin typeface="Calibri" panose="020F0502020204030204" pitchFamily="34" charset="0"/>
                            </a:rPr>
                            <a:t>Nucleus</a:t>
                          </a:r>
                          <a:endParaRPr lang="en-MY"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0"/>
                            </a:spcAft>
                          </a:pPr>
                          <a:r>
                            <a:rPr lang="en-IN" sz="1400" dirty="0">
                              <a:solidFill>
                                <a:srgbClr val="000000"/>
                              </a:solidFill>
                              <a:effectLst/>
                              <a:latin typeface="Calibri" panose="020F0502020204030204" pitchFamily="34" charset="0"/>
                            </a:rPr>
                            <a:t>1</a:t>
                          </a:r>
                          <a:endParaRPr lang="en-MY"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0"/>
                            </a:spcAft>
                          </a:pPr>
                          <a:r>
                            <a:rPr lang="en-IN" sz="1400">
                              <a:solidFill>
                                <a:srgbClr val="000000"/>
                              </a:solidFill>
                              <a:effectLst/>
                              <a:latin typeface="Calibri" panose="020F0502020204030204" pitchFamily="34" charset="0"/>
                            </a:rPr>
                            <a:t>+1</a:t>
                          </a:r>
                          <a:endParaRPr lang="en-MY" sz="1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192786">
                    <a:tc>
                      <a:txBody>
                        <a:bodyPr/>
                        <a:lstStyle/>
                        <a:p>
                          <a:pPr>
                            <a:lnSpc>
                              <a:spcPct val="115000"/>
                            </a:lnSpc>
                            <a:spcAft>
                              <a:spcPts val="0"/>
                            </a:spcAft>
                          </a:pPr>
                          <a:r>
                            <a:rPr lang="en-IN" sz="1400" b="0" dirty="0">
                              <a:solidFill>
                                <a:srgbClr val="000000"/>
                              </a:solidFill>
                              <a:effectLst/>
                              <a:latin typeface="Calibri" panose="020F0502020204030204" pitchFamily="34" charset="0"/>
                            </a:rPr>
                            <a:t>Neutron</a:t>
                          </a:r>
                          <a:endParaRPr lang="en-MY" sz="1400" b="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0"/>
                            </a:spcAft>
                          </a:pPr>
                          <a:r>
                            <a:rPr lang="en-IN" sz="1400">
                              <a:solidFill>
                                <a:srgbClr val="000000"/>
                              </a:solidFill>
                              <a:effectLst/>
                              <a:latin typeface="Calibri" panose="020F0502020204030204" pitchFamily="34" charset="0"/>
                            </a:rPr>
                            <a:t>Nucleus</a:t>
                          </a:r>
                          <a:endParaRPr lang="en-MY" sz="1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0"/>
                            </a:spcAft>
                          </a:pPr>
                          <a:r>
                            <a:rPr lang="en-IN" sz="1400" dirty="0">
                              <a:solidFill>
                                <a:srgbClr val="000000"/>
                              </a:solidFill>
                              <a:effectLst/>
                              <a:latin typeface="Calibri" panose="020F0502020204030204" pitchFamily="34" charset="0"/>
                            </a:rPr>
                            <a:t>1</a:t>
                          </a:r>
                          <a:endParaRPr lang="en-MY"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0"/>
                            </a:spcAft>
                          </a:pPr>
                          <a:r>
                            <a:rPr lang="en-IN" sz="1400">
                              <a:solidFill>
                                <a:srgbClr val="000000"/>
                              </a:solidFill>
                              <a:effectLst/>
                              <a:latin typeface="Calibri" panose="020F0502020204030204" pitchFamily="34" charset="0"/>
                            </a:rPr>
                            <a:t>0</a:t>
                          </a:r>
                          <a:endParaRPr lang="en-MY" sz="1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288544">
                    <a:tc>
                      <a:txBody>
                        <a:bodyPr/>
                        <a:lstStyle/>
                        <a:p>
                          <a:pPr>
                            <a:lnSpc>
                              <a:spcPct val="115000"/>
                            </a:lnSpc>
                            <a:spcAft>
                              <a:spcPts val="0"/>
                            </a:spcAft>
                          </a:pPr>
                          <a:r>
                            <a:rPr lang="en-IN" sz="1400" b="0" dirty="0">
                              <a:solidFill>
                                <a:srgbClr val="000000"/>
                              </a:solidFill>
                              <a:effectLst/>
                              <a:latin typeface="Calibri" panose="020F0502020204030204" pitchFamily="34" charset="0"/>
                            </a:rPr>
                            <a:t>Electron</a:t>
                          </a:r>
                          <a:endParaRPr lang="en-MY" sz="1400" b="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0"/>
                            </a:spcAft>
                          </a:pPr>
                          <a:r>
                            <a:rPr lang="en-IN" sz="1400" dirty="0">
                              <a:solidFill>
                                <a:srgbClr val="000000"/>
                              </a:solidFill>
                              <a:effectLst/>
                              <a:latin typeface="Calibri" panose="020F0502020204030204" pitchFamily="34" charset="0"/>
                            </a:rPr>
                            <a:t>Shells around the nucleus</a:t>
                          </a:r>
                          <a:endParaRPr lang="en-MY"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0"/>
                            </a:spcAft>
                          </a:pPr>
                          <a:r>
                            <a:rPr lang="en-IN" sz="1400" dirty="0">
                              <a:solidFill>
                                <a:srgbClr val="000000"/>
                              </a:solidFill>
                              <a:effectLst/>
                              <a:latin typeface="Calibri" panose="020F0502020204030204" pitchFamily="34" charset="0"/>
                            </a:rPr>
                            <a:t>Negligible </a:t>
                          </a:r>
                          <a14:m>
                            <m:oMath xmlns:m="http://schemas.openxmlformats.org/officeDocument/2006/math">
                              <m:d>
                                <m:dPr>
                                  <m:ctrlPr>
                                    <a:rPr lang="en-MY" sz="1400" i="1">
                                      <a:solidFill>
                                        <a:srgbClr val="000000"/>
                                      </a:solidFill>
                                      <a:effectLst/>
                                      <a:latin typeface="Cambria Math" panose="02040503050406030204" pitchFamily="18" charset="0"/>
                                    </a:rPr>
                                  </m:ctrlPr>
                                </m:dPr>
                                <m:e>
                                  <m:f>
                                    <m:fPr>
                                      <m:ctrlPr>
                                        <a:rPr lang="en-MY" sz="1400" i="1">
                                          <a:solidFill>
                                            <a:srgbClr val="000000"/>
                                          </a:solidFill>
                                          <a:effectLst/>
                                          <a:latin typeface="Cambria Math" panose="02040503050406030204" pitchFamily="18" charset="0"/>
                                        </a:rPr>
                                      </m:ctrlPr>
                                    </m:fPr>
                                    <m:num>
                                      <m:r>
                                        <a:rPr lang="en-IN" sz="1400">
                                          <a:solidFill>
                                            <a:srgbClr val="000000"/>
                                          </a:solidFill>
                                          <a:effectLst/>
                                          <a:latin typeface="Cambria Math" panose="02040503050406030204" pitchFamily="18" charset="0"/>
                                        </a:rPr>
                                        <m:t>1</m:t>
                                      </m:r>
                                    </m:num>
                                    <m:den>
                                      <m:r>
                                        <a:rPr lang="en-IN" sz="1400">
                                          <a:solidFill>
                                            <a:srgbClr val="000000"/>
                                          </a:solidFill>
                                          <a:effectLst/>
                                          <a:latin typeface="Cambria Math" panose="02040503050406030204" pitchFamily="18" charset="0"/>
                                        </a:rPr>
                                        <m:t>1840</m:t>
                                      </m:r>
                                    </m:den>
                                  </m:f>
                                </m:e>
                              </m:d>
                            </m:oMath>
                          </a14:m>
                          <a:endParaRPr lang="en-MY"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0"/>
                            </a:spcAft>
                          </a:pPr>
                          <a:r>
                            <a:rPr lang="en-IN" sz="1400" dirty="0">
                              <a:solidFill>
                                <a:srgbClr val="000000"/>
                              </a:solidFill>
                              <a:effectLst/>
                              <a:latin typeface="Calibri" panose="020F0502020204030204" pitchFamily="34" charset="0"/>
                            </a:rPr>
                            <a:t>-1</a:t>
                          </a:r>
                          <a:endParaRPr lang="en-MY"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2195868067"/>
                  </p:ext>
                </p:extLst>
              </p:nvPr>
            </p:nvGraphicFramePr>
            <p:xfrm>
              <a:off x="412835" y="3729065"/>
              <a:ext cx="4932000" cy="1212406"/>
            </p:xfrm>
            <a:graphic>
              <a:graphicData uri="http://schemas.openxmlformats.org/drawingml/2006/table">
                <a:tbl>
                  <a:tblPr firstRow="1" firstCol="1" bandRow="1">
                    <a:tableStyleId>{5C22544A-7EE6-4342-B048-85BDC9FD1C3A}</a:tableStyleId>
                  </a:tblPr>
                  <a:tblGrid>
                    <a:gridCol w="792000"/>
                    <a:gridCol w="1332000"/>
                    <a:gridCol w="1404000"/>
                    <a:gridCol w="1404000"/>
                  </a:tblGrid>
                  <a:tr h="230950">
                    <a:tc>
                      <a:txBody>
                        <a:bodyPr/>
                        <a:lstStyle/>
                        <a:p>
                          <a:pPr algn="ctr">
                            <a:lnSpc>
                              <a:spcPct val="115000"/>
                            </a:lnSpc>
                            <a:spcAft>
                              <a:spcPts val="0"/>
                            </a:spcAft>
                          </a:pPr>
                          <a:r>
                            <a:rPr lang="en-IN" sz="1400" b="0" dirty="0">
                              <a:solidFill>
                                <a:schemeClr val="bg1"/>
                              </a:solidFill>
                              <a:effectLst/>
                              <a:latin typeface="Calibri" panose="020F0502020204030204" pitchFamily="34" charset="0"/>
                            </a:rPr>
                            <a:t>Particle</a:t>
                          </a:r>
                          <a:endParaRPr lang="en-MY" sz="14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tc>
                      <a:txBody>
                        <a:bodyPr/>
                        <a:lstStyle/>
                        <a:p>
                          <a:pPr algn="ctr">
                            <a:lnSpc>
                              <a:spcPct val="115000"/>
                            </a:lnSpc>
                            <a:spcAft>
                              <a:spcPts val="0"/>
                            </a:spcAft>
                          </a:pPr>
                          <a:r>
                            <a:rPr lang="en-IN" sz="1400" b="0" dirty="0">
                              <a:solidFill>
                                <a:schemeClr val="bg1"/>
                              </a:solidFill>
                              <a:effectLst/>
                              <a:latin typeface="Calibri" panose="020F0502020204030204" pitchFamily="34" charset="0"/>
                            </a:rPr>
                            <a:t>Location</a:t>
                          </a:r>
                          <a:endParaRPr lang="en-MY" sz="14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tc>
                      <a:txBody>
                        <a:bodyPr/>
                        <a:lstStyle/>
                        <a:p>
                          <a:pPr algn="ctr">
                            <a:lnSpc>
                              <a:spcPct val="115000"/>
                            </a:lnSpc>
                            <a:spcAft>
                              <a:spcPts val="0"/>
                            </a:spcAft>
                          </a:pPr>
                          <a:r>
                            <a:rPr lang="en-IN" sz="1400" b="0" dirty="0">
                              <a:solidFill>
                                <a:schemeClr val="bg1"/>
                              </a:solidFill>
                              <a:effectLst/>
                              <a:latin typeface="Calibri" panose="020F0502020204030204" pitchFamily="34" charset="0"/>
                            </a:rPr>
                            <a:t>Relative mass</a:t>
                          </a:r>
                          <a:endParaRPr lang="en-MY" sz="14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tc>
                      <a:txBody>
                        <a:bodyPr/>
                        <a:lstStyle/>
                        <a:p>
                          <a:pPr algn="ctr">
                            <a:lnSpc>
                              <a:spcPct val="115000"/>
                            </a:lnSpc>
                            <a:spcAft>
                              <a:spcPts val="0"/>
                            </a:spcAft>
                          </a:pPr>
                          <a:r>
                            <a:rPr lang="en-IN" sz="1400" b="0" dirty="0">
                              <a:solidFill>
                                <a:schemeClr val="bg1"/>
                              </a:solidFill>
                              <a:effectLst/>
                              <a:latin typeface="Calibri" panose="020F0502020204030204" pitchFamily="34" charset="0"/>
                            </a:rPr>
                            <a:t>Relative charge</a:t>
                          </a:r>
                          <a:endParaRPr lang="en-MY" sz="14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tr>
                  <a:tr h="245364">
                    <a:tc>
                      <a:txBody>
                        <a:bodyPr/>
                        <a:lstStyle/>
                        <a:p>
                          <a:pPr>
                            <a:lnSpc>
                              <a:spcPct val="115000"/>
                            </a:lnSpc>
                            <a:spcAft>
                              <a:spcPts val="0"/>
                            </a:spcAft>
                          </a:pPr>
                          <a:r>
                            <a:rPr lang="en-IN" sz="1400" b="0" dirty="0">
                              <a:solidFill>
                                <a:srgbClr val="000000"/>
                              </a:solidFill>
                              <a:effectLst/>
                              <a:latin typeface="Calibri" panose="020F0502020204030204" pitchFamily="34" charset="0"/>
                            </a:rPr>
                            <a:t>Proton</a:t>
                          </a:r>
                          <a:endParaRPr lang="en-MY" sz="1400" b="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0"/>
                            </a:spcAft>
                          </a:pPr>
                          <a:r>
                            <a:rPr lang="en-IN" sz="1400" dirty="0">
                              <a:solidFill>
                                <a:srgbClr val="000000"/>
                              </a:solidFill>
                              <a:effectLst/>
                              <a:latin typeface="Calibri" panose="020F0502020204030204" pitchFamily="34" charset="0"/>
                            </a:rPr>
                            <a:t>Nucleus</a:t>
                          </a:r>
                          <a:endParaRPr lang="en-MY"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0"/>
                            </a:spcAft>
                          </a:pPr>
                          <a:r>
                            <a:rPr lang="en-IN" sz="1400" dirty="0">
                              <a:solidFill>
                                <a:srgbClr val="000000"/>
                              </a:solidFill>
                              <a:effectLst/>
                              <a:latin typeface="Calibri" panose="020F0502020204030204" pitchFamily="34" charset="0"/>
                            </a:rPr>
                            <a:t>1</a:t>
                          </a:r>
                          <a:endParaRPr lang="en-MY"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0"/>
                            </a:spcAft>
                          </a:pPr>
                          <a:r>
                            <a:rPr lang="en-IN" sz="1400">
                              <a:solidFill>
                                <a:srgbClr val="000000"/>
                              </a:solidFill>
                              <a:effectLst/>
                              <a:latin typeface="Calibri" panose="020F0502020204030204" pitchFamily="34" charset="0"/>
                            </a:rPr>
                            <a:t>+1</a:t>
                          </a:r>
                          <a:endParaRPr lang="en-MY" sz="1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245364">
                    <a:tc>
                      <a:txBody>
                        <a:bodyPr/>
                        <a:lstStyle/>
                        <a:p>
                          <a:pPr>
                            <a:lnSpc>
                              <a:spcPct val="115000"/>
                            </a:lnSpc>
                            <a:spcAft>
                              <a:spcPts val="0"/>
                            </a:spcAft>
                          </a:pPr>
                          <a:r>
                            <a:rPr lang="en-IN" sz="1400" b="0" dirty="0">
                              <a:solidFill>
                                <a:srgbClr val="000000"/>
                              </a:solidFill>
                              <a:effectLst/>
                              <a:latin typeface="Calibri" panose="020F0502020204030204" pitchFamily="34" charset="0"/>
                            </a:rPr>
                            <a:t>Neutron</a:t>
                          </a:r>
                          <a:endParaRPr lang="en-MY" sz="1400" b="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0"/>
                            </a:spcAft>
                          </a:pPr>
                          <a:r>
                            <a:rPr lang="en-IN" sz="1400">
                              <a:solidFill>
                                <a:srgbClr val="000000"/>
                              </a:solidFill>
                              <a:effectLst/>
                              <a:latin typeface="Calibri" panose="020F0502020204030204" pitchFamily="34" charset="0"/>
                            </a:rPr>
                            <a:t>Nucleus</a:t>
                          </a:r>
                          <a:endParaRPr lang="en-MY" sz="1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0"/>
                            </a:spcAft>
                          </a:pPr>
                          <a:r>
                            <a:rPr lang="en-IN" sz="1400" dirty="0">
                              <a:solidFill>
                                <a:srgbClr val="000000"/>
                              </a:solidFill>
                              <a:effectLst/>
                              <a:latin typeface="Calibri" panose="020F0502020204030204" pitchFamily="34" charset="0"/>
                            </a:rPr>
                            <a:t>1</a:t>
                          </a:r>
                          <a:endParaRPr lang="en-MY"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0"/>
                            </a:spcAft>
                          </a:pPr>
                          <a:r>
                            <a:rPr lang="en-IN" sz="1400">
                              <a:solidFill>
                                <a:srgbClr val="000000"/>
                              </a:solidFill>
                              <a:effectLst/>
                              <a:latin typeface="Calibri" panose="020F0502020204030204" pitchFamily="34" charset="0"/>
                            </a:rPr>
                            <a:t>0</a:t>
                          </a:r>
                          <a:endParaRPr lang="en-MY" sz="1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490728">
                    <a:tc>
                      <a:txBody>
                        <a:bodyPr/>
                        <a:lstStyle/>
                        <a:p>
                          <a:pPr>
                            <a:lnSpc>
                              <a:spcPct val="115000"/>
                            </a:lnSpc>
                            <a:spcAft>
                              <a:spcPts val="0"/>
                            </a:spcAft>
                          </a:pPr>
                          <a:r>
                            <a:rPr lang="en-IN" sz="1400" b="0" dirty="0">
                              <a:solidFill>
                                <a:srgbClr val="000000"/>
                              </a:solidFill>
                              <a:effectLst/>
                              <a:latin typeface="Calibri" panose="020F0502020204030204" pitchFamily="34" charset="0"/>
                            </a:rPr>
                            <a:t>Electron</a:t>
                          </a:r>
                          <a:endParaRPr lang="en-MY" sz="1400" b="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0"/>
                            </a:spcAft>
                          </a:pPr>
                          <a:r>
                            <a:rPr lang="en-IN" sz="1400" dirty="0">
                              <a:solidFill>
                                <a:srgbClr val="000000"/>
                              </a:solidFill>
                              <a:effectLst/>
                              <a:latin typeface="Calibri" panose="020F0502020204030204" pitchFamily="34" charset="0"/>
                            </a:rPr>
                            <a:t>Shells around the nucleus</a:t>
                          </a:r>
                          <a:endParaRPr lang="en-MY"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152174" t="-154321" r="-101304" b="-18519"/>
                          </a:stretch>
                        </a:blipFill>
                      </a:tcPr>
                    </a:tc>
                    <a:tc>
                      <a:txBody>
                        <a:bodyPr/>
                        <a:lstStyle/>
                        <a:p>
                          <a:pPr algn="ctr">
                            <a:lnSpc>
                              <a:spcPct val="115000"/>
                            </a:lnSpc>
                            <a:spcAft>
                              <a:spcPts val="0"/>
                            </a:spcAft>
                          </a:pPr>
                          <a:r>
                            <a:rPr lang="en-IN" sz="1400" dirty="0">
                              <a:solidFill>
                                <a:srgbClr val="000000"/>
                              </a:solidFill>
                              <a:effectLst/>
                              <a:latin typeface="Calibri" panose="020F0502020204030204" pitchFamily="34" charset="0"/>
                            </a:rPr>
                            <a:t>-1</a:t>
                          </a:r>
                          <a:endParaRPr lang="en-MY"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bl>
              </a:graphicData>
            </a:graphic>
          </p:graphicFrame>
        </mc:Fallback>
      </mc:AlternateContent>
    </p:spTree>
    <p:extLst>
      <p:ext uri="{BB962C8B-B14F-4D97-AF65-F5344CB8AC3E}">
        <p14:creationId xmlns:p14="http://schemas.microsoft.com/office/powerpoint/2010/main" val="138099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8"/>
          <p:cNvSpPr txBox="1">
            <a:spLocks noGrp="1"/>
          </p:cNvSpPr>
          <p:nvPr>
            <p:ph type="title"/>
          </p:nvPr>
        </p:nvSpPr>
        <p:spPr>
          <a:xfrm>
            <a:off x="933025" y="592925"/>
            <a:ext cx="7808204" cy="767700"/>
          </a:xfrm>
          <a:prstGeom prst="rect">
            <a:avLst/>
          </a:prstGeom>
          <a:noFill/>
          <a:ln>
            <a:noFill/>
          </a:ln>
        </p:spPr>
        <p:txBody>
          <a:bodyPr spcFirstLastPara="1" wrap="square" lIns="91425" tIns="91425" rIns="91425" bIns="91425" anchor="b" anchorCtr="0">
            <a:noAutofit/>
          </a:bodyPr>
          <a:lstStyle/>
          <a:p>
            <a:pPr marL="114300" lvl="0" indent="0" algn="l" rtl="0">
              <a:lnSpc>
                <a:spcPct val="100000"/>
              </a:lnSpc>
              <a:spcBef>
                <a:spcPts val="0"/>
              </a:spcBef>
              <a:spcAft>
                <a:spcPts val="0"/>
              </a:spcAft>
              <a:buSzPts val="1800"/>
              <a:buNone/>
            </a:pPr>
            <a:r>
              <a:rPr lang="en-US" dirty="0">
                <a:latin typeface="Calibri"/>
                <a:ea typeface="Calibri"/>
                <a:cs typeface="Calibri"/>
                <a:sym typeface="Calibri"/>
              </a:rPr>
              <a:t>Mass number and atomic number</a:t>
            </a:r>
          </a:p>
        </p:txBody>
      </p:sp>
      <p:sp>
        <p:nvSpPr>
          <p:cNvPr id="139" name="Google Shape;139;p28"/>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00050" marR="0" lvl="0" indent="-285750" algn="l" rtl="0">
              <a:lnSpc>
                <a:spcPct val="100000"/>
              </a:lnSpc>
              <a:spcBef>
                <a:spcPts val="0"/>
              </a:spcBef>
              <a:spcAft>
                <a:spcPts val="0"/>
              </a:spcAft>
              <a:buClr>
                <a:srgbClr val="000000"/>
              </a:buClr>
              <a:buSzPts val="1800"/>
              <a:buFont typeface="Arial"/>
              <a:buChar char="•"/>
            </a:pPr>
            <a:r>
              <a:rPr lang="en-US" sz="1600" b="0" i="0" u="none" strike="noStrike" cap="none" dirty="0">
                <a:solidFill>
                  <a:srgbClr val="000000"/>
                </a:solidFill>
                <a:latin typeface="Calibri"/>
                <a:ea typeface="Calibri"/>
                <a:cs typeface="Calibri"/>
                <a:sym typeface="Calibri"/>
              </a:rPr>
              <a:t>In a neutral atom, the number of protons and the number of electrons are always equal because their charge is equal in size but opposite in nature. </a:t>
            </a:r>
          </a:p>
          <a:p>
            <a:pPr marL="400050" marR="0" lvl="0" indent="-285750" algn="l" rtl="0">
              <a:lnSpc>
                <a:spcPct val="100000"/>
              </a:lnSpc>
              <a:spcBef>
                <a:spcPts val="0"/>
              </a:spcBef>
              <a:spcAft>
                <a:spcPts val="0"/>
              </a:spcAft>
              <a:buClr>
                <a:srgbClr val="000000"/>
              </a:buClr>
              <a:buSzPts val="1800"/>
              <a:buFont typeface="Arial"/>
              <a:buChar char="•"/>
            </a:pPr>
            <a:r>
              <a:rPr lang="en-US" sz="1600" b="0" i="0" u="none" strike="noStrike" cap="none" dirty="0">
                <a:solidFill>
                  <a:srgbClr val="000000"/>
                </a:solidFill>
                <a:latin typeface="Calibri"/>
                <a:ea typeface="Calibri"/>
                <a:cs typeface="Calibri"/>
                <a:sym typeface="Calibri"/>
              </a:rPr>
              <a:t>Each element is represented in the form of </a:t>
            </a:r>
            <a:r>
              <a:rPr lang="en-US" sz="1600" b="0" i="0" u="none" strike="noStrike" cap="none" baseline="30000" dirty="0">
                <a:solidFill>
                  <a:srgbClr val="000000"/>
                </a:solidFill>
                <a:latin typeface="Calibri"/>
                <a:ea typeface="Calibri"/>
                <a:cs typeface="Calibri"/>
                <a:sym typeface="Calibri"/>
              </a:rPr>
              <a:t>M</a:t>
            </a:r>
            <a:r>
              <a:rPr lang="en-US" sz="1600" b="0" i="0" u="none" strike="noStrike" cap="none" baseline="-25000" dirty="0">
                <a:solidFill>
                  <a:srgbClr val="000000"/>
                </a:solidFill>
                <a:latin typeface="Calibri"/>
                <a:ea typeface="Calibri"/>
                <a:cs typeface="Calibri"/>
                <a:sym typeface="Calibri"/>
              </a:rPr>
              <a:t>P</a:t>
            </a:r>
            <a:r>
              <a:rPr lang="en-US" sz="1600" b="0" i="0" u="none" strike="noStrike" cap="none" dirty="0">
                <a:solidFill>
                  <a:srgbClr val="000000"/>
                </a:solidFill>
                <a:latin typeface="Calibri"/>
                <a:ea typeface="Calibri"/>
                <a:cs typeface="Calibri"/>
                <a:sym typeface="Calibri"/>
              </a:rPr>
              <a:t>X, where X is the symbol of the element, M is the mass number or nucleon number, and P is the proton or atomic number. </a:t>
            </a:r>
          </a:p>
          <a:p>
            <a:pPr marL="400050" marR="0" lvl="0" indent="-285750" algn="l" rtl="0">
              <a:lnSpc>
                <a:spcPct val="100000"/>
              </a:lnSpc>
              <a:spcBef>
                <a:spcPts val="0"/>
              </a:spcBef>
              <a:spcAft>
                <a:spcPts val="0"/>
              </a:spcAft>
              <a:buClr>
                <a:srgbClr val="000000"/>
              </a:buClr>
              <a:buSzPts val="1800"/>
              <a:buFont typeface="Arial"/>
              <a:buChar char="•"/>
            </a:pPr>
            <a:r>
              <a:rPr lang="en-US" sz="1600" b="0" i="0" u="none" strike="noStrike" cap="none" dirty="0">
                <a:solidFill>
                  <a:srgbClr val="000000"/>
                </a:solidFill>
                <a:latin typeface="Calibri"/>
                <a:ea typeface="Calibri"/>
                <a:cs typeface="Calibri"/>
                <a:sym typeface="Calibri"/>
              </a:rPr>
              <a:t>Mass number is the total number of protons and neutrons in an atom. </a:t>
            </a:r>
          </a:p>
          <a:p>
            <a:pPr marL="400050" marR="0" lvl="0" indent="-285750" algn="l" rtl="0">
              <a:lnSpc>
                <a:spcPct val="100000"/>
              </a:lnSpc>
              <a:spcBef>
                <a:spcPts val="0"/>
              </a:spcBef>
              <a:spcAft>
                <a:spcPts val="0"/>
              </a:spcAft>
              <a:buClr>
                <a:srgbClr val="000000"/>
              </a:buClr>
              <a:buSzPts val="1800"/>
              <a:buFont typeface="Arial"/>
              <a:buChar char="•"/>
            </a:pPr>
            <a:r>
              <a:rPr lang="en-US" sz="1600" b="0" i="0" u="none" strike="noStrike" cap="none" dirty="0">
                <a:solidFill>
                  <a:srgbClr val="000000"/>
                </a:solidFill>
                <a:latin typeface="Calibri"/>
                <a:ea typeface="Calibri"/>
                <a:cs typeface="Calibri"/>
                <a:sym typeface="Calibri"/>
              </a:rPr>
              <a:t>Atomic number is the number of protons in an atom. </a:t>
            </a:r>
          </a:p>
        </p:txBody>
      </p:sp>
      <p:pic>
        <p:nvPicPr>
          <p:cNvPr id="3" name="Picture 2">
            <a:extLst>
              <a:ext uri="{FF2B5EF4-FFF2-40B4-BE49-F238E27FC236}">
                <a16:creationId xmlns:a16="http://schemas.microsoft.com/office/drawing/2014/main" id="{02224B80-0897-4FCD-BAB2-FD92C4E3330E}"/>
              </a:ext>
            </a:extLst>
          </p:cNvPr>
          <p:cNvPicPr>
            <a:picLocks noChangeAspect="1"/>
          </p:cNvPicPr>
          <p:nvPr/>
        </p:nvPicPr>
        <p:blipFill>
          <a:blip r:embed="rId3"/>
          <a:stretch>
            <a:fillRect/>
          </a:stretch>
        </p:blipFill>
        <p:spPr>
          <a:xfrm>
            <a:off x="2981956" y="3971637"/>
            <a:ext cx="2554445" cy="1097375"/>
          </a:xfrm>
          <a:prstGeom prst="rect">
            <a:avLst/>
          </a:prstGeom>
        </p:spPr>
      </p:pic>
    </p:spTree>
    <p:extLst>
      <p:ext uri="{BB962C8B-B14F-4D97-AF65-F5344CB8AC3E}">
        <p14:creationId xmlns:p14="http://schemas.microsoft.com/office/powerpoint/2010/main" val="16238851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8"/>
          <p:cNvSpPr txBox="1">
            <a:spLocks noGrp="1"/>
          </p:cNvSpPr>
          <p:nvPr>
            <p:ph type="title"/>
          </p:nvPr>
        </p:nvSpPr>
        <p:spPr>
          <a:xfrm>
            <a:off x="933025" y="592925"/>
            <a:ext cx="7808204" cy="767700"/>
          </a:xfrm>
          <a:prstGeom prst="rect">
            <a:avLst/>
          </a:prstGeom>
          <a:noFill/>
          <a:ln>
            <a:noFill/>
          </a:ln>
        </p:spPr>
        <p:txBody>
          <a:bodyPr spcFirstLastPara="1" wrap="square" lIns="91425" tIns="91425" rIns="91425" bIns="91425" anchor="b" anchorCtr="0">
            <a:noAutofit/>
          </a:bodyPr>
          <a:lstStyle/>
          <a:p>
            <a:pPr marL="114300" lvl="0" indent="0" algn="l" rtl="0">
              <a:lnSpc>
                <a:spcPct val="100000"/>
              </a:lnSpc>
              <a:spcBef>
                <a:spcPts val="0"/>
              </a:spcBef>
              <a:spcAft>
                <a:spcPts val="0"/>
              </a:spcAft>
              <a:buSzPts val="1800"/>
              <a:buNone/>
            </a:pPr>
            <a:r>
              <a:rPr lang="en-US" dirty="0">
                <a:latin typeface="Calibri"/>
                <a:ea typeface="Calibri"/>
                <a:cs typeface="Calibri"/>
                <a:sym typeface="Calibri"/>
              </a:rPr>
              <a:t>Mass number and atomic number</a:t>
            </a:r>
          </a:p>
        </p:txBody>
      </p:sp>
      <p:sp>
        <p:nvSpPr>
          <p:cNvPr id="139" name="Google Shape;139;p28"/>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00050" marR="0" lvl="0" indent="-285750" algn="l" rtl="0">
              <a:lnSpc>
                <a:spcPct val="100000"/>
              </a:lnSpc>
              <a:spcBef>
                <a:spcPts val="0"/>
              </a:spcBef>
              <a:spcAft>
                <a:spcPts val="0"/>
              </a:spcAft>
              <a:buClr>
                <a:srgbClr val="000000"/>
              </a:buClr>
              <a:buSzPts val="1800"/>
              <a:buFont typeface="Arial"/>
              <a:buChar char="•"/>
            </a:pPr>
            <a:r>
              <a:rPr lang="en-US" sz="1600" b="0" i="0" u="none" strike="noStrike" cap="none" dirty="0">
                <a:solidFill>
                  <a:srgbClr val="000000"/>
                </a:solidFill>
                <a:latin typeface="Calibri"/>
                <a:ea typeface="Calibri"/>
                <a:cs typeface="Calibri"/>
                <a:sym typeface="Calibri"/>
              </a:rPr>
              <a:t>Examples</a:t>
            </a:r>
          </a:p>
        </p:txBody>
      </p:sp>
      <p:graphicFrame>
        <p:nvGraphicFramePr>
          <p:cNvPr id="7" name="Table 6">
            <a:extLst>
              <a:ext uri="{FF2B5EF4-FFF2-40B4-BE49-F238E27FC236}">
                <a16:creationId xmlns:a16="http://schemas.microsoft.com/office/drawing/2014/main" id="{EFDC07C6-7337-41F4-818D-CBD0BCAF10D6}"/>
              </a:ext>
            </a:extLst>
          </p:cNvPr>
          <p:cNvGraphicFramePr>
            <a:graphicFrameLocks noGrp="1"/>
          </p:cNvGraphicFramePr>
          <p:nvPr/>
        </p:nvGraphicFramePr>
        <p:xfrm>
          <a:off x="702600" y="2559178"/>
          <a:ext cx="6264000" cy="1961147"/>
        </p:xfrm>
        <a:graphic>
          <a:graphicData uri="http://schemas.openxmlformats.org/drawingml/2006/table">
            <a:tbl>
              <a:tblPr/>
              <a:tblGrid>
                <a:gridCol w="1044000">
                  <a:extLst>
                    <a:ext uri="{9D8B030D-6E8A-4147-A177-3AD203B41FA5}">
                      <a16:colId xmlns:a16="http://schemas.microsoft.com/office/drawing/2014/main" val="20000"/>
                    </a:ext>
                  </a:extLst>
                </a:gridCol>
                <a:gridCol w="1044000">
                  <a:extLst>
                    <a:ext uri="{9D8B030D-6E8A-4147-A177-3AD203B41FA5}">
                      <a16:colId xmlns:a16="http://schemas.microsoft.com/office/drawing/2014/main" val="20001"/>
                    </a:ext>
                  </a:extLst>
                </a:gridCol>
                <a:gridCol w="1044000">
                  <a:extLst>
                    <a:ext uri="{9D8B030D-6E8A-4147-A177-3AD203B41FA5}">
                      <a16:colId xmlns:a16="http://schemas.microsoft.com/office/drawing/2014/main" val="20002"/>
                    </a:ext>
                  </a:extLst>
                </a:gridCol>
                <a:gridCol w="1044000">
                  <a:extLst>
                    <a:ext uri="{9D8B030D-6E8A-4147-A177-3AD203B41FA5}">
                      <a16:colId xmlns:a16="http://schemas.microsoft.com/office/drawing/2014/main" val="20003"/>
                    </a:ext>
                  </a:extLst>
                </a:gridCol>
                <a:gridCol w="1044000">
                  <a:extLst>
                    <a:ext uri="{9D8B030D-6E8A-4147-A177-3AD203B41FA5}">
                      <a16:colId xmlns:a16="http://schemas.microsoft.com/office/drawing/2014/main" val="20004"/>
                    </a:ext>
                  </a:extLst>
                </a:gridCol>
                <a:gridCol w="1044000">
                  <a:extLst>
                    <a:ext uri="{9D8B030D-6E8A-4147-A177-3AD203B41FA5}">
                      <a16:colId xmlns:a16="http://schemas.microsoft.com/office/drawing/2014/main" val="20005"/>
                    </a:ext>
                  </a:extLst>
                </a:gridCol>
              </a:tblGrid>
              <a:tr h="866258">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r>
                        <a:rPr lang="en-IN" sz="1600" b="0" dirty="0">
                          <a:solidFill>
                            <a:schemeClr val="bg1"/>
                          </a:solidFill>
                          <a:latin typeface="Calibri" panose="020F0502020204030204" pitchFamily="34" charset="0"/>
                          <a:ea typeface="Times New Roman"/>
                          <a:cs typeface="Calibri" panose="020F0502020204030204" pitchFamily="34" charset="0"/>
                        </a:rPr>
                        <a:t>Element</a:t>
                      </a:r>
                      <a:endParaRPr lang="en-IN" sz="1600" b="0" dirty="0">
                        <a:solidFill>
                          <a:schemeClr val="bg1"/>
                        </a:solidFill>
                        <a:latin typeface="Calibri" panose="020F0502020204030204" pitchFamily="34" charset="0"/>
                        <a:ea typeface="Calibri"/>
                        <a:cs typeface="Calibri" panose="020F0502020204030204" pitchFamily="34" charset="0"/>
                      </a:endParaRPr>
                    </a:p>
                  </a:txBody>
                  <a:tcPr marL="39840" marR="398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r>
                        <a:rPr lang="en-IN" sz="1600" b="0" dirty="0">
                          <a:solidFill>
                            <a:schemeClr val="bg1"/>
                          </a:solidFill>
                          <a:latin typeface="Calibri" panose="020F0502020204030204" pitchFamily="34" charset="0"/>
                          <a:ea typeface="Times New Roman"/>
                          <a:cs typeface="Calibri" panose="020F0502020204030204" pitchFamily="34" charset="0"/>
                        </a:rPr>
                        <a:t>Symbol</a:t>
                      </a:r>
                      <a:endParaRPr lang="en-IN" sz="1600" b="0" dirty="0">
                        <a:solidFill>
                          <a:schemeClr val="bg1"/>
                        </a:solidFill>
                        <a:latin typeface="Calibri" panose="020F0502020204030204" pitchFamily="34" charset="0"/>
                        <a:ea typeface="Calibri"/>
                        <a:cs typeface="Calibri" panose="020F0502020204030204" pitchFamily="34" charset="0"/>
                      </a:endParaRPr>
                    </a:p>
                  </a:txBody>
                  <a:tcPr marL="39840" marR="398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r>
                        <a:rPr lang="en-IN" sz="1600" b="0" dirty="0">
                          <a:solidFill>
                            <a:schemeClr val="bg1"/>
                          </a:solidFill>
                          <a:latin typeface="Calibri" panose="020F0502020204030204" pitchFamily="34" charset="0"/>
                          <a:ea typeface="Times New Roman"/>
                          <a:cs typeface="Calibri" panose="020F0502020204030204" pitchFamily="34" charset="0"/>
                        </a:rPr>
                        <a:t>Mass number (</a:t>
                      </a:r>
                      <a:r>
                        <a:rPr lang="en-IN" sz="1600" b="0" dirty="0" err="1">
                          <a:solidFill>
                            <a:schemeClr val="bg1"/>
                          </a:solidFill>
                          <a:latin typeface="Calibri" panose="020F0502020204030204" pitchFamily="34" charset="0"/>
                          <a:ea typeface="Times New Roman"/>
                          <a:cs typeface="Calibri" panose="020F0502020204030204" pitchFamily="34" charset="0"/>
                        </a:rPr>
                        <a:t>p+n</a:t>
                      </a:r>
                      <a:r>
                        <a:rPr lang="en-IN" sz="1600" b="0" dirty="0">
                          <a:solidFill>
                            <a:schemeClr val="bg1"/>
                          </a:solidFill>
                          <a:latin typeface="Calibri" panose="020F0502020204030204" pitchFamily="34" charset="0"/>
                          <a:ea typeface="Times New Roman"/>
                          <a:cs typeface="Calibri" panose="020F0502020204030204" pitchFamily="34" charset="0"/>
                        </a:rPr>
                        <a:t>)</a:t>
                      </a:r>
                      <a:endParaRPr lang="en-IN" sz="1600" b="0" dirty="0">
                        <a:solidFill>
                          <a:schemeClr val="bg1"/>
                        </a:solidFill>
                        <a:latin typeface="Calibri" panose="020F0502020204030204" pitchFamily="34" charset="0"/>
                        <a:ea typeface="Calibri"/>
                        <a:cs typeface="Calibri" panose="020F0502020204030204" pitchFamily="34" charset="0"/>
                      </a:endParaRPr>
                    </a:p>
                  </a:txBody>
                  <a:tcPr marL="39840" marR="398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r>
                        <a:rPr lang="en-IN" sz="1600" b="0" dirty="0">
                          <a:solidFill>
                            <a:schemeClr val="bg1"/>
                          </a:solidFill>
                          <a:latin typeface="Calibri" panose="020F0502020204030204" pitchFamily="34" charset="0"/>
                          <a:ea typeface="Times New Roman"/>
                          <a:cs typeface="Calibri" panose="020F0502020204030204" pitchFamily="34" charset="0"/>
                        </a:rPr>
                        <a:t>Atomic number (p)</a:t>
                      </a:r>
                      <a:endParaRPr lang="en-IN" sz="1600" b="0" dirty="0">
                        <a:solidFill>
                          <a:schemeClr val="bg1"/>
                        </a:solidFill>
                        <a:latin typeface="Calibri" panose="020F0502020204030204" pitchFamily="34" charset="0"/>
                        <a:ea typeface="Calibri"/>
                        <a:cs typeface="Calibri" panose="020F0502020204030204" pitchFamily="34" charset="0"/>
                      </a:endParaRPr>
                    </a:p>
                  </a:txBody>
                  <a:tcPr marL="39840" marR="398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r>
                        <a:rPr lang="en-IN" sz="1600" b="0" dirty="0">
                          <a:solidFill>
                            <a:schemeClr val="bg1"/>
                          </a:solidFill>
                          <a:latin typeface="Calibri" panose="020F0502020204030204" pitchFamily="34" charset="0"/>
                          <a:ea typeface="Times New Roman"/>
                          <a:cs typeface="Calibri" panose="020F0502020204030204" pitchFamily="34" charset="0"/>
                        </a:rPr>
                        <a:t>Number of protons (p)</a:t>
                      </a:r>
                      <a:endParaRPr lang="en-IN" sz="1600" b="0" dirty="0">
                        <a:solidFill>
                          <a:schemeClr val="bg1"/>
                        </a:solidFill>
                        <a:latin typeface="Calibri" panose="020F0502020204030204" pitchFamily="34" charset="0"/>
                        <a:ea typeface="Calibri"/>
                        <a:cs typeface="Calibri" panose="020F0502020204030204" pitchFamily="34" charset="0"/>
                      </a:endParaRPr>
                    </a:p>
                  </a:txBody>
                  <a:tcPr marL="39840" marR="398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r>
                        <a:rPr lang="en-IN" sz="1600" b="0" dirty="0">
                          <a:solidFill>
                            <a:schemeClr val="bg1"/>
                          </a:solidFill>
                          <a:latin typeface="Calibri" panose="020F0502020204030204" pitchFamily="34" charset="0"/>
                          <a:ea typeface="Times New Roman"/>
                          <a:cs typeface="Calibri" panose="020F0502020204030204" pitchFamily="34" charset="0"/>
                        </a:rPr>
                        <a:t>Number of neutrons (n)</a:t>
                      </a:r>
                      <a:endParaRPr lang="en-IN" sz="1600" b="0" dirty="0">
                        <a:solidFill>
                          <a:schemeClr val="bg1"/>
                        </a:solidFill>
                        <a:latin typeface="Calibri" panose="020F0502020204030204" pitchFamily="34" charset="0"/>
                        <a:ea typeface="Calibri"/>
                        <a:cs typeface="Calibri" panose="020F0502020204030204" pitchFamily="34" charset="0"/>
                      </a:endParaRPr>
                    </a:p>
                  </a:txBody>
                  <a:tcPr marL="39840" marR="398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0"/>
                  </a:ext>
                </a:extLst>
              </a:tr>
              <a:tr h="364963">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r>
                        <a:rPr lang="en-IN" sz="1600" dirty="0">
                          <a:solidFill>
                            <a:schemeClr val="bg2">
                              <a:lumMod val="50000"/>
                            </a:schemeClr>
                          </a:solidFill>
                          <a:latin typeface="Calibri" panose="020F0502020204030204" pitchFamily="34" charset="0"/>
                          <a:ea typeface="Times New Roman"/>
                          <a:cs typeface="Calibri" panose="020F0502020204030204" pitchFamily="34" charset="0"/>
                        </a:rPr>
                        <a:t>Sodium</a:t>
                      </a:r>
                      <a:endParaRPr lang="en-IN" sz="1600" dirty="0">
                        <a:solidFill>
                          <a:schemeClr val="bg2">
                            <a:lumMod val="50000"/>
                          </a:schemeClr>
                        </a:solidFill>
                        <a:latin typeface="Calibri" panose="020F0502020204030204" pitchFamily="34" charset="0"/>
                        <a:ea typeface="Calibri"/>
                        <a:cs typeface="Calibri" panose="020F0502020204030204" pitchFamily="34" charset="0"/>
                      </a:endParaRPr>
                    </a:p>
                  </a:txBody>
                  <a:tcPr marL="39840" marR="398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endParaRPr lang="en-IN" sz="1600" dirty="0">
                        <a:solidFill>
                          <a:schemeClr val="bg2">
                            <a:lumMod val="50000"/>
                          </a:schemeClr>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r>
                        <a:rPr lang="en-IN" sz="1600">
                          <a:solidFill>
                            <a:schemeClr val="bg2">
                              <a:lumMod val="50000"/>
                            </a:schemeClr>
                          </a:solidFill>
                          <a:latin typeface="Calibri" panose="020F0502020204030204" pitchFamily="34" charset="0"/>
                          <a:ea typeface="Times New Roman"/>
                          <a:cs typeface="Calibri" panose="020F0502020204030204" pitchFamily="34" charset="0"/>
                        </a:rPr>
                        <a:t>23</a:t>
                      </a:r>
                      <a:endParaRPr lang="en-IN" sz="1600">
                        <a:solidFill>
                          <a:schemeClr val="bg2">
                            <a:lumMod val="50000"/>
                          </a:schemeClr>
                        </a:solidFill>
                        <a:latin typeface="Calibri" panose="020F0502020204030204" pitchFamily="34" charset="0"/>
                        <a:ea typeface="Calibri"/>
                        <a:cs typeface="Calibri" panose="020F0502020204030204" pitchFamily="34" charset="0"/>
                      </a:endParaRPr>
                    </a:p>
                  </a:txBody>
                  <a:tcPr marL="39840" marR="398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r>
                        <a:rPr lang="en-IN" sz="1600">
                          <a:solidFill>
                            <a:schemeClr val="bg2">
                              <a:lumMod val="50000"/>
                            </a:schemeClr>
                          </a:solidFill>
                          <a:latin typeface="Calibri" panose="020F0502020204030204" pitchFamily="34" charset="0"/>
                          <a:ea typeface="Times New Roman"/>
                          <a:cs typeface="Calibri" panose="020F0502020204030204" pitchFamily="34" charset="0"/>
                        </a:rPr>
                        <a:t>11</a:t>
                      </a:r>
                      <a:endParaRPr lang="en-IN" sz="1600">
                        <a:solidFill>
                          <a:schemeClr val="bg2">
                            <a:lumMod val="50000"/>
                          </a:schemeClr>
                        </a:solidFill>
                        <a:latin typeface="Calibri" panose="020F0502020204030204" pitchFamily="34" charset="0"/>
                        <a:ea typeface="Calibri"/>
                        <a:cs typeface="Calibri" panose="020F0502020204030204" pitchFamily="34" charset="0"/>
                      </a:endParaRPr>
                    </a:p>
                  </a:txBody>
                  <a:tcPr marL="39840" marR="398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r>
                        <a:rPr lang="en-IN" sz="1600">
                          <a:solidFill>
                            <a:schemeClr val="bg2">
                              <a:lumMod val="50000"/>
                            </a:schemeClr>
                          </a:solidFill>
                          <a:latin typeface="Calibri" panose="020F0502020204030204" pitchFamily="34" charset="0"/>
                          <a:ea typeface="Times New Roman"/>
                          <a:cs typeface="Calibri" panose="020F0502020204030204" pitchFamily="34" charset="0"/>
                        </a:rPr>
                        <a:t>11</a:t>
                      </a:r>
                      <a:endParaRPr lang="en-IN" sz="1600">
                        <a:solidFill>
                          <a:schemeClr val="bg2">
                            <a:lumMod val="50000"/>
                          </a:schemeClr>
                        </a:solidFill>
                        <a:latin typeface="Calibri" panose="020F0502020204030204" pitchFamily="34" charset="0"/>
                        <a:ea typeface="Calibri"/>
                        <a:cs typeface="Calibri" panose="020F0502020204030204" pitchFamily="34" charset="0"/>
                      </a:endParaRPr>
                    </a:p>
                  </a:txBody>
                  <a:tcPr marL="39840" marR="398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r>
                        <a:rPr lang="en-IN" sz="1600" dirty="0">
                          <a:solidFill>
                            <a:schemeClr val="bg2">
                              <a:lumMod val="50000"/>
                            </a:schemeClr>
                          </a:solidFill>
                          <a:latin typeface="Calibri" panose="020F0502020204030204" pitchFamily="34" charset="0"/>
                          <a:ea typeface="Times New Roman"/>
                          <a:cs typeface="Calibri" panose="020F0502020204030204" pitchFamily="34" charset="0"/>
                        </a:rPr>
                        <a:t>12</a:t>
                      </a:r>
                      <a:endParaRPr lang="en-IN" sz="1600" dirty="0">
                        <a:solidFill>
                          <a:schemeClr val="bg2">
                            <a:lumMod val="50000"/>
                          </a:schemeClr>
                        </a:solidFill>
                        <a:latin typeface="Calibri" panose="020F0502020204030204" pitchFamily="34" charset="0"/>
                        <a:ea typeface="Calibri"/>
                        <a:cs typeface="Calibri" panose="020F0502020204030204" pitchFamily="34" charset="0"/>
                      </a:endParaRPr>
                    </a:p>
                  </a:txBody>
                  <a:tcPr marL="39840" marR="398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64963">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r>
                        <a:rPr lang="en-IN" sz="1600">
                          <a:solidFill>
                            <a:schemeClr val="bg2">
                              <a:lumMod val="50000"/>
                            </a:schemeClr>
                          </a:solidFill>
                          <a:latin typeface="Calibri" panose="020F0502020204030204" pitchFamily="34" charset="0"/>
                          <a:ea typeface="Times New Roman"/>
                          <a:cs typeface="Calibri" panose="020F0502020204030204" pitchFamily="34" charset="0"/>
                        </a:rPr>
                        <a:t>Aluminium</a:t>
                      </a:r>
                      <a:endParaRPr lang="en-IN" sz="1600">
                        <a:solidFill>
                          <a:schemeClr val="bg2">
                            <a:lumMod val="50000"/>
                          </a:schemeClr>
                        </a:solidFill>
                        <a:latin typeface="Calibri" panose="020F0502020204030204" pitchFamily="34" charset="0"/>
                        <a:ea typeface="Calibri"/>
                        <a:cs typeface="Calibri" panose="020F0502020204030204" pitchFamily="34" charset="0"/>
                      </a:endParaRPr>
                    </a:p>
                  </a:txBody>
                  <a:tcPr marL="39840" marR="398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endParaRPr lang="en-IN" sz="1600" dirty="0">
                        <a:solidFill>
                          <a:schemeClr val="bg2">
                            <a:lumMod val="50000"/>
                          </a:schemeClr>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r>
                        <a:rPr lang="en-IN" sz="1600" dirty="0">
                          <a:solidFill>
                            <a:schemeClr val="bg2">
                              <a:lumMod val="50000"/>
                            </a:schemeClr>
                          </a:solidFill>
                          <a:latin typeface="Calibri" panose="020F0502020204030204" pitchFamily="34" charset="0"/>
                          <a:ea typeface="Times New Roman"/>
                          <a:cs typeface="Calibri" panose="020F0502020204030204" pitchFamily="34" charset="0"/>
                        </a:rPr>
                        <a:t>27</a:t>
                      </a:r>
                      <a:endParaRPr lang="en-IN" sz="1600" dirty="0">
                        <a:solidFill>
                          <a:schemeClr val="bg2">
                            <a:lumMod val="50000"/>
                          </a:schemeClr>
                        </a:solidFill>
                        <a:latin typeface="Calibri" panose="020F0502020204030204" pitchFamily="34" charset="0"/>
                        <a:ea typeface="Calibri"/>
                        <a:cs typeface="Calibri" panose="020F0502020204030204" pitchFamily="34" charset="0"/>
                      </a:endParaRPr>
                    </a:p>
                  </a:txBody>
                  <a:tcPr marL="39840" marR="398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r>
                        <a:rPr lang="en-IN" sz="1600" dirty="0">
                          <a:solidFill>
                            <a:schemeClr val="bg2">
                              <a:lumMod val="50000"/>
                            </a:schemeClr>
                          </a:solidFill>
                          <a:latin typeface="Calibri" panose="020F0502020204030204" pitchFamily="34" charset="0"/>
                          <a:ea typeface="Times New Roman"/>
                          <a:cs typeface="Calibri" panose="020F0502020204030204" pitchFamily="34" charset="0"/>
                        </a:rPr>
                        <a:t>13</a:t>
                      </a:r>
                      <a:endParaRPr lang="en-IN" sz="1600" dirty="0">
                        <a:solidFill>
                          <a:schemeClr val="bg2">
                            <a:lumMod val="50000"/>
                          </a:schemeClr>
                        </a:solidFill>
                        <a:latin typeface="Calibri" panose="020F0502020204030204" pitchFamily="34" charset="0"/>
                        <a:ea typeface="Calibri"/>
                        <a:cs typeface="Calibri" panose="020F0502020204030204" pitchFamily="34" charset="0"/>
                      </a:endParaRPr>
                    </a:p>
                  </a:txBody>
                  <a:tcPr marL="39840" marR="398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r>
                        <a:rPr lang="en-IN" sz="1600">
                          <a:solidFill>
                            <a:schemeClr val="bg2">
                              <a:lumMod val="50000"/>
                            </a:schemeClr>
                          </a:solidFill>
                          <a:latin typeface="Calibri" panose="020F0502020204030204" pitchFamily="34" charset="0"/>
                          <a:ea typeface="Times New Roman"/>
                          <a:cs typeface="Calibri" panose="020F0502020204030204" pitchFamily="34" charset="0"/>
                        </a:rPr>
                        <a:t>13</a:t>
                      </a:r>
                      <a:endParaRPr lang="en-IN" sz="1600">
                        <a:solidFill>
                          <a:schemeClr val="bg2">
                            <a:lumMod val="50000"/>
                          </a:schemeClr>
                        </a:solidFill>
                        <a:latin typeface="Calibri" panose="020F0502020204030204" pitchFamily="34" charset="0"/>
                        <a:ea typeface="Calibri"/>
                        <a:cs typeface="Calibri" panose="020F0502020204030204" pitchFamily="34" charset="0"/>
                      </a:endParaRPr>
                    </a:p>
                  </a:txBody>
                  <a:tcPr marL="39840" marR="398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r>
                        <a:rPr lang="en-IN" sz="1600" dirty="0">
                          <a:solidFill>
                            <a:schemeClr val="bg2">
                              <a:lumMod val="50000"/>
                            </a:schemeClr>
                          </a:solidFill>
                          <a:latin typeface="Calibri" panose="020F0502020204030204" pitchFamily="34" charset="0"/>
                          <a:ea typeface="Times New Roman"/>
                          <a:cs typeface="Calibri" panose="020F0502020204030204" pitchFamily="34" charset="0"/>
                        </a:rPr>
                        <a:t>14</a:t>
                      </a:r>
                      <a:endParaRPr lang="en-IN" sz="1600" dirty="0">
                        <a:solidFill>
                          <a:schemeClr val="bg2">
                            <a:lumMod val="50000"/>
                          </a:schemeClr>
                        </a:solidFill>
                        <a:latin typeface="Calibri" panose="020F0502020204030204" pitchFamily="34" charset="0"/>
                        <a:ea typeface="Calibri"/>
                        <a:cs typeface="Calibri" panose="020F0502020204030204" pitchFamily="34" charset="0"/>
                      </a:endParaRPr>
                    </a:p>
                  </a:txBody>
                  <a:tcPr marL="39840" marR="398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64963">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r>
                        <a:rPr lang="en-IN" sz="1600">
                          <a:solidFill>
                            <a:schemeClr val="bg2">
                              <a:lumMod val="50000"/>
                            </a:schemeClr>
                          </a:solidFill>
                          <a:latin typeface="Calibri" panose="020F0502020204030204" pitchFamily="34" charset="0"/>
                          <a:ea typeface="Times New Roman"/>
                          <a:cs typeface="Calibri" panose="020F0502020204030204" pitchFamily="34" charset="0"/>
                        </a:rPr>
                        <a:t> Calcium</a:t>
                      </a:r>
                      <a:endParaRPr lang="en-IN" sz="1600">
                        <a:solidFill>
                          <a:schemeClr val="bg2">
                            <a:lumMod val="50000"/>
                          </a:schemeClr>
                        </a:solidFill>
                        <a:latin typeface="Calibri" panose="020F0502020204030204" pitchFamily="34" charset="0"/>
                        <a:ea typeface="Calibri"/>
                        <a:cs typeface="Calibri" panose="020F0502020204030204" pitchFamily="34" charset="0"/>
                      </a:endParaRPr>
                    </a:p>
                  </a:txBody>
                  <a:tcPr marL="39840" marR="398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endParaRPr lang="en-IN" sz="1600" dirty="0">
                        <a:solidFill>
                          <a:schemeClr val="bg2">
                            <a:lumMod val="50000"/>
                          </a:schemeClr>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r>
                        <a:rPr lang="en-IN" sz="1600" dirty="0">
                          <a:solidFill>
                            <a:schemeClr val="bg2">
                              <a:lumMod val="50000"/>
                            </a:schemeClr>
                          </a:solidFill>
                          <a:latin typeface="Calibri" panose="020F0502020204030204" pitchFamily="34" charset="0"/>
                          <a:ea typeface="Times New Roman"/>
                          <a:cs typeface="Calibri" panose="020F0502020204030204" pitchFamily="34" charset="0"/>
                        </a:rPr>
                        <a:t>40</a:t>
                      </a:r>
                      <a:endParaRPr lang="en-IN" sz="1600" dirty="0">
                        <a:solidFill>
                          <a:schemeClr val="bg2">
                            <a:lumMod val="50000"/>
                          </a:schemeClr>
                        </a:solidFill>
                        <a:latin typeface="Calibri" panose="020F0502020204030204" pitchFamily="34" charset="0"/>
                        <a:ea typeface="Calibri"/>
                        <a:cs typeface="Calibri" panose="020F0502020204030204" pitchFamily="34" charset="0"/>
                      </a:endParaRPr>
                    </a:p>
                  </a:txBody>
                  <a:tcPr marL="39840" marR="398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r>
                        <a:rPr lang="en-IN" sz="1600" dirty="0">
                          <a:solidFill>
                            <a:schemeClr val="bg2">
                              <a:lumMod val="50000"/>
                            </a:schemeClr>
                          </a:solidFill>
                          <a:latin typeface="Calibri" panose="020F0502020204030204" pitchFamily="34" charset="0"/>
                          <a:ea typeface="Times New Roman"/>
                          <a:cs typeface="Calibri" panose="020F0502020204030204" pitchFamily="34" charset="0"/>
                        </a:rPr>
                        <a:t>20</a:t>
                      </a:r>
                      <a:endParaRPr lang="en-IN" sz="1600" dirty="0">
                        <a:solidFill>
                          <a:schemeClr val="bg2">
                            <a:lumMod val="50000"/>
                          </a:schemeClr>
                        </a:solidFill>
                        <a:latin typeface="Calibri" panose="020F0502020204030204" pitchFamily="34" charset="0"/>
                        <a:ea typeface="Calibri"/>
                        <a:cs typeface="Calibri" panose="020F0502020204030204" pitchFamily="34" charset="0"/>
                      </a:endParaRPr>
                    </a:p>
                  </a:txBody>
                  <a:tcPr marL="39840" marR="398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r>
                        <a:rPr lang="en-IN" sz="1600" dirty="0">
                          <a:solidFill>
                            <a:schemeClr val="bg2">
                              <a:lumMod val="50000"/>
                            </a:schemeClr>
                          </a:solidFill>
                          <a:latin typeface="Calibri" panose="020F0502020204030204" pitchFamily="34" charset="0"/>
                          <a:ea typeface="Times New Roman"/>
                          <a:cs typeface="Calibri" panose="020F0502020204030204" pitchFamily="34" charset="0"/>
                        </a:rPr>
                        <a:t>20</a:t>
                      </a:r>
                      <a:endParaRPr lang="en-IN" sz="1600" dirty="0">
                        <a:solidFill>
                          <a:schemeClr val="bg2">
                            <a:lumMod val="50000"/>
                          </a:schemeClr>
                        </a:solidFill>
                        <a:latin typeface="Calibri" panose="020F0502020204030204" pitchFamily="34" charset="0"/>
                        <a:ea typeface="Calibri"/>
                        <a:cs typeface="Calibri" panose="020F0502020204030204" pitchFamily="34" charset="0"/>
                      </a:endParaRPr>
                    </a:p>
                  </a:txBody>
                  <a:tcPr marL="39840" marR="398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r>
                        <a:rPr lang="en-IN" sz="1600" dirty="0">
                          <a:solidFill>
                            <a:schemeClr val="bg2">
                              <a:lumMod val="50000"/>
                            </a:schemeClr>
                          </a:solidFill>
                          <a:latin typeface="Calibri" panose="020F0502020204030204" pitchFamily="34" charset="0"/>
                          <a:ea typeface="Times New Roman"/>
                          <a:cs typeface="Calibri" panose="020F0502020204030204" pitchFamily="34" charset="0"/>
                        </a:rPr>
                        <a:t>20</a:t>
                      </a:r>
                      <a:endParaRPr lang="en-IN" sz="1600" dirty="0">
                        <a:solidFill>
                          <a:schemeClr val="bg2">
                            <a:lumMod val="50000"/>
                          </a:schemeClr>
                        </a:solidFill>
                        <a:latin typeface="Calibri" panose="020F0502020204030204" pitchFamily="34" charset="0"/>
                        <a:ea typeface="Calibri"/>
                        <a:cs typeface="Calibri" panose="020F0502020204030204" pitchFamily="34" charset="0"/>
                      </a:endParaRPr>
                    </a:p>
                  </a:txBody>
                  <a:tcPr marL="39840" marR="398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2E2E848-6DFD-4312-967E-080F41C8ADFF}"/>
                  </a:ext>
                </a:extLst>
              </p:cNvPr>
              <p:cNvSpPr txBox="1"/>
              <p:nvPr/>
            </p:nvSpPr>
            <p:spPr>
              <a:xfrm>
                <a:off x="1969274" y="3416550"/>
                <a:ext cx="693523" cy="34265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Pre>
                        <m:sPrePr>
                          <m:ctrlPr>
                            <a:rPr lang="en-IN" sz="1600" i="1" smtClean="0">
                              <a:effectLst/>
                              <a:latin typeface="Cambria Math" panose="02040503050406030204" pitchFamily="18" charset="0"/>
                              <a:ea typeface="Calibri" panose="020F0502020204030204" pitchFamily="34" charset="0"/>
                              <a:cs typeface="Times New Roman" panose="02020603050405020304" pitchFamily="18" charset="0"/>
                            </a:rPr>
                          </m:ctrlPr>
                        </m:sPrePr>
                        <m:sub>
                          <m:r>
                            <a:rPr lang="en-MY" sz="1600" b="0" i="1" smtClean="0">
                              <a:effectLst/>
                              <a:latin typeface="Cambria Math" panose="02040503050406030204" pitchFamily="18" charset="0"/>
                              <a:ea typeface="Calibri" panose="020F0502020204030204" pitchFamily="34" charset="0"/>
                              <a:cs typeface="Times New Roman" panose="02020603050405020304" pitchFamily="18" charset="0"/>
                            </a:rPr>
                            <m:t>11</m:t>
                          </m:r>
                        </m:sub>
                        <m:sup>
                          <m:r>
                            <a:rPr lang="en-MY" sz="1600" b="0" i="1" smtClean="0">
                              <a:effectLst/>
                              <a:latin typeface="Cambria Math" panose="02040503050406030204" pitchFamily="18" charset="0"/>
                              <a:ea typeface="Calibri" panose="020F0502020204030204" pitchFamily="34" charset="0"/>
                              <a:cs typeface="Times New Roman" panose="02020603050405020304" pitchFamily="18" charset="0"/>
                            </a:rPr>
                            <m:t>23</m:t>
                          </m:r>
                        </m:sup>
                        <m:e>
                          <m:r>
                            <a:rPr lang="en-IN" sz="1600" i="1">
                              <a:effectLst/>
                              <a:latin typeface="Cambria Math" panose="02040503050406030204" pitchFamily="18" charset="0"/>
                              <a:ea typeface="Calibri" panose="020F0502020204030204" pitchFamily="34" charset="0"/>
                              <a:cs typeface="Times New Roman" panose="02020603050405020304" pitchFamily="18" charset="0"/>
                            </a:rPr>
                            <m:t>𝑁𝑎</m:t>
                          </m:r>
                        </m:e>
                      </m:sPre>
                    </m:oMath>
                  </m:oMathPara>
                </a14:m>
                <a:endParaRPr lang="en-GB" sz="1600" dirty="0"/>
              </a:p>
            </p:txBody>
          </p:sp>
        </mc:Choice>
        <mc:Fallback xmlns="">
          <p:sp>
            <p:nvSpPr>
              <p:cNvPr id="8" name="TextBox 7">
                <a:extLst>
                  <a:ext uri="{FF2B5EF4-FFF2-40B4-BE49-F238E27FC236}">
                    <a16:creationId xmlns:a16="http://schemas.microsoft.com/office/drawing/2014/main" id="{82E2E848-6DFD-4312-967E-080F41C8ADFF}"/>
                  </a:ext>
                </a:extLst>
              </p:cNvPr>
              <p:cNvSpPr txBox="1">
                <a:spLocks noRot="1" noChangeAspect="1" noMove="1" noResize="1" noEditPoints="1" noAdjustHandles="1" noChangeArrowheads="1" noChangeShapeType="1" noTextEdit="1"/>
              </p:cNvSpPr>
              <p:nvPr/>
            </p:nvSpPr>
            <p:spPr>
              <a:xfrm>
                <a:off x="1969274" y="3416550"/>
                <a:ext cx="693523" cy="342658"/>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0E2D972-082F-4EF8-A63E-53B5F439D519}"/>
                  </a:ext>
                </a:extLst>
              </p:cNvPr>
              <p:cNvSpPr txBox="1"/>
              <p:nvPr/>
            </p:nvSpPr>
            <p:spPr>
              <a:xfrm>
                <a:off x="1991738" y="3786982"/>
                <a:ext cx="624530" cy="34355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Pre>
                        <m:sPrePr>
                          <m:ctrlPr>
                            <a:rPr lang="en-IN" sz="1600" i="1">
                              <a:latin typeface="Cambria Math" panose="02040503050406030204" pitchFamily="18" charset="0"/>
                              <a:ea typeface="Calibri" panose="020F0502020204030204" pitchFamily="34" charset="0"/>
                              <a:cs typeface="Times New Roman" panose="02020603050405020304" pitchFamily="18" charset="0"/>
                            </a:rPr>
                          </m:ctrlPr>
                        </m:sPrePr>
                        <m:sub>
                          <m:r>
                            <a:rPr lang="en-MY" sz="1600" i="1">
                              <a:latin typeface="Cambria Math" panose="02040503050406030204" pitchFamily="18" charset="0"/>
                              <a:ea typeface="Calibri" panose="020F0502020204030204" pitchFamily="34" charset="0"/>
                              <a:cs typeface="Times New Roman" panose="02020603050405020304" pitchFamily="18" charset="0"/>
                            </a:rPr>
                            <m:t>13</m:t>
                          </m:r>
                        </m:sub>
                        <m:sup>
                          <m:r>
                            <a:rPr lang="en-MY" sz="1600" i="1">
                              <a:latin typeface="Cambria Math" panose="02040503050406030204" pitchFamily="18" charset="0"/>
                              <a:ea typeface="Calibri" panose="020F0502020204030204" pitchFamily="34" charset="0"/>
                              <a:cs typeface="Times New Roman" panose="02020603050405020304" pitchFamily="18" charset="0"/>
                            </a:rPr>
                            <m:t>27</m:t>
                          </m:r>
                        </m:sup>
                        <m:e>
                          <m:r>
                            <a:rPr lang="en-IN" sz="1600" i="1">
                              <a:latin typeface="Cambria Math" panose="02040503050406030204" pitchFamily="18" charset="0"/>
                              <a:ea typeface="Calibri" panose="020F0502020204030204" pitchFamily="34" charset="0"/>
                              <a:cs typeface="Times New Roman" panose="02020603050405020304" pitchFamily="18" charset="0"/>
                            </a:rPr>
                            <m:t>𝐴𝑙</m:t>
                          </m:r>
                        </m:e>
                      </m:sPre>
                    </m:oMath>
                  </m:oMathPara>
                </a14:m>
                <a:endParaRPr lang="en-GB" sz="1600" dirty="0"/>
              </a:p>
            </p:txBody>
          </p:sp>
        </mc:Choice>
        <mc:Fallback xmlns="">
          <p:sp>
            <p:nvSpPr>
              <p:cNvPr id="11" name="TextBox 10">
                <a:extLst>
                  <a:ext uri="{FF2B5EF4-FFF2-40B4-BE49-F238E27FC236}">
                    <a16:creationId xmlns:a16="http://schemas.microsoft.com/office/drawing/2014/main" id="{40E2D972-082F-4EF8-A63E-53B5F439D519}"/>
                  </a:ext>
                </a:extLst>
              </p:cNvPr>
              <p:cNvSpPr txBox="1">
                <a:spLocks noRot="1" noChangeAspect="1" noMove="1" noResize="1" noEditPoints="1" noAdjustHandles="1" noChangeArrowheads="1" noChangeShapeType="1" noTextEdit="1"/>
              </p:cNvSpPr>
              <p:nvPr/>
            </p:nvSpPr>
            <p:spPr>
              <a:xfrm>
                <a:off x="1991738" y="3786982"/>
                <a:ext cx="624530" cy="343556"/>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834DA58-EFAA-4DEC-B942-6F1DC1E1A7F7}"/>
                  </a:ext>
                </a:extLst>
              </p:cNvPr>
              <p:cNvSpPr txBox="1"/>
              <p:nvPr/>
            </p:nvSpPr>
            <p:spPr>
              <a:xfrm>
                <a:off x="1971669" y="4185834"/>
                <a:ext cx="664669" cy="382862"/>
              </a:xfrm>
              <a:prstGeom prst="rect">
                <a:avLst/>
              </a:prstGeom>
              <a:noFill/>
            </p:spPr>
            <p:txBody>
              <a:bodyPr wrap="none" rtlCol="0">
                <a:spAutoFit/>
              </a:bodyPr>
              <a:lstStyle/>
              <a:p>
                <a:pPr algn="ctr">
                  <a:lnSpc>
                    <a:spcPct val="115000"/>
                  </a:lnSpc>
                </a:pPr>
                <a14:m>
                  <m:oMathPara xmlns:m="http://schemas.openxmlformats.org/officeDocument/2006/math">
                    <m:oMathParaPr>
                      <m:jc m:val="centerGroup"/>
                    </m:oMathParaPr>
                    <m:oMath xmlns:m="http://schemas.openxmlformats.org/officeDocument/2006/math">
                      <m:sPre>
                        <m:sPrePr>
                          <m:ctrlPr>
                            <a:rPr lang="en-IN" sz="1600" i="1">
                              <a:latin typeface="Cambria Math" panose="02040503050406030204" pitchFamily="18" charset="0"/>
                              <a:ea typeface="Calibri" panose="020F0502020204030204" pitchFamily="34" charset="0"/>
                              <a:cs typeface="Times New Roman" panose="02020603050405020304" pitchFamily="18" charset="0"/>
                            </a:rPr>
                          </m:ctrlPr>
                        </m:sPrePr>
                        <m:sub>
                          <m:r>
                            <a:rPr lang="en-MY" sz="1600" i="1">
                              <a:latin typeface="Cambria Math" panose="02040503050406030204" pitchFamily="18" charset="0"/>
                              <a:ea typeface="Calibri" panose="020F0502020204030204" pitchFamily="34" charset="0"/>
                              <a:cs typeface="Times New Roman" panose="02020603050405020304" pitchFamily="18" charset="0"/>
                            </a:rPr>
                            <m:t>20</m:t>
                          </m:r>
                        </m:sub>
                        <m:sup>
                          <m:r>
                            <a:rPr lang="en-MY" sz="1600" i="1">
                              <a:latin typeface="Cambria Math" panose="02040503050406030204" pitchFamily="18" charset="0"/>
                              <a:ea typeface="Calibri" panose="020F0502020204030204" pitchFamily="34" charset="0"/>
                              <a:cs typeface="Times New Roman" panose="02020603050405020304" pitchFamily="18" charset="0"/>
                            </a:rPr>
                            <m:t>40</m:t>
                          </m:r>
                        </m:sup>
                        <m:e>
                          <m:r>
                            <a:rPr lang="en-IN" sz="1600" i="1">
                              <a:latin typeface="Cambria Math" panose="02040503050406030204" pitchFamily="18" charset="0"/>
                              <a:ea typeface="Calibri" panose="020F0502020204030204" pitchFamily="34" charset="0"/>
                              <a:cs typeface="Times New Roman" panose="02020603050405020304" pitchFamily="18" charset="0"/>
                            </a:rPr>
                            <m:t>𝐶𝑎</m:t>
                          </m:r>
                        </m:e>
                      </m:sPre>
                    </m:oMath>
                  </m:oMathPara>
                </a14:m>
                <a:endParaRPr lang="en-IN" sz="1600" dirty="0">
                  <a:ea typeface="Calibri" panose="020F0502020204030204" pitchFamily="34" charset="0"/>
                  <a:cs typeface="Times New Roman" panose="02020603050405020304" pitchFamily="18" charset="0"/>
                </a:endParaRPr>
              </a:p>
            </p:txBody>
          </p:sp>
        </mc:Choice>
        <mc:Fallback xmlns="">
          <p:sp>
            <p:nvSpPr>
              <p:cNvPr id="12" name="TextBox 11">
                <a:extLst>
                  <a:ext uri="{FF2B5EF4-FFF2-40B4-BE49-F238E27FC236}">
                    <a16:creationId xmlns:a16="http://schemas.microsoft.com/office/drawing/2014/main" id="{C834DA58-EFAA-4DEC-B942-6F1DC1E1A7F7}"/>
                  </a:ext>
                </a:extLst>
              </p:cNvPr>
              <p:cNvSpPr txBox="1">
                <a:spLocks noRot="1" noChangeAspect="1" noMove="1" noResize="1" noEditPoints="1" noAdjustHandles="1" noChangeArrowheads="1" noChangeShapeType="1" noTextEdit="1"/>
              </p:cNvSpPr>
              <p:nvPr/>
            </p:nvSpPr>
            <p:spPr>
              <a:xfrm>
                <a:off x="1971669" y="4185834"/>
                <a:ext cx="664669" cy="382862"/>
              </a:xfrm>
              <a:prstGeom prst="rect">
                <a:avLst/>
              </a:prstGeom>
              <a:blipFill>
                <a:blip r:embed="rId5"/>
                <a:stretch>
                  <a:fillRect/>
                </a:stretch>
              </a:blipFill>
            </p:spPr>
            <p:txBody>
              <a:bodyPr/>
              <a:lstStyle/>
              <a:p>
                <a:r>
                  <a:rPr lang="en-GB">
                    <a:noFill/>
                  </a:rPr>
                  <a:t> </a:t>
                </a:r>
              </a:p>
            </p:txBody>
          </p:sp>
        </mc:Fallback>
      </mc:AlternateContent>
      <p:pic>
        <p:nvPicPr>
          <p:cNvPr id="9" name="Picture 8">
            <a:extLst>
              <a:ext uri="{FF2B5EF4-FFF2-40B4-BE49-F238E27FC236}">
                <a16:creationId xmlns:a16="http://schemas.microsoft.com/office/drawing/2014/main" id="{F90573A5-AA61-4B36-BCA3-3D1E5BEEB795}"/>
              </a:ext>
            </a:extLst>
          </p:cNvPr>
          <p:cNvPicPr>
            <a:picLocks noChangeAspect="1"/>
          </p:cNvPicPr>
          <p:nvPr/>
        </p:nvPicPr>
        <p:blipFill>
          <a:blip r:embed="rId6"/>
          <a:stretch>
            <a:fillRect/>
          </a:stretch>
        </p:blipFill>
        <p:spPr>
          <a:xfrm>
            <a:off x="6324860" y="1745014"/>
            <a:ext cx="2554445" cy="1097375"/>
          </a:xfrm>
          <a:prstGeom prst="rect">
            <a:avLst/>
          </a:prstGeom>
        </p:spPr>
      </p:pic>
    </p:spTree>
    <p:extLst>
      <p:ext uri="{BB962C8B-B14F-4D97-AF65-F5344CB8AC3E}">
        <p14:creationId xmlns:p14="http://schemas.microsoft.com/office/powerpoint/2010/main" val="280564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7808204" cy="767700"/>
          </a:xfrm>
          <a:prstGeom prst="rect">
            <a:avLst/>
          </a:prstGeom>
        </p:spPr>
        <p:txBody>
          <a:bodyPr spcFirstLastPara="1" wrap="square" lIns="91425" tIns="91425" rIns="91425" bIns="91425" anchor="b" anchorCtr="0">
            <a:noAutofit/>
          </a:bodyPr>
          <a:lstStyle/>
          <a:p>
            <a:pPr marL="114300">
              <a:buSzPts val="1800"/>
            </a:pPr>
            <a:r>
              <a:rPr lang="en-IN" dirty="0">
                <a:latin typeface="Calibri" panose="020F0502020204030204" pitchFamily="34" charset="0"/>
              </a:rPr>
              <a:t>Isotopes &amp; Calculating Relative Atomic Mass</a:t>
            </a:r>
            <a:endParaRPr lang="en-MY" dirty="0">
              <a:latin typeface="Calibri" panose="020F0502020204030204" pitchFamily="34" charset="0"/>
            </a:endParaRP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00050" lvl="0" indent="-285750">
              <a:buSzPts val="1800"/>
              <a:buFont typeface="Arial" panose="020B0604020202020204" pitchFamily="34" charset="0"/>
              <a:buChar char="•"/>
            </a:pPr>
            <a:r>
              <a:rPr lang="en-MY" dirty="0">
                <a:latin typeface="Calibri" panose="020F0502020204030204" pitchFamily="34" charset="0"/>
              </a:rPr>
              <a:t>Isotopes are different forms of the same element, having different masses. </a:t>
            </a:r>
          </a:p>
          <a:p>
            <a:pPr marL="400050" lvl="0" indent="-285750">
              <a:buSzPts val="1800"/>
              <a:buFont typeface="Arial" panose="020B0604020202020204" pitchFamily="34" charset="0"/>
              <a:buChar char="•"/>
            </a:pPr>
            <a:r>
              <a:rPr lang="en-MY" dirty="0">
                <a:latin typeface="Calibri" panose="020F0502020204030204" pitchFamily="34" charset="0"/>
              </a:rPr>
              <a:t>Isotopes have the same number of protons but a different number of neutrons. </a:t>
            </a:r>
          </a:p>
          <a:p>
            <a:pPr marL="400050" lvl="0" indent="-285750">
              <a:buSzPts val="1800"/>
              <a:buFont typeface="Arial" panose="020B0604020202020204" pitchFamily="34" charset="0"/>
              <a:buChar char="•"/>
            </a:pPr>
            <a:r>
              <a:rPr lang="en-MY" b="1" dirty="0">
                <a:latin typeface="Calibri" panose="020F0502020204030204" pitchFamily="34" charset="0"/>
              </a:rPr>
              <a:t>Relative isotopic mass </a:t>
            </a:r>
            <a:r>
              <a:rPr lang="en-MY" dirty="0">
                <a:latin typeface="Calibri" panose="020F0502020204030204" pitchFamily="34" charset="0"/>
              </a:rPr>
              <a:t>is the mass of one isotope compared to one-twelfth of the mass of one carbon-12 atom. </a:t>
            </a:r>
          </a:p>
          <a:p>
            <a:pPr marL="400050" lvl="0" indent="-285750">
              <a:buSzPts val="1800"/>
              <a:buFont typeface="Arial" panose="020B0604020202020204" pitchFamily="34" charset="0"/>
              <a:buChar char="•"/>
            </a:pPr>
            <a:r>
              <a:rPr lang="en-MY" b="1" dirty="0">
                <a:latin typeface="Calibri" panose="020F0502020204030204" pitchFamily="34" charset="0"/>
              </a:rPr>
              <a:t>Relative atomic mass </a:t>
            </a:r>
            <a:r>
              <a:rPr lang="en-MY" dirty="0">
                <a:latin typeface="Calibri" panose="020F0502020204030204" pitchFamily="34" charset="0"/>
              </a:rPr>
              <a:t>is the average mass of one atom of an element compared to one-twelfth of the mass of one carbon-12 atom. </a:t>
            </a:r>
          </a:p>
          <a:p>
            <a:pPr marL="400050" lvl="0" indent="-285750">
              <a:buSzPts val="1800"/>
              <a:buFont typeface="Arial" panose="020B0604020202020204" pitchFamily="34" charset="0"/>
              <a:buChar char="•"/>
            </a:pPr>
            <a:r>
              <a:rPr lang="en-MY" b="1" dirty="0">
                <a:latin typeface="Calibri" panose="020F0502020204030204" pitchFamily="34" charset="0"/>
              </a:rPr>
              <a:t>Relative masses </a:t>
            </a:r>
            <a:r>
              <a:rPr lang="en-MY" dirty="0">
                <a:latin typeface="Calibri" panose="020F0502020204030204" pitchFamily="34" charset="0"/>
              </a:rPr>
              <a:t>are ratios of two masses and, hence, do not have any units.</a:t>
            </a:r>
            <a:endParaRPr dirty="0">
              <a:latin typeface="Calibri" panose="020F0502020204030204" pitchFamily="34" charset="0"/>
            </a:endParaRPr>
          </a:p>
        </p:txBody>
      </p:sp>
      <mc:AlternateContent xmlns:mc="http://schemas.openxmlformats.org/markup-compatibility/2006" xmlns:a14="http://schemas.microsoft.com/office/drawing/2010/main">
        <mc:Choice Requires="a14">
          <p:sp>
            <p:nvSpPr>
              <p:cNvPr id="4" name="Rectangle 3"/>
              <p:cNvSpPr/>
              <p:nvPr/>
            </p:nvSpPr>
            <p:spPr>
              <a:xfrm>
                <a:off x="503571" y="3653582"/>
                <a:ext cx="7728857" cy="1377557"/>
              </a:xfrm>
              <a:prstGeom prst="rect">
                <a:avLst/>
              </a:prstGeom>
            </p:spPr>
            <p:txBody>
              <a:bodyPr wrap="square">
                <a:spAutoFit/>
              </a:bodyPr>
              <a:lstStyle/>
              <a:p>
                <a:pPr>
                  <a:lnSpc>
                    <a:spcPct val="115000"/>
                  </a:lnSpc>
                  <a:spcAft>
                    <a:spcPts val="1000"/>
                  </a:spcAft>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ea typeface="Times New Roman" panose="02020603050405020304" pitchFamily="18" charset="0"/>
                          <a:cs typeface="Times New Roman" panose="02020603050405020304" pitchFamily="18" charset="0"/>
                        </a:rPr>
                        <m:t>𝑟𝑒𝑙𝑎𝑡𝑖𝑣𝑒</m:t>
                      </m:r>
                      <m:r>
                        <a:rPr lang="en-IN" i="1">
                          <a:latin typeface="Cambria Math" panose="02040503050406030204" pitchFamily="18" charset="0"/>
                          <a:ea typeface="Times New Roman" panose="02020603050405020304" pitchFamily="18" charset="0"/>
                          <a:cs typeface="Times New Roman" panose="02020603050405020304" pitchFamily="18" charset="0"/>
                        </a:rPr>
                        <m:t> </m:t>
                      </m:r>
                      <m:r>
                        <a:rPr lang="en-IN" i="1">
                          <a:latin typeface="Cambria Math" panose="02040503050406030204" pitchFamily="18" charset="0"/>
                          <a:ea typeface="Times New Roman" panose="02020603050405020304" pitchFamily="18" charset="0"/>
                          <a:cs typeface="Times New Roman" panose="02020603050405020304" pitchFamily="18" charset="0"/>
                        </a:rPr>
                        <m:t>𝑎𝑡𝑜𝑚𝑖𝑐</m:t>
                      </m:r>
                      <m:r>
                        <a:rPr lang="en-IN" i="1">
                          <a:latin typeface="Cambria Math" panose="02040503050406030204" pitchFamily="18" charset="0"/>
                          <a:ea typeface="Times New Roman" panose="02020603050405020304" pitchFamily="18" charset="0"/>
                          <a:cs typeface="Times New Roman" panose="02020603050405020304" pitchFamily="18" charset="0"/>
                        </a:rPr>
                        <m:t> </m:t>
                      </m:r>
                      <m:r>
                        <a:rPr lang="en-IN" i="1">
                          <a:latin typeface="Cambria Math" panose="02040503050406030204" pitchFamily="18" charset="0"/>
                          <a:ea typeface="Times New Roman" panose="02020603050405020304" pitchFamily="18" charset="0"/>
                          <a:cs typeface="Times New Roman" panose="02020603050405020304" pitchFamily="18" charset="0"/>
                        </a:rPr>
                        <m:t>𝑚𝑎𝑠𝑠</m:t>
                      </m:r>
                      <m:r>
                        <a:rPr lang="en-IN" i="1">
                          <a:latin typeface="Cambria Math" panose="02040503050406030204" pitchFamily="18" charset="0"/>
                          <a:ea typeface="Times New Roman" panose="02020603050405020304" pitchFamily="18" charset="0"/>
                          <a:cs typeface="Times New Roman" panose="02020603050405020304" pitchFamily="18" charset="0"/>
                        </a:rPr>
                        <m:t> </m:t>
                      </m:r>
                      <m:d>
                        <m:dPr>
                          <m:ctrlPr>
                            <a:rPr lang="en-MY" i="1">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MY"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IN" i="1">
                                  <a:effectLst/>
                                  <a:latin typeface="Cambria Math" panose="02040503050406030204" pitchFamily="18" charset="0"/>
                                  <a:ea typeface="Times New Roman" panose="02020603050405020304" pitchFamily="18" charset="0"/>
                                  <a:cs typeface="Times New Roman" panose="02020603050405020304" pitchFamily="18" charset="0"/>
                                </a:rPr>
                                <m:t>𝐴</m:t>
                              </m:r>
                            </m:e>
                            <m:sub>
                              <m:r>
                                <a:rPr lang="en-IN" i="1">
                                  <a:effectLst/>
                                  <a:latin typeface="Cambria Math" panose="02040503050406030204" pitchFamily="18" charset="0"/>
                                  <a:ea typeface="Times New Roman" panose="02020603050405020304" pitchFamily="18" charset="0"/>
                                  <a:cs typeface="Times New Roman" panose="02020603050405020304" pitchFamily="18" charset="0"/>
                                </a:rPr>
                                <m:t>𝑟</m:t>
                              </m:r>
                            </m:sub>
                          </m:sSub>
                        </m:e>
                      </m:d>
                      <m:r>
                        <a:rPr lang="en-IN"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MY"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IN" i="1">
                              <a:effectLst/>
                              <a:latin typeface="Cambria Math" panose="02040503050406030204" pitchFamily="18" charset="0"/>
                              <a:ea typeface="Times New Roman" panose="02020603050405020304" pitchFamily="18" charset="0"/>
                              <a:cs typeface="Times New Roman" panose="02020603050405020304" pitchFamily="18" charset="0"/>
                            </a:rPr>
                            <m:t>𝐴𝑣𝑒𝑟𝑎𝑔𝑒</m:t>
                          </m:r>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𝑚𝑎𝑠𝑠</m:t>
                          </m:r>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𝑜𝑓</m:t>
                          </m:r>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𝑜𝑛𝑒</m:t>
                          </m:r>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𝑎𝑡𝑜𝑚</m:t>
                          </m:r>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𝑜𝑓</m:t>
                          </m:r>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𝑎𝑛</m:t>
                          </m:r>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𝑒𝑙𝑒𝑚𝑒𝑛𝑡</m:t>
                          </m:r>
                        </m:num>
                        <m:den>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𝑜𝑛𝑒</m:t>
                          </m:r>
                          <m:r>
                            <a:rPr lang="en-IN" i="1">
                              <a:effectLst/>
                              <a:latin typeface="Cambria Math" panose="02040503050406030204" pitchFamily="18" charset="0"/>
                              <a:ea typeface="Times New Roman" panose="02020603050405020304" pitchFamily="18" charset="0"/>
                              <a:cs typeface="Times New Roman" panose="02020603050405020304" pitchFamily="18" charset="0"/>
                            </a:rPr>
                            <m:t>−</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𝑡𝑤𝑒𝑙𝑓𝑡h</m:t>
                          </m:r>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𝑜𝑓</m:t>
                          </m:r>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𝑡h𝑒</m:t>
                          </m:r>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𝑚𝑎𝑠𝑠</m:t>
                          </m:r>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𝑜𝑓</m:t>
                          </m:r>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𝑜𝑛𝑒</m:t>
                          </m:r>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𝑐𝑎𝑟𝑏𝑜𝑛</m:t>
                          </m:r>
                          <m:r>
                            <a:rPr lang="en-IN" i="1">
                              <a:effectLst/>
                              <a:latin typeface="Cambria Math" panose="02040503050406030204" pitchFamily="18" charset="0"/>
                              <a:ea typeface="Times New Roman" panose="02020603050405020304" pitchFamily="18" charset="0"/>
                              <a:cs typeface="Times New Roman" panose="02020603050405020304" pitchFamily="18" charset="0"/>
                            </a:rPr>
                            <m:t>−12 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𝑎𝑡𝑜𝑚</m:t>
                          </m:r>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den>
                      </m:f>
                    </m:oMath>
                  </m:oMathPara>
                </a14:m>
                <a:endParaRPr lang="en-MY"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14:m>
                  <m:oMathPara xmlns:m="http://schemas.openxmlformats.org/officeDocument/2006/math">
                    <m:oMathParaPr>
                      <m:jc m:val="centerGroup"/>
                    </m:oMathParaPr>
                    <m:oMath xmlns:m="http://schemas.openxmlformats.org/officeDocument/2006/math">
                      <m:r>
                        <a:rPr lang="en-IN" i="1">
                          <a:effectLst/>
                          <a:latin typeface="Cambria Math" panose="02040503050406030204" pitchFamily="18" charset="0"/>
                          <a:ea typeface="Times New Roman" panose="02020603050405020304" pitchFamily="18" charset="0"/>
                          <a:cs typeface="Times New Roman" panose="02020603050405020304" pitchFamily="18" charset="0"/>
                        </a:rPr>
                        <m:t>𝑟𝑒𝑙𝑎𝑡𝑖𝑣𝑒</m:t>
                      </m:r>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𝑖𝑠𝑜𝑡𝑜𝑝𝑖𝑐</m:t>
                      </m:r>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𝑚𝑎𝑠𝑠</m:t>
                      </m:r>
                      <m:r>
                        <a:rPr lang="en-IN"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MY"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IN" i="1">
                              <a:effectLst/>
                              <a:latin typeface="Cambria Math" panose="02040503050406030204" pitchFamily="18" charset="0"/>
                              <a:ea typeface="Times New Roman" panose="02020603050405020304" pitchFamily="18" charset="0"/>
                              <a:cs typeface="Times New Roman" panose="02020603050405020304" pitchFamily="18" charset="0"/>
                            </a:rPr>
                            <m:t>𝑚𝑎𝑠𝑠</m:t>
                          </m:r>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𝑜𝑓</m:t>
                          </m:r>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𝑜𝑛𝑒</m:t>
                          </m:r>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𝑖𝑠𝑜𝑡𝑜𝑝𝑒</m:t>
                          </m:r>
                        </m:num>
                        <m:den>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𝑜𝑛𝑒</m:t>
                          </m:r>
                          <m:r>
                            <a:rPr lang="en-IN" i="1">
                              <a:effectLst/>
                              <a:latin typeface="Cambria Math" panose="02040503050406030204" pitchFamily="18" charset="0"/>
                              <a:ea typeface="Times New Roman" panose="02020603050405020304" pitchFamily="18" charset="0"/>
                              <a:cs typeface="Times New Roman" panose="02020603050405020304" pitchFamily="18" charset="0"/>
                            </a:rPr>
                            <m:t>−</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𝑡𝑤𝑒𝑙𝑓𝑡h</m:t>
                          </m:r>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𝑜𝑓</m:t>
                          </m:r>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𝑡h𝑒</m:t>
                          </m:r>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𝑚𝑎𝑠𝑠</m:t>
                          </m:r>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𝑜𝑓</m:t>
                          </m:r>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𝑜𝑛𝑒</m:t>
                          </m:r>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𝑐𝑎𝑟𝑏𝑜𝑛</m:t>
                          </m:r>
                          <m:r>
                            <a:rPr lang="en-IN" i="1">
                              <a:effectLst/>
                              <a:latin typeface="Cambria Math" panose="02040503050406030204" pitchFamily="18" charset="0"/>
                              <a:ea typeface="Times New Roman" panose="02020603050405020304" pitchFamily="18" charset="0"/>
                              <a:cs typeface="Times New Roman" panose="02020603050405020304" pitchFamily="18" charset="0"/>
                            </a:rPr>
                            <m:t>−12 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𝑎𝑡𝑜𝑚</m:t>
                          </m:r>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den>
                      </m:f>
                    </m:oMath>
                  </m:oMathPara>
                </a14:m>
                <a:endParaRPr lang="en-MY"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503571" y="3653582"/>
                <a:ext cx="7728857" cy="1377557"/>
              </a:xfrm>
              <a:prstGeom prst="rect">
                <a:avLst/>
              </a:prstGeom>
              <a:blipFill rotWithShape="0">
                <a:blip r:embed="rId3"/>
                <a:stretch>
                  <a:fillRect/>
                </a:stretch>
              </a:blipFill>
            </p:spPr>
            <p:txBody>
              <a:bodyPr/>
              <a:lstStyle/>
              <a:p>
                <a:r>
                  <a:rPr lang="en-MY">
                    <a:noFill/>
                  </a:rPr>
                  <a:t> </a:t>
                </a:r>
              </a:p>
            </p:txBody>
          </p:sp>
        </mc:Fallback>
      </mc:AlternateContent>
    </p:spTree>
    <p:extLst>
      <p:ext uri="{BB962C8B-B14F-4D97-AF65-F5344CB8AC3E}">
        <p14:creationId xmlns:p14="http://schemas.microsoft.com/office/powerpoint/2010/main" val="40698739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7808204" cy="767700"/>
          </a:xfrm>
          <a:prstGeom prst="rect">
            <a:avLst/>
          </a:prstGeom>
        </p:spPr>
        <p:txBody>
          <a:bodyPr spcFirstLastPara="1" wrap="square" lIns="91425" tIns="91425" rIns="91425" bIns="91425" anchor="b" anchorCtr="0">
            <a:noAutofit/>
          </a:bodyPr>
          <a:lstStyle/>
          <a:p>
            <a:pPr marL="114300">
              <a:buSzPts val="1800"/>
            </a:pPr>
            <a:r>
              <a:rPr lang="en-IN" dirty="0">
                <a:latin typeface="Calibri" panose="020F0502020204030204" pitchFamily="34" charset="0"/>
              </a:rPr>
              <a:t>Isotopes &amp; Calculating Relative Atomic Mass</a:t>
            </a:r>
            <a:endParaRPr lang="en-MY" dirty="0">
              <a:latin typeface="Calibri" panose="020F0502020204030204" pitchFamily="34" charset="0"/>
            </a:endParaRPr>
          </a:p>
        </p:txBody>
      </p:sp>
      <mc:AlternateContent xmlns:mc="http://schemas.openxmlformats.org/markup-compatibility/2006" xmlns:a14="http://schemas.microsoft.com/office/drawing/2010/main">
        <mc:Choice Requires="a14">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r>
                  <a:rPr lang="en-IN" dirty="0">
                    <a:latin typeface="Calibri" panose="020F0502020204030204" pitchFamily="34" charset="0"/>
                  </a:rPr>
                  <a:t>Boron is available in two forms: </a:t>
                </a:r>
                <a14:m>
                  <m:oMath xmlns:m="http://schemas.openxmlformats.org/officeDocument/2006/math">
                    <m:sPre>
                      <m:sPrePr>
                        <m:ctrlPr>
                          <a:rPr lang="en-MY" i="1">
                            <a:latin typeface="Cambria Math" panose="02040503050406030204" pitchFamily="18" charset="0"/>
                          </a:rPr>
                        </m:ctrlPr>
                      </m:sPrePr>
                      <m:sub>
                        <m:r>
                          <a:rPr lang="en-IN" i="1">
                            <a:latin typeface="Cambria Math" panose="02040503050406030204" pitchFamily="18" charset="0"/>
                          </a:rPr>
                          <m:t>5</m:t>
                        </m:r>
                      </m:sub>
                      <m:sup>
                        <m:r>
                          <a:rPr lang="en-IN" i="1">
                            <a:latin typeface="Cambria Math" panose="02040503050406030204" pitchFamily="18" charset="0"/>
                          </a:rPr>
                          <m:t>10</m:t>
                        </m:r>
                      </m:sup>
                      <m:e>
                        <m:r>
                          <a:rPr lang="en-IN" i="1">
                            <a:latin typeface="Cambria Math" panose="02040503050406030204" pitchFamily="18" charset="0"/>
                          </a:rPr>
                          <m:t>𝐵</m:t>
                        </m:r>
                      </m:e>
                    </m:sPre>
                  </m:oMath>
                </a14:m>
                <a:r>
                  <a:rPr lang="en-IN" dirty="0"/>
                  <a:t> and </a:t>
                </a:r>
                <a14:m>
                  <m:oMath xmlns:m="http://schemas.openxmlformats.org/officeDocument/2006/math">
                    <m:sPre>
                      <m:sPrePr>
                        <m:ctrlPr>
                          <a:rPr lang="en-MY" i="1">
                            <a:latin typeface="Cambria Math" panose="02040503050406030204" pitchFamily="18" charset="0"/>
                          </a:rPr>
                        </m:ctrlPr>
                      </m:sPrePr>
                      <m:sub>
                        <m:r>
                          <a:rPr lang="en-IN" i="1">
                            <a:latin typeface="Cambria Math" panose="02040503050406030204" pitchFamily="18" charset="0"/>
                          </a:rPr>
                          <m:t>5</m:t>
                        </m:r>
                      </m:sub>
                      <m:sup>
                        <m:r>
                          <a:rPr lang="en-IN" i="1">
                            <a:latin typeface="Cambria Math" panose="02040503050406030204" pitchFamily="18" charset="0"/>
                          </a:rPr>
                          <m:t>11</m:t>
                        </m:r>
                      </m:sup>
                      <m:e>
                        <m:r>
                          <a:rPr lang="en-IN" i="1">
                            <a:latin typeface="Cambria Math" panose="02040503050406030204" pitchFamily="18" charset="0"/>
                          </a:rPr>
                          <m:t>𝐵</m:t>
                        </m:r>
                      </m:e>
                    </m:sPre>
                  </m:oMath>
                </a14:m>
                <a:r>
                  <a:rPr lang="en-IN" dirty="0"/>
                  <a:t>. </a:t>
                </a:r>
                <a:r>
                  <a:rPr lang="en-IN" dirty="0">
                    <a:latin typeface="Calibri" panose="020F0502020204030204" pitchFamily="34" charset="0"/>
                  </a:rPr>
                  <a:t>The relative composition of isotopes of boron found by mass spectroscopy is given in the table below:</a:t>
                </a:r>
                <a:endParaRPr lang="en-MY" dirty="0">
                  <a:latin typeface="Calibri" panose="020F0502020204030204" pitchFamily="34" charset="0"/>
                </a:endParaRPr>
              </a:p>
            </p:txBody>
          </p:sp>
        </mc:Choice>
        <mc:Fallback xmlns="">
          <p:sp>
            <p:nvSpPr>
              <p:cNvPr id="118" name="Google Shape;118;p26"/>
              <p:cNvSpPr txBox="1">
                <a:spLocks noRot="1" noChangeAspect="1" noMove="1" noResize="1" noEditPoints="1" noAdjustHandles="1" noChangeArrowheads="1" noChangeShapeType="1" noTextEdit="1"/>
              </p:cNvSpPr>
              <p:nvPr/>
            </p:nvSpPr>
            <p:spPr>
              <a:xfrm>
                <a:off x="702600" y="2028225"/>
                <a:ext cx="7330800" cy="2492100"/>
              </a:xfrm>
              <a:prstGeom prst="rect">
                <a:avLst/>
              </a:prstGeom>
              <a:blipFill>
                <a:blip r:embed="rId3"/>
                <a:stretch>
                  <a:fillRect l="-249" r="-582"/>
                </a:stretch>
              </a:blipFill>
              <a:ln>
                <a:noFill/>
              </a:ln>
            </p:spPr>
            <p:txBody>
              <a:bodyPr/>
              <a:lstStyle/>
              <a:p>
                <a:r>
                  <a:rPr lang="LID4096">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1249243" y="3438103"/>
                <a:ext cx="6237514" cy="1549399"/>
              </a:xfrm>
              <a:prstGeom prst="rect">
                <a:avLst/>
              </a:prstGeom>
            </p:spPr>
            <p:txBody>
              <a:bodyPr wrap="square">
                <a:spAutoFit/>
              </a:bodyPr>
              <a:lstStyle/>
              <a:p>
                <a:pPr>
                  <a:lnSpc>
                    <a:spcPct val="115000"/>
                  </a:lnSpc>
                  <a:spcAft>
                    <a:spcPts val="1000"/>
                  </a:spcAft>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Times New Roman" panose="02020603050405020304" pitchFamily="18" charset="0"/>
                          <a:cs typeface="Times New Roman" panose="02020603050405020304" pitchFamily="18" charset="0"/>
                        </a:rPr>
                        <m:t>𝑅𝑒𝑙𝑎𝑡𝑖𝑣𝑒</m:t>
                      </m:r>
                      <m:r>
                        <a:rPr lang="en-IN" i="1" smtClean="0">
                          <a:latin typeface="Cambria Math" panose="02040503050406030204" pitchFamily="18" charset="0"/>
                          <a:ea typeface="Times New Roman" panose="02020603050405020304" pitchFamily="18" charset="0"/>
                          <a:cs typeface="Times New Roman" panose="02020603050405020304" pitchFamily="18" charset="0"/>
                        </a:rPr>
                        <m:t> </m:t>
                      </m:r>
                      <m:r>
                        <a:rPr lang="en-IN" i="1" smtClean="0">
                          <a:latin typeface="Cambria Math" panose="02040503050406030204" pitchFamily="18" charset="0"/>
                          <a:ea typeface="Times New Roman" panose="02020603050405020304" pitchFamily="18" charset="0"/>
                          <a:cs typeface="Times New Roman" panose="02020603050405020304" pitchFamily="18" charset="0"/>
                        </a:rPr>
                        <m:t>𝑎𝑡𝑜𝑚𝑖𝑐</m:t>
                      </m:r>
                      <m:r>
                        <a:rPr lang="en-IN" i="1" smtClean="0">
                          <a:latin typeface="Cambria Math" panose="02040503050406030204" pitchFamily="18" charset="0"/>
                          <a:ea typeface="Times New Roman" panose="02020603050405020304" pitchFamily="18" charset="0"/>
                          <a:cs typeface="Times New Roman" panose="02020603050405020304" pitchFamily="18" charset="0"/>
                        </a:rPr>
                        <m:t> </m:t>
                      </m:r>
                      <m:r>
                        <a:rPr lang="en-IN" i="1" smtClean="0">
                          <a:latin typeface="Cambria Math" panose="02040503050406030204" pitchFamily="18" charset="0"/>
                          <a:ea typeface="Times New Roman" panose="02020603050405020304" pitchFamily="18" charset="0"/>
                          <a:cs typeface="Times New Roman" panose="02020603050405020304" pitchFamily="18" charset="0"/>
                        </a:rPr>
                        <m:t>𝑚𝑎𝑠𝑠</m:t>
                      </m:r>
                      <m:r>
                        <a:rPr lang="en-IN" i="1" smtClean="0">
                          <a:latin typeface="Cambria Math" panose="02040503050406030204" pitchFamily="18" charset="0"/>
                          <a:ea typeface="Times New Roman" panose="02020603050405020304" pitchFamily="18" charset="0"/>
                          <a:cs typeface="Times New Roman" panose="02020603050405020304" pitchFamily="18" charset="0"/>
                        </a:rPr>
                        <m:t>=</m:t>
                      </m:r>
                      <m:f>
                        <m:fPr>
                          <m:ctrlPr>
                            <a:rPr lang="en-MY"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IN" i="1">
                              <a:effectLst/>
                              <a:latin typeface="Cambria Math" panose="02040503050406030204" pitchFamily="18" charset="0"/>
                              <a:ea typeface="Times New Roman" panose="02020603050405020304" pitchFamily="18" charset="0"/>
                              <a:cs typeface="Times New Roman" panose="02020603050405020304" pitchFamily="18" charset="0"/>
                            </a:rPr>
                            <m:t>𝑠𝑢𝑚</m:t>
                          </m:r>
                          <m:d>
                            <m:dPr>
                              <m:ctrlPr>
                                <a:rPr lang="en-MY"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IN" i="1">
                                  <a:effectLst/>
                                  <a:latin typeface="Cambria Math" panose="02040503050406030204" pitchFamily="18" charset="0"/>
                                  <a:ea typeface="Times New Roman" panose="02020603050405020304" pitchFamily="18" charset="0"/>
                                  <a:cs typeface="Times New Roman" panose="02020603050405020304" pitchFamily="18" charset="0"/>
                                </a:rPr>
                                <m:t>𝑖𝑠𝑜𝑡𝑜𝑝𝑖𝑐</m:t>
                              </m:r>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𝑚𝑎𝑠𝑠</m:t>
                              </m:r>
                              <m:r>
                                <a:rPr lang="en-IN" i="1">
                                  <a:effectLst/>
                                  <a:latin typeface="Cambria Math" panose="02040503050406030204" pitchFamily="18" charset="0"/>
                                  <a:ea typeface="Times New Roman" panose="02020603050405020304" pitchFamily="18" charset="0"/>
                                  <a:cs typeface="Times New Roman" panose="02020603050405020304" pitchFamily="18" charset="0"/>
                                </a:rPr>
                                <m:t>×</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𝑟𝑒𝑙𝑎𝑡𝑖𝑣𝑒</m:t>
                              </m:r>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𝑎𝑏𝑢𝑛𝑑𝑎𝑛𝑐𝑒</m:t>
                              </m:r>
                            </m:e>
                          </m:d>
                        </m:num>
                        <m:den>
                          <m:r>
                            <a:rPr lang="en-IN" i="1">
                              <a:effectLst/>
                              <a:latin typeface="Cambria Math" panose="02040503050406030204" pitchFamily="18" charset="0"/>
                              <a:ea typeface="Times New Roman" panose="02020603050405020304" pitchFamily="18" charset="0"/>
                              <a:cs typeface="Times New Roman" panose="02020603050405020304" pitchFamily="18" charset="0"/>
                            </a:rPr>
                            <m:t>𝑡𝑜𝑡𝑎𝑙</m:t>
                          </m:r>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𝑟𝑒𝑙𝑎𝑡𝑖𝑣𝑒</m:t>
                          </m:r>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𝑎𝑏𝑢𝑛𝑑𝑎𝑛𝑐𝑒</m:t>
                          </m:r>
                        </m:den>
                      </m:f>
                    </m:oMath>
                  </m:oMathPara>
                </a14:m>
                <a:endParaRPr lang="en-MY"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14:m>
                  <m:oMathPara xmlns:m="http://schemas.openxmlformats.org/officeDocument/2006/math">
                    <m:oMathParaPr>
                      <m:jc m:val="centerGroup"/>
                    </m:oMathParaPr>
                    <m:oMath xmlns:m="http://schemas.openxmlformats.org/officeDocument/2006/math">
                      <m:r>
                        <a:rPr lang="en-IN" i="1">
                          <a:effectLst/>
                          <a:latin typeface="Cambria Math" panose="02040503050406030204" pitchFamily="18" charset="0"/>
                          <a:ea typeface="Times New Roman" panose="02020603050405020304" pitchFamily="18" charset="0"/>
                          <a:cs typeface="Times New Roman" panose="02020603050405020304" pitchFamily="18" charset="0"/>
                        </a:rPr>
                        <m:t>𝑅𝑒𝑙𝑎𝑡𝑖𝑣𝑒</m:t>
                      </m:r>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𝑎𝑡𝑜𝑚𝑖𝑐</m:t>
                      </m:r>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𝑚𝑎𝑠𝑠</m:t>
                      </m:r>
                      <m:r>
                        <a:rPr lang="en-IN"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MY"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GB" b="0"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en-IN" i="1">
                              <a:effectLst/>
                              <a:latin typeface="Cambria Math" panose="02040503050406030204" pitchFamily="18" charset="0"/>
                              <a:ea typeface="Times New Roman" panose="02020603050405020304" pitchFamily="18" charset="0"/>
                              <a:cs typeface="Times New Roman" panose="02020603050405020304" pitchFamily="18" charset="0"/>
                            </a:rPr>
                            <m:t>10×23</m:t>
                          </m:r>
                          <m:r>
                            <a:rPr lang="en-GB" b="0"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en-IN" i="1">
                              <a:effectLst/>
                              <a:latin typeface="Cambria Math" panose="02040503050406030204" pitchFamily="18" charset="0"/>
                              <a:ea typeface="Times New Roman" panose="02020603050405020304" pitchFamily="18" charset="0"/>
                              <a:cs typeface="Times New Roman" panose="02020603050405020304" pitchFamily="18" charset="0"/>
                            </a:rPr>
                            <m:t>+</m:t>
                          </m:r>
                          <m:r>
                            <a:rPr lang="en-GB" b="0"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en-IN" i="1">
                              <a:effectLst/>
                              <a:latin typeface="Cambria Math" panose="02040503050406030204" pitchFamily="18" charset="0"/>
                              <a:ea typeface="Times New Roman" panose="02020603050405020304" pitchFamily="18" charset="0"/>
                              <a:cs typeface="Times New Roman" panose="02020603050405020304" pitchFamily="18" charset="0"/>
                            </a:rPr>
                            <m:t>11×100</m:t>
                          </m:r>
                          <m:r>
                            <a:rPr lang="en-GB" b="0" i="1" smtClean="0">
                              <a:effectLst/>
                              <a:latin typeface="Cambria Math" panose="02040503050406030204" pitchFamily="18" charset="0"/>
                              <a:ea typeface="Times New Roman" panose="02020603050405020304" pitchFamily="18" charset="0"/>
                              <a:cs typeface="Times New Roman" panose="02020603050405020304" pitchFamily="18" charset="0"/>
                            </a:rPr>
                            <m:t>)</m:t>
                          </m:r>
                        </m:num>
                        <m:den>
                          <m:r>
                            <a:rPr lang="en-IN" i="1">
                              <a:effectLst/>
                              <a:latin typeface="Cambria Math" panose="02040503050406030204" pitchFamily="18" charset="0"/>
                              <a:ea typeface="Times New Roman" panose="02020603050405020304" pitchFamily="18" charset="0"/>
                              <a:cs typeface="Times New Roman" panose="02020603050405020304" pitchFamily="18" charset="0"/>
                            </a:rPr>
                            <m:t>123</m:t>
                          </m:r>
                        </m:den>
                      </m:f>
                    </m:oMath>
                  </m:oMathPara>
                </a14:m>
                <a:endParaRPr lang="en-MY"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14:m>
                  <m:oMathPara xmlns:m="http://schemas.openxmlformats.org/officeDocument/2006/math">
                    <m:oMathParaPr>
                      <m:jc m:val="centerGroup"/>
                    </m:oMathParaPr>
                    <m:oMath xmlns:m="http://schemas.openxmlformats.org/officeDocument/2006/math">
                      <m:r>
                        <a:rPr lang="en-IN" i="1">
                          <a:effectLst/>
                          <a:latin typeface="Cambria Math" panose="02040503050406030204" pitchFamily="18" charset="0"/>
                          <a:ea typeface="Times New Roman" panose="02020603050405020304" pitchFamily="18" charset="0"/>
                          <a:cs typeface="Times New Roman" panose="02020603050405020304" pitchFamily="18" charset="0"/>
                        </a:rPr>
                        <m:t>𝑅𝑒𝑙𝑎𝑡𝑖𝑣𝑒</m:t>
                      </m:r>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𝑎𝑡𝑜𝑚𝑖𝑐</m:t>
                      </m:r>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𝑚𝑎𝑠𝑠</m:t>
                      </m:r>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𝑜𝑓</m:t>
                      </m:r>
                      <m:r>
                        <a:rPr lang="en-IN"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𝑏𝑜𝑟𝑜𝑛</m:t>
                      </m:r>
                      <m:r>
                        <a:rPr lang="en-IN" i="1">
                          <a:effectLst/>
                          <a:latin typeface="Cambria Math" panose="02040503050406030204" pitchFamily="18" charset="0"/>
                          <a:ea typeface="Times New Roman" panose="02020603050405020304" pitchFamily="18" charset="0"/>
                          <a:cs typeface="Times New Roman" panose="02020603050405020304" pitchFamily="18" charset="0"/>
                        </a:rPr>
                        <m:t>=10.81</m:t>
                      </m:r>
                    </m:oMath>
                  </m:oMathPara>
                </a14:m>
                <a:endParaRPr lang="en-MY"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1249243" y="3438103"/>
                <a:ext cx="6237514" cy="1549399"/>
              </a:xfrm>
              <a:prstGeom prst="rect">
                <a:avLst/>
              </a:prstGeom>
              <a:blipFill>
                <a:blip r:embed="rId4"/>
                <a:stretch>
                  <a:fillRect/>
                </a:stretch>
              </a:blipFill>
            </p:spPr>
            <p:txBody>
              <a:bodyPr/>
              <a:lstStyle/>
              <a:p>
                <a:r>
                  <a:rPr lang="LID4096">
                    <a:noFill/>
                  </a:rPr>
                  <a:t> </a:t>
                </a:r>
              </a:p>
            </p:txBody>
          </p:sp>
        </mc:Fallback>
      </mc:AlternateContent>
      <p:graphicFrame>
        <p:nvGraphicFramePr>
          <p:cNvPr id="5" name="Table 4"/>
          <p:cNvGraphicFramePr>
            <a:graphicFrameLocks noGrp="1"/>
          </p:cNvGraphicFramePr>
          <p:nvPr/>
        </p:nvGraphicFramePr>
        <p:xfrm>
          <a:off x="2460000" y="2745253"/>
          <a:ext cx="3816000" cy="692850"/>
        </p:xfrm>
        <a:graphic>
          <a:graphicData uri="http://schemas.openxmlformats.org/drawingml/2006/table">
            <a:tbl>
              <a:tblPr firstRow="1" firstCol="1" bandRow="1">
                <a:tableStyleId>{5C22544A-7EE6-4342-B048-85BDC9FD1C3A}</a:tableStyleId>
              </a:tblPr>
              <a:tblGrid>
                <a:gridCol w="1800000">
                  <a:extLst>
                    <a:ext uri="{9D8B030D-6E8A-4147-A177-3AD203B41FA5}">
                      <a16:colId xmlns:a16="http://schemas.microsoft.com/office/drawing/2014/main" val="20000"/>
                    </a:ext>
                  </a:extLst>
                </a:gridCol>
                <a:gridCol w="1008000">
                  <a:extLst>
                    <a:ext uri="{9D8B030D-6E8A-4147-A177-3AD203B41FA5}">
                      <a16:colId xmlns:a16="http://schemas.microsoft.com/office/drawing/2014/main" val="20001"/>
                    </a:ext>
                  </a:extLst>
                </a:gridCol>
                <a:gridCol w="1008000">
                  <a:extLst>
                    <a:ext uri="{9D8B030D-6E8A-4147-A177-3AD203B41FA5}">
                      <a16:colId xmlns:a16="http://schemas.microsoft.com/office/drawing/2014/main" val="20002"/>
                    </a:ext>
                  </a:extLst>
                </a:gridCol>
              </a:tblGrid>
              <a:tr h="0">
                <a:tc>
                  <a:txBody>
                    <a:bodyPr/>
                    <a:lstStyle/>
                    <a:p>
                      <a:pPr>
                        <a:lnSpc>
                          <a:spcPct val="115000"/>
                        </a:lnSpc>
                        <a:spcAft>
                          <a:spcPts val="0"/>
                        </a:spcAft>
                      </a:pPr>
                      <a:r>
                        <a:rPr lang="en-IN" sz="1400" dirty="0">
                          <a:solidFill>
                            <a:srgbClr val="000000"/>
                          </a:solidFill>
                          <a:effectLst/>
                          <a:latin typeface="Calibri" panose="020F0502020204030204" pitchFamily="34" charset="0"/>
                        </a:rPr>
                        <a:t> </a:t>
                      </a:r>
                      <a:endParaRPr lang="en-MY"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tc>
                  <a:txBody>
                    <a:bodyPr/>
                    <a:lstStyle/>
                    <a:p>
                      <a:pPr algn="ctr">
                        <a:lnSpc>
                          <a:spcPct val="115000"/>
                        </a:lnSpc>
                        <a:spcAft>
                          <a:spcPts val="0"/>
                        </a:spcAft>
                      </a:pPr>
                      <a:r>
                        <a:rPr lang="en-IN" sz="1400" b="0" dirty="0">
                          <a:solidFill>
                            <a:schemeClr val="bg1"/>
                          </a:solidFill>
                          <a:effectLst/>
                          <a:latin typeface="Calibri" panose="020F0502020204030204" pitchFamily="34" charset="0"/>
                        </a:rPr>
                        <a:t>Boron-10</a:t>
                      </a:r>
                      <a:endParaRPr lang="en-MY" sz="14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tc>
                  <a:txBody>
                    <a:bodyPr/>
                    <a:lstStyle/>
                    <a:p>
                      <a:pPr algn="ctr">
                        <a:lnSpc>
                          <a:spcPct val="115000"/>
                        </a:lnSpc>
                        <a:spcAft>
                          <a:spcPts val="0"/>
                        </a:spcAft>
                      </a:pPr>
                      <a:r>
                        <a:rPr lang="en-IN" sz="1400" b="0" dirty="0">
                          <a:solidFill>
                            <a:schemeClr val="bg1"/>
                          </a:solidFill>
                          <a:effectLst/>
                          <a:latin typeface="Calibri" panose="020F0502020204030204" pitchFamily="34" charset="0"/>
                        </a:rPr>
                        <a:t>Boron-11</a:t>
                      </a:r>
                      <a:endParaRPr lang="en-MY" sz="14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extLst>
                  <a:ext uri="{0D108BD9-81ED-4DB2-BD59-A6C34878D82A}">
                    <a16:rowId xmlns:a16="http://schemas.microsoft.com/office/drawing/2014/main" val="10000"/>
                  </a:ext>
                </a:extLst>
              </a:tr>
              <a:tr h="0">
                <a:tc>
                  <a:txBody>
                    <a:bodyPr/>
                    <a:lstStyle/>
                    <a:p>
                      <a:pPr algn="ctr">
                        <a:lnSpc>
                          <a:spcPct val="115000"/>
                        </a:lnSpc>
                        <a:spcAft>
                          <a:spcPts val="0"/>
                        </a:spcAft>
                      </a:pPr>
                      <a:r>
                        <a:rPr lang="en-IN" sz="1400" b="0" dirty="0">
                          <a:solidFill>
                            <a:schemeClr val="bg1"/>
                          </a:solidFill>
                          <a:effectLst/>
                          <a:latin typeface="Calibri" panose="020F0502020204030204" pitchFamily="34" charset="0"/>
                        </a:rPr>
                        <a:t>Relative isotopic mass</a:t>
                      </a:r>
                      <a:endParaRPr lang="en-MY" sz="14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tc>
                  <a:txBody>
                    <a:bodyPr/>
                    <a:lstStyle/>
                    <a:p>
                      <a:pPr algn="ctr">
                        <a:lnSpc>
                          <a:spcPct val="115000"/>
                        </a:lnSpc>
                        <a:spcAft>
                          <a:spcPts val="0"/>
                        </a:spcAft>
                      </a:pPr>
                      <a:r>
                        <a:rPr lang="en-IN" sz="1400" dirty="0">
                          <a:solidFill>
                            <a:srgbClr val="000000"/>
                          </a:solidFill>
                          <a:effectLst/>
                          <a:latin typeface="Calibri" panose="020F0502020204030204" pitchFamily="34" charset="0"/>
                        </a:rPr>
                        <a:t>10</a:t>
                      </a:r>
                      <a:endParaRPr lang="en-MY"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0"/>
                        </a:spcAft>
                      </a:pPr>
                      <a:r>
                        <a:rPr lang="en-IN" sz="1400" dirty="0">
                          <a:solidFill>
                            <a:srgbClr val="000000"/>
                          </a:solidFill>
                          <a:effectLst/>
                          <a:latin typeface="Calibri" panose="020F0502020204030204" pitchFamily="34" charset="0"/>
                        </a:rPr>
                        <a:t>11</a:t>
                      </a:r>
                      <a:endParaRPr lang="en-MY"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0">
                <a:tc>
                  <a:txBody>
                    <a:bodyPr/>
                    <a:lstStyle/>
                    <a:p>
                      <a:pPr algn="ctr">
                        <a:lnSpc>
                          <a:spcPct val="115000"/>
                        </a:lnSpc>
                        <a:spcAft>
                          <a:spcPts val="0"/>
                        </a:spcAft>
                      </a:pPr>
                      <a:r>
                        <a:rPr lang="en-IN" sz="1400" b="0" dirty="0">
                          <a:solidFill>
                            <a:schemeClr val="bg1"/>
                          </a:solidFill>
                          <a:effectLst/>
                          <a:latin typeface="Calibri" panose="020F0502020204030204" pitchFamily="34" charset="0"/>
                        </a:rPr>
                        <a:t>Relative abundance</a:t>
                      </a:r>
                      <a:endParaRPr lang="en-MY" sz="14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tc>
                  <a:txBody>
                    <a:bodyPr/>
                    <a:lstStyle/>
                    <a:p>
                      <a:pPr algn="ctr">
                        <a:lnSpc>
                          <a:spcPct val="115000"/>
                        </a:lnSpc>
                        <a:spcAft>
                          <a:spcPts val="0"/>
                        </a:spcAft>
                      </a:pPr>
                      <a:r>
                        <a:rPr lang="en-IN" sz="1400" dirty="0">
                          <a:solidFill>
                            <a:srgbClr val="000000"/>
                          </a:solidFill>
                          <a:effectLst/>
                          <a:latin typeface="Calibri" panose="020F0502020204030204" pitchFamily="34" charset="0"/>
                        </a:rPr>
                        <a:t>23 </a:t>
                      </a:r>
                      <a:endParaRPr lang="en-MY"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0"/>
                        </a:spcAft>
                      </a:pPr>
                      <a:r>
                        <a:rPr lang="en-IN" sz="1400" dirty="0">
                          <a:solidFill>
                            <a:srgbClr val="000000"/>
                          </a:solidFill>
                          <a:effectLst/>
                          <a:latin typeface="Calibri" panose="020F0502020204030204" pitchFamily="34" charset="0"/>
                        </a:rPr>
                        <a:t>100</a:t>
                      </a:r>
                      <a:endParaRPr lang="en-MY"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6481835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7808204" cy="767700"/>
          </a:xfrm>
          <a:prstGeom prst="rect">
            <a:avLst/>
          </a:prstGeom>
        </p:spPr>
        <p:txBody>
          <a:bodyPr spcFirstLastPara="1" wrap="square" lIns="91425" tIns="91425" rIns="91425" bIns="91425" anchor="b" anchorCtr="0">
            <a:noAutofit/>
          </a:bodyPr>
          <a:lstStyle/>
          <a:p>
            <a:pPr marL="114300">
              <a:buSzPts val="1800"/>
            </a:pPr>
            <a:r>
              <a:rPr lang="en-IN" dirty="0">
                <a:latin typeface="Calibri" panose="020F0502020204030204" pitchFamily="34" charset="0"/>
              </a:rPr>
              <a:t>Mass spectrum </a:t>
            </a:r>
            <a:r>
              <a:rPr lang="en-IN">
                <a:latin typeface="Calibri" panose="020F0502020204030204" pitchFamily="34" charset="0"/>
              </a:rPr>
              <a:t>- Boron</a:t>
            </a:r>
            <a:endParaRPr lang="en-MY" dirty="0">
              <a:latin typeface="Calibri" panose="020F0502020204030204" pitchFamily="34" charset="0"/>
            </a:endParaRPr>
          </a:p>
        </p:txBody>
      </p:sp>
      <p:sp>
        <p:nvSpPr>
          <p:cNvPr id="118" name="Google Shape;118;p26"/>
          <p:cNvSpPr txBox="1"/>
          <p:nvPr/>
        </p:nvSpPr>
        <p:spPr>
          <a:xfrm>
            <a:off x="702600" y="2028225"/>
            <a:ext cx="4309667" cy="2492100"/>
          </a:xfrm>
          <a:prstGeom prst="rect">
            <a:avLst/>
          </a:prstGeom>
          <a:noFill/>
          <a:ln>
            <a:noFill/>
          </a:ln>
        </p:spPr>
        <p:txBody>
          <a:bodyPr spcFirstLastPara="1" wrap="square" lIns="91425" tIns="91425" rIns="91425" bIns="91425" anchor="t" anchorCtr="0">
            <a:noAutofit/>
          </a:bodyPr>
          <a:lstStyle/>
          <a:p>
            <a:pPr marL="285750" indent="-285750">
              <a:buFont typeface="Arial" panose="020B0604020202020204" pitchFamily="34" charset="0"/>
              <a:buChar char="•"/>
            </a:pPr>
            <a:r>
              <a:rPr lang="en-US" sz="1600" dirty="0">
                <a:latin typeface="Calibri" panose="020F0502020204030204" pitchFamily="34" charset="0"/>
              </a:rPr>
              <a:t>The mass spectroscopy result for boron is given in the figure. </a:t>
            </a:r>
          </a:p>
          <a:p>
            <a:pPr marL="285750" indent="-285750">
              <a:buFont typeface="Arial" panose="020B0604020202020204" pitchFamily="34" charset="0"/>
              <a:buChar char="•"/>
            </a:pPr>
            <a:endParaRPr lang="en-US" sz="1600" dirty="0">
              <a:latin typeface="Calibri" panose="020F0502020204030204" pitchFamily="34" charset="0"/>
            </a:endParaRPr>
          </a:p>
          <a:p>
            <a:pPr marL="285750" indent="-285750">
              <a:buFont typeface="Arial" panose="020B0604020202020204" pitchFamily="34" charset="0"/>
              <a:buChar char="•"/>
            </a:pPr>
            <a:r>
              <a:rPr lang="en-US" sz="1600" dirty="0">
                <a:latin typeface="Calibri" panose="020F0502020204030204" pitchFamily="34" charset="0"/>
              </a:rPr>
              <a:t>It can be noted that there are two isotopes of boron: 10 and 11. The relative abundance for B-10 is 23 and for B-11 is 100 in the sample. </a:t>
            </a:r>
          </a:p>
          <a:p>
            <a:pPr marL="285750" indent="-285750">
              <a:buFont typeface="Arial" panose="020B0604020202020204" pitchFamily="34" charset="0"/>
              <a:buChar char="•"/>
            </a:pPr>
            <a:r>
              <a:rPr lang="en-US" sz="1600" dirty="0">
                <a:latin typeface="Calibri" panose="020F0502020204030204" pitchFamily="34" charset="0"/>
              </a:rPr>
              <a:t>Using this data, the relative atomic mass of boron can be calculated.</a:t>
            </a:r>
          </a:p>
        </p:txBody>
      </p:sp>
      <p:pic>
        <p:nvPicPr>
          <p:cNvPr id="6" name="Picture 5">
            <a:extLst>
              <a:ext uri="{FF2B5EF4-FFF2-40B4-BE49-F238E27FC236}">
                <a16:creationId xmlns:a16="http://schemas.microsoft.com/office/drawing/2014/main" id="{E2B0EE0C-D139-464A-BF35-59A5675A1854}"/>
              </a:ext>
            </a:extLst>
          </p:cNvPr>
          <p:cNvPicPr/>
          <p:nvPr/>
        </p:nvPicPr>
        <p:blipFill>
          <a:blip r:embed="rId3">
            <a:extLst>
              <a:ext uri="{28A0092B-C50C-407E-A947-70E740481C1C}">
                <a14:useLocalDpi xmlns:a14="http://schemas.microsoft.com/office/drawing/2010/main" val="0"/>
              </a:ext>
            </a:extLst>
          </a:blip>
          <a:stretch>
            <a:fillRect/>
          </a:stretch>
        </p:blipFill>
        <p:spPr>
          <a:xfrm>
            <a:off x="5096027" y="2264833"/>
            <a:ext cx="3107055" cy="1804670"/>
          </a:xfrm>
          <a:prstGeom prst="rect">
            <a:avLst/>
          </a:prstGeom>
        </p:spPr>
      </p:pic>
    </p:spTree>
    <p:extLst>
      <p:ext uri="{BB962C8B-B14F-4D97-AF65-F5344CB8AC3E}">
        <p14:creationId xmlns:p14="http://schemas.microsoft.com/office/powerpoint/2010/main" val="21749025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493301" y="21428"/>
            <a:ext cx="5587814" cy="1001700"/>
          </a:xfrm>
          <a:prstGeom prst="rect">
            <a:avLst/>
          </a:prstGeom>
        </p:spPr>
        <p:txBody>
          <a:bodyPr spcFirstLastPara="1" wrap="square" lIns="91425" tIns="91425" rIns="91425" bIns="91425" anchor="ctr" anchorCtr="0">
            <a:noAutofit/>
          </a:bodyPr>
          <a:lstStyle/>
          <a:p>
            <a:pPr lvl="0"/>
            <a:r>
              <a:rPr lang="en-IN" sz="3200" dirty="0">
                <a:solidFill>
                  <a:srgbClr val="000000"/>
                </a:solidFill>
                <a:latin typeface="Calibri" panose="020F0502020204030204" pitchFamily="34" charset="0"/>
              </a:rPr>
              <a:t>Structure of the </a:t>
            </a:r>
            <a:br>
              <a:rPr lang="en-IN" sz="3200" dirty="0">
                <a:solidFill>
                  <a:srgbClr val="000000"/>
                </a:solidFill>
                <a:latin typeface="Calibri" panose="020F0502020204030204" pitchFamily="34" charset="0"/>
              </a:rPr>
            </a:br>
            <a:r>
              <a:rPr lang="en-IN" sz="3200" dirty="0">
                <a:solidFill>
                  <a:srgbClr val="000000"/>
                </a:solidFill>
                <a:latin typeface="Calibri" panose="020F0502020204030204" pitchFamily="34" charset="0"/>
              </a:rPr>
              <a:t>periodic table</a:t>
            </a:r>
            <a:endParaRPr sz="3200" dirty="0">
              <a:solidFill>
                <a:srgbClr val="000000"/>
              </a:solidFill>
              <a:latin typeface="Calibri" panose="020F0502020204030204" pitchFamily="34" charset="0"/>
            </a:endParaRPr>
          </a:p>
        </p:txBody>
      </p:sp>
      <p:sp>
        <p:nvSpPr>
          <p:cNvPr id="124" name="Google Shape;124;p27"/>
          <p:cNvSpPr txBox="1">
            <a:spLocks noGrp="1"/>
          </p:cNvSpPr>
          <p:nvPr>
            <p:ph type="body" idx="2"/>
          </p:nvPr>
        </p:nvSpPr>
        <p:spPr>
          <a:xfrm>
            <a:off x="4939500" y="724200"/>
            <a:ext cx="3837000" cy="3695100"/>
          </a:xfrm>
          <a:prstGeom prst="rect">
            <a:avLst/>
          </a:prstGeom>
        </p:spPr>
        <p:txBody>
          <a:bodyPr spcFirstLastPara="1" wrap="square" lIns="91425" tIns="91425" rIns="91425" bIns="91425" anchor="t" anchorCtr="0">
            <a:noAutofit/>
          </a:bodyPr>
          <a:lstStyle/>
          <a:p>
            <a:pPr lvl="0" algn="just"/>
            <a:r>
              <a:rPr lang="en-IN" sz="1400" dirty="0">
                <a:latin typeface="Calibri" panose="020F0502020204030204" pitchFamily="34" charset="0"/>
              </a:rPr>
              <a:t>The periodic table is arranged in order of atomic number.</a:t>
            </a:r>
          </a:p>
          <a:p>
            <a:pPr lvl="0" algn="just"/>
            <a:r>
              <a:rPr lang="en-IN" sz="1400" dirty="0">
                <a:latin typeface="Calibri" panose="020F0502020204030204" pitchFamily="34" charset="0"/>
              </a:rPr>
              <a:t>There are 18 groups. </a:t>
            </a:r>
          </a:p>
          <a:p>
            <a:pPr lvl="0" algn="just"/>
            <a:r>
              <a:rPr lang="en-IN" sz="1400" dirty="0">
                <a:latin typeface="Calibri" panose="020F0502020204030204" pitchFamily="34" charset="0"/>
              </a:rPr>
              <a:t>All elements of a group have similar chemical properties.</a:t>
            </a:r>
          </a:p>
          <a:p>
            <a:pPr lvl="0" algn="just"/>
            <a:r>
              <a:rPr lang="en-IN" sz="1400" dirty="0">
                <a:latin typeface="Calibri" panose="020F0502020204030204" pitchFamily="34" charset="0"/>
              </a:rPr>
              <a:t>The rows of the periodic table are called a period.</a:t>
            </a:r>
          </a:p>
          <a:p>
            <a:pPr lvl="0" algn="just"/>
            <a:r>
              <a:rPr lang="en-IN" sz="1400" dirty="0">
                <a:latin typeface="Calibri" panose="020F0502020204030204" pitchFamily="34" charset="0"/>
              </a:rPr>
              <a:t>The recurrence of the same pattern is called periodicity.</a:t>
            </a:r>
          </a:p>
          <a:p>
            <a:pPr marL="0" lvl="0" indent="0" algn="l" rtl="0">
              <a:spcBef>
                <a:spcPts val="1600"/>
              </a:spcBef>
              <a:spcAft>
                <a:spcPts val="1600"/>
              </a:spcAft>
              <a:buNone/>
            </a:pPr>
            <a:endParaRPr sz="1400" dirty="0">
              <a:latin typeface="Calibri" panose="020F0502020204030204" pitchFamily="34" charset="0"/>
            </a:endParaRPr>
          </a:p>
        </p:txBody>
      </p:sp>
      <p:sp>
        <p:nvSpPr>
          <p:cNvPr id="126" name="Google Shape;126;p27"/>
          <p:cNvSpPr txBox="1"/>
          <p:nvPr/>
        </p:nvSpPr>
        <p:spPr>
          <a:xfrm>
            <a:off x="3128525" y="4546950"/>
            <a:ext cx="1206300" cy="278400"/>
          </a:xfrm>
          <a:prstGeom prst="rect">
            <a:avLst/>
          </a:prstGeom>
          <a:noFill/>
          <a:ln>
            <a:noFill/>
          </a:ln>
        </p:spPr>
        <p:txBody>
          <a:bodyPr spcFirstLastPara="1" wrap="square" lIns="91425" tIns="91425" rIns="91425" bIns="91425" anchor="t" anchorCtr="0">
            <a:noAutofit/>
          </a:bodyPr>
          <a:lstStyle/>
          <a:p>
            <a:pPr lvl="0"/>
            <a:r>
              <a:rPr lang="en-IN" sz="1100" dirty="0">
                <a:solidFill>
                  <a:srgbClr val="666666"/>
                </a:solidFill>
              </a:rPr>
              <a:t>The modern periodic table</a:t>
            </a:r>
            <a:endParaRPr sz="1100" dirty="0">
              <a:solidFill>
                <a:srgbClr val="666666"/>
              </a:solidFill>
            </a:endParaRPr>
          </a:p>
        </p:txBody>
      </p:sp>
      <p:pic>
        <p:nvPicPr>
          <p:cNvPr id="2" name="Picture 1">
            <a:extLst>
              <a:ext uri="{FF2B5EF4-FFF2-40B4-BE49-F238E27FC236}">
                <a16:creationId xmlns:a16="http://schemas.microsoft.com/office/drawing/2014/main" id="{C5027B87-FE05-4043-98F3-A4CD33079988}"/>
              </a:ext>
            </a:extLst>
          </p:cNvPr>
          <p:cNvPicPr>
            <a:picLocks noChangeAspect="1"/>
          </p:cNvPicPr>
          <p:nvPr/>
        </p:nvPicPr>
        <p:blipFill>
          <a:blip r:embed="rId3"/>
          <a:stretch>
            <a:fillRect/>
          </a:stretch>
        </p:blipFill>
        <p:spPr>
          <a:xfrm>
            <a:off x="219835" y="1725948"/>
            <a:ext cx="4248630" cy="2295604"/>
          </a:xfrm>
          <a:prstGeom prst="rect">
            <a:avLst/>
          </a:prstGeom>
        </p:spPr>
      </p:pic>
    </p:spTree>
    <p:extLst>
      <p:ext uri="{BB962C8B-B14F-4D97-AF65-F5344CB8AC3E}">
        <p14:creationId xmlns:p14="http://schemas.microsoft.com/office/powerpoint/2010/main" val="38970038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MY" dirty="0">
                <a:latin typeface="Calibri" panose="020F0502020204030204" pitchFamily="34" charset="0"/>
              </a:rPr>
              <a:t>The periodic table</a:t>
            </a:r>
          </a:p>
        </p:txBody>
      </p:sp>
      <p:sp>
        <p:nvSpPr>
          <p:cNvPr id="118" name="Google Shape;118;p26"/>
          <p:cNvSpPr txBox="1"/>
          <p:nvPr/>
        </p:nvSpPr>
        <p:spPr>
          <a:xfrm>
            <a:off x="407323" y="1775795"/>
            <a:ext cx="4248630" cy="2872405"/>
          </a:xfrm>
          <a:prstGeom prst="rect">
            <a:avLst/>
          </a:prstGeom>
          <a:noFill/>
          <a:ln>
            <a:noFill/>
          </a:ln>
        </p:spPr>
        <p:txBody>
          <a:bodyPr spcFirstLastPara="1" wrap="square" lIns="91425" tIns="91425" rIns="91425" bIns="91425" anchor="t" anchorCtr="0">
            <a:noAutofit/>
          </a:bodyPr>
          <a:lstStyle/>
          <a:p>
            <a:pPr algn="just">
              <a:lnSpc>
                <a:spcPct val="130000"/>
              </a:lnSpc>
            </a:pPr>
            <a:r>
              <a:rPr lang="en-MY" dirty="0">
                <a:latin typeface="Calibri" panose="020F0502020204030204" pitchFamily="34" charset="0"/>
              </a:rPr>
              <a:t>The periodic table can be divided into three blocks: s-block,  p-block and d-block.</a:t>
            </a:r>
          </a:p>
          <a:p>
            <a:pPr marL="285750" indent="-285750" algn="just">
              <a:lnSpc>
                <a:spcPct val="130000"/>
              </a:lnSpc>
              <a:buFont typeface="Arial" panose="020B0604020202020204" pitchFamily="34" charset="0"/>
              <a:buChar char="•"/>
            </a:pPr>
            <a:r>
              <a:rPr lang="en-MY" b="1" dirty="0">
                <a:latin typeface="Calibri" panose="020F0502020204030204" pitchFamily="34" charset="0"/>
              </a:rPr>
              <a:t>s-block</a:t>
            </a:r>
            <a:r>
              <a:rPr lang="en-MY" dirty="0">
                <a:latin typeface="Calibri" panose="020F0502020204030204" pitchFamily="34" charset="0"/>
              </a:rPr>
              <a:t>: Hydrogen, Helium, Group 1 and group 2 elements have the outermost electrons in an s-shell</a:t>
            </a:r>
          </a:p>
          <a:p>
            <a:pPr marL="285750" indent="-285750" algn="just">
              <a:lnSpc>
                <a:spcPct val="130000"/>
              </a:lnSpc>
              <a:buFont typeface="Arial" panose="020B0604020202020204" pitchFamily="34" charset="0"/>
              <a:buChar char="•"/>
            </a:pPr>
            <a:r>
              <a:rPr lang="en-MY" b="1" dirty="0">
                <a:latin typeface="Calibri" panose="020F0502020204030204" pitchFamily="34" charset="0"/>
              </a:rPr>
              <a:t>p-block</a:t>
            </a:r>
            <a:r>
              <a:rPr lang="en-MY" dirty="0">
                <a:latin typeface="Calibri" panose="020F0502020204030204" pitchFamily="34" charset="0"/>
              </a:rPr>
              <a:t>: Group 13 to 18 (except He) have the outermost electrons in a p-shell</a:t>
            </a:r>
          </a:p>
          <a:p>
            <a:pPr marL="285750" indent="-285750" algn="just">
              <a:lnSpc>
                <a:spcPct val="130000"/>
              </a:lnSpc>
              <a:buFont typeface="Arial" panose="020B0604020202020204" pitchFamily="34" charset="0"/>
              <a:buChar char="•"/>
            </a:pPr>
            <a:r>
              <a:rPr lang="en-MY" b="1" dirty="0">
                <a:latin typeface="Calibri" panose="020F0502020204030204" pitchFamily="34" charset="0"/>
              </a:rPr>
              <a:t>d-block</a:t>
            </a:r>
            <a:r>
              <a:rPr lang="en-MY" dirty="0">
                <a:latin typeface="Calibri" panose="020F0502020204030204" pitchFamily="34" charset="0"/>
              </a:rPr>
              <a:t>: Elements that have the outermost electrons in a d-shell. These elements are also called transition elements.</a:t>
            </a:r>
          </a:p>
          <a:p>
            <a:pPr marL="285750" indent="-285750" algn="just">
              <a:lnSpc>
                <a:spcPct val="130000"/>
              </a:lnSpc>
              <a:buFont typeface="Arial" panose="020B0604020202020204" pitchFamily="34" charset="0"/>
              <a:buChar char="•"/>
            </a:pPr>
            <a:r>
              <a:rPr lang="en-IN" b="1" dirty="0">
                <a:latin typeface="Calibri" panose="020F0502020204030204" pitchFamily="34" charset="0"/>
              </a:rPr>
              <a:t>f-block: </a:t>
            </a:r>
            <a:r>
              <a:rPr lang="en-IN" dirty="0">
                <a:latin typeface="Calibri" panose="020F0502020204030204" pitchFamily="34" charset="0"/>
              </a:rPr>
              <a:t>Elements that have the outermost electrons in an f-shell.</a:t>
            </a:r>
          </a:p>
          <a:p>
            <a:pPr marL="285750" indent="-285750" algn="just">
              <a:lnSpc>
                <a:spcPct val="130000"/>
              </a:lnSpc>
              <a:buFont typeface="Arial" panose="020B0604020202020204" pitchFamily="34" charset="0"/>
              <a:buChar char="•"/>
            </a:pPr>
            <a:endParaRPr lang="en-MY" dirty="0">
              <a:latin typeface="Calibri" panose="020F0502020204030204" pitchFamily="34" charset="0"/>
            </a:endParaRPr>
          </a:p>
        </p:txBody>
      </p:sp>
      <p:pic>
        <p:nvPicPr>
          <p:cNvPr id="3" name="Picture 2">
            <a:extLst>
              <a:ext uri="{FF2B5EF4-FFF2-40B4-BE49-F238E27FC236}">
                <a16:creationId xmlns:a16="http://schemas.microsoft.com/office/drawing/2014/main" id="{3E6241F6-3C75-4105-B5E6-674F4F05A34C}"/>
              </a:ext>
            </a:extLst>
          </p:cNvPr>
          <p:cNvPicPr>
            <a:picLocks noChangeAspect="1"/>
          </p:cNvPicPr>
          <p:nvPr/>
        </p:nvPicPr>
        <p:blipFill>
          <a:blip r:embed="rId3"/>
          <a:stretch>
            <a:fillRect/>
          </a:stretch>
        </p:blipFill>
        <p:spPr>
          <a:xfrm>
            <a:off x="4724102" y="2254971"/>
            <a:ext cx="4248630" cy="2295604"/>
          </a:xfrm>
          <a:prstGeom prst="rect">
            <a:avLst/>
          </a:prstGeom>
        </p:spPr>
      </p:pic>
    </p:spTree>
    <p:extLst>
      <p:ext uri="{BB962C8B-B14F-4D97-AF65-F5344CB8AC3E}">
        <p14:creationId xmlns:p14="http://schemas.microsoft.com/office/powerpoint/2010/main" val="24267611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6"/>
          <p:cNvSpPr txBox="1">
            <a:spLocks noGrp="1"/>
          </p:cNvSpPr>
          <p:nvPr>
            <p:ph type="title"/>
          </p:nvPr>
        </p:nvSpPr>
        <p:spPr>
          <a:xfrm>
            <a:off x="933025" y="592925"/>
            <a:ext cx="6305100" cy="76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IN">
                <a:latin typeface="Calibri"/>
                <a:ea typeface="Calibri"/>
                <a:cs typeface="Calibri"/>
                <a:sym typeface="Calibri"/>
              </a:rPr>
              <a:t>Electronic Configuration </a:t>
            </a:r>
            <a:endParaRPr/>
          </a:p>
        </p:txBody>
      </p:sp>
      <p:sp>
        <p:nvSpPr>
          <p:cNvPr id="194" name="Google Shape;194;p36"/>
          <p:cNvSpPr txBox="1"/>
          <p:nvPr/>
        </p:nvSpPr>
        <p:spPr>
          <a:xfrm>
            <a:off x="407324" y="1936113"/>
            <a:ext cx="5007613" cy="2492100"/>
          </a:xfrm>
          <a:prstGeom prst="rect">
            <a:avLst/>
          </a:prstGeom>
          <a:noFill/>
          <a:ln>
            <a:noFill/>
          </a:ln>
        </p:spPr>
        <p:txBody>
          <a:bodyPr spcFirstLastPara="1" wrap="square" lIns="91425" tIns="91425" rIns="91425" bIns="91425" anchor="t" anchorCtr="0">
            <a:noAutofit/>
          </a:bodyPr>
          <a:lstStyle/>
          <a:p>
            <a:pPr marL="285750" marR="0" lvl="0" indent="-285750" algn="just" rtl="0">
              <a:lnSpc>
                <a:spcPct val="114000"/>
              </a:lnSpc>
              <a:spcBef>
                <a:spcPts val="0"/>
              </a:spcBef>
              <a:spcAft>
                <a:spcPts val="0"/>
              </a:spcAft>
              <a:buClr>
                <a:srgbClr val="000000"/>
              </a:buClr>
              <a:buSzPts val="1400"/>
              <a:buFont typeface="Arial"/>
              <a:buChar char="•"/>
            </a:pPr>
            <a:r>
              <a:rPr lang="en-IN" sz="1600" b="0" i="0" u="none" strike="noStrike" cap="none" dirty="0">
                <a:solidFill>
                  <a:srgbClr val="000000"/>
                </a:solidFill>
                <a:latin typeface="Calibri" panose="020F0502020204030204" pitchFamily="34" charset="0"/>
                <a:ea typeface="Calibri"/>
                <a:cs typeface="Calibri" panose="020F0502020204030204" pitchFamily="34" charset="0"/>
                <a:sym typeface="Calibri"/>
              </a:rPr>
              <a:t>The electrons around the nucleus are arranged in principal quantum shells (symbol n). </a:t>
            </a:r>
            <a:endParaRPr sz="1600" dirty="0">
              <a:latin typeface="Calibri" panose="020F0502020204030204" pitchFamily="34" charset="0"/>
              <a:cs typeface="Calibri" panose="020F0502020204030204" pitchFamily="34" charset="0"/>
            </a:endParaRPr>
          </a:p>
          <a:p>
            <a:pPr marL="285750" marR="0" lvl="0" indent="-285750" algn="just" rtl="0">
              <a:lnSpc>
                <a:spcPct val="114000"/>
              </a:lnSpc>
              <a:spcBef>
                <a:spcPts val="0"/>
              </a:spcBef>
              <a:spcAft>
                <a:spcPts val="0"/>
              </a:spcAft>
              <a:buClr>
                <a:srgbClr val="000000"/>
              </a:buClr>
              <a:buSzPts val="1400"/>
              <a:buFont typeface="Arial"/>
              <a:buChar char="•"/>
            </a:pPr>
            <a:r>
              <a:rPr lang="en-US" sz="1600" b="0" i="0" u="none" strike="noStrike" cap="none" dirty="0">
                <a:solidFill>
                  <a:srgbClr val="000000"/>
                </a:solidFill>
                <a:latin typeface="Calibri" panose="020F0502020204030204" pitchFamily="34" charset="0"/>
                <a:ea typeface="Calibri"/>
                <a:cs typeface="Calibri" panose="020F0502020204030204" pitchFamily="34" charset="0"/>
                <a:sym typeface="Calibri"/>
              </a:rPr>
              <a:t>The number maximum number of electrons a sub-shell can hold is based on the formula, 2n</a:t>
            </a:r>
            <a:r>
              <a:rPr lang="en-US" sz="1600" b="0" i="0" u="none" strike="noStrike" cap="none" baseline="30000" dirty="0">
                <a:solidFill>
                  <a:srgbClr val="000000"/>
                </a:solidFill>
                <a:latin typeface="Calibri" panose="020F0502020204030204" pitchFamily="34" charset="0"/>
                <a:ea typeface="Calibri"/>
                <a:cs typeface="Calibri" panose="020F0502020204030204" pitchFamily="34" charset="0"/>
                <a:sym typeface="Calibri"/>
              </a:rPr>
              <a:t>2</a:t>
            </a:r>
            <a:r>
              <a:rPr lang="en-US" sz="1600" b="0" i="0" u="none" strike="noStrike" cap="none" dirty="0">
                <a:solidFill>
                  <a:srgbClr val="000000"/>
                </a:solidFill>
                <a:latin typeface="Calibri" panose="020F0502020204030204" pitchFamily="34" charset="0"/>
                <a:ea typeface="Calibri"/>
                <a:cs typeface="Calibri" panose="020F0502020204030204" pitchFamily="34" charset="0"/>
                <a:sym typeface="Calibri"/>
              </a:rPr>
              <a:t> where n is the number of main level. </a:t>
            </a:r>
          </a:p>
          <a:p>
            <a:pPr marL="285750" marR="0" lvl="0" indent="-285750" algn="just" rtl="0">
              <a:lnSpc>
                <a:spcPct val="114000"/>
              </a:lnSpc>
              <a:spcBef>
                <a:spcPts val="0"/>
              </a:spcBef>
              <a:spcAft>
                <a:spcPts val="0"/>
              </a:spcAft>
              <a:buClr>
                <a:srgbClr val="000000"/>
              </a:buClr>
              <a:buSzPts val="1400"/>
              <a:buFont typeface="Arial"/>
              <a:buChar char="•"/>
            </a:pPr>
            <a:r>
              <a:rPr lang="en-IN" sz="1600" b="0" i="0" u="none" strike="noStrike" cap="none" dirty="0">
                <a:solidFill>
                  <a:srgbClr val="000000"/>
                </a:solidFill>
                <a:latin typeface="Calibri" panose="020F0502020204030204" pitchFamily="34" charset="0"/>
                <a:ea typeface="Calibri"/>
                <a:cs typeface="Calibri" panose="020F0502020204030204" pitchFamily="34" charset="0"/>
                <a:sym typeface="Calibri"/>
              </a:rPr>
              <a:t>The arrangement of electrons in an atom is called its electronic configuration. </a:t>
            </a:r>
          </a:p>
          <a:p>
            <a:pPr marL="285750" marR="0" lvl="0" indent="-285750" algn="just" rtl="0">
              <a:lnSpc>
                <a:spcPct val="114000"/>
              </a:lnSpc>
              <a:spcBef>
                <a:spcPts val="0"/>
              </a:spcBef>
              <a:spcAft>
                <a:spcPts val="0"/>
              </a:spcAft>
              <a:buClr>
                <a:srgbClr val="000000"/>
              </a:buClr>
              <a:buSzPts val="1400"/>
              <a:buFont typeface="Arial"/>
              <a:buChar char="•"/>
            </a:pPr>
            <a:r>
              <a:rPr lang="en-IN" sz="1600" b="0" i="0" u="none" strike="noStrike" cap="none" dirty="0">
                <a:solidFill>
                  <a:srgbClr val="000000"/>
                </a:solidFill>
                <a:latin typeface="Calibri" panose="020F0502020204030204" pitchFamily="34" charset="0"/>
                <a:ea typeface="Calibri"/>
                <a:cs typeface="Calibri" panose="020F0502020204030204" pitchFamily="34" charset="0"/>
                <a:sym typeface="Calibri"/>
              </a:rPr>
              <a:t>Each principal quantum shell can hold a maximum number of electrons as per the table given.</a:t>
            </a:r>
            <a:endParaRPr lang="en-IN" sz="1600" dirty="0">
              <a:latin typeface="Calibri" panose="020F0502020204030204" pitchFamily="34" charset="0"/>
              <a:ea typeface="Calibri"/>
              <a:cs typeface="Calibri" panose="020F0502020204030204" pitchFamily="34" charset="0"/>
            </a:endParaRPr>
          </a:p>
          <a:p>
            <a:pPr marL="285750" marR="0" lvl="0" indent="-285750" algn="just" rtl="0">
              <a:lnSpc>
                <a:spcPct val="114000"/>
              </a:lnSpc>
              <a:spcBef>
                <a:spcPts val="0"/>
              </a:spcBef>
              <a:spcAft>
                <a:spcPts val="0"/>
              </a:spcAft>
              <a:buClr>
                <a:srgbClr val="000000"/>
              </a:buClr>
              <a:buSzPts val="1400"/>
              <a:buFont typeface="Arial"/>
              <a:buChar char="•"/>
            </a:pPr>
            <a:r>
              <a:rPr lang="en-IN" sz="1600" b="0" i="0" u="none" strike="noStrike" cap="none" dirty="0">
                <a:solidFill>
                  <a:srgbClr val="000000"/>
                </a:solidFill>
                <a:latin typeface="Calibri" panose="020F0502020204030204" pitchFamily="34" charset="0"/>
                <a:ea typeface="Calibri"/>
                <a:cs typeface="Calibri" panose="020F0502020204030204" pitchFamily="34" charset="0"/>
                <a:sym typeface="Calibri"/>
              </a:rPr>
              <a:t>The quantum shell n=1 is the closest to the nucleus, n=2 is the next shell and so on.</a:t>
            </a:r>
            <a:endParaRPr sz="1600" dirty="0">
              <a:latin typeface="Calibri" panose="020F0502020204030204" pitchFamily="34" charset="0"/>
              <a:cs typeface="Calibri" panose="020F0502020204030204" pitchFamily="34" charset="0"/>
            </a:endParaRPr>
          </a:p>
          <a:p>
            <a:pPr marL="0" marR="0" lvl="0" indent="0" algn="just" rtl="0">
              <a:lnSpc>
                <a:spcPct val="114000"/>
              </a:lnSpc>
              <a:spcBef>
                <a:spcPts val="0"/>
              </a:spcBef>
              <a:spcAft>
                <a:spcPts val="0"/>
              </a:spcAft>
              <a:buClr>
                <a:srgbClr val="000000"/>
              </a:buClr>
              <a:buSzPts val="1400"/>
              <a:buFont typeface="Arial"/>
              <a:buNone/>
            </a:pPr>
            <a:endParaRPr sz="1600" b="0" i="0" u="none" strike="noStrike" cap="none" dirty="0">
              <a:solidFill>
                <a:srgbClr val="000000"/>
              </a:solidFill>
              <a:latin typeface="Calibri" panose="020F0502020204030204" pitchFamily="34" charset="0"/>
              <a:ea typeface="Calibri"/>
              <a:cs typeface="Calibri" panose="020F0502020204030204" pitchFamily="34" charset="0"/>
              <a:sym typeface="Calibri"/>
            </a:endParaRPr>
          </a:p>
        </p:txBody>
      </p:sp>
      <p:graphicFrame>
        <p:nvGraphicFramePr>
          <p:cNvPr id="7" name="Google Shape;96;p9">
            <a:extLst>
              <a:ext uri="{FF2B5EF4-FFF2-40B4-BE49-F238E27FC236}">
                <a16:creationId xmlns:a16="http://schemas.microsoft.com/office/drawing/2014/main" id="{D96C415B-6839-432A-97BA-8216413507CF}"/>
              </a:ext>
            </a:extLst>
          </p:cNvPr>
          <p:cNvGraphicFramePr/>
          <p:nvPr/>
        </p:nvGraphicFramePr>
        <p:xfrm>
          <a:off x="5583379" y="2320882"/>
          <a:ext cx="2971073" cy="2107331"/>
        </p:xfrm>
        <a:graphic>
          <a:graphicData uri="http://schemas.openxmlformats.org/drawingml/2006/table">
            <a:tbl>
              <a:tblPr firstRow="1" firstCol="1" bandRow="1">
                <a:noFill/>
              </a:tblPr>
              <a:tblGrid>
                <a:gridCol w="1013661">
                  <a:extLst>
                    <a:ext uri="{9D8B030D-6E8A-4147-A177-3AD203B41FA5}">
                      <a16:colId xmlns:a16="http://schemas.microsoft.com/office/drawing/2014/main" val="20000"/>
                    </a:ext>
                  </a:extLst>
                </a:gridCol>
                <a:gridCol w="1957412">
                  <a:extLst>
                    <a:ext uri="{9D8B030D-6E8A-4147-A177-3AD203B41FA5}">
                      <a16:colId xmlns:a16="http://schemas.microsoft.com/office/drawing/2014/main" val="20001"/>
                    </a:ext>
                  </a:extLst>
                </a:gridCol>
              </a:tblGrid>
              <a:tr h="669967">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400" b="0" u="none" strike="noStrike" cap="none" dirty="0">
                          <a:solidFill>
                            <a:schemeClr val="lt1"/>
                          </a:solidFill>
                          <a:latin typeface="Calibri" panose="020F0502020204030204" pitchFamily="34" charset="0"/>
                          <a:cs typeface="Calibri" panose="020F0502020204030204" pitchFamily="34" charset="0"/>
                        </a:rPr>
                        <a:t>Quantum shell</a:t>
                      </a:r>
                      <a:endParaRPr sz="1400" b="0" u="none" strike="noStrike" cap="none" dirty="0">
                        <a:solidFill>
                          <a:schemeClr val="lt1"/>
                        </a:solidFill>
                        <a:latin typeface="Calibri" panose="020F0502020204030204" pitchFamily="34" charset="0"/>
                        <a:ea typeface="Calibri"/>
                        <a:cs typeface="Calibri" panose="020F0502020204030204" pitchFamily="34" charset="0"/>
                        <a:sym typeface="Calibri"/>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27AE6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400" b="0" u="none" strike="noStrike" cap="none" dirty="0">
                          <a:solidFill>
                            <a:schemeClr val="lt1"/>
                          </a:solidFill>
                          <a:latin typeface="Calibri" panose="020F0502020204030204" pitchFamily="34" charset="0"/>
                          <a:cs typeface="Calibri" panose="020F0502020204030204" pitchFamily="34" charset="0"/>
                        </a:rPr>
                        <a:t>Maximum number of electrons (2n</a:t>
                      </a:r>
                      <a:r>
                        <a:rPr lang="en-IN" sz="1400" b="0" u="none" strike="noStrike" cap="none" baseline="30000" dirty="0">
                          <a:solidFill>
                            <a:schemeClr val="lt1"/>
                          </a:solidFill>
                          <a:latin typeface="Calibri" panose="020F0502020204030204" pitchFamily="34" charset="0"/>
                          <a:cs typeface="Calibri" panose="020F0502020204030204" pitchFamily="34" charset="0"/>
                        </a:rPr>
                        <a:t>2</a:t>
                      </a:r>
                      <a:r>
                        <a:rPr lang="en-IN" sz="1400" b="0" u="none" strike="noStrike" cap="none" dirty="0">
                          <a:solidFill>
                            <a:schemeClr val="lt1"/>
                          </a:solidFill>
                          <a:latin typeface="Calibri" panose="020F0502020204030204" pitchFamily="34" charset="0"/>
                          <a:cs typeface="Calibri" panose="020F0502020204030204" pitchFamily="34" charset="0"/>
                        </a:rPr>
                        <a:t>)</a:t>
                      </a:r>
                      <a:endParaRPr sz="1400" b="0" u="none" strike="noStrike" cap="none" dirty="0">
                        <a:solidFill>
                          <a:schemeClr val="lt1"/>
                        </a:solidFill>
                        <a:latin typeface="Calibri" panose="020F0502020204030204" pitchFamily="34" charset="0"/>
                        <a:ea typeface="Calibri"/>
                        <a:cs typeface="Calibri" panose="020F0502020204030204" pitchFamily="34" charset="0"/>
                        <a:sym typeface="Calibri"/>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27AE60"/>
                    </a:solidFill>
                  </a:tcPr>
                </a:tc>
                <a:extLst>
                  <a:ext uri="{0D108BD9-81ED-4DB2-BD59-A6C34878D82A}">
                    <a16:rowId xmlns:a16="http://schemas.microsoft.com/office/drawing/2014/main" val="10000"/>
                  </a:ext>
                </a:extLst>
              </a:tr>
              <a:tr h="359341">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400" b="0" i="0" u="none" strike="noStrike" cap="none" dirty="0">
                          <a:solidFill>
                            <a:srgbClr val="000000"/>
                          </a:solidFill>
                          <a:latin typeface="Calibri" panose="020F0502020204030204" pitchFamily="34" charset="0"/>
                          <a:ea typeface="Arial"/>
                          <a:cs typeface="Calibri" panose="020F0502020204030204" pitchFamily="34" charset="0"/>
                          <a:sym typeface="Arial"/>
                        </a:rPr>
                        <a:t>n=1</a:t>
                      </a:r>
                      <a:endParaRPr sz="14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400" b="0" i="0" u="none" strike="noStrike" cap="none" dirty="0">
                          <a:solidFill>
                            <a:srgbClr val="000000"/>
                          </a:solidFill>
                          <a:latin typeface="Calibri" panose="020F0502020204030204" pitchFamily="34" charset="0"/>
                          <a:ea typeface="Arial"/>
                          <a:cs typeface="Calibri" panose="020F0502020204030204" pitchFamily="34" charset="0"/>
                          <a:sym typeface="Arial"/>
                        </a:rPr>
                        <a:t>2</a:t>
                      </a:r>
                      <a:endParaRPr sz="14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359341">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400" b="0" i="0" u="none" strike="noStrike" cap="none" dirty="0">
                          <a:solidFill>
                            <a:srgbClr val="000000"/>
                          </a:solidFill>
                          <a:latin typeface="Calibri" panose="020F0502020204030204" pitchFamily="34" charset="0"/>
                          <a:ea typeface="Arial"/>
                          <a:cs typeface="Calibri" panose="020F0502020204030204" pitchFamily="34" charset="0"/>
                          <a:sym typeface="Arial"/>
                        </a:rPr>
                        <a:t>n=2</a:t>
                      </a:r>
                      <a:endParaRPr sz="14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400" b="0" i="0" u="none" strike="noStrike" cap="none" dirty="0">
                          <a:solidFill>
                            <a:srgbClr val="000000"/>
                          </a:solidFill>
                          <a:latin typeface="Calibri" panose="020F0502020204030204" pitchFamily="34" charset="0"/>
                          <a:ea typeface="Arial"/>
                          <a:cs typeface="Calibri" panose="020F0502020204030204" pitchFamily="34" charset="0"/>
                          <a:sym typeface="Arial"/>
                        </a:rPr>
                        <a:t>8</a:t>
                      </a:r>
                      <a:endParaRPr sz="14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359341">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400" b="0" i="0" u="none" strike="noStrike" cap="none" dirty="0">
                          <a:solidFill>
                            <a:srgbClr val="000000"/>
                          </a:solidFill>
                          <a:latin typeface="Calibri" panose="020F0502020204030204" pitchFamily="34" charset="0"/>
                          <a:ea typeface="Arial"/>
                          <a:cs typeface="Calibri" panose="020F0502020204030204" pitchFamily="34" charset="0"/>
                          <a:sym typeface="Arial"/>
                        </a:rPr>
                        <a:t>n=3</a:t>
                      </a:r>
                      <a:endParaRPr sz="14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400" b="0" i="0" u="none" strike="noStrike" cap="none" dirty="0">
                          <a:solidFill>
                            <a:srgbClr val="000000"/>
                          </a:solidFill>
                          <a:latin typeface="Calibri" panose="020F0502020204030204" pitchFamily="34" charset="0"/>
                          <a:ea typeface="Arial"/>
                          <a:cs typeface="Calibri" panose="020F0502020204030204" pitchFamily="34" charset="0"/>
                          <a:sym typeface="Arial"/>
                        </a:rPr>
                        <a:t>18</a:t>
                      </a:r>
                      <a:endParaRPr sz="14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359341">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400" b="0" i="0" u="none" strike="noStrike" cap="none">
                          <a:solidFill>
                            <a:srgbClr val="000000"/>
                          </a:solidFill>
                          <a:latin typeface="Calibri" panose="020F0502020204030204" pitchFamily="34" charset="0"/>
                          <a:ea typeface="Arial"/>
                          <a:cs typeface="Calibri" panose="020F0502020204030204" pitchFamily="34" charset="0"/>
                          <a:sym typeface="Arial"/>
                        </a:rPr>
                        <a:t>n=4</a:t>
                      </a:r>
                      <a:endParaRPr sz="1400" b="0" i="0" u="none" strike="noStrike" cap="none">
                        <a:solidFill>
                          <a:srgbClr val="000000"/>
                        </a:solidFill>
                        <a:latin typeface="Calibri" panose="020F0502020204030204" pitchFamily="34" charset="0"/>
                        <a:ea typeface="Arial"/>
                        <a:cs typeface="Calibri" panose="020F0502020204030204" pitchFamily="34" charset="0"/>
                        <a:sym typeface="Arial"/>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400" b="0" i="0" u="none" strike="noStrike" cap="none" dirty="0">
                          <a:solidFill>
                            <a:srgbClr val="000000"/>
                          </a:solidFill>
                          <a:latin typeface="Calibri" panose="020F0502020204030204" pitchFamily="34" charset="0"/>
                          <a:ea typeface="Arial"/>
                          <a:cs typeface="Calibri" panose="020F0502020204030204" pitchFamily="34" charset="0"/>
                          <a:sym typeface="Arial"/>
                        </a:rPr>
                        <a:t>32</a:t>
                      </a:r>
                      <a:endParaRPr sz="14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7"/>
          <p:cNvSpPr txBox="1">
            <a:spLocks noGrp="1"/>
          </p:cNvSpPr>
          <p:nvPr>
            <p:ph type="title"/>
          </p:nvPr>
        </p:nvSpPr>
        <p:spPr>
          <a:xfrm>
            <a:off x="933025" y="592925"/>
            <a:ext cx="6305100" cy="76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IN">
                <a:latin typeface="Calibri"/>
                <a:ea typeface="Calibri"/>
                <a:cs typeface="Calibri"/>
                <a:sym typeface="Calibri"/>
              </a:rPr>
              <a:t>Electronic Configuration </a:t>
            </a:r>
            <a:endParaRPr/>
          </a:p>
        </p:txBody>
      </p:sp>
      <p:sp>
        <p:nvSpPr>
          <p:cNvPr id="201" name="Google Shape;201;p37"/>
          <p:cNvSpPr txBox="1"/>
          <p:nvPr/>
        </p:nvSpPr>
        <p:spPr>
          <a:xfrm>
            <a:off x="407324" y="1847250"/>
            <a:ext cx="7714287" cy="2492100"/>
          </a:xfrm>
          <a:prstGeom prst="rect">
            <a:avLst/>
          </a:prstGeom>
          <a:noFill/>
          <a:ln>
            <a:noFill/>
          </a:ln>
        </p:spPr>
        <p:txBody>
          <a:bodyPr spcFirstLastPara="1" wrap="square" lIns="91425" tIns="91425" rIns="91425" bIns="91425" anchor="t" anchorCtr="0">
            <a:noAutofit/>
          </a:bodyPr>
          <a:lstStyle/>
          <a:p>
            <a:pPr marL="0" marR="0" lvl="0" indent="0" algn="just" rtl="0">
              <a:lnSpc>
                <a:spcPct val="114000"/>
              </a:lnSpc>
              <a:spcBef>
                <a:spcPts val="0"/>
              </a:spcBef>
              <a:spcAft>
                <a:spcPts val="0"/>
              </a:spcAft>
              <a:buClr>
                <a:srgbClr val="000000"/>
              </a:buClr>
              <a:buSzPts val="1400"/>
              <a:buFont typeface="Arial"/>
              <a:buNone/>
            </a:pPr>
            <a:r>
              <a:rPr lang="en-IN" sz="1400" b="0" i="0" u="none" strike="noStrike" cap="none">
                <a:solidFill>
                  <a:srgbClr val="000000"/>
                </a:solidFill>
                <a:latin typeface="Calibri"/>
                <a:ea typeface="Calibri"/>
                <a:cs typeface="Calibri"/>
                <a:sym typeface="Calibri"/>
              </a:rPr>
              <a:t>Examples: </a:t>
            </a:r>
            <a:endParaRPr/>
          </a:p>
        </p:txBody>
      </p:sp>
      <p:grpSp>
        <p:nvGrpSpPr>
          <p:cNvPr id="203" name="Google Shape;203;p37"/>
          <p:cNvGrpSpPr/>
          <p:nvPr/>
        </p:nvGrpSpPr>
        <p:grpSpPr>
          <a:xfrm>
            <a:off x="5400050" y="1935297"/>
            <a:ext cx="3247262" cy="2714625"/>
            <a:chOff x="6862762" y="1219200"/>
            <a:chExt cx="3247262" cy="2714625"/>
          </a:xfrm>
        </p:grpSpPr>
        <p:sp>
          <p:nvSpPr>
            <p:cNvPr id="204" name="Google Shape;204;p37"/>
            <p:cNvSpPr/>
            <p:nvPr/>
          </p:nvSpPr>
          <p:spPr>
            <a:xfrm>
              <a:off x="6862762" y="1219200"/>
              <a:ext cx="3247262" cy="2714625"/>
            </a:xfrm>
            <a:prstGeom prst="rect">
              <a:avLst/>
            </a:prstGeom>
            <a:noFill/>
            <a:ln w="12700" cap="flat" cmpd="sng">
              <a:solidFill>
                <a:srgbClr val="2E75B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5" name="Google Shape;205;p37"/>
            <p:cNvSpPr/>
            <p:nvPr/>
          </p:nvSpPr>
          <p:spPr>
            <a:xfrm>
              <a:off x="7376429" y="1669011"/>
              <a:ext cx="357792" cy="357792"/>
            </a:xfrm>
            <a:prstGeom prst="ellipse">
              <a:avLst/>
            </a:prstGeom>
            <a:gradFill>
              <a:gsLst>
                <a:gs pos="0">
                  <a:srgbClr val="F6F9FC"/>
                </a:gs>
                <a:gs pos="74000">
                  <a:srgbClr val="B3D1EC"/>
                </a:gs>
                <a:gs pos="83000">
                  <a:srgbClr val="B3D1EC"/>
                </a:gs>
                <a:gs pos="100000">
                  <a:srgbClr val="CCE0F2"/>
                </a:gs>
              </a:gsLst>
              <a:lin ang="5400000" scaled="0"/>
            </a:gra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p37"/>
            <p:cNvSpPr txBox="1"/>
            <p:nvPr/>
          </p:nvSpPr>
          <p:spPr>
            <a:xfrm>
              <a:off x="7376429" y="1707948"/>
              <a:ext cx="357791" cy="276999"/>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IN" sz="1200" b="0" i="0" u="none" strike="noStrike" cap="none">
                  <a:solidFill>
                    <a:srgbClr val="000000"/>
                  </a:solidFill>
                  <a:latin typeface="Calibri"/>
                  <a:ea typeface="Calibri"/>
                  <a:cs typeface="Calibri"/>
                  <a:sym typeface="Calibri"/>
                </a:rPr>
                <a:t>He</a:t>
              </a:r>
              <a:endParaRPr/>
            </a:p>
          </p:txBody>
        </p:sp>
        <p:sp>
          <p:nvSpPr>
            <p:cNvPr id="207" name="Google Shape;207;p37"/>
            <p:cNvSpPr/>
            <p:nvPr/>
          </p:nvSpPr>
          <p:spPr>
            <a:xfrm>
              <a:off x="7217519" y="1510102"/>
              <a:ext cx="675610" cy="675610"/>
            </a:xfrm>
            <a:prstGeom prst="ellipse">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8" name="Google Shape;208;p37"/>
            <p:cNvSpPr/>
            <p:nvPr/>
          </p:nvSpPr>
          <p:spPr>
            <a:xfrm>
              <a:off x="7506291" y="1454510"/>
              <a:ext cx="98065" cy="98065"/>
            </a:xfrm>
            <a:prstGeom prst="ellipse">
              <a:avLst/>
            </a:prstGeom>
            <a:solidFill>
              <a:srgbClr val="000000"/>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9" name="Google Shape;209;p37"/>
            <p:cNvSpPr/>
            <p:nvPr/>
          </p:nvSpPr>
          <p:spPr>
            <a:xfrm>
              <a:off x="7506291" y="2129355"/>
              <a:ext cx="98065" cy="98065"/>
            </a:xfrm>
            <a:prstGeom prst="ellipse">
              <a:avLst/>
            </a:prstGeom>
            <a:solidFill>
              <a:srgbClr val="000000"/>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0" name="Google Shape;210;p37"/>
            <p:cNvSpPr/>
            <p:nvPr/>
          </p:nvSpPr>
          <p:spPr>
            <a:xfrm>
              <a:off x="9255520" y="1669011"/>
              <a:ext cx="357792" cy="357792"/>
            </a:xfrm>
            <a:prstGeom prst="ellipse">
              <a:avLst/>
            </a:prstGeom>
            <a:gradFill>
              <a:gsLst>
                <a:gs pos="0">
                  <a:srgbClr val="F6F9FC"/>
                </a:gs>
                <a:gs pos="74000">
                  <a:srgbClr val="B3D1EC"/>
                </a:gs>
                <a:gs pos="83000">
                  <a:srgbClr val="B3D1EC"/>
                </a:gs>
                <a:gs pos="100000">
                  <a:srgbClr val="CCE0F2"/>
                </a:gs>
              </a:gsLst>
              <a:lin ang="5400000" scaled="0"/>
            </a:gra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1" name="Google Shape;211;p37"/>
            <p:cNvSpPr txBox="1"/>
            <p:nvPr/>
          </p:nvSpPr>
          <p:spPr>
            <a:xfrm>
              <a:off x="9301206" y="1707948"/>
              <a:ext cx="266419" cy="276999"/>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IN" sz="1200" b="0" i="0" u="none" strike="noStrike" cap="none">
                  <a:solidFill>
                    <a:srgbClr val="000000"/>
                  </a:solidFill>
                  <a:latin typeface="Calibri"/>
                  <a:ea typeface="Calibri"/>
                  <a:cs typeface="Calibri"/>
                  <a:sym typeface="Calibri"/>
                </a:rPr>
                <a:t>C</a:t>
              </a:r>
              <a:endParaRPr/>
            </a:p>
          </p:txBody>
        </p:sp>
        <p:sp>
          <p:nvSpPr>
            <p:cNvPr id="212" name="Google Shape;212;p37"/>
            <p:cNvSpPr/>
            <p:nvPr/>
          </p:nvSpPr>
          <p:spPr>
            <a:xfrm>
              <a:off x="9096610" y="1510102"/>
              <a:ext cx="675610" cy="675610"/>
            </a:xfrm>
            <a:prstGeom prst="ellipse">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3" name="Google Shape;213;p37"/>
            <p:cNvSpPr/>
            <p:nvPr/>
          </p:nvSpPr>
          <p:spPr>
            <a:xfrm>
              <a:off x="9385382" y="1454510"/>
              <a:ext cx="98065" cy="98065"/>
            </a:xfrm>
            <a:prstGeom prst="ellipse">
              <a:avLst/>
            </a:prstGeom>
            <a:solidFill>
              <a:srgbClr val="000000"/>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4" name="Google Shape;214;p37"/>
            <p:cNvSpPr/>
            <p:nvPr/>
          </p:nvSpPr>
          <p:spPr>
            <a:xfrm>
              <a:off x="9385382" y="2129355"/>
              <a:ext cx="98065" cy="98065"/>
            </a:xfrm>
            <a:prstGeom prst="ellipse">
              <a:avLst/>
            </a:prstGeom>
            <a:solidFill>
              <a:srgbClr val="000000"/>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5" name="Google Shape;215;p37"/>
            <p:cNvSpPr/>
            <p:nvPr/>
          </p:nvSpPr>
          <p:spPr>
            <a:xfrm>
              <a:off x="8943820" y="1357313"/>
              <a:ext cx="981188" cy="981188"/>
            </a:xfrm>
            <a:prstGeom prst="ellipse">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6" name="Google Shape;216;p37"/>
            <p:cNvSpPr/>
            <p:nvPr/>
          </p:nvSpPr>
          <p:spPr>
            <a:xfrm>
              <a:off x="9385382" y="1308625"/>
              <a:ext cx="98065" cy="98065"/>
            </a:xfrm>
            <a:prstGeom prst="ellipse">
              <a:avLst/>
            </a:prstGeom>
            <a:solidFill>
              <a:srgbClr val="000000"/>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7" name="Google Shape;217;p37"/>
            <p:cNvSpPr/>
            <p:nvPr/>
          </p:nvSpPr>
          <p:spPr>
            <a:xfrm>
              <a:off x="9385382" y="2279777"/>
              <a:ext cx="98065" cy="98065"/>
            </a:xfrm>
            <a:prstGeom prst="ellipse">
              <a:avLst/>
            </a:prstGeom>
            <a:solidFill>
              <a:srgbClr val="000000"/>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18" name="Google Shape;218;p37"/>
            <p:cNvGrpSpPr/>
            <p:nvPr/>
          </p:nvGrpSpPr>
          <p:grpSpPr>
            <a:xfrm rot="5400000">
              <a:off x="9385381" y="1319967"/>
              <a:ext cx="98065" cy="1069217"/>
              <a:chOff x="8377749" y="1707948"/>
              <a:chExt cx="98065" cy="1069217"/>
            </a:xfrm>
          </p:grpSpPr>
          <p:sp>
            <p:nvSpPr>
              <p:cNvPr id="219" name="Google Shape;219;p37"/>
              <p:cNvSpPr/>
              <p:nvPr/>
            </p:nvSpPr>
            <p:spPr>
              <a:xfrm>
                <a:off x="8377749" y="1707948"/>
                <a:ext cx="98065" cy="98065"/>
              </a:xfrm>
              <a:prstGeom prst="ellipse">
                <a:avLst/>
              </a:prstGeom>
              <a:solidFill>
                <a:srgbClr val="000000"/>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0" name="Google Shape;220;p37"/>
              <p:cNvSpPr/>
              <p:nvPr/>
            </p:nvSpPr>
            <p:spPr>
              <a:xfrm>
                <a:off x="8377749" y="2679100"/>
                <a:ext cx="98065" cy="98065"/>
              </a:xfrm>
              <a:prstGeom prst="ellipse">
                <a:avLst/>
              </a:prstGeom>
              <a:solidFill>
                <a:srgbClr val="000000"/>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221" name="Google Shape;221;p37"/>
            <p:cNvSpPr/>
            <p:nvPr/>
          </p:nvSpPr>
          <p:spPr>
            <a:xfrm>
              <a:off x="8351053" y="2848963"/>
              <a:ext cx="357792" cy="357792"/>
            </a:xfrm>
            <a:prstGeom prst="ellipse">
              <a:avLst/>
            </a:prstGeom>
            <a:gradFill>
              <a:gsLst>
                <a:gs pos="0">
                  <a:srgbClr val="F6F9FC"/>
                </a:gs>
                <a:gs pos="74000">
                  <a:srgbClr val="B3D1EC"/>
                </a:gs>
                <a:gs pos="83000">
                  <a:srgbClr val="B3D1EC"/>
                </a:gs>
                <a:gs pos="100000">
                  <a:srgbClr val="CCE0F2"/>
                </a:gs>
              </a:gsLst>
              <a:lin ang="5400000" scaled="0"/>
            </a:gra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2" name="Google Shape;222;p37"/>
            <p:cNvSpPr txBox="1"/>
            <p:nvPr/>
          </p:nvSpPr>
          <p:spPr>
            <a:xfrm>
              <a:off x="8335825" y="2887900"/>
              <a:ext cx="388248" cy="276999"/>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IN" sz="1200" b="0" i="0" u="none" strike="noStrike" cap="none">
                  <a:solidFill>
                    <a:srgbClr val="000000"/>
                  </a:solidFill>
                  <a:latin typeface="Calibri"/>
                  <a:ea typeface="Calibri"/>
                  <a:cs typeface="Calibri"/>
                  <a:sym typeface="Calibri"/>
                </a:rPr>
                <a:t>Mg</a:t>
              </a:r>
              <a:endParaRPr/>
            </a:p>
          </p:txBody>
        </p:sp>
        <p:sp>
          <p:nvSpPr>
            <p:cNvPr id="223" name="Google Shape;223;p37"/>
            <p:cNvSpPr/>
            <p:nvPr/>
          </p:nvSpPr>
          <p:spPr>
            <a:xfrm>
              <a:off x="8192143" y="2690054"/>
              <a:ext cx="675610" cy="675610"/>
            </a:xfrm>
            <a:prstGeom prst="ellipse">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p37"/>
            <p:cNvSpPr/>
            <p:nvPr/>
          </p:nvSpPr>
          <p:spPr>
            <a:xfrm>
              <a:off x="8480915" y="2634462"/>
              <a:ext cx="98065" cy="98065"/>
            </a:xfrm>
            <a:prstGeom prst="ellipse">
              <a:avLst/>
            </a:prstGeom>
            <a:solidFill>
              <a:srgbClr val="000000"/>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5" name="Google Shape;225;p37"/>
            <p:cNvSpPr/>
            <p:nvPr/>
          </p:nvSpPr>
          <p:spPr>
            <a:xfrm>
              <a:off x="8480915" y="3309307"/>
              <a:ext cx="98065" cy="98065"/>
            </a:xfrm>
            <a:prstGeom prst="ellipse">
              <a:avLst/>
            </a:prstGeom>
            <a:solidFill>
              <a:srgbClr val="000000"/>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6" name="Google Shape;226;p37"/>
            <p:cNvSpPr/>
            <p:nvPr/>
          </p:nvSpPr>
          <p:spPr>
            <a:xfrm>
              <a:off x="8039353" y="2537265"/>
              <a:ext cx="981188" cy="981188"/>
            </a:xfrm>
            <a:prstGeom prst="ellipse">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27" name="Google Shape;227;p37"/>
            <p:cNvGrpSpPr/>
            <p:nvPr/>
          </p:nvGrpSpPr>
          <p:grpSpPr>
            <a:xfrm>
              <a:off x="7995339" y="2324585"/>
              <a:ext cx="1069217" cy="1420497"/>
              <a:chOff x="7995339" y="2324585"/>
              <a:chExt cx="1069217" cy="1420497"/>
            </a:xfrm>
          </p:grpSpPr>
          <p:sp>
            <p:nvSpPr>
              <p:cNvPr id="228" name="Google Shape;228;p37"/>
              <p:cNvSpPr/>
              <p:nvPr/>
            </p:nvSpPr>
            <p:spPr>
              <a:xfrm>
                <a:off x="8480915" y="2488577"/>
                <a:ext cx="98065" cy="98065"/>
              </a:xfrm>
              <a:prstGeom prst="ellipse">
                <a:avLst/>
              </a:prstGeom>
              <a:solidFill>
                <a:srgbClr val="000000"/>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9" name="Google Shape;229;p37"/>
              <p:cNvSpPr/>
              <p:nvPr/>
            </p:nvSpPr>
            <p:spPr>
              <a:xfrm>
                <a:off x="8480915" y="3459729"/>
                <a:ext cx="98065" cy="98065"/>
              </a:xfrm>
              <a:prstGeom prst="ellipse">
                <a:avLst/>
              </a:prstGeom>
              <a:solidFill>
                <a:srgbClr val="000000"/>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30" name="Google Shape;230;p37"/>
              <p:cNvGrpSpPr/>
              <p:nvPr/>
            </p:nvGrpSpPr>
            <p:grpSpPr>
              <a:xfrm rot="5400000">
                <a:off x="7819699" y="2500225"/>
                <a:ext cx="1420497" cy="1069217"/>
                <a:chOff x="7716838" y="1707948"/>
                <a:chExt cx="1420497" cy="1069217"/>
              </a:xfrm>
            </p:grpSpPr>
            <p:sp>
              <p:nvSpPr>
                <p:cNvPr id="231" name="Google Shape;231;p37"/>
                <p:cNvSpPr/>
                <p:nvPr/>
              </p:nvSpPr>
              <p:spPr>
                <a:xfrm>
                  <a:off x="8377749" y="1707948"/>
                  <a:ext cx="98065" cy="98065"/>
                </a:xfrm>
                <a:prstGeom prst="ellipse">
                  <a:avLst/>
                </a:prstGeom>
                <a:solidFill>
                  <a:srgbClr val="000000"/>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p37"/>
                <p:cNvSpPr/>
                <p:nvPr/>
              </p:nvSpPr>
              <p:spPr>
                <a:xfrm>
                  <a:off x="8377749" y="2679100"/>
                  <a:ext cx="98065" cy="98065"/>
                </a:xfrm>
                <a:prstGeom prst="ellipse">
                  <a:avLst/>
                </a:prstGeom>
                <a:solidFill>
                  <a:srgbClr val="000000"/>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3" name="Google Shape;233;p37"/>
                <p:cNvSpPr/>
                <p:nvPr/>
              </p:nvSpPr>
              <p:spPr>
                <a:xfrm>
                  <a:off x="7716838" y="2187454"/>
                  <a:ext cx="98065" cy="98065"/>
                </a:xfrm>
                <a:prstGeom prst="ellipse">
                  <a:avLst/>
                </a:prstGeom>
                <a:solidFill>
                  <a:srgbClr val="000000"/>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4" name="Google Shape;234;p37"/>
                <p:cNvSpPr/>
                <p:nvPr/>
              </p:nvSpPr>
              <p:spPr>
                <a:xfrm>
                  <a:off x="9039270" y="2187454"/>
                  <a:ext cx="98065" cy="98065"/>
                </a:xfrm>
                <a:prstGeom prst="ellipse">
                  <a:avLst/>
                </a:prstGeom>
                <a:solidFill>
                  <a:srgbClr val="000000"/>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grpSp>
        <p:sp>
          <p:nvSpPr>
            <p:cNvPr id="235" name="Google Shape;235;p37"/>
            <p:cNvSpPr/>
            <p:nvPr/>
          </p:nvSpPr>
          <p:spPr>
            <a:xfrm>
              <a:off x="7861406" y="2371005"/>
              <a:ext cx="1327044" cy="1327044"/>
            </a:xfrm>
            <a:prstGeom prst="ellipse">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36" name="Google Shape;236;p37"/>
            <p:cNvGrpSpPr/>
            <p:nvPr/>
          </p:nvGrpSpPr>
          <p:grpSpPr>
            <a:xfrm rot="2700000">
              <a:off x="7995338" y="2488577"/>
              <a:ext cx="1069217" cy="1069217"/>
              <a:chOff x="7995338" y="2488577"/>
              <a:chExt cx="1069217" cy="1069217"/>
            </a:xfrm>
          </p:grpSpPr>
          <p:sp>
            <p:nvSpPr>
              <p:cNvPr id="237" name="Google Shape;237;p37"/>
              <p:cNvSpPr/>
              <p:nvPr/>
            </p:nvSpPr>
            <p:spPr>
              <a:xfrm>
                <a:off x="8480915" y="2488577"/>
                <a:ext cx="98065" cy="98065"/>
              </a:xfrm>
              <a:prstGeom prst="ellipse">
                <a:avLst/>
              </a:prstGeom>
              <a:solidFill>
                <a:srgbClr val="000000"/>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8" name="Google Shape;238;p37"/>
              <p:cNvSpPr/>
              <p:nvPr/>
            </p:nvSpPr>
            <p:spPr>
              <a:xfrm>
                <a:off x="8480915" y="3459729"/>
                <a:ext cx="98065" cy="98065"/>
              </a:xfrm>
              <a:prstGeom prst="ellipse">
                <a:avLst/>
              </a:prstGeom>
              <a:solidFill>
                <a:srgbClr val="000000"/>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39" name="Google Shape;239;p37"/>
              <p:cNvGrpSpPr/>
              <p:nvPr/>
            </p:nvGrpSpPr>
            <p:grpSpPr>
              <a:xfrm rot="5400000">
                <a:off x="8480914" y="2499919"/>
                <a:ext cx="98065" cy="1069217"/>
                <a:chOff x="8377749" y="1707948"/>
                <a:chExt cx="98065" cy="1069217"/>
              </a:xfrm>
            </p:grpSpPr>
            <p:sp>
              <p:nvSpPr>
                <p:cNvPr id="240" name="Google Shape;240;p37"/>
                <p:cNvSpPr/>
                <p:nvPr/>
              </p:nvSpPr>
              <p:spPr>
                <a:xfrm>
                  <a:off x="8377749" y="1707948"/>
                  <a:ext cx="98065" cy="98065"/>
                </a:xfrm>
                <a:prstGeom prst="ellipse">
                  <a:avLst/>
                </a:prstGeom>
                <a:solidFill>
                  <a:srgbClr val="000000"/>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1" name="Google Shape;241;p37"/>
                <p:cNvSpPr/>
                <p:nvPr/>
              </p:nvSpPr>
              <p:spPr>
                <a:xfrm>
                  <a:off x="8377749" y="2679100"/>
                  <a:ext cx="98065" cy="98065"/>
                </a:xfrm>
                <a:prstGeom prst="ellipse">
                  <a:avLst/>
                </a:prstGeom>
                <a:solidFill>
                  <a:srgbClr val="000000"/>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grpSp>
      </p:grpSp>
      <p:graphicFrame>
        <p:nvGraphicFramePr>
          <p:cNvPr id="46" name="Google Shape;97;p9">
            <a:extLst>
              <a:ext uri="{FF2B5EF4-FFF2-40B4-BE49-F238E27FC236}">
                <a16:creationId xmlns:a16="http://schemas.microsoft.com/office/drawing/2014/main" id="{D39B7495-9236-4FE2-858F-7280FE1B4922}"/>
              </a:ext>
            </a:extLst>
          </p:cNvPr>
          <p:cNvGraphicFramePr/>
          <p:nvPr/>
        </p:nvGraphicFramePr>
        <p:xfrm>
          <a:off x="621659" y="2873689"/>
          <a:ext cx="4249691" cy="1304074"/>
        </p:xfrm>
        <a:graphic>
          <a:graphicData uri="http://schemas.openxmlformats.org/drawingml/2006/table">
            <a:tbl>
              <a:tblPr firstRow="1" firstCol="1" bandRow="1">
                <a:noFill/>
              </a:tblPr>
              <a:tblGrid>
                <a:gridCol w="1346437">
                  <a:extLst>
                    <a:ext uri="{9D8B030D-6E8A-4147-A177-3AD203B41FA5}">
                      <a16:colId xmlns:a16="http://schemas.microsoft.com/office/drawing/2014/main" val="20000"/>
                    </a:ext>
                  </a:extLst>
                </a:gridCol>
                <a:gridCol w="1009828">
                  <a:extLst>
                    <a:ext uri="{9D8B030D-6E8A-4147-A177-3AD203B41FA5}">
                      <a16:colId xmlns:a16="http://schemas.microsoft.com/office/drawing/2014/main" val="20001"/>
                    </a:ext>
                  </a:extLst>
                </a:gridCol>
                <a:gridCol w="631142">
                  <a:extLst>
                    <a:ext uri="{9D8B030D-6E8A-4147-A177-3AD203B41FA5}">
                      <a16:colId xmlns:a16="http://schemas.microsoft.com/office/drawing/2014/main" val="20002"/>
                    </a:ext>
                  </a:extLst>
                </a:gridCol>
                <a:gridCol w="631142">
                  <a:extLst>
                    <a:ext uri="{9D8B030D-6E8A-4147-A177-3AD203B41FA5}">
                      <a16:colId xmlns:a16="http://schemas.microsoft.com/office/drawing/2014/main" val="20003"/>
                    </a:ext>
                  </a:extLst>
                </a:gridCol>
                <a:gridCol w="631142">
                  <a:extLst>
                    <a:ext uri="{9D8B030D-6E8A-4147-A177-3AD203B41FA5}">
                      <a16:colId xmlns:a16="http://schemas.microsoft.com/office/drawing/2014/main" val="20004"/>
                    </a:ext>
                  </a:extLst>
                </a:gridCol>
              </a:tblGrid>
              <a:tr h="252000">
                <a:tc rowSpan="2">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400" b="0" i="0" u="none" strike="noStrike" cap="none" dirty="0">
                          <a:solidFill>
                            <a:schemeClr val="lt1"/>
                          </a:solidFill>
                          <a:latin typeface="+mn-lt"/>
                          <a:ea typeface="Arial"/>
                          <a:cs typeface="Arial"/>
                          <a:sym typeface="Arial"/>
                        </a:rPr>
                        <a:t>Element </a:t>
                      </a:r>
                      <a:endParaRPr sz="1400" b="0" i="0" u="none" strike="noStrike" cap="none" dirty="0">
                        <a:solidFill>
                          <a:schemeClr val="lt1"/>
                        </a:solidFill>
                        <a:latin typeface="+mn-lt"/>
                        <a:ea typeface="Arial"/>
                        <a:cs typeface="Arial"/>
                        <a:sym typeface="Arial"/>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27AE60"/>
                    </a:solidFill>
                  </a:tcPr>
                </a:tc>
                <a:tc rowSpan="2">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400" b="0" i="0" u="none" strike="noStrike" cap="none" dirty="0">
                          <a:solidFill>
                            <a:schemeClr val="lt1"/>
                          </a:solidFill>
                          <a:latin typeface="+mn-lt"/>
                          <a:ea typeface="Arial"/>
                          <a:cs typeface="Arial"/>
                          <a:sym typeface="Arial"/>
                        </a:rPr>
                        <a:t>Number of electrons </a:t>
                      </a:r>
                      <a:endParaRPr sz="1400" b="0" i="0" u="none" strike="noStrike" cap="none" dirty="0">
                        <a:solidFill>
                          <a:schemeClr val="lt1"/>
                        </a:solidFill>
                        <a:latin typeface="+mn-lt"/>
                        <a:ea typeface="Arial"/>
                        <a:cs typeface="Arial"/>
                        <a:sym typeface="Arial"/>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27AE60"/>
                    </a:solidFill>
                  </a:tcPr>
                </a:tc>
                <a:tc gridSpan="3">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400" b="0" i="0" u="none" strike="noStrike" cap="none">
                          <a:solidFill>
                            <a:schemeClr val="lt1"/>
                          </a:solidFill>
                          <a:latin typeface="+mn-lt"/>
                          <a:ea typeface="Arial"/>
                          <a:cs typeface="Arial"/>
                          <a:sym typeface="Arial"/>
                        </a:rPr>
                        <a:t>Number of electrons</a:t>
                      </a:r>
                      <a:endParaRPr sz="1400" b="0" i="0" u="none" strike="noStrike" cap="none">
                        <a:solidFill>
                          <a:schemeClr val="lt1"/>
                        </a:solidFill>
                        <a:latin typeface="+mn-lt"/>
                        <a:ea typeface="Arial"/>
                        <a:cs typeface="Arial"/>
                        <a:sym typeface="Arial"/>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27AE6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52000">
                <a:tc vMerge="1">
                  <a:txBody>
                    <a:bodyPr/>
                    <a:lstStyle/>
                    <a:p>
                      <a:endParaRPr lang="en-US"/>
                    </a:p>
                  </a:txBody>
                  <a:tcPr/>
                </a:tc>
                <a:tc vMerge="1">
                  <a:txBody>
                    <a:bodyPr/>
                    <a:lstStyle/>
                    <a:p>
                      <a:endParaRPr lang="en-US"/>
                    </a:p>
                  </a:txBody>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400" b="0" i="0" u="none" strike="noStrike" cap="none" dirty="0">
                          <a:solidFill>
                            <a:schemeClr val="lt1"/>
                          </a:solidFill>
                          <a:latin typeface="+mn-lt"/>
                          <a:ea typeface="Arial"/>
                          <a:cs typeface="Arial"/>
                          <a:sym typeface="Arial"/>
                        </a:rPr>
                        <a:t>n=1</a:t>
                      </a:r>
                      <a:endParaRPr sz="1400" b="0" i="0" u="none" strike="noStrike" cap="none" dirty="0">
                        <a:solidFill>
                          <a:schemeClr val="lt1"/>
                        </a:solidFill>
                        <a:latin typeface="+mn-lt"/>
                        <a:ea typeface="Arial"/>
                        <a:cs typeface="Arial"/>
                        <a:sym typeface="Arial"/>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27AE6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400" b="0" i="0" u="none" strike="noStrike" cap="none">
                          <a:solidFill>
                            <a:schemeClr val="lt1"/>
                          </a:solidFill>
                          <a:latin typeface="+mn-lt"/>
                          <a:ea typeface="Arial"/>
                          <a:cs typeface="Arial"/>
                          <a:sym typeface="Arial"/>
                        </a:rPr>
                        <a:t>n=2</a:t>
                      </a:r>
                      <a:endParaRPr sz="1400" b="0" i="0" u="none" strike="noStrike" cap="none">
                        <a:solidFill>
                          <a:schemeClr val="lt1"/>
                        </a:solidFill>
                        <a:latin typeface="+mn-lt"/>
                        <a:ea typeface="Arial"/>
                        <a:cs typeface="Arial"/>
                        <a:sym typeface="Arial"/>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27AE6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400" b="0" i="0" u="none" strike="noStrike" cap="none">
                          <a:solidFill>
                            <a:schemeClr val="lt1"/>
                          </a:solidFill>
                          <a:latin typeface="+mn-lt"/>
                          <a:ea typeface="Arial"/>
                          <a:cs typeface="Arial"/>
                          <a:sym typeface="Arial"/>
                        </a:rPr>
                        <a:t>n=3</a:t>
                      </a:r>
                      <a:endParaRPr sz="1400" b="0" i="0" u="none" strike="noStrike" cap="none">
                        <a:solidFill>
                          <a:schemeClr val="lt1"/>
                        </a:solidFill>
                        <a:latin typeface="+mn-lt"/>
                        <a:ea typeface="Arial"/>
                        <a:cs typeface="Arial"/>
                        <a:sym typeface="Arial"/>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27AE60"/>
                    </a:solidFill>
                  </a:tcPr>
                </a:tc>
                <a:extLst>
                  <a:ext uri="{0D108BD9-81ED-4DB2-BD59-A6C34878D82A}">
                    <a16:rowId xmlns:a16="http://schemas.microsoft.com/office/drawing/2014/main" val="10001"/>
                  </a:ext>
                </a:extLst>
              </a:tr>
              <a:tr h="252000">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400" b="0" i="0" u="none" strike="noStrike" cap="none" dirty="0">
                          <a:solidFill>
                            <a:srgbClr val="000000"/>
                          </a:solidFill>
                          <a:latin typeface="+mn-lt"/>
                          <a:ea typeface="Arial"/>
                          <a:cs typeface="Arial"/>
                          <a:sym typeface="Arial"/>
                        </a:rPr>
                        <a:t>Helium</a:t>
                      </a:r>
                      <a:endParaRPr sz="1400" b="0" i="0" u="none" strike="noStrike" cap="none" dirty="0">
                        <a:solidFill>
                          <a:srgbClr val="000000"/>
                        </a:solidFill>
                        <a:latin typeface="+mn-lt"/>
                        <a:ea typeface="Arial"/>
                        <a:cs typeface="Arial"/>
                        <a:sym typeface="Arial"/>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400" b="0" i="0" u="none" strike="noStrike" cap="none">
                          <a:solidFill>
                            <a:srgbClr val="000000"/>
                          </a:solidFill>
                          <a:latin typeface="+mn-lt"/>
                          <a:ea typeface="Arial"/>
                          <a:cs typeface="Arial"/>
                          <a:sym typeface="Arial"/>
                        </a:rPr>
                        <a:t>2</a:t>
                      </a:r>
                      <a:endParaRPr sz="1400" b="0" i="0" u="none" strike="noStrike" cap="none">
                        <a:solidFill>
                          <a:srgbClr val="000000"/>
                        </a:solidFill>
                        <a:latin typeface="+mn-lt"/>
                        <a:ea typeface="Arial"/>
                        <a:cs typeface="Arial"/>
                        <a:sym typeface="Arial"/>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400" b="0" i="0" u="none" strike="noStrike" cap="none" dirty="0">
                          <a:solidFill>
                            <a:srgbClr val="000000"/>
                          </a:solidFill>
                          <a:latin typeface="+mn-lt"/>
                          <a:ea typeface="Arial"/>
                          <a:cs typeface="Arial"/>
                          <a:sym typeface="Arial"/>
                        </a:rPr>
                        <a:t>2</a:t>
                      </a:r>
                      <a:endParaRPr sz="1400" b="0" i="0" u="none" strike="noStrike" cap="none" dirty="0">
                        <a:solidFill>
                          <a:srgbClr val="000000"/>
                        </a:solidFill>
                        <a:latin typeface="+mn-lt"/>
                        <a:ea typeface="Arial"/>
                        <a:cs typeface="Arial"/>
                        <a:sym typeface="Arial"/>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400" b="0" i="0" u="none" strike="noStrike" cap="none">
                          <a:solidFill>
                            <a:srgbClr val="000000"/>
                          </a:solidFill>
                          <a:latin typeface="+mn-lt"/>
                          <a:ea typeface="Arial"/>
                          <a:cs typeface="Arial"/>
                          <a:sym typeface="Arial"/>
                        </a:rPr>
                        <a:t> </a:t>
                      </a:r>
                      <a:endParaRPr sz="1400" b="0" i="0" u="none" strike="noStrike" cap="none">
                        <a:solidFill>
                          <a:srgbClr val="000000"/>
                        </a:solidFill>
                        <a:latin typeface="+mn-lt"/>
                        <a:ea typeface="Arial"/>
                        <a:cs typeface="Arial"/>
                        <a:sym typeface="Arial"/>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400" b="0" i="0" u="none" strike="noStrike" cap="none">
                          <a:solidFill>
                            <a:srgbClr val="000000"/>
                          </a:solidFill>
                          <a:latin typeface="+mn-lt"/>
                          <a:ea typeface="Arial"/>
                          <a:cs typeface="Arial"/>
                          <a:sym typeface="Arial"/>
                        </a:rPr>
                        <a:t> </a:t>
                      </a:r>
                      <a:endParaRPr sz="1400" b="0" i="0" u="none" strike="noStrike" cap="none">
                        <a:solidFill>
                          <a:srgbClr val="000000"/>
                        </a:solidFill>
                        <a:latin typeface="+mn-lt"/>
                        <a:ea typeface="Arial"/>
                        <a:cs typeface="Arial"/>
                        <a:sym typeface="Arial"/>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296074">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400" b="0" i="0" u="none" strike="noStrike" cap="none" dirty="0">
                          <a:solidFill>
                            <a:srgbClr val="000000"/>
                          </a:solidFill>
                          <a:latin typeface="+mn-lt"/>
                          <a:ea typeface="Arial"/>
                          <a:cs typeface="Arial"/>
                          <a:sym typeface="Arial"/>
                        </a:rPr>
                        <a:t>Carbon</a:t>
                      </a:r>
                      <a:endParaRPr sz="1400" b="0" i="0" u="none" strike="noStrike" cap="none" dirty="0">
                        <a:solidFill>
                          <a:srgbClr val="000000"/>
                        </a:solidFill>
                        <a:latin typeface="+mn-lt"/>
                        <a:ea typeface="Arial"/>
                        <a:cs typeface="Arial"/>
                        <a:sym typeface="Arial"/>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400" b="0" i="0" u="none" strike="noStrike" cap="none" dirty="0">
                          <a:solidFill>
                            <a:srgbClr val="000000"/>
                          </a:solidFill>
                          <a:latin typeface="+mn-lt"/>
                          <a:ea typeface="Arial"/>
                          <a:cs typeface="Arial"/>
                          <a:sym typeface="Arial"/>
                        </a:rPr>
                        <a:t>6</a:t>
                      </a:r>
                      <a:endParaRPr sz="1400" b="0" i="0" u="none" strike="noStrike" cap="none" dirty="0">
                        <a:solidFill>
                          <a:srgbClr val="000000"/>
                        </a:solidFill>
                        <a:latin typeface="+mn-lt"/>
                        <a:ea typeface="Arial"/>
                        <a:cs typeface="Arial"/>
                        <a:sym typeface="Arial"/>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400" b="0" i="0" u="none" strike="noStrike" cap="none" dirty="0">
                          <a:solidFill>
                            <a:srgbClr val="000000"/>
                          </a:solidFill>
                          <a:latin typeface="+mn-lt"/>
                          <a:ea typeface="Arial"/>
                          <a:cs typeface="Arial"/>
                          <a:sym typeface="Arial"/>
                        </a:rPr>
                        <a:t>2</a:t>
                      </a:r>
                      <a:endParaRPr sz="1400" b="0" i="0" u="none" strike="noStrike" cap="none" dirty="0">
                        <a:solidFill>
                          <a:srgbClr val="000000"/>
                        </a:solidFill>
                        <a:latin typeface="+mn-lt"/>
                        <a:ea typeface="Arial"/>
                        <a:cs typeface="Arial"/>
                        <a:sym typeface="Arial"/>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400" b="0" i="0" u="none" strike="noStrike" cap="none">
                          <a:solidFill>
                            <a:srgbClr val="000000"/>
                          </a:solidFill>
                          <a:latin typeface="+mn-lt"/>
                          <a:ea typeface="Arial"/>
                          <a:cs typeface="Arial"/>
                          <a:sym typeface="Arial"/>
                        </a:rPr>
                        <a:t>4</a:t>
                      </a:r>
                      <a:endParaRPr sz="1400" b="0" i="0" u="none" strike="noStrike" cap="none">
                        <a:solidFill>
                          <a:srgbClr val="000000"/>
                        </a:solidFill>
                        <a:latin typeface="+mn-lt"/>
                        <a:ea typeface="Arial"/>
                        <a:cs typeface="Arial"/>
                        <a:sym typeface="Arial"/>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400" b="0" i="0" u="none" strike="noStrike" cap="none" dirty="0">
                          <a:solidFill>
                            <a:srgbClr val="000000"/>
                          </a:solidFill>
                          <a:latin typeface="+mn-lt"/>
                          <a:ea typeface="Arial"/>
                          <a:cs typeface="Arial"/>
                          <a:sym typeface="Arial"/>
                        </a:rPr>
                        <a:t> </a:t>
                      </a:r>
                      <a:endParaRPr sz="1400" b="0" i="0" u="none" strike="noStrike" cap="none" dirty="0">
                        <a:solidFill>
                          <a:srgbClr val="000000"/>
                        </a:solidFill>
                        <a:latin typeface="+mn-lt"/>
                        <a:ea typeface="Arial"/>
                        <a:cs typeface="Arial"/>
                        <a:sym typeface="Arial"/>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252000">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400" b="0" i="0" u="none" strike="noStrike" cap="none">
                          <a:solidFill>
                            <a:srgbClr val="000000"/>
                          </a:solidFill>
                          <a:latin typeface="+mn-lt"/>
                          <a:ea typeface="Arial"/>
                          <a:cs typeface="Arial"/>
                          <a:sym typeface="Arial"/>
                        </a:rPr>
                        <a:t>Magnesium</a:t>
                      </a:r>
                      <a:endParaRPr sz="1400" b="0" i="0" u="none" strike="noStrike" cap="none">
                        <a:solidFill>
                          <a:srgbClr val="000000"/>
                        </a:solidFill>
                        <a:latin typeface="+mn-lt"/>
                        <a:ea typeface="Arial"/>
                        <a:cs typeface="Arial"/>
                        <a:sym typeface="Arial"/>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400" b="0" i="0" u="none" strike="noStrike" cap="none" dirty="0">
                          <a:solidFill>
                            <a:srgbClr val="000000"/>
                          </a:solidFill>
                          <a:latin typeface="+mn-lt"/>
                          <a:ea typeface="Arial"/>
                          <a:cs typeface="Arial"/>
                          <a:sym typeface="Arial"/>
                        </a:rPr>
                        <a:t>12</a:t>
                      </a:r>
                      <a:endParaRPr sz="1400" b="0" i="0" u="none" strike="noStrike" cap="none" dirty="0">
                        <a:solidFill>
                          <a:srgbClr val="000000"/>
                        </a:solidFill>
                        <a:latin typeface="+mn-lt"/>
                        <a:ea typeface="Arial"/>
                        <a:cs typeface="Arial"/>
                        <a:sym typeface="Arial"/>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400" b="0" i="0" u="none" strike="noStrike" cap="none" dirty="0">
                          <a:solidFill>
                            <a:srgbClr val="000000"/>
                          </a:solidFill>
                          <a:latin typeface="+mn-lt"/>
                          <a:ea typeface="Arial"/>
                          <a:cs typeface="Arial"/>
                          <a:sym typeface="Arial"/>
                        </a:rPr>
                        <a:t>2</a:t>
                      </a:r>
                      <a:endParaRPr sz="1400" b="0" i="0" u="none" strike="noStrike" cap="none" dirty="0">
                        <a:solidFill>
                          <a:srgbClr val="000000"/>
                        </a:solidFill>
                        <a:latin typeface="+mn-lt"/>
                        <a:ea typeface="Arial"/>
                        <a:cs typeface="Arial"/>
                        <a:sym typeface="Arial"/>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400" b="0" i="0" u="none" strike="noStrike" cap="none" dirty="0">
                          <a:solidFill>
                            <a:schemeClr val="bg2"/>
                          </a:solidFill>
                          <a:latin typeface="+mn-lt"/>
                          <a:ea typeface="Arial"/>
                          <a:cs typeface="Arial"/>
                          <a:sym typeface="Arial"/>
                        </a:rPr>
                        <a:t>8</a:t>
                      </a:r>
                      <a:endParaRPr sz="1400" b="0" i="0" u="none" strike="noStrike" cap="none" dirty="0">
                        <a:solidFill>
                          <a:schemeClr val="bg2"/>
                        </a:solidFill>
                        <a:latin typeface="+mn-lt"/>
                        <a:ea typeface="Arial"/>
                        <a:cs typeface="Arial"/>
                        <a:sym typeface="Arial"/>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400" b="0" i="0" u="none" strike="noStrike" cap="none" dirty="0">
                          <a:solidFill>
                            <a:schemeClr val="bg2"/>
                          </a:solidFill>
                          <a:latin typeface="+mn-lt"/>
                          <a:ea typeface="Arial"/>
                          <a:cs typeface="Arial"/>
                          <a:sym typeface="Arial"/>
                        </a:rPr>
                        <a:t>2</a:t>
                      </a:r>
                      <a:endParaRPr sz="1400" b="0" i="0" u="none" strike="noStrike" cap="none" dirty="0">
                        <a:solidFill>
                          <a:schemeClr val="bg2"/>
                        </a:solidFill>
                        <a:latin typeface="+mn-lt"/>
                        <a:ea typeface="Arial"/>
                        <a:cs typeface="Arial"/>
                        <a:sym typeface="Arial"/>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8"/>
          <p:cNvSpPr txBox="1">
            <a:spLocks noGrp="1"/>
          </p:cNvSpPr>
          <p:nvPr>
            <p:ph type="title"/>
          </p:nvPr>
        </p:nvSpPr>
        <p:spPr>
          <a:xfrm>
            <a:off x="933025" y="592925"/>
            <a:ext cx="6305100" cy="76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IN">
                <a:latin typeface="Calibri"/>
                <a:ea typeface="Calibri"/>
                <a:cs typeface="Calibri"/>
                <a:sym typeface="Calibri"/>
              </a:rPr>
              <a:t>Quantum Sub-shells</a:t>
            </a:r>
            <a:endParaRPr/>
          </a:p>
        </p:txBody>
      </p:sp>
      <p:sp>
        <p:nvSpPr>
          <p:cNvPr id="247" name="Google Shape;247;p38"/>
          <p:cNvSpPr txBox="1"/>
          <p:nvPr/>
        </p:nvSpPr>
        <p:spPr>
          <a:xfrm>
            <a:off x="419356" y="1927460"/>
            <a:ext cx="5041222" cy="2779525"/>
          </a:xfrm>
          <a:prstGeom prst="rect">
            <a:avLst/>
          </a:prstGeom>
          <a:noFill/>
          <a:ln>
            <a:noFill/>
          </a:ln>
        </p:spPr>
        <p:txBody>
          <a:bodyPr spcFirstLastPara="1" wrap="square" lIns="91425" tIns="91425" rIns="91425" bIns="91425" anchor="t" anchorCtr="0">
            <a:noAutofit/>
          </a:bodyPr>
          <a:lstStyle/>
          <a:p>
            <a:pPr marL="285750" marR="0" lvl="0" indent="-285750" algn="just" rtl="0">
              <a:lnSpc>
                <a:spcPct val="114000"/>
              </a:lnSpc>
              <a:spcBef>
                <a:spcPts val="0"/>
              </a:spcBef>
              <a:spcAft>
                <a:spcPts val="0"/>
              </a:spcAft>
              <a:buClr>
                <a:srgbClr val="000000"/>
              </a:buClr>
              <a:buSzPts val="1400"/>
              <a:buFont typeface="Arial" panose="020B0604020202020204" pitchFamily="34" charset="0"/>
              <a:buChar char="•"/>
            </a:pPr>
            <a:r>
              <a:rPr lang="en-US" sz="1600" b="0" i="0" u="none" strike="noStrike" cap="none" dirty="0">
                <a:solidFill>
                  <a:srgbClr val="000000"/>
                </a:solidFill>
                <a:latin typeface="Calibri" panose="020F0502020204030204" pitchFamily="34" charset="0"/>
                <a:ea typeface="Calibri"/>
                <a:cs typeface="Calibri" panose="020F0502020204030204" pitchFamily="34" charset="0"/>
                <a:sym typeface="Calibri"/>
              </a:rPr>
              <a:t>The principal quantum shells (except for n=1) are split into sub-shells. </a:t>
            </a:r>
            <a:endParaRPr lang="en-US" sz="1600" dirty="0">
              <a:latin typeface="Calibri" panose="020F0502020204030204" pitchFamily="34" charset="0"/>
              <a:ea typeface="Calibri"/>
              <a:cs typeface="Calibri" panose="020F0502020204030204" pitchFamily="34" charset="0"/>
              <a:sym typeface="Calibri"/>
            </a:endParaRPr>
          </a:p>
          <a:p>
            <a:pPr marL="285750" marR="0" lvl="0" indent="-285750" algn="just" rtl="0">
              <a:lnSpc>
                <a:spcPct val="114000"/>
              </a:lnSpc>
              <a:spcBef>
                <a:spcPts val="0"/>
              </a:spcBef>
              <a:spcAft>
                <a:spcPts val="0"/>
              </a:spcAft>
              <a:buClr>
                <a:srgbClr val="000000"/>
              </a:buClr>
              <a:buSzPts val="1400"/>
              <a:buFont typeface="Arial" panose="020B0604020202020204" pitchFamily="34" charset="0"/>
              <a:buChar char="•"/>
            </a:pPr>
            <a:r>
              <a:rPr lang="en-US" sz="1600" b="0" i="0" u="none" strike="noStrike" cap="none" dirty="0">
                <a:solidFill>
                  <a:srgbClr val="000000"/>
                </a:solidFill>
                <a:latin typeface="Calibri" panose="020F0502020204030204" pitchFamily="34" charset="0"/>
                <a:ea typeface="Calibri"/>
                <a:cs typeface="Calibri" panose="020F0502020204030204" pitchFamily="34" charset="0"/>
                <a:sym typeface="Calibri"/>
              </a:rPr>
              <a:t>The sub-shells are sub-divided as s, p, d and f.</a:t>
            </a:r>
          </a:p>
          <a:p>
            <a:pPr marL="285750" marR="0" lvl="0" indent="-285750" algn="just" rtl="0">
              <a:lnSpc>
                <a:spcPct val="114000"/>
              </a:lnSpc>
              <a:spcBef>
                <a:spcPts val="0"/>
              </a:spcBef>
              <a:spcAft>
                <a:spcPts val="0"/>
              </a:spcAft>
              <a:buClr>
                <a:srgbClr val="000000"/>
              </a:buClr>
              <a:buSzPts val="1400"/>
              <a:buFont typeface="Arial" panose="020B0604020202020204" pitchFamily="34" charset="0"/>
              <a:buChar char="•"/>
            </a:pPr>
            <a:r>
              <a:rPr lang="en-US" sz="1600" b="0" i="0" u="none" strike="noStrike" cap="none" dirty="0">
                <a:solidFill>
                  <a:srgbClr val="000000"/>
                </a:solidFill>
                <a:latin typeface="Calibri" panose="020F0502020204030204" pitchFamily="34" charset="0"/>
                <a:ea typeface="Calibri"/>
                <a:cs typeface="Calibri" panose="020F0502020204030204" pitchFamily="34" charset="0"/>
                <a:sym typeface="Calibri"/>
              </a:rPr>
              <a:t>n=1 principal quantum shell consists of one s sub-shell and carries maximum of 2 electrons.</a:t>
            </a:r>
          </a:p>
          <a:p>
            <a:pPr marL="285750" marR="0" lvl="0" indent="-285750" algn="just" rtl="0">
              <a:lnSpc>
                <a:spcPct val="114000"/>
              </a:lnSpc>
              <a:spcBef>
                <a:spcPts val="0"/>
              </a:spcBef>
              <a:spcAft>
                <a:spcPts val="0"/>
              </a:spcAft>
              <a:buClr>
                <a:srgbClr val="000000"/>
              </a:buClr>
              <a:buSzPts val="1400"/>
              <a:buFont typeface="Arial" panose="020B0604020202020204" pitchFamily="34" charset="0"/>
              <a:buChar char="•"/>
            </a:pPr>
            <a:r>
              <a:rPr lang="en-US" sz="1600" b="0" i="0" u="none" strike="noStrike" cap="none" dirty="0">
                <a:solidFill>
                  <a:srgbClr val="000000"/>
                </a:solidFill>
                <a:latin typeface="Calibri" panose="020F0502020204030204" pitchFamily="34" charset="0"/>
                <a:ea typeface="Calibri"/>
                <a:cs typeface="Calibri" panose="020F0502020204030204" pitchFamily="34" charset="0"/>
                <a:sym typeface="Calibri"/>
              </a:rPr>
              <a:t>n=2 principal quantum shell consists of one s sub-shell and one p sub-shell. Thus, carries a maximum of 8 electrons.</a:t>
            </a:r>
          </a:p>
          <a:p>
            <a:pPr marL="285750" marR="0" lvl="0" indent="-285750" algn="just" rtl="0">
              <a:lnSpc>
                <a:spcPct val="114000"/>
              </a:lnSpc>
              <a:spcBef>
                <a:spcPts val="0"/>
              </a:spcBef>
              <a:spcAft>
                <a:spcPts val="0"/>
              </a:spcAft>
              <a:buClr>
                <a:srgbClr val="000000"/>
              </a:buClr>
              <a:buSzPts val="1400"/>
              <a:buFont typeface="Arial" panose="020B0604020202020204" pitchFamily="34" charset="0"/>
              <a:buChar char="•"/>
            </a:pPr>
            <a:r>
              <a:rPr lang="en-US" sz="1600" b="0" i="0" u="none" strike="noStrike" cap="none" dirty="0">
                <a:solidFill>
                  <a:srgbClr val="000000"/>
                </a:solidFill>
                <a:latin typeface="Calibri" panose="020F0502020204030204" pitchFamily="34" charset="0"/>
                <a:ea typeface="Calibri"/>
                <a:cs typeface="Calibri" panose="020F0502020204030204" pitchFamily="34" charset="0"/>
                <a:sym typeface="Calibri"/>
              </a:rPr>
              <a:t>n=3 principal quantum shell consists of one s sub-shell, one p sub-shell and one d sub-shell. Thus, carries a maximum of 18 electrons.</a:t>
            </a:r>
          </a:p>
          <a:p>
            <a:pPr marL="285750" marR="0" lvl="0" indent="-285750" algn="just" rtl="0">
              <a:lnSpc>
                <a:spcPct val="114000"/>
              </a:lnSpc>
              <a:spcBef>
                <a:spcPts val="0"/>
              </a:spcBef>
              <a:spcAft>
                <a:spcPts val="0"/>
              </a:spcAft>
              <a:buClr>
                <a:srgbClr val="000000"/>
              </a:buClr>
              <a:buSzPts val="1400"/>
              <a:buFont typeface="Arial" panose="020B0604020202020204" pitchFamily="34" charset="0"/>
              <a:buChar char="•"/>
            </a:pPr>
            <a:endParaRPr sz="1600" b="0" i="0" u="none" strike="noStrike" cap="none" dirty="0">
              <a:solidFill>
                <a:srgbClr val="000000"/>
              </a:solidFill>
              <a:latin typeface="Calibri" panose="020F0502020204030204" pitchFamily="34" charset="0"/>
              <a:ea typeface="Calibri"/>
              <a:cs typeface="Calibri" panose="020F0502020204030204" pitchFamily="34" charset="0"/>
              <a:sym typeface="Calibri"/>
            </a:endParaRPr>
          </a:p>
          <a:p>
            <a:pPr marL="285750" marR="0" lvl="0" indent="-285750" algn="just" rtl="0">
              <a:lnSpc>
                <a:spcPct val="114000"/>
              </a:lnSpc>
              <a:spcBef>
                <a:spcPts val="0"/>
              </a:spcBef>
              <a:spcAft>
                <a:spcPts val="0"/>
              </a:spcAft>
              <a:buClr>
                <a:srgbClr val="000000"/>
              </a:buClr>
              <a:buSzPts val="1400"/>
              <a:buFont typeface="Arial" panose="020B0604020202020204" pitchFamily="34" charset="0"/>
              <a:buChar char="•"/>
            </a:pPr>
            <a:endParaRPr sz="1600" b="0" i="0" u="none" strike="noStrike" cap="none" dirty="0">
              <a:solidFill>
                <a:srgbClr val="000000"/>
              </a:solidFill>
              <a:latin typeface="Calibri" panose="020F0502020204030204" pitchFamily="34" charset="0"/>
              <a:ea typeface="Calibri"/>
              <a:cs typeface="Calibri" panose="020F0502020204030204" pitchFamily="34" charset="0"/>
              <a:sym typeface="Calibri"/>
            </a:endParaRPr>
          </a:p>
        </p:txBody>
      </p:sp>
      <p:graphicFrame>
        <p:nvGraphicFramePr>
          <p:cNvPr id="6" name="Google Shape;148;p10">
            <a:extLst>
              <a:ext uri="{FF2B5EF4-FFF2-40B4-BE49-F238E27FC236}">
                <a16:creationId xmlns:a16="http://schemas.microsoft.com/office/drawing/2014/main" id="{97CF7B0C-8B36-4D4A-8163-E53D2AE70753}"/>
              </a:ext>
            </a:extLst>
          </p:cNvPr>
          <p:cNvGraphicFramePr/>
          <p:nvPr/>
        </p:nvGraphicFramePr>
        <p:xfrm>
          <a:off x="5649077" y="2265443"/>
          <a:ext cx="3178095" cy="2103557"/>
        </p:xfrm>
        <a:graphic>
          <a:graphicData uri="http://schemas.openxmlformats.org/drawingml/2006/table">
            <a:tbl>
              <a:tblPr firstRow="1" firstCol="1" bandRow="1">
                <a:noFill/>
              </a:tblPr>
              <a:tblGrid>
                <a:gridCol w="928417">
                  <a:extLst>
                    <a:ext uri="{9D8B030D-6E8A-4147-A177-3AD203B41FA5}">
                      <a16:colId xmlns:a16="http://schemas.microsoft.com/office/drawing/2014/main" val="83312542"/>
                    </a:ext>
                  </a:extLst>
                </a:gridCol>
                <a:gridCol w="992318">
                  <a:extLst>
                    <a:ext uri="{9D8B030D-6E8A-4147-A177-3AD203B41FA5}">
                      <a16:colId xmlns:a16="http://schemas.microsoft.com/office/drawing/2014/main" val="20001"/>
                    </a:ext>
                  </a:extLst>
                </a:gridCol>
                <a:gridCol w="1257360">
                  <a:extLst>
                    <a:ext uri="{9D8B030D-6E8A-4147-A177-3AD203B41FA5}">
                      <a16:colId xmlns:a16="http://schemas.microsoft.com/office/drawing/2014/main" val="2308408170"/>
                    </a:ext>
                  </a:extLst>
                </a:gridCol>
              </a:tblGrid>
              <a:tr h="1044563">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MY" sz="1600" b="0" u="none" strike="noStrike" cap="none" dirty="0">
                          <a:solidFill>
                            <a:schemeClr val="lt1"/>
                          </a:solidFill>
                          <a:latin typeface="Calibri" panose="020F0502020204030204" pitchFamily="34" charset="0"/>
                          <a:ea typeface="Calibri"/>
                          <a:cs typeface="Calibri" panose="020F0502020204030204" pitchFamily="34" charset="0"/>
                          <a:sym typeface="Calibri"/>
                        </a:rPr>
                        <a:t>principal quantum shell (n=)</a:t>
                      </a:r>
                      <a:endParaRPr sz="1600" b="0" u="none" strike="noStrike" cap="none" dirty="0">
                        <a:solidFill>
                          <a:schemeClr val="lt1"/>
                        </a:solidFill>
                        <a:latin typeface="Calibri" panose="020F0502020204030204" pitchFamily="34" charset="0"/>
                        <a:ea typeface="Calibri"/>
                        <a:cs typeface="Calibri" panose="020F0502020204030204" pitchFamily="34" charset="0"/>
                        <a:sym typeface="Calibri"/>
                      </a:endParaRPr>
                    </a:p>
                  </a:txBody>
                  <a:tcPr marL="68575" marR="68575" marT="0" marB="0"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rgbClr val="27AE6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600" b="0" u="none" strike="noStrike" cap="none" dirty="0">
                          <a:solidFill>
                            <a:schemeClr val="lt1"/>
                          </a:solidFill>
                          <a:latin typeface="Calibri" panose="020F0502020204030204" pitchFamily="34" charset="0"/>
                          <a:cs typeface="Calibri" panose="020F0502020204030204" pitchFamily="34" charset="0"/>
                        </a:rPr>
                        <a:t>quantum sub-shells</a:t>
                      </a:r>
                      <a:endParaRPr sz="1600" b="0" u="none" strike="noStrike" cap="none" dirty="0">
                        <a:solidFill>
                          <a:schemeClr val="lt1"/>
                        </a:solidFill>
                        <a:latin typeface="Calibri" panose="020F0502020204030204" pitchFamily="34" charset="0"/>
                        <a:ea typeface="Calibri"/>
                        <a:cs typeface="Calibri" panose="020F0502020204030204" pitchFamily="34" charset="0"/>
                        <a:sym typeface="Calibri"/>
                      </a:endParaRPr>
                    </a:p>
                  </a:txBody>
                  <a:tcPr marL="68575" marR="68575" marT="0" marB="0"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27AE6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US" sz="1600" b="0" u="none" strike="noStrike" cap="none" dirty="0">
                          <a:solidFill>
                            <a:schemeClr val="lt1"/>
                          </a:solidFill>
                          <a:latin typeface="Calibri" panose="020F0502020204030204" pitchFamily="34" charset="0"/>
                          <a:ea typeface="Calibri"/>
                          <a:cs typeface="Calibri" panose="020F0502020204030204" pitchFamily="34" charset="0"/>
                          <a:sym typeface="Calibri"/>
                        </a:rPr>
                        <a:t>maximum number of electrons</a:t>
                      </a:r>
                      <a:endParaRPr sz="1600" b="0" u="none" strike="noStrike" cap="none" dirty="0">
                        <a:solidFill>
                          <a:schemeClr val="lt1"/>
                        </a:solidFill>
                        <a:latin typeface="Calibri" panose="020F0502020204030204" pitchFamily="34" charset="0"/>
                        <a:ea typeface="Calibri"/>
                        <a:cs typeface="Calibri" panose="020F0502020204030204" pitchFamily="34" charset="0"/>
                        <a:sym typeface="Calibri"/>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rgbClr val="27AE60"/>
                    </a:solidFill>
                  </a:tcPr>
                </a:tc>
                <a:extLst>
                  <a:ext uri="{0D108BD9-81ED-4DB2-BD59-A6C34878D82A}">
                    <a16:rowId xmlns:a16="http://schemas.microsoft.com/office/drawing/2014/main" val="10000"/>
                  </a:ext>
                </a:extLst>
              </a:tr>
              <a:tr h="274036">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MY" sz="1600" b="0" i="0" u="none" strike="noStrike" cap="none" dirty="0">
                          <a:solidFill>
                            <a:srgbClr val="000000"/>
                          </a:solidFill>
                          <a:latin typeface="Calibri" panose="020F0502020204030204" pitchFamily="34" charset="0"/>
                          <a:ea typeface="Arial"/>
                          <a:cs typeface="Calibri" panose="020F0502020204030204" pitchFamily="34" charset="0"/>
                          <a:sym typeface="Arial"/>
                        </a:rPr>
                        <a:t>1</a:t>
                      </a:r>
                      <a:endParaRPr sz="16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txBody>
                  <a:tcPr marL="68575" marR="68575" marT="0" marB="0"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600" b="0" i="0" u="none" strike="noStrike" cap="none" dirty="0">
                          <a:solidFill>
                            <a:srgbClr val="000000"/>
                          </a:solidFill>
                          <a:latin typeface="Calibri" panose="020F0502020204030204" pitchFamily="34" charset="0"/>
                          <a:ea typeface="Arial"/>
                          <a:cs typeface="Calibri" panose="020F0502020204030204" pitchFamily="34" charset="0"/>
                          <a:sym typeface="Arial"/>
                        </a:rPr>
                        <a:t>s</a:t>
                      </a:r>
                      <a:endParaRPr sz="16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txBody>
                  <a:tcPr marL="68575" marR="68575" marT="0" marB="0"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US" sz="1600" b="0" i="0" u="none" strike="noStrike" cap="none" dirty="0">
                          <a:solidFill>
                            <a:srgbClr val="000000"/>
                          </a:solidFill>
                          <a:latin typeface="Calibri" panose="020F0502020204030204" pitchFamily="34" charset="0"/>
                          <a:ea typeface="Arial"/>
                          <a:cs typeface="Calibri" panose="020F0502020204030204" pitchFamily="34" charset="0"/>
                          <a:sym typeface="Arial"/>
                        </a:rPr>
                        <a:t>2</a:t>
                      </a:r>
                      <a:endParaRPr sz="16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274036">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MY" sz="1600" b="0" i="0" u="none" strike="noStrike" cap="none" dirty="0">
                          <a:solidFill>
                            <a:srgbClr val="000000"/>
                          </a:solidFill>
                          <a:latin typeface="Calibri" panose="020F0502020204030204" pitchFamily="34" charset="0"/>
                          <a:ea typeface="Arial"/>
                          <a:cs typeface="Calibri" panose="020F0502020204030204" pitchFamily="34" charset="0"/>
                          <a:sym typeface="Arial"/>
                        </a:rPr>
                        <a:t>2</a:t>
                      </a:r>
                      <a:endParaRPr sz="16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txBody>
                  <a:tcPr marL="68575" marR="68575" marT="0" marB="0"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600" b="0" i="0" u="none" strike="noStrike" cap="none" dirty="0">
                          <a:solidFill>
                            <a:srgbClr val="000000"/>
                          </a:solidFill>
                          <a:latin typeface="Calibri" panose="020F0502020204030204" pitchFamily="34" charset="0"/>
                          <a:ea typeface="Arial"/>
                          <a:cs typeface="Calibri" panose="020F0502020204030204" pitchFamily="34" charset="0"/>
                          <a:sym typeface="Arial"/>
                        </a:rPr>
                        <a:t>s and p</a:t>
                      </a:r>
                      <a:endParaRPr sz="16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txBody>
                  <a:tcPr marL="68575" marR="68575" marT="0" marB="0"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US" sz="1600" b="0" i="0" u="none" strike="noStrike" cap="none" dirty="0">
                          <a:solidFill>
                            <a:srgbClr val="000000"/>
                          </a:solidFill>
                          <a:latin typeface="Calibri" panose="020F0502020204030204" pitchFamily="34" charset="0"/>
                          <a:ea typeface="Arial"/>
                          <a:cs typeface="Calibri" panose="020F0502020204030204" pitchFamily="34" charset="0"/>
                          <a:sym typeface="Arial"/>
                        </a:rPr>
                        <a:t>2+6=5</a:t>
                      </a:r>
                      <a:endParaRPr sz="16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510922">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MY" sz="1600" b="0" i="0" u="none" strike="noStrike" cap="none" dirty="0">
                          <a:solidFill>
                            <a:srgbClr val="000000"/>
                          </a:solidFill>
                          <a:latin typeface="Calibri" panose="020F0502020204030204" pitchFamily="34" charset="0"/>
                          <a:ea typeface="Arial"/>
                          <a:cs typeface="Calibri" panose="020F0502020204030204" pitchFamily="34" charset="0"/>
                          <a:sym typeface="Arial"/>
                        </a:rPr>
                        <a:t>3</a:t>
                      </a:r>
                      <a:endParaRPr sz="16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txBody>
                  <a:tcPr marL="68575" marR="68575" marT="0" marB="0"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600" b="0" i="0" u="none" strike="noStrike" cap="none" dirty="0">
                          <a:solidFill>
                            <a:srgbClr val="000000"/>
                          </a:solidFill>
                          <a:latin typeface="Calibri" panose="020F0502020204030204" pitchFamily="34" charset="0"/>
                          <a:ea typeface="Arial"/>
                          <a:cs typeface="Calibri" panose="020F0502020204030204" pitchFamily="34" charset="0"/>
                          <a:sym typeface="Arial"/>
                        </a:rPr>
                        <a:t>s, p and d</a:t>
                      </a:r>
                      <a:endParaRPr sz="16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txBody>
                  <a:tcPr marL="68575" marR="68575" marT="0" marB="0"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US" sz="1600" b="0" i="0" u="none" strike="noStrike" cap="none" dirty="0">
                          <a:solidFill>
                            <a:srgbClr val="000000"/>
                          </a:solidFill>
                          <a:latin typeface="Calibri" panose="020F0502020204030204" pitchFamily="34" charset="0"/>
                          <a:ea typeface="Arial"/>
                          <a:cs typeface="Calibri" panose="020F0502020204030204" pitchFamily="34" charset="0"/>
                          <a:sym typeface="Arial"/>
                        </a:rPr>
                        <a:t>2+6+10=18</a:t>
                      </a:r>
                      <a:endParaRPr sz="16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9"/>
          <p:cNvSpPr txBox="1">
            <a:spLocks noGrp="1"/>
          </p:cNvSpPr>
          <p:nvPr>
            <p:ph type="title"/>
          </p:nvPr>
        </p:nvSpPr>
        <p:spPr>
          <a:xfrm>
            <a:off x="933025" y="592925"/>
            <a:ext cx="6305100" cy="76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IN">
                <a:latin typeface="Calibri"/>
                <a:ea typeface="Calibri"/>
                <a:cs typeface="Calibri"/>
                <a:sym typeface="Calibri"/>
              </a:rPr>
              <a:t>Quantum Sub-shells</a:t>
            </a:r>
            <a:endParaRPr/>
          </a:p>
        </p:txBody>
      </p:sp>
      <p:sp>
        <p:nvSpPr>
          <p:cNvPr id="254" name="Google Shape;254;p39"/>
          <p:cNvSpPr txBox="1"/>
          <p:nvPr/>
        </p:nvSpPr>
        <p:spPr>
          <a:xfrm>
            <a:off x="407324" y="1978995"/>
            <a:ext cx="5331248" cy="2956560"/>
          </a:xfrm>
          <a:prstGeom prst="rect">
            <a:avLst/>
          </a:prstGeom>
          <a:noFill/>
          <a:ln>
            <a:noFill/>
          </a:ln>
        </p:spPr>
        <p:txBody>
          <a:bodyPr spcFirstLastPara="1" wrap="square" lIns="91425" tIns="91425" rIns="91425" bIns="91425" anchor="t" anchorCtr="0">
            <a:noAutofit/>
          </a:bodyPr>
          <a:lstStyle/>
          <a:p>
            <a:pPr marL="285750" marR="0" lvl="0" indent="-285750" algn="just" rtl="0">
              <a:lnSpc>
                <a:spcPct val="114000"/>
              </a:lnSpc>
              <a:spcBef>
                <a:spcPts val="0"/>
              </a:spcBef>
              <a:spcAft>
                <a:spcPts val="0"/>
              </a:spcAft>
              <a:buClr>
                <a:srgbClr val="000000"/>
              </a:buClr>
              <a:buSzPts val="1400"/>
              <a:buFont typeface="Arial"/>
              <a:buChar char="•"/>
            </a:pPr>
            <a:r>
              <a:rPr lang="en-US" sz="1600" b="0" i="0" u="none" strike="noStrike" cap="none" dirty="0">
                <a:solidFill>
                  <a:srgbClr val="000000"/>
                </a:solidFill>
                <a:latin typeface="Calibri"/>
                <a:ea typeface="Calibri"/>
                <a:cs typeface="Calibri"/>
                <a:sym typeface="Calibri"/>
              </a:rPr>
              <a:t>The electrons fill up the sub-shells in increasing order of energy in each sub-shell.</a:t>
            </a:r>
          </a:p>
          <a:p>
            <a:pPr marL="285750" marR="0" lvl="0" indent="-285750" algn="just" rtl="0">
              <a:lnSpc>
                <a:spcPct val="114000"/>
              </a:lnSpc>
              <a:spcBef>
                <a:spcPts val="0"/>
              </a:spcBef>
              <a:spcAft>
                <a:spcPts val="0"/>
              </a:spcAft>
              <a:buClr>
                <a:srgbClr val="000000"/>
              </a:buClr>
              <a:buSzPts val="1400"/>
              <a:buFont typeface="Arial"/>
              <a:buChar char="•"/>
            </a:pPr>
            <a:r>
              <a:rPr lang="en-US" sz="1600" b="0" i="0" u="none" strike="noStrike" cap="none" dirty="0">
                <a:solidFill>
                  <a:srgbClr val="000000"/>
                </a:solidFill>
                <a:latin typeface="Calibri"/>
                <a:ea typeface="Calibri"/>
                <a:cs typeface="Calibri"/>
                <a:sym typeface="Calibri"/>
              </a:rPr>
              <a:t>Until the atomic number of 18 (Argon), the shells are filled in order: 1s, 2s, 2p, 3s and 3p.  </a:t>
            </a:r>
            <a:endParaRPr lang="en-US" sz="1600" dirty="0"/>
          </a:p>
          <a:p>
            <a:pPr marL="285750" marR="0" lvl="0" indent="-285750" algn="just" rtl="0">
              <a:lnSpc>
                <a:spcPct val="114000"/>
              </a:lnSpc>
              <a:spcBef>
                <a:spcPts val="0"/>
              </a:spcBef>
              <a:spcAft>
                <a:spcPts val="0"/>
              </a:spcAft>
              <a:buClr>
                <a:srgbClr val="000000"/>
              </a:buClr>
              <a:buSzPts val="1400"/>
              <a:buFont typeface="Arial"/>
              <a:buChar char="•"/>
            </a:pPr>
            <a:r>
              <a:rPr lang="en-IN" sz="1600" b="0" i="0" u="none" strike="noStrike" cap="none" dirty="0">
                <a:solidFill>
                  <a:srgbClr val="000000"/>
                </a:solidFill>
                <a:latin typeface="Calibri"/>
                <a:ea typeface="Calibri"/>
                <a:cs typeface="Calibri"/>
                <a:sym typeface="Calibri"/>
              </a:rPr>
              <a:t>For potassium (atomic number 19), the electron fill up the 4s sub-shell rather than 3d sub-shell.</a:t>
            </a:r>
            <a:endParaRPr sz="1600" dirty="0"/>
          </a:p>
          <a:p>
            <a:pPr marL="285750" marR="0" lvl="0" indent="-285750" algn="just" rtl="0">
              <a:lnSpc>
                <a:spcPct val="114000"/>
              </a:lnSpc>
              <a:spcBef>
                <a:spcPts val="0"/>
              </a:spcBef>
              <a:spcAft>
                <a:spcPts val="0"/>
              </a:spcAft>
              <a:buClr>
                <a:srgbClr val="000000"/>
              </a:buClr>
              <a:buSzPts val="1400"/>
              <a:buFont typeface="Arial"/>
              <a:buChar char="•"/>
            </a:pPr>
            <a:r>
              <a:rPr lang="en-IN" sz="1600" b="0" i="0" u="none" strike="noStrike" cap="none" dirty="0">
                <a:solidFill>
                  <a:srgbClr val="000000"/>
                </a:solidFill>
                <a:latin typeface="Calibri"/>
                <a:ea typeface="Calibri"/>
                <a:cs typeface="Calibri"/>
                <a:sym typeface="Calibri"/>
              </a:rPr>
              <a:t>This is because the energy of 4s is less than that of 3d. </a:t>
            </a:r>
            <a:endParaRPr sz="1600" dirty="0"/>
          </a:p>
        </p:txBody>
      </p:sp>
      <p:pic>
        <p:nvPicPr>
          <p:cNvPr id="255" name="Google Shape;255;p39"/>
          <p:cNvPicPr preferRelativeResize="0"/>
          <p:nvPr/>
        </p:nvPicPr>
        <p:blipFill rotWithShape="1">
          <a:blip r:embed="rId3">
            <a:alphaModFix/>
          </a:blip>
          <a:srcRect/>
          <a:stretch/>
        </p:blipFill>
        <p:spPr>
          <a:xfrm>
            <a:off x="5738572" y="1978995"/>
            <a:ext cx="2999105" cy="295656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40"/>
          <p:cNvSpPr txBox="1">
            <a:spLocks noGrp="1"/>
          </p:cNvSpPr>
          <p:nvPr>
            <p:ph type="title"/>
          </p:nvPr>
        </p:nvSpPr>
        <p:spPr>
          <a:xfrm>
            <a:off x="933025" y="592925"/>
            <a:ext cx="6305100" cy="76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IN">
                <a:latin typeface="Calibri"/>
                <a:ea typeface="Calibri"/>
                <a:cs typeface="Calibri"/>
                <a:sym typeface="Calibri"/>
              </a:rPr>
              <a:t>Atomic Orbitals</a:t>
            </a:r>
            <a:endParaRPr/>
          </a:p>
        </p:txBody>
      </p:sp>
      <p:sp>
        <p:nvSpPr>
          <p:cNvPr id="261" name="Google Shape;261;p40"/>
          <p:cNvSpPr txBox="1"/>
          <p:nvPr/>
        </p:nvSpPr>
        <p:spPr>
          <a:xfrm>
            <a:off x="407323" y="1978995"/>
            <a:ext cx="3867221" cy="2328309"/>
          </a:xfrm>
          <a:prstGeom prst="rect">
            <a:avLst/>
          </a:prstGeom>
          <a:noFill/>
          <a:ln>
            <a:noFill/>
          </a:ln>
        </p:spPr>
        <p:txBody>
          <a:bodyPr spcFirstLastPara="1" wrap="square" lIns="91425" tIns="91425" rIns="91425" bIns="91425" anchor="t" anchorCtr="0">
            <a:noAutofit/>
          </a:bodyPr>
          <a:lstStyle/>
          <a:p>
            <a:pPr marL="285750" marR="0" lvl="0" indent="-285750" algn="just" rtl="0">
              <a:lnSpc>
                <a:spcPct val="114000"/>
              </a:lnSpc>
              <a:spcBef>
                <a:spcPts val="600"/>
              </a:spcBef>
              <a:spcAft>
                <a:spcPts val="0"/>
              </a:spcAft>
              <a:buClr>
                <a:srgbClr val="000000"/>
              </a:buClr>
              <a:buSzPts val="1400"/>
              <a:buFont typeface="Arial"/>
              <a:buChar char="•"/>
            </a:pPr>
            <a:r>
              <a:rPr lang="en-IN" sz="1600" b="0" i="0" u="none" strike="noStrike" cap="none" dirty="0">
                <a:solidFill>
                  <a:srgbClr val="000000"/>
                </a:solidFill>
                <a:latin typeface="Calibri"/>
                <a:ea typeface="Calibri"/>
                <a:cs typeface="Calibri"/>
                <a:sym typeface="Calibri"/>
              </a:rPr>
              <a:t>An atomic orbital is the region of space around the nucleus that can be occupied by one or two electrons. </a:t>
            </a:r>
            <a:endParaRPr sz="1600" dirty="0"/>
          </a:p>
          <a:p>
            <a:pPr marL="285750" marR="0" lvl="0" indent="-285750" algn="just" rtl="0">
              <a:lnSpc>
                <a:spcPct val="114000"/>
              </a:lnSpc>
              <a:spcBef>
                <a:spcPts val="600"/>
              </a:spcBef>
              <a:spcAft>
                <a:spcPts val="0"/>
              </a:spcAft>
              <a:buClr>
                <a:srgbClr val="000000"/>
              </a:buClr>
              <a:buSzPts val="1400"/>
              <a:buFont typeface="Arial"/>
              <a:buChar char="•"/>
            </a:pPr>
            <a:r>
              <a:rPr lang="en-IN" sz="1600" b="0" i="0" u="none" strike="noStrike" cap="none" dirty="0">
                <a:solidFill>
                  <a:srgbClr val="000000"/>
                </a:solidFill>
                <a:latin typeface="Calibri"/>
                <a:ea typeface="Calibri"/>
                <a:cs typeface="Calibri"/>
                <a:sym typeface="Calibri"/>
              </a:rPr>
              <a:t>Each quantum sub-shells is made of one or more atomic orbitals. </a:t>
            </a:r>
          </a:p>
          <a:p>
            <a:pPr marL="285750" marR="0" lvl="0" indent="-285750" algn="just" rtl="0">
              <a:lnSpc>
                <a:spcPct val="114000"/>
              </a:lnSpc>
              <a:spcBef>
                <a:spcPts val="600"/>
              </a:spcBef>
              <a:spcAft>
                <a:spcPts val="0"/>
              </a:spcAft>
              <a:buClr>
                <a:srgbClr val="000000"/>
              </a:buClr>
              <a:buSzPts val="1400"/>
              <a:buFont typeface="Arial"/>
              <a:buChar char="•"/>
            </a:pPr>
            <a:r>
              <a:rPr lang="en-IN" sz="1600" b="0" i="0" u="none" strike="noStrike" cap="none" dirty="0">
                <a:solidFill>
                  <a:srgbClr val="000000"/>
                </a:solidFill>
                <a:latin typeface="Calibri"/>
                <a:ea typeface="Calibri"/>
                <a:cs typeface="Calibri"/>
                <a:sym typeface="Calibri"/>
              </a:rPr>
              <a:t>The number of atomic orbitals for each sub shell  is given in the table.</a:t>
            </a:r>
            <a:endParaRPr sz="1600" dirty="0"/>
          </a:p>
          <a:p>
            <a:pPr marL="0" marR="0" lvl="0" indent="0" algn="just" rtl="0">
              <a:lnSpc>
                <a:spcPct val="114000"/>
              </a:lnSpc>
              <a:spcBef>
                <a:spcPts val="600"/>
              </a:spcBef>
              <a:spcAft>
                <a:spcPts val="0"/>
              </a:spcAft>
              <a:buClr>
                <a:srgbClr val="000000"/>
              </a:buClr>
              <a:buSzPts val="1400"/>
              <a:buFont typeface="Arial"/>
              <a:buNone/>
            </a:pPr>
            <a:endParaRPr sz="1600" b="0" i="0" u="none" strike="noStrike" cap="none" dirty="0">
              <a:solidFill>
                <a:srgbClr val="000000"/>
              </a:solidFill>
              <a:latin typeface="Calibri"/>
              <a:ea typeface="Calibri"/>
              <a:cs typeface="Calibri"/>
              <a:sym typeface="Calibri"/>
            </a:endParaRPr>
          </a:p>
          <a:p>
            <a:pPr marL="0" marR="0" lvl="0" indent="0" algn="just" rtl="0">
              <a:lnSpc>
                <a:spcPct val="114000"/>
              </a:lnSpc>
              <a:spcBef>
                <a:spcPts val="600"/>
              </a:spcBef>
              <a:spcAft>
                <a:spcPts val="0"/>
              </a:spcAft>
              <a:buClr>
                <a:srgbClr val="000000"/>
              </a:buClr>
              <a:buSzPts val="1400"/>
              <a:buFont typeface="Arial"/>
              <a:buNone/>
            </a:pPr>
            <a:endParaRPr sz="1600" b="0" i="0" u="none" strike="noStrike" cap="none" dirty="0">
              <a:solidFill>
                <a:srgbClr val="000000"/>
              </a:solidFill>
              <a:latin typeface="Calibri"/>
              <a:ea typeface="Calibri"/>
              <a:cs typeface="Calibri"/>
              <a:sym typeface="Calibri"/>
            </a:endParaRPr>
          </a:p>
        </p:txBody>
      </p:sp>
      <p:graphicFrame>
        <p:nvGraphicFramePr>
          <p:cNvPr id="11" name="Google Shape;163;p11">
            <a:extLst>
              <a:ext uri="{FF2B5EF4-FFF2-40B4-BE49-F238E27FC236}">
                <a16:creationId xmlns:a16="http://schemas.microsoft.com/office/drawing/2014/main" id="{EEF746B3-858D-4AAF-AC21-292BA0628270}"/>
              </a:ext>
            </a:extLst>
          </p:cNvPr>
          <p:cNvGraphicFramePr/>
          <p:nvPr/>
        </p:nvGraphicFramePr>
        <p:xfrm>
          <a:off x="4572000" y="2312813"/>
          <a:ext cx="4042637" cy="1994491"/>
        </p:xfrm>
        <a:graphic>
          <a:graphicData uri="http://schemas.openxmlformats.org/drawingml/2006/table">
            <a:tbl>
              <a:tblPr firstRow="1" firstCol="1" bandRow="1">
                <a:noFill/>
              </a:tblPr>
              <a:tblGrid>
                <a:gridCol w="808527">
                  <a:extLst>
                    <a:ext uri="{9D8B030D-6E8A-4147-A177-3AD203B41FA5}">
                      <a16:colId xmlns:a16="http://schemas.microsoft.com/office/drawing/2014/main" val="20000"/>
                    </a:ext>
                  </a:extLst>
                </a:gridCol>
                <a:gridCol w="1617055">
                  <a:extLst>
                    <a:ext uri="{9D8B030D-6E8A-4147-A177-3AD203B41FA5}">
                      <a16:colId xmlns:a16="http://schemas.microsoft.com/office/drawing/2014/main" val="3472562995"/>
                    </a:ext>
                  </a:extLst>
                </a:gridCol>
                <a:gridCol w="1617055">
                  <a:extLst>
                    <a:ext uri="{9D8B030D-6E8A-4147-A177-3AD203B41FA5}">
                      <a16:colId xmlns:a16="http://schemas.microsoft.com/office/drawing/2014/main" val="20001"/>
                    </a:ext>
                  </a:extLst>
                </a:gridCol>
              </a:tblGrid>
              <a:tr h="884303">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600" b="0" i="0" u="none" strike="noStrike" cap="none" dirty="0">
                          <a:solidFill>
                            <a:schemeClr val="lt1"/>
                          </a:solidFill>
                          <a:latin typeface="Calibri" panose="020F0502020204030204" pitchFamily="34" charset="0"/>
                          <a:ea typeface="Arial"/>
                          <a:cs typeface="Calibri" panose="020F0502020204030204" pitchFamily="34" charset="0"/>
                          <a:sym typeface="Arial"/>
                        </a:rPr>
                        <a:t>Sub-shell</a:t>
                      </a:r>
                      <a:endParaRPr sz="1600" b="0" i="0" u="none" strike="noStrike" cap="none" dirty="0">
                        <a:solidFill>
                          <a:schemeClr val="lt1"/>
                        </a:solidFill>
                        <a:latin typeface="Calibri" panose="020F0502020204030204" pitchFamily="34" charset="0"/>
                        <a:ea typeface="Arial"/>
                        <a:cs typeface="Calibri" panose="020F0502020204030204" pitchFamily="34" charset="0"/>
                        <a:sym typeface="Arial"/>
                      </a:endParaRPr>
                    </a:p>
                  </a:txBody>
                  <a:tcPr marL="68575" marR="68575" marT="0" marB="0"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27AE6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600" b="0" i="0" u="none" strike="noStrike" cap="none" dirty="0">
                          <a:solidFill>
                            <a:schemeClr val="lt1"/>
                          </a:solidFill>
                          <a:latin typeface="Calibri" panose="020F0502020204030204" pitchFamily="34" charset="0"/>
                          <a:ea typeface="Arial"/>
                          <a:cs typeface="Calibri" panose="020F0502020204030204" pitchFamily="34" charset="0"/>
                          <a:sym typeface="Arial"/>
                        </a:rPr>
                        <a:t>Number of </a:t>
                      </a:r>
                      <a:endParaRPr sz="1600" dirty="0">
                        <a:latin typeface="Calibri" panose="020F0502020204030204" pitchFamily="34" charset="0"/>
                        <a:cs typeface="Calibri" panose="020F0502020204030204" pitchFamily="34" charset="0"/>
                      </a:endParaRPr>
                    </a:p>
                    <a:p>
                      <a:pPr marL="0" marR="0" lvl="0" indent="0" algn="ctr" rtl="0">
                        <a:lnSpc>
                          <a:spcPct val="115000"/>
                        </a:lnSpc>
                        <a:spcBef>
                          <a:spcPts val="0"/>
                        </a:spcBef>
                        <a:spcAft>
                          <a:spcPts val="0"/>
                        </a:spcAft>
                        <a:buNone/>
                      </a:pPr>
                      <a:r>
                        <a:rPr lang="en-IN" sz="1600" b="0" i="0" u="none" strike="noStrike" cap="none" dirty="0">
                          <a:solidFill>
                            <a:schemeClr val="lt1"/>
                          </a:solidFill>
                          <a:latin typeface="Calibri" panose="020F0502020204030204" pitchFamily="34" charset="0"/>
                          <a:ea typeface="Arial"/>
                          <a:cs typeface="Calibri" panose="020F0502020204030204" pitchFamily="34" charset="0"/>
                          <a:sym typeface="Arial"/>
                        </a:rPr>
                        <a:t>atomic orbitals</a:t>
                      </a:r>
                      <a:endParaRPr sz="1600" b="0" i="0" u="none" strike="noStrike" cap="none" dirty="0">
                        <a:solidFill>
                          <a:schemeClr val="lt1"/>
                        </a:solidFill>
                        <a:latin typeface="Calibri" panose="020F0502020204030204" pitchFamily="34" charset="0"/>
                        <a:ea typeface="Arial"/>
                        <a:cs typeface="Calibri" panose="020F0502020204030204" pitchFamily="34" charset="0"/>
                        <a:sym typeface="Arial"/>
                      </a:endParaRPr>
                    </a:p>
                  </a:txBody>
                  <a:tcPr marL="68575" marR="68575" marT="0" marB="0"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rgbClr val="27AE6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600" b="0" i="0" u="none" strike="noStrike" cap="none" dirty="0">
                          <a:solidFill>
                            <a:schemeClr val="lt1"/>
                          </a:solidFill>
                          <a:latin typeface="Calibri" panose="020F0502020204030204" pitchFamily="34" charset="0"/>
                          <a:ea typeface="Arial"/>
                          <a:cs typeface="Calibri" panose="020F0502020204030204" pitchFamily="34" charset="0"/>
                          <a:sym typeface="Arial"/>
                        </a:rPr>
                        <a:t>Maximum </a:t>
                      </a:r>
                      <a:endParaRPr sz="1600" dirty="0">
                        <a:latin typeface="Calibri" panose="020F0502020204030204" pitchFamily="34" charset="0"/>
                        <a:cs typeface="Calibri" panose="020F0502020204030204" pitchFamily="34" charset="0"/>
                      </a:endParaRPr>
                    </a:p>
                    <a:p>
                      <a:pPr marL="0" marR="0" lvl="0" indent="0" algn="ctr" rtl="0">
                        <a:lnSpc>
                          <a:spcPct val="115000"/>
                        </a:lnSpc>
                        <a:spcBef>
                          <a:spcPts val="0"/>
                        </a:spcBef>
                        <a:spcAft>
                          <a:spcPts val="0"/>
                        </a:spcAft>
                        <a:buNone/>
                      </a:pPr>
                      <a:r>
                        <a:rPr lang="en-IN" sz="1600" b="0" i="0" u="none" strike="noStrike" cap="none" dirty="0">
                          <a:solidFill>
                            <a:schemeClr val="lt1"/>
                          </a:solidFill>
                          <a:latin typeface="Calibri" panose="020F0502020204030204" pitchFamily="34" charset="0"/>
                          <a:ea typeface="Arial"/>
                          <a:cs typeface="Calibri" panose="020F0502020204030204" pitchFamily="34" charset="0"/>
                          <a:sym typeface="Arial"/>
                        </a:rPr>
                        <a:t>number of electrons</a:t>
                      </a:r>
                      <a:endParaRPr sz="1600" b="0" i="0" u="none" strike="noStrike" cap="none" dirty="0">
                        <a:solidFill>
                          <a:schemeClr val="lt1"/>
                        </a:solidFill>
                        <a:latin typeface="Calibri" panose="020F0502020204030204" pitchFamily="34" charset="0"/>
                        <a:ea typeface="Arial"/>
                        <a:cs typeface="Calibri" panose="020F0502020204030204" pitchFamily="34" charset="0"/>
                        <a:sym typeface="Arial"/>
                      </a:endParaRPr>
                    </a:p>
                  </a:txBody>
                  <a:tcPr marL="68575" marR="68575" marT="0" marB="0"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27AE60"/>
                    </a:solidFill>
                  </a:tcPr>
                </a:tc>
                <a:extLst>
                  <a:ext uri="{0D108BD9-81ED-4DB2-BD59-A6C34878D82A}">
                    <a16:rowId xmlns:a16="http://schemas.microsoft.com/office/drawing/2014/main" val="10000"/>
                  </a:ext>
                </a:extLst>
              </a:tr>
              <a:tr h="277547">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600" b="0" i="0" u="none" strike="noStrike" cap="none" dirty="0">
                          <a:solidFill>
                            <a:schemeClr val="bg2">
                              <a:lumMod val="50000"/>
                            </a:schemeClr>
                          </a:solidFill>
                          <a:latin typeface="Calibri" panose="020F0502020204030204" pitchFamily="34" charset="0"/>
                          <a:ea typeface="Arial"/>
                          <a:cs typeface="Calibri" panose="020F0502020204030204" pitchFamily="34" charset="0"/>
                          <a:sym typeface="Arial"/>
                        </a:rPr>
                        <a:t>s</a:t>
                      </a:r>
                      <a:endParaRPr sz="1600" b="0" i="0" u="none" strike="noStrike" cap="none" dirty="0">
                        <a:solidFill>
                          <a:schemeClr val="bg2">
                            <a:lumMod val="50000"/>
                          </a:schemeClr>
                        </a:solidFill>
                        <a:latin typeface="Calibri" panose="020F0502020204030204" pitchFamily="34" charset="0"/>
                        <a:ea typeface="Arial"/>
                        <a:cs typeface="Calibri" panose="020F0502020204030204" pitchFamily="34" charset="0"/>
                        <a:sym typeface="Arial"/>
                      </a:endParaRPr>
                    </a:p>
                  </a:txBody>
                  <a:tcPr marL="68575" marR="68575" marT="0" marB="0"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600" b="0" i="0" u="none" strike="noStrike" cap="none" dirty="0">
                          <a:solidFill>
                            <a:schemeClr val="bg2">
                              <a:lumMod val="50000"/>
                            </a:schemeClr>
                          </a:solidFill>
                          <a:latin typeface="Calibri" panose="020F0502020204030204" pitchFamily="34" charset="0"/>
                          <a:ea typeface="Arial"/>
                          <a:cs typeface="Calibri" panose="020F0502020204030204" pitchFamily="34" charset="0"/>
                          <a:sym typeface="Arial"/>
                        </a:rPr>
                        <a:t>1</a:t>
                      </a:r>
                      <a:endParaRPr sz="1600" b="0" i="0" u="none" strike="noStrike" cap="none" dirty="0">
                        <a:solidFill>
                          <a:schemeClr val="bg2">
                            <a:lumMod val="50000"/>
                          </a:schemeClr>
                        </a:solidFill>
                        <a:latin typeface="Calibri" panose="020F0502020204030204" pitchFamily="34" charset="0"/>
                        <a:ea typeface="Arial"/>
                        <a:cs typeface="Calibri" panose="020F0502020204030204" pitchFamily="34" charset="0"/>
                        <a:sym typeface="Arial"/>
                      </a:endParaRPr>
                    </a:p>
                  </a:txBody>
                  <a:tcPr marL="68575" marR="68575" marT="0" marB="0"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600" b="0" i="0" u="none" strike="noStrike" cap="none">
                          <a:solidFill>
                            <a:schemeClr val="bg2">
                              <a:lumMod val="50000"/>
                            </a:schemeClr>
                          </a:solidFill>
                          <a:latin typeface="Calibri" panose="020F0502020204030204" pitchFamily="34" charset="0"/>
                          <a:ea typeface="Arial"/>
                          <a:cs typeface="Calibri" panose="020F0502020204030204" pitchFamily="34" charset="0"/>
                          <a:sym typeface="Arial"/>
                        </a:rPr>
                        <a:t>2</a:t>
                      </a:r>
                      <a:endParaRPr sz="1600" b="0" i="0" u="none" strike="noStrike" cap="none">
                        <a:solidFill>
                          <a:schemeClr val="bg2">
                            <a:lumMod val="50000"/>
                          </a:schemeClr>
                        </a:solidFill>
                        <a:latin typeface="Calibri" panose="020F0502020204030204" pitchFamily="34" charset="0"/>
                        <a:ea typeface="Arial"/>
                        <a:cs typeface="Calibri" panose="020F0502020204030204" pitchFamily="34" charset="0"/>
                        <a:sym typeface="Arial"/>
                      </a:endParaRPr>
                    </a:p>
                  </a:txBody>
                  <a:tcPr marL="68575" marR="68575" marT="0" marB="0"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277547">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600" b="0" i="0" u="none" strike="noStrike" cap="none" dirty="0">
                          <a:solidFill>
                            <a:schemeClr val="bg2">
                              <a:lumMod val="50000"/>
                            </a:schemeClr>
                          </a:solidFill>
                          <a:latin typeface="Calibri" panose="020F0502020204030204" pitchFamily="34" charset="0"/>
                          <a:ea typeface="Arial"/>
                          <a:cs typeface="Calibri" panose="020F0502020204030204" pitchFamily="34" charset="0"/>
                          <a:sym typeface="Arial"/>
                        </a:rPr>
                        <a:t>p</a:t>
                      </a:r>
                      <a:endParaRPr sz="1600" b="0" i="0" u="none" strike="noStrike" cap="none" dirty="0">
                        <a:solidFill>
                          <a:schemeClr val="bg2">
                            <a:lumMod val="50000"/>
                          </a:schemeClr>
                        </a:solidFill>
                        <a:latin typeface="Calibri" panose="020F0502020204030204" pitchFamily="34" charset="0"/>
                        <a:ea typeface="Arial"/>
                        <a:cs typeface="Calibri" panose="020F0502020204030204" pitchFamily="34" charset="0"/>
                        <a:sym typeface="Arial"/>
                      </a:endParaRPr>
                    </a:p>
                  </a:txBody>
                  <a:tcPr marL="68575" marR="68575" marT="0" marB="0"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600" b="0" i="0" u="none" strike="noStrike" cap="none" dirty="0">
                          <a:solidFill>
                            <a:schemeClr val="bg2">
                              <a:lumMod val="50000"/>
                            </a:schemeClr>
                          </a:solidFill>
                          <a:latin typeface="Calibri" panose="020F0502020204030204" pitchFamily="34" charset="0"/>
                          <a:ea typeface="Arial"/>
                          <a:cs typeface="Calibri" panose="020F0502020204030204" pitchFamily="34" charset="0"/>
                          <a:sym typeface="Arial"/>
                        </a:rPr>
                        <a:t>3</a:t>
                      </a:r>
                      <a:endParaRPr sz="1600" b="0" i="0" u="none" strike="noStrike" cap="none" dirty="0">
                        <a:solidFill>
                          <a:schemeClr val="bg2">
                            <a:lumMod val="50000"/>
                          </a:schemeClr>
                        </a:solidFill>
                        <a:latin typeface="Calibri" panose="020F0502020204030204" pitchFamily="34" charset="0"/>
                        <a:ea typeface="Arial"/>
                        <a:cs typeface="Calibri" panose="020F0502020204030204" pitchFamily="34" charset="0"/>
                        <a:sym typeface="Arial"/>
                      </a:endParaRPr>
                    </a:p>
                  </a:txBody>
                  <a:tcPr marL="68575" marR="68575" marT="0" marB="0"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600" b="0" i="0" u="none" strike="noStrike" cap="none" dirty="0">
                          <a:solidFill>
                            <a:schemeClr val="bg2">
                              <a:lumMod val="50000"/>
                            </a:schemeClr>
                          </a:solidFill>
                          <a:latin typeface="Calibri" panose="020F0502020204030204" pitchFamily="34" charset="0"/>
                          <a:ea typeface="Arial"/>
                          <a:cs typeface="Calibri" panose="020F0502020204030204" pitchFamily="34" charset="0"/>
                          <a:sym typeface="Arial"/>
                        </a:rPr>
                        <a:t>6</a:t>
                      </a:r>
                      <a:endParaRPr sz="1600" b="0" i="0" u="none" strike="noStrike" cap="none" dirty="0">
                        <a:solidFill>
                          <a:schemeClr val="bg2">
                            <a:lumMod val="50000"/>
                          </a:schemeClr>
                        </a:solidFill>
                        <a:latin typeface="Calibri" panose="020F0502020204030204" pitchFamily="34" charset="0"/>
                        <a:ea typeface="Arial"/>
                        <a:cs typeface="Calibri" panose="020F0502020204030204" pitchFamily="34" charset="0"/>
                        <a:sym typeface="Arial"/>
                      </a:endParaRPr>
                    </a:p>
                  </a:txBody>
                  <a:tcPr marL="68575" marR="68575" marT="0" marB="0"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277547">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600" b="0" i="0" u="none" strike="noStrike" cap="none" dirty="0">
                          <a:solidFill>
                            <a:schemeClr val="bg2">
                              <a:lumMod val="50000"/>
                            </a:schemeClr>
                          </a:solidFill>
                          <a:latin typeface="Calibri" panose="020F0502020204030204" pitchFamily="34" charset="0"/>
                          <a:ea typeface="Arial"/>
                          <a:cs typeface="Calibri" panose="020F0502020204030204" pitchFamily="34" charset="0"/>
                          <a:sym typeface="Arial"/>
                        </a:rPr>
                        <a:t>d</a:t>
                      </a:r>
                      <a:endParaRPr sz="1600" b="0" i="0" u="none" strike="noStrike" cap="none" dirty="0">
                        <a:solidFill>
                          <a:schemeClr val="bg2">
                            <a:lumMod val="50000"/>
                          </a:schemeClr>
                        </a:solidFill>
                        <a:latin typeface="Calibri" panose="020F0502020204030204" pitchFamily="34" charset="0"/>
                        <a:ea typeface="Arial"/>
                        <a:cs typeface="Calibri" panose="020F0502020204030204" pitchFamily="34" charset="0"/>
                        <a:sym typeface="Arial"/>
                      </a:endParaRPr>
                    </a:p>
                  </a:txBody>
                  <a:tcPr marL="68575" marR="68575" marT="0" marB="0"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600" b="0" i="0" u="none" strike="noStrike" cap="none" dirty="0">
                          <a:solidFill>
                            <a:schemeClr val="bg2">
                              <a:lumMod val="50000"/>
                            </a:schemeClr>
                          </a:solidFill>
                          <a:latin typeface="Calibri" panose="020F0502020204030204" pitchFamily="34" charset="0"/>
                          <a:ea typeface="Arial"/>
                          <a:cs typeface="Calibri" panose="020F0502020204030204" pitchFamily="34" charset="0"/>
                          <a:sym typeface="Arial"/>
                        </a:rPr>
                        <a:t>5</a:t>
                      </a:r>
                      <a:endParaRPr sz="1600" b="0" i="0" u="none" strike="noStrike" cap="none" dirty="0">
                        <a:solidFill>
                          <a:schemeClr val="bg2">
                            <a:lumMod val="50000"/>
                          </a:schemeClr>
                        </a:solidFill>
                        <a:latin typeface="Calibri" panose="020F0502020204030204" pitchFamily="34" charset="0"/>
                        <a:ea typeface="Arial"/>
                        <a:cs typeface="Calibri" panose="020F0502020204030204" pitchFamily="34" charset="0"/>
                        <a:sym typeface="Arial"/>
                      </a:endParaRPr>
                    </a:p>
                  </a:txBody>
                  <a:tcPr marL="68575" marR="68575" marT="0" marB="0"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IN" sz="1600" b="0" i="0" u="none" strike="noStrike" cap="none" dirty="0">
                          <a:solidFill>
                            <a:schemeClr val="bg2">
                              <a:lumMod val="50000"/>
                            </a:schemeClr>
                          </a:solidFill>
                          <a:latin typeface="Calibri" panose="020F0502020204030204" pitchFamily="34" charset="0"/>
                          <a:ea typeface="Arial"/>
                          <a:cs typeface="Calibri" panose="020F0502020204030204" pitchFamily="34" charset="0"/>
                          <a:sym typeface="Arial"/>
                        </a:rPr>
                        <a:t>10</a:t>
                      </a:r>
                      <a:endParaRPr sz="1600" b="0" i="0" u="none" strike="noStrike" cap="none" dirty="0">
                        <a:solidFill>
                          <a:schemeClr val="bg2">
                            <a:lumMod val="50000"/>
                          </a:schemeClr>
                        </a:solidFill>
                        <a:latin typeface="Calibri" panose="020F0502020204030204" pitchFamily="34" charset="0"/>
                        <a:ea typeface="Arial"/>
                        <a:cs typeface="Calibri" panose="020F0502020204030204" pitchFamily="34" charset="0"/>
                        <a:sym typeface="Arial"/>
                      </a:endParaRPr>
                    </a:p>
                  </a:txBody>
                  <a:tcPr marL="68575" marR="68575" marT="0" marB="0"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277547">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US" sz="1600" b="0" i="0" u="none" strike="noStrike" cap="none" dirty="0">
                          <a:solidFill>
                            <a:schemeClr val="bg2">
                              <a:lumMod val="50000"/>
                            </a:schemeClr>
                          </a:solidFill>
                          <a:latin typeface="Calibri" panose="020F0502020204030204" pitchFamily="34" charset="0"/>
                          <a:ea typeface="Arial"/>
                          <a:cs typeface="Calibri" panose="020F0502020204030204" pitchFamily="34" charset="0"/>
                          <a:sym typeface="Arial"/>
                        </a:rPr>
                        <a:t>f</a:t>
                      </a:r>
                      <a:endParaRPr sz="1600" b="0" i="0" u="none" strike="noStrike" cap="none" dirty="0">
                        <a:solidFill>
                          <a:schemeClr val="bg2">
                            <a:lumMod val="50000"/>
                          </a:schemeClr>
                        </a:solidFill>
                        <a:latin typeface="Calibri" panose="020F0502020204030204" pitchFamily="34" charset="0"/>
                        <a:ea typeface="Arial"/>
                        <a:cs typeface="Calibri" panose="020F0502020204030204" pitchFamily="34" charset="0"/>
                        <a:sym typeface="Arial"/>
                      </a:endParaRPr>
                    </a:p>
                  </a:txBody>
                  <a:tcPr marL="68575" marR="68575" marT="0" marB="0"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US" sz="1600" b="0" i="0" u="none" strike="noStrike" cap="none" dirty="0">
                          <a:solidFill>
                            <a:schemeClr val="bg2">
                              <a:lumMod val="50000"/>
                            </a:schemeClr>
                          </a:solidFill>
                          <a:latin typeface="Calibri" panose="020F0502020204030204" pitchFamily="34" charset="0"/>
                          <a:ea typeface="Arial"/>
                          <a:cs typeface="Calibri" panose="020F0502020204030204" pitchFamily="34" charset="0"/>
                          <a:sym typeface="Arial"/>
                        </a:rPr>
                        <a:t>7</a:t>
                      </a:r>
                      <a:endParaRPr sz="1600" b="0" i="0" u="none" strike="noStrike" cap="none" dirty="0">
                        <a:solidFill>
                          <a:schemeClr val="bg2">
                            <a:lumMod val="50000"/>
                          </a:schemeClr>
                        </a:solidFill>
                        <a:latin typeface="Calibri" panose="020F0502020204030204" pitchFamily="34" charset="0"/>
                        <a:ea typeface="Arial"/>
                        <a:cs typeface="Calibri" panose="020F0502020204030204" pitchFamily="34" charset="0"/>
                        <a:sym typeface="Arial"/>
                      </a:endParaRPr>
                    </a:p>
                  </a:txBody>
                  <a:tcPr marL="68575" marR="68575" marT="0" marB="0"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rtl="0">
                        <a:lnSpc>
                          <a:spcPct val="115000"/>
                        </a:lnSpc>
                        <a:spcBef>
                          <a:spcPts val="0"/>
                        </a:spcBef>
                        <a:spcAft>
                          <a:spcPts val="0"/>
                        </a:spcAft>
                        <a:buNone/>
                      </a:pPr>
                      <a:r>
                        <a:rPr lang="en-US" sz="1600" b="0" i="0" u="none" strike="noStrike" cap="none" dirty="0">
                          <a:solidFill>
                            <a:schemeClr val="bg2">
                              <a:lumMod val="50000"/>
                            </a:schemeClr>
                          </a:solidFill>
                          <a:latin typeface="Calibri" panose="020F0502020204030204" pitchFamily="34" charset="0"/>
                          <a:ea typeface="Arial"/>
                          <a:cs typeface="Calibri" panose="020F0502020204030204" pitchFamily="34" charset="0"/>
                          <a:sym typeface="Arial"/>
                        </a:rPr>
                        <a:t>14</a:t>
                      </a:r>
                      <a:endParaRPr sz="1600" b="0" i="0" u="none" strike="noStrike" cap="none" dirty="0">
                        <a:solidFill>
                          <a:schemeClr val="bg2">
                            <a:lumMod val="50000"/>
                          </a:schemeClr>
                        </a:solidFill>
                        <a:latin typeface="Calibri" panose="020F0502020204030204" pitchFamily="34" charset="0"/>
                        <a:ea typeface="Arial"/>
                        <a:cs typeface="Calibri" panose="020F0502020204030204" pitchFamily="34" charset="0"/>
                        <a:sym typeface="Arial"/>
                      </a:endParaRPr>
                    </a:p>
                  </a:txBody>
                  <a:tcPr marL="68575" marR="68575" marT="0" marB="0"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9510246"/>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40"/>
          <p:cNvSpPr txBox="1">
            <a:spLocks noGrp="1"/>
          </p:cNvSpPr>
          <p:nvPr>
            <p:ph type="title"/>
          </p:nvPr>
        </p:nvSpPr>
        <p:spPr>
          <a:xfrm>
            <a:off x="933025" y="592925"/>
            <a:ext cx="6305100" cy="76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IN" dirty="0">
                <a:latin typeface="Calibri"/>
                <a:ea typeface="Calibri"/>
                <a:cs typeface="Calibri"/>
                <a:sym typeface="Calibri"/>
              </a:rPr>
              <a:t>Atomic Orbitals: s-orbital</a:t>
            </a:r>
            <a:endParaRPr dirty="0"/>
          </a:p>
        </p:txBody>
      </p:sp>
      <p:sp>
        <p:nvSpPr>
          <p:cNvPr id="261" name="Google Shape;261;p40"/>
          <p:cNvSpPr txBox="1"/>
          <p:nvPr/>
        </p:nvSpPr>
        <p:spPr>
          <a:xfrm>
            <a:off x="407323" y="1978995"/>
            <a:ext cx="4044361" cy="2328309"/>
          </a:xfrm>
          <a:prstGeom prst="rect">
            <a:avLst/>
          </a:prstGeom>
          <a:noFill/>
          <a:ln>
            <a:noFill/>
          </a:ln>
        </p:spPr>
        <p:txBody>
          <a:bodyPr spcFirstLastPara="1" wrap="square" lIns="91425" tIns="91425" rIns="91425" bIns="91425" anchor="t" anchorCtr="0">
            <a:noAutofit/>
          </a:bodyPr>
          <a:lstStyle/>
          <a:p>
            <a:pPr marL="285750" marR="0" lvl="0" indent="-285750" algn="just" rtl="0">
              <a:lnSpc>
                <a:spcPct val="114000"/>
              </a:lnSpc>
              <a:spcBef>
                <a:spcPts val="600"/>
              </a:spcBef>
              <a:spcAft>
                <a:spcPts val="0"/>
              </a:spcAft>
              <a:buClr>
                <a:srgbClr val="000000"/>
              </a:buClr>
              <a:buSzPts val="1400"/>
              <a:buFont typeface="Arial"/>
              <a:buChar char="•"/>
            </a:pPr>
            <a:r>
              <a:rPr lang="en-US" sz="1600" b="0" i="0" u="none" strike="noStrike" cap="none" dirty="0">
                <a:solidFill>
                  <a:srgbClr val="000000"/>
                </a:solidFill>
                <a:latin typeface="Calibri"/>
                <a:ea typeface="Calibri"/>
                <a:cs typeface="Calibri"/>
                <a:sym typeface="Calibri"/>
              </a:rPr>
              <a:t>Each orbital is a three-dimensional structure. </a:t>
            </a:r>
          </a:p>
          <a:p>
            <a:pPr marL="285750" marR="0" lvl="0" indent="-285750" algn="just" rtl="0">
              <a:lnSpc>
                <a:spcPct val="114000"/>
              </a:lnSpc>
              <a:spcBef>
                <a:spcPts val="600"/>
              </a:spcBef>
              <a:spcAft>
                <a:spcPts val="0"/>
              </a:spcAft>
              <a:buClr>
                <a:srgbClr val="000000"/>
              </a:buClr>
              <a:buSzPts val="1400"/>
              <a:buFont typeface="Arial"/>
              <a:buChar char="•"/>
            </a:pPr>
            <a:r>
              <a:rPr lang="en-US" sz="1600" b="0" i="0" u="none" strike="noStrike" cap="none" dirty="0">
                <a:solidFill>
                  <a:srgbClr val="000000"/>
                </a:solidFill>
                <a:latin typeface="Calibri"/>
                <a:ea typeface="Calibri"/>
                <a:cs typeface="Calibri"/>
                <a:sym typeface="Calibri"/>
              </a:rPr>
              <a:t>A s-orbital has a spherical shape. </a:t>
            </a:r>
          </a:p>
          <a:p>
            <a:pPr marL="285750" marR="0" lvl="0" indent="-285750" algn="just" rtl="0">
              <a:lnSpc>
                <a:spcPct val="114000"/>
              </a:lnSpc>
              <a:spcBef>
                <a:spcPts val="600"/>
              </a:spcBef>
              <a:spcAft>
                <a:spcPts val="0"/>
              </a:spcAft>
              <a:buClr>
                <a:srgbClr val="000000"/>
              </a:buClr>
              <a:buSzPts val="1400"/>
              <a:buFont typeface="Arial"/>
              <a:buChar char="•"/>
            </a:pPr>
            <a:r>
              <a:rPr lang="en-US" sz="1600" b="0" i="0" u="none" strike="noStrike" cap="none" dirty="0">
                <a:solidFill>
                  <a:srgbClr val="000000"/>
                </a:solidFill>
                <a:latin typeface="Calibri"/>
                <a:ea typeface="Calibri"/>
                <a:cs typeface="Calibri"/>
                <a:sym typeface="Calibri"/>
              </a:rPr>
              <a:t>All s-orbitals have the same shape but the energy of 2s orbital is greater than that in 1s orbital and so on. </a:t>
            </a:r>
          </a:p>
        </p:txBody>
      </p:sp>
      <p:pic>
        <p:nvPicPr>
          <p:cNvPr id="2" name="Google Shape;164;p11">
            <a:extLst>
              <a:ext uri="{FF2B5EF4-FFF2-40B4-BE49-F238E27FC236}">
                <a16:creationId xmlns:a16="http://schemas.microsoft.com/office/drawing/2014/main" id="{F7DBDC50-98EF-42B8-9914-C6A14B9FBAA2}"/>
              </a:ext>
            </a:extLst>
          </p:cNvPr>
          <p:cNvPicPr preferRelativeResize="0"/>
          <p:nvPr/>
        </p:nvPicPr>
        <p:blipFill rotWithShape="1">
          <a:blip r:embed="rId3">
            <a:alphaModFix/>
          </a:blip>
          <a:srcRect/>
          <a:stretch/>
        </p:blipFill>
        <p:spPr>
          <a:xfrm>
            <a:off x="5029473" y="2203964"/>
            <a:ext cx="3260726" cy="1878370"/>
          </a:xfrm>
          <a:prstGeom prst="rect">
            <a:avLst/>
          </a:prstGeom>
          <a:noFill/>
          <a:ln>
            <a:noFill/>
          </a:ln>
        </p:spPr>
      </p:pic>
    </p:spTree>
    <p:extLst>
      <p:ext uri="{BB962C8B-B14F-4D97-AF65-F5344CB8AC3E}">
        <p14:creationId xmlns:p14="http://schemas.microsoft.com/office/powerpoint/2010/main" val="13575303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41"/>
          <p:cNvSpPr txBox="1">
            <a:spLocks noGrp="1"/>
          </p:cNvSpPr>
          <p:nvPr>
            <p:ph type="title"/>
          </p:nvPr>
        </p:nvSpPr>
        <p:spPr>
          <a:xfrm>
            <a:off x="933025" y="592925"/>
            <a:ext cx="6305100" cy="76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IN" dirty="0">
                <a:latin typeface="Calibri"/>
                <a:ea typeface="Calibri"/>
                <a:cs typeface="Calibri"/>
                <a:sym typeface="Calibri"/>
              </a:rPr>
              <a:t>Atomic Orbitals: p-orbital</a:t>
            </a:r>
            <a:endParaRPr dirty="0"/>
          </a:p>
        </p:txBody>
      </p:sp>
      <p:sp>
        <p:nvSpPr>
          <p:cNvPr id="270" name="Google Shape;270;p41"/>
          <p:cNvSpPr txBox="1"/>
          <p:nvPr/>
        </p:nvSpPr>
        <p:spPr>
          <a:xfrm>
            <a:off x="407323" y="1978995"/>
            <a:ext cx="3867221" cy="2860530"/>
          </a:xfrm>
          <a:prstGeom prst="rect">
            <a:avLst/>
          </a:prstGeom>
          <a:noFill/>
          <a:ln>
            <a:noFill/>
          </a:ln>
        </p:spPr>
        <p:txBody>
          <a:bodyPr spcFirstLastPara="1" wrap="square" lIns="91425" tIns="91425" rIns="91425" bIns="91425" anchor="t" anchorCtr="0">
            <a:noAutofit/>
          </a:bodyPr>
          <a:lstStyle/>
          <a:p>
            <a:pPr marL="285750" marR="0" lvl="0" indent="-285750" algn="just" rtl="0">
              <a:lnSpc>
                <a:spcPct val="114000"/>
              </a:lnSpc>
              <a:spcBef>
                <a:spcPts val="600"/>
              </a:spcBef>
              <a:spcAft>
                <a:spcPts val="0"/>
              </a:spcAft>
              <a:buClr>
                <a:srgbClr val="000000"/>
              </a:buClr>
              <a:buSzPts val="1400"/>
              <a:buFont typeface="Arial"/>
              <a:buChar char="•"/>
            </a:pPr>
            <a:r>
              <a:rPr lang="en-IN" sz="1600" b="0" i="0" u="none" strike="noStrike" cap="none" dirty="0">
                <a:solidFill>
                  <a:srgbClr val="000000"/>
                </a:solidFill>
                <a:latin typeface="Calibri"/>
                <a:ea typeface="Calibri"/>
                <a:cs typeface="Calibri"/>
                <a:sym typeface="Calibri"/>
              </a:rPr>
              <a:t>A p-orbital has a lobe like structure as shown in figure. </a:t>
            </a:r>
            <a:endParaRPr sz="1600" dirty="0"/>
          </a:p>
          <a:p>
            <a:pPr marL="285750" marR="0" lvl="0" indent="-285750" algn="just" rtl="0">
              <a:lnSpc>
                <a:spcPct val="114000"/>
              </a:lnSpc>
              <a:spcBef>
                <a:spcPts val="600"/>
              </a:spcBef>
              <a:spcAft>
                <a:spcPts val="0"/>
              </a:spcAft>
              <a:buClr>
                <a:srgbClr val="000000"/>
              </a:buClr>
              <a:buSzPts val="1400"/>
              <a:buFont typeface="Arial"/>
              <a:buChar char="•"/>
            </a:pPr>
            <a:r>
              <a:rPr lang="en-IN" sz="1600" b="0" i="0" u="none" strike="noStrike" cap="none" dirty="0">
                <a:solidFill>
                  <a:srgbClr val="000000"/>
                </a:solidFill>
                <a:latin typeface="Calibri"/>
                <a:ea typeface="Calibri"/>
                <a:cs typeface="Calibri"/>
                <a:sym typeface="Calibri"/>
              </a:rPr>
              <a:t>There are three 2p orbitals and each of them have the same structure but each of them is aligned in x, y and z axis. Hence, the naming of these orbitals are 2px, 2py and 2pz. </a:t>
            </a:r>
            <a:endParaRPr sz="1600" dirty="0"/>
          </a:p>
          <a:p>
            <a:pPr marL="285750" marR="0" lvl="0" indent="-285750" algn="just" rtl="0">
              <a:lnSpc>
                <a:spcPct val="114000"/>
              </a:lnSpc>
              <a:spcBef>
                <a:spcPts val="600"/>
              </a:spcBef>
              <a:spcAft>
                <a:spcPts val="0"/>
              </a:spcAft>
              <a:buClr>
                <a:srgbClr val="000000"/>
              </a:buClr>
              <a:buSzPts val="1400"/>
              <a:buFont typeface="Arial"/>
              <a:buChar char="•"/>
            </a:pPr>
            <a:r>
              <a:rPr lang="en-IN" sz="1600" b="0" i="0" u="none" strike="noStrike" cap="none" dirty="0">
                <a:solidFill>
                  <a:srgbClr val="000000"/>
                </a:solidFill>
                <a:latin typeface="Calibri"/>
                <a:ea typeface="Calibri"/>
                <a:cs typeface="Calibri"/>
                <a:sym typeface="Calibri"/>
              </a:rPr>
              <a:t>The shape of 3p orbitals is similar to that of 2p orbitals.</a:t>
            </a:r>
            <a:endParaRPr sz="1600" dirty="0"/>
          </a:p>
        </p:txBody>
      </p:sp>
      <p:pic>
        <p:nvPicPr>
          <p:cNvPr id="271" name="Google Shape;271;p41"/>
          <p:cNvPicPr preferRelativeResize="0"/>
          <p:nvPr/>
        </p:nvPicPr>
        <p:blipFill rotWithShape="1">
          <a:blip r:embed="rId3">
            <a:alphaModFix/>
          </a:blip>
          <a:srcRect/>
          <a:stretch/>
        </p:blipFill>
        <p:spPr>
          <a:xfrm>
            <a:off x="4636510" y="2109660"/>
            <a:ext cx="4125595" cy="272986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42"/>
          <p:cNvSpPr txBox="1">
            <a:spLocks noGrp="1"/>
          </p:cNvSpPr>
          <p:nvPr>
            <p:ph type="title"/>
          </p:nvPr>
        </p:nvSpPr>
        <p:spPr>
          <a:xfrm>
            <a:off x="933025" y="592925"/>
            <a:ext cx="6305100" cy="76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IN">
                <a:latin typeface="Calibri"/>
                <a:ea typeface="Calibri"/>
                <a:cs typeface="Calibri"/>
                <a:sym typeface="Calibri"/>
              </a:rPr>
              <a:t>Filling of Orbitals</a:t>
            </a:r>
            <a:endParaRPr/>
          </a:p>
        </p:txBody>
      </p:sp>
      <p:sp>
        <p:nvSpPr>
          <p:cNvPr id="277" name="Google Shape;277;p42"/>
          <p:cNvSpPr txBox="1"/>
          <p:nvPr/>
        </p:nvSpPr>
        <p:spPr>
          <a:xfrm>
            <a:off x="601578" y="2330139"/>
            <a:ext cx="4271211" cy="2087679"/>
          </a:xfrm>
          <a:prstGeom prst="rect">
            <a:avLst/>
          </a:prstGeom>
          <a:noFill/>
          <a:ln>
            <a:noFill/>
          </a:ln>
        </p:spPr>
        <p:txBody>
          <a:bodyPr spcFirstLastPara="1" wrap="square" lIns="91425" tIns="91425" rIns="91425" bIns="91425" anchor="t" anchorCtr="0">
            <a:noAutofit/>
          </a:bodyPr>
          <a:lstStyle/>
          <a:p>
            <a:pPr marL="285750" marR="0" lvl="0" indent="-285750" algn="just" rtl="0">
              <a:lnSpc>
                <a:spcPct val="114000"/>
              </a:lnSpc>
              <a:spcBef>
                <a:spcPts val="0"/>
              </a:spcBef>
              <a:spcAft>
                <a:spcPts val="0"/>
              </a:spcAft>
              <a:buClr>
                <a:srgbClr val="000000"/>
              </a:buClr>
              <a:buSzPts val="1400"/>
              <a:buFont typeface="Arial"/>
              <a:buChar char="•"/>
            </a:pPr>
            <a:r>
              <a:rPr lang="en-IN" sz="1600" b="0" i="0" u="none" strike="noStrike" cap="none" dirty="0">
                <a:solidFill>
                  <a:srgbClr val="000000"/>
                </a:solidFill>
                <a:latin typeface="Calibri" panose="020F0502020204030204" pitchFamily="34" charset="0"/>
                <a:ea typeface="Calibri"/>
                <a:cs typeface="Calibri" panose="020F0502020204030204" pitchFamily="34" charset="0"/>
                <a:sym typeface="Calibri"/>
              </a:rPr>
              <a:t>The shells are filled in the increasing order of energy levels. </a:t>
            </a:r>
          </a:p>
          <a:p>
            <a:pPr marL="285750" marR="0" lvl="0" indent="-285750" algn="just" rtl="0">
              <a:lnSpc>
                <a:spcPct val="114000"/>
              </a:lnSpc>
              <a:spcBef>
                <a:spcPts val="0"/>
              </a:spcBef>
              <a:spcAft>
                <a:spcPts val="0"/>
              </a:spcAft>
              <a:buClr>
                <a:srgbClr val="000000"/>
              </a:buClr>
              <a:buSzPts val="1400"/>
              <a:buFont typeface="Arial"/>
              <a:buChar char="•"/>
            </a:pPr>
            <a:r>
              <a:rPr lang="en-IN" sz="1600" b="0" i="0" u="none" strike="noStrike" cap="none" dirty="0">
                <a:solidFill>
                  <a:srgbClr val="000000"/>
                </a:solidFill>
                <a:latin typeface="Calibri" panose="020F0502020204030204" pitchFamily="34" charset="0"/>
                <a:ea typeface="Calibri"/>
                <a:cs typeface="Calibri" panose="020F0502020204030204" pitchFamily="34" charset="0"/>
                <a:sym typeface="Calibri"/>
              </a:rPr>
              <a:t>The order in which the electrons are filled is shown in the figure.</a:t>
            </a:r>
            <a:endParaRPr sz="1600" dirty="0">
              <a:latin typeface="Calibri" panose="020F0502020204030204" pitchFamily="34" charset="0"/>
              <a:cs typeface="Calibri" panose="020F0502020204030204" pitchFamily="34" charset="0"/>
            </a:endParaRPr>
          </a:p>
          <a:p>
            <a:pPr marL="285750" marR="0" lvl="0" indent="-196850" algn="just" rtl="0">
              <a:lnSpc>
                <a:spcPct val="114000"/>
              </a:lnSpc>
              <a:spcBef>
                <a:spcPts val="0"/>
              </a:spcBef>
              <a:spcAft>
                <a:spcPts val="0"/>
              </a:spcAft>
              <a:buClr>
                <a:srgbClr val="000000"/>
              </a:buClr>
              <a:buSzPts val="1400"/>
              <a:buFont typeface="Arial"/>
              <a:buNone/>
            </a:pPr>
            <a:endParaRPr sz="1400" b="0" i="0" u="none" strike="noStrike" cap="none" dirty="0">
              <a:solidFill>
                <a:srgbClr val="000000"/>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9929BC5D-07CD-4170-B745-40089ABCAD75}"/>
              </a:ext>
            </a:extLst>
          </p:cNvPr>
          <p:cNvPicPr>
            <a:picLocks noChangeAspect="1"/>
          </p:cNvPicPr>
          <p:nvPr/>
        </p:nvPicPr>
        <p:blipFill>
          <a:blip r:embed="rId3"/>
          <a:stretch>
            <a:fillRect/>
          </a:stretch>
        </p:blipFill>
        <p:spPr>
          <a:xfrm>
            <a:off x="5442688" y="1978995"/>
            <a:ext cx="2629624" cy="278996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43"/>
          <p:cNvSpPr txBox="1">
            <a:spLocks noGrp="1"/>
          </p:cNvSpPr>
          <p:nvPr>
            <p:ph type="title"/>
          </p:nvPr>
        </p:nvSpPr>
        <p:spPr>
          <a:xfrm>
            <a:off x="933025" y="592925"/>
            <a:ext cx="6305100" cy="76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IN">
                <a:latin typeface="Calibri"/>
                <a:ea typeface="Calibri"/>
                <a:cs typeface="Calibri"/>
                <a:sym typeface="Calibri"/>
              </a:rPr>
              <a:t>Filling of Orbitals</a:t>
            </a:r>
            <a:endParaRPr/>
          </a:p>
        </p:txBody>
      </p:sp>
      <p:sp>
        <p:nvSpPr>
          <p:cNvPr id="284" name="Google Shape;284;p43"/>
          <p:cNvSpPr txBox="1"/>
          <p:nvPr/>
        </p:nvSpPr>
        <p:spPr>
          <a:xfrm>
            <a:off x="407323" y="1978995"/>
            <a:ext cx="5558897" cy="2571580"/>
          </a:xfrm>
          <a:prstGeom prst="rect">
            <a:avLst/>
          </a:prstGeom>
          <a:noFill/>
          <a:ln>
            <a:noFill/>
          </a:ln>
        </p:spPr>
        <p:txBody>
          <a:bodyPr spcFirstLastPara="1" wrap="square" lIns="91425" tIns="91425" rIns="91425" bIns="91425" anchor="t" anchorCtr="0">
            <a:noAutofit/>
          </a:bodyPr>
          <a:lstStyle/>
          <a:p>
            <a:pPr marL="285750" marR="0" lvl="0" indent="-285750" algn="just" rtl="0">
              <a:lnSpc>
                <a:spcPct val="114000"/>
              </a:lnSpc>
              <a:spcBef>
                <a:spcPts val="0"/>
              </a:spcBef>
              <a:spcAft>
                <a:spcPts val="0"/>
              </a:spcAft>
              <a:buClr>
                <a:srgbClr val="000000"/>
              </a:buClr>
              <a:buSzPts val="1400"/>
              <a:buFont typeface="Arial"/>
              <a:buChar char="•"/>
            </a:pPr>
            <a:r>
              <a:rPr lang="en-IN" sz="1600" b="0" i="0" u="none" strike="noStrike" cap="none" dirty="0">
                <a:solidFill>
                  <a:srgbClr val="000000"/>
                </a:solidFill>
                <a:latin typeface="Calibri"/>
                <a:ea typeface="Calibri"/>
                <a:cs typeface="Calibri"/>
                <a:sym typeface="Calibri"/>
              </a:rPr>
              <a:t>Filling up of orbitals is expressed by placing arrows in boxes. Arrows denote the electrons. </a:t>
            </a:r>
          </a:p>
          <a:p>
            <a:pPr marL="285750" marR="0" lvl="0" indent="-285750" algn="just" rtl="0">
              <a:lnSpc>
                <a:spcPct val="114000"/>
              </a:lnSpc>
              <a:spcBef>
                <a:spcPts val="0"/>
              </a:spcBef>
              <a:spcAft>
                <a:spcPts val="0"/>
              </a:spcAft>
              <a:buClr>
                <a:srgbClr val="000000"/>
              </a:buClr>
              <a:buSzPts val="1400"/>
              <a:buFont typeface="Arial"/>
              <a:buChar char="•"/>
            </a:pPr>
            <a:r>
              <a:rPr lang="en-IN" sz="1600" b="0" i="0" u="none" strike="noStrike" cap="none" dirty="0">
                <a:solidFill>
                  <a:srgbClr val="000000"/>
                </a:solidFill>
                <a:latin typeface="Calibri"/>
                <a:ea typeface="Calibri"/>
                <a:cs typeface="Calibri"/>
                <a:sym typeface="Calibri"/>
              </a:rPr>
              <a:t>The direction in which the arrow points, denotes the spin of electron. </a:t>
            </a:r>
          </a:p>
          <a:p>
            <a:pPr marL="285750" marR="0" lvl="0" indent="-285750" algn="just" rtl="0">
              <a:lnSpc>
                <a:spcPct val="114000"/>
              </a:lnSpc>
              <a:spcBef>
                <a:spcPts val="0"/>
              </a:spcBef>
              <a:spcAft>
                <a:spcPts val="0"/>
              </a:spcAft>
              <a:buClr>
                <a:srgbClr val="000000"/>
              </a:buClr>
              <a:buSzPts val="1400"/>
              <a:buFont typeface="Arial"/>
              <a:buChar char="•"/>
            </a:pPr>
            <a:r>
              <a:rPr lang="en-IN" sz="1600" b="0" i="0" u="none" strike="noStrike" cap="none" dirty="0">
                <a:solidFill>
                  <a:srgbClr val="000000"/>
                </a:solidFill>
                <a:latin typeface="Calibri"/>
                <a:ea typeface="Calibri"/>
                <a:cs typeface="Calibri"/>
                <a:sym typeface="Calibri"/>
              </a:rPr>
              <a:t>An electron rotates in its own axis in either clockwise or anti-clockwise direction. </a:t>
            </a:r>
          </a:p>
          <a:p>
            <a:pPr marL="285750" marR="0" lvl="0" indent="-285750" algn="just" rtl="0">
              <a:lnSpc>
                <a:spcPct val="114000"/>
              </a:lnSpc>
              <a:spcBef>
                <a:spcPts val="0"/>
              </a:spcBef>
              <a:spcAft>
                <a:spcPts val="0"/>
              </a:spcAft>
              <a:buClr>
                <a:srgbClr val="000000"/>
              </a:buClr>
              <a:buSzPts val="1400"/>
              <a:buFont typeface="Arial"/>
              <a:buChar char="•"/>
            </a:pPr>
            <a:r>
              <a:rPr lang="en-IN" sz="1600" b="0" i="0" u="none" strike="noStrike" cap="none" dirty="0">
                <a:solidFill>
                  <a:srgbClr val="000000"/>
                </a:solidFill>
                <a:latin typeface="Calibri"/>
                <a:ea typeface="Calibri"/>
                <a:cs typeface="Calibri"/>
                <a:sym typeface="Calibri"/>
              </a:rPr>
              <a:t>In an orbital, electrons rotate in opposite directions, and hence, have opposite spins. </a:t>
            </a:r>
            <a:endParaRPr sz="1600" dirty="0"/>
          </a:p>
          <a:p>
            <a:pPr marL="285750" marR="0" lvl="0" indent="-196850" algn="just" rtl="0">
              <a:lnSpc>
                <a:spcPct val="114000"/>
              </a:lnSpc>
              <a:spcBef>
                <a:spcPts val="0"/>
              </a:spcBef>
              <a:spcAft>
                <a:spcPts val="0"/>
              </a:spcAft>
              <a:buClr>
                <a:srgbClr val="000000"/>
              </a:buClr>
              <a:buSzPts val="1400"/>
              <a:buFont typeface="Arial"/>
              <a:buNone/>
            </a:pPr>
            <a:endParaRPr sz="1600" b="0" i="0" u="none" strike="noStrike" cap="none" dirty="0">
              <a:solidFill>
                <a:srgbClr val="000000"/>
              </a:solidFill>
              <a:latin typeface="Calibri"/>
              <a:ea typeface="Calibri"/>
              <a:cs typeface="Calibri"/>
              <a:sym typeface="Calibri"/>
            </a:endParaRPr>
          </a:p>
          <a:p>
            <a:pPr marL="285750" marR="0" lvl="0" indent="-196850" algn="just" rtl="0">
              <a:lnSpc>
                <a:spcPct val="114000"/>
              </a:lnSpc>
              <a:spcBef>
                <a:spcPts val="0"/>
              </a:spcBef>
              <a:spcAft>
                <a:spcPts val="0"/>
              </a:spcAft>
              <a:buClr>
                <a:srgbClr val="000000"/>
              </a:buClr>
              <a:buSzPts val="1400"/>
              <a:buFont typeface="Arial"/>
              <a:buNone/>
            </a:pPr>
            <a:endParaRPr sz="1600" b="0" i="0" u="none" strike="noStrike" cap="none" dirty="0">
              <a:solidFill>
                <a:srgbClr val="000000"/>
              </a:solidFill>
              <a:latin typeface="Calibri"/>
              <a:ea typeface="Calibri"/>
              <a:cs typeface="Calibri"/>
              <a:sym typeface="Calibri"/>
            </a:endParaRPr>
          </a:p>
        </p:txBody>
      </p:sp>
      <p:pic>
        <p:nvPicPr>
          <p:cNvPr id="285" name="Google Shape;285;p43"/>
          <p:cNvPicPr preferRelativeResize="0"/>
          <p:nvPr/>
        </p:nvPicPr>
        <p:blipFill rotWithShape="1">
          <a:blip r:embed="rId3">
            <a:alphaModFix/>
          </a:blip>
          <a:srcRect/>
          <a:stretch/>
        </p:blipFill>
        <p:spPr>
          <a:xfrm>
            <a:off x="6169737" y="2104574"/>
            <a:ext cx="2136775" cy="210947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43"/>
          <p:cNvSpPr txBox="1">
            <a:spLocks noGrp="1"/>
          </p:cNvSpPr>
          <p:nvPr>
            <p:ph type="title"/>
          </p:nvPr>
        </p:nvSpPr>
        <p:spPr>
          <a:xfrm>
            <a:off x="933025" y="592925"/>
            <a:ext cx="6305100" cy="76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IN">
                <a:latin typeface="Calibri"/>
                <a:ea typeface="Calibri"/>
                <a:cs typeface="Calibri"/>
                <a:sym typeface="Calibri"/>
              </a:rPr>
              <a:t>Filling of Orbitals</a:t>
            </a:r>
            <a:endParaRPr/>
          </a:p>
        </p:txBody>
      </p:sp>
      <p:sp>
        <p:nvSpPr>
          <p:cNvPr id="284" name="Google Shape;284;p43"/>
          <p:cNvSpPr txBox="1"/>
          <p:nvPr/>
        </p:nvSpPr>
        <p:spPr>
          <a:xfrm>
            <a:off x="407323" y="1978995"/>
            <a:ext cx="5558897" cy="2571580"/>
          </a:xfrm>
          <a:prstGeom prst="rect">
            <a:avLst/>
          </a:prstGeom>
          <a:noFill/>
          <a:ln>
            <a:noFill/>
          </a:ln>
        </p:spPr>
        <p:txBody>
          <a:bodyPr spcFirstLastPara="1" wrap="square" lIns="91425" tIns="91425" rIns="91425" bIns="91425" anchor="t" anchorCtr="0">
            <a:noAutofit/>
          </a:bodyPr>
          <a:lstStyle/>
          <a:p>
            <a:pPr marL="285750" marR="0" lvl="0" indent="-285750" algn="just" rtl="0">
              <a:lnSpc>
                <a:spcPct val="114000"/>
              </a:lnSpc>
              <a:spcBef>
                <a:spcPts val="0"/>
              </a:spcBef>
              <a:spcAft>
                <a:spcPts val="0"/>
              </a:spcAft>
              <a:buClr>
                <a:srgbClr val="000000"/>
              </a:buClr>
              <a:buSzPts val="1400"/>
              <a:buFont typeface="Arial"/>
              <a:buChar char="•"/>
            </a:pPr>
            <a:r>
              <a:rPr lang="en-US" sz="1600" b="0" i="0" u="none" strike="noStrike" cap="none" dirty="0">
                <a:solidFill>
                  <a:srgbClr val="000000"/>
                </a:solidFill>
                <a:latin typeface="Calibri"/>
                <a:ea typeface="Calibri"/>
                <a:cs typeface="Calibri"/>
                <a:sym typeface="Calibri"/>
              </a:rPr>
              <a:t>Electrons are negatively charged. As like charges repel each other, electrons occupy separate orbitals if possible. </a:t>
            </a:r>
          </a:p>
          <a:p>
            <a:pPr marL="285750" marR="0" lvl="0" indent="-285750" algn="just" rtl="0">
              <a:lnSpc>
                <a:spcPct val="114000"/>
              </a:lnSpc>
              <a:spcBef>
                <a:spcPts val="0"/>
              </a:spcBef>
              <a:spcAft>
                <a:spcPts val="0"/>
              </a:spcAft>
              <a:buClr>
                <a:srgbClr val="000000"/>
              </a:buClr>
              <a:buSzPts val="1400"/>
              <a:buFont typeface="Arial"/>
              <a:buChar char="•"/>
            </a:pPr>
            <a:r>
              <a:rPr lang="en-US" sz="1600" b="0" i="0" u="none" strike="noStrike" cap="none" dirty="0">
                <a:solidFill>
                  <a:srgbClr val="000000"/>
                </a:solidFill>
                <a:latin typeface="Calibri"/>
                <a:ea typeface="Calibri"/>
                <a:cs typeface="Calibri"/>
                <a:sym typeface="Calibri"/>
              </a:rPr>
              <a:t>Only when the all orbitals of a sub shell are filled with one electron, the electrons are paired in those orbitals. </a:t>
            </a:r>
          </a:p>
          <a:p>
            <a:pPr marL="285750" marR="0" lvl="0" indent="-285750" algn="just" rtl="0">
              <a:lnSpc>
                <a:spcPct val="114000"/>
              </a:lnSpc>
              <a:spcBef>
                <a:spcPts val="0"/>
              </a:spcBef>
              <a:spcAft>
                <a:spcPts val="0"/>
              </a:spcAft>
              <a:buClr>
                <a:srgbClr val="000000"/>
              </a:buClr>
              <a:buSzPts val="1400"/>
              <a:buFont typeface="Arial"/>
              <a:buChar char="•"/>
            </a:pPr>
            <a:r>
              <a:rPr lang="en-US" sz="1600" b="0" i="0" u="none" strike="noStrike" cap="none" dirty="0">
                <a:solidFill>
                  <a:srgbClr val="000000"/>
                </a:solidFill>
                <a:latin typeface="Calibri"/>
                <a:ea typeface="Calibri"/>
                <a:cs typeface="Calibri"/>
                <a:sym typeface="Calibri"/>
              </a:rPr>
              <a:t>The paired electrons always have opposite spins to </a:t>
            </a:r>
            <a:r>
              <a:rPr lang="en-US" sz="1600" b="0" i="0" u="none" strike="noStrike" cap="none" dirty="0" err="1">
                <a:solidFill>
                  <a:srgbClr val="000000"/>
                </a:solidFill>
                <a:latin typeface="Calibri"/>
                <a:ea typeface="Calibri"/>
                <a:cs typeface="Calibri"/>
                <a:sym typeface="Calibri"/>
              </a:rPr>
              <a:t>minimise</a:t>
            </a:r>
            <a:r>
              <a:rPr lang="en-US" sz="1600" b="0" i="0" u="none" strike="noStrike" cap="none" dirty="0">
                <a:solidFill>
                  <a:srgbClr val="000000"/>
                </a:solidFill>
                <a:latin typeface="Calibri"/>
                <a:ea typeface="Calibri"/>
                <a:cs typeface="Calibri"/>
                <a:sym typeface="Calibri"/>
              </a:rPr>
              <a:t> repulsions. </a:t>
            </a:r>
          </a:p>
        </p:txBody>
      </p:sp>
      <p:pic>
        <p:nvPicPr>
          <p:cNvPr id="285" name="Google Shape;285;p43"/>
          <p:cNvPicPr preferRelativeResize="0"/>
          <p:nvPr/>
        </p:nvPicPr>
        <p:blipFill rotWithShape="1">
          <a:blip r:embed="rId3">
            <a:alphaModFix/>
          </a:blip>
          <a:srcRect/>
          <a:stretch/>
        </p:blipFill>
        <p:spPr>
          <a:xfrm>
            <a:off x="6169737" y="2104574"/>
            <a:ext cx="2136775" cy="2109470"/>
          </a:xfrm>
          <a:prstGeom prst="rect">
            <a:avLst/>
          </a:prstGeom>
          <a:noFill/>
          <a:ln>
            <a:noFill/>
          </a:ln>
        </p:spPr>
      </p:pic>
    </p:spTree>
    <p:extLst>
      <p:ext uri="{BB962C8B-B14F-4D97-AF65-F5344CB8AC3E}">
        <p14:creationId xmlns:p14="http://schemas.microsoft.com/office/powerpoint/2010/main" val="42425567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43"/>
          <p:cNvSpPr txBox="1">
            <a:spLocks noGrp="1"/>
          </p:cNvSpPr>
          <p:nvPr>
            <p:ph type="title"/>
          </p:nvPr>
        </p:nvSpPr>
        <p:spPr>
          <a:xfrm>
            <a:off x="933025" y="592925"/>
            <a:ext cx="6305100" cy="76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IN" dirty="0">
                <a:latin typeface="Calibri"/>
                <a:ea typeface="Calibri"/>
                <a:cs typeface="Calibri"/>
                <a:sym typeface="Calibri"/>
              </a:rPr>
              <a:t>Filling of Orbitals: Examples</a:t>
            </a:r>
            <a:endParaRPr dirty="0"/>
          </a:p>
        </p:txBody>
      </p:sp>
      <p:pic>
        <p:nvPicPr>
          <p:cNvPr id="2" name="Picture 1">
            <a:extLst>
              <a:ext uri="{FF2B5EF4-FFF2-40B4-BE49-F238E27FC236}">
                <a16:creationId xmlns:a16="http://schemas.microsoft.com/office/drawing/2014/main" id="{BE4BEE65-3EF0-48B0-B301-A80590077BB8}"/>
              </a:ext>
            </a:extLst>
          </p:cNvPr>
          <p:cNvPicPr>
            <a:picLocks noChangeAspect="1"/>
          </p:cNvPicPr>
          <p:nvPr/>
        </p:nvPicPr>
        <p:blipFill>
          <a:blip r:embed="rId3"/>
          <a:stretch>
            <a:fillRect/>
          </a:stretch>
        </p:blipFill>
        <p:spPr>
          <a:xfrm>
            <a:off x="1215057" y="2184223"/>
            <a:ext cx="6713886" cy="2176170"/>
          </a:xfrm>
          <a:prstGeom prst="rect">
            <a:avLst/>
          </a:prstGeom>
        </p:spPr>
      </p:pic>
    </p:spTree>
    <p:extLst>
      <p:ext uri="{BB962C8B-B14F-4D97-AF65-F5344CB8AC3E}">
        <p14:creationId xmlns:p14="http://schemas.microsoft.com/office/powerpoint/2010/main" val="4084810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8"/>
          <p:cNvSpPr txBox="1">
            <a:spLocks noGrp="1"/>
          </p:cNvSpPr>
          <p:nvPr>
            <p:ph type="title"/>
          </p:nvPr>
        </p:nvSpPr>
        <p:spPr>
          <a:xfrm>
            <a:off x="933025" y="592925"/>
            <a:ext cx="6305100" cy="76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IN" dirty="0">
                <a:latin typeface="Calibri"/>
                <a:ea typeface="Calibri"/>
                <a:cs typeface="Calibri"/>
                <a:sym typeface="Calibri"/>
              </a:rPr>
              <a:t>Electron configurations</a:t>
            </a:r>
          </a:p>
        </p:txBody>
      </p:sp>
      <p:sp>
        <p:nvSpPr>
          <p:cNvPr id="247" name="Google Shape;247;p38"/>
          <p:cNvSpPr txBox="1"/>
          <p:nvPr/>
        </p:nvSpPr>
        <p:spPr>
          <a:xfrm>
            <a:off x="419355" y="1927460"/>
            <a:ext cx="7762119" cy="2779525"/>
          </a:xfrm>
          <a:prstGeom prst="rect">
            <a:avLst/>
          </a:prstGeom>
          <a:noFill/>
          <a:ln>
            <a:noFill/>
          </a:ln>
        </p:spPr>
        <p:txBody>
          <a:bodyPr spcFirstLastPara="1" wrap="square" lIns="91425" tIns="91425" rIns="91425" bIns="91425" anchor="t" anchorCtr="0">
            <a:noAutofit/>
          </a:bodyPr>
          <a:lstStyle/>
          <a:p>
            <a:pPr marL="412750" marR="0" lvl="0" indent="-285750" algn="just" rtl="0">
              <a:lnSpc>
                <a:spcPct val="114000"/>
              </a:lnSpc>
              <a:spcBef>
                <a:spcPts val="600"/>
              </a:spcBef>
              <a:spcAft>
                <a:spcPts val="0"/>
              </a:spcAft>
              <a:buClr>
                <a:srgbClr val="434343"/>
              </a:buClr>
              <a:buSzPts val="1600"/>
              <a:buFont typeface="Arial" panose="020B0604020202020204" pitchFamily="34" charset="0"/>
              <a:buChar char="•"/>
            </a:pP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The electron configuration of an element denotes the number of electrons in each sub shell in order. For example, helium has 2 electrons which are filled in the 1s orbital. The electron configuration is written as:</a:t>
            </a:r>
          </a:p>
          <a:p>
            <a:pPr marL="127000" marR="0" lvl="0" algn="ctr" rtl="0">
              <a:lnSpc>
                <a:spcPct val="114000"/>
              </a:lnSpc>
              <a:spcBef>
                <a:spcPts val="600"/>
              </a:spcBef>
              <a:spcAft>
                <a:spcPts val="0"/>
              </a:spcAft>
              <a:buClr>
                <a:srgbClr val="434343"/>
              </a:buClr>
              <a:buSzPts val="1600"/>
            </a:pP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electron configuration of He=1s</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2</a:t>
            </a:r>
            <a:endPar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endParaRPr>
          </a:p>
          <a:p>
            <a:pPr marL="444500" marR="0" lvl="0" algn="just" rtl="0">
              <a:lnSpc>
                <a:spcPct val="114000"/>
              </a:lnSpc>
              <a:spcBef>
                <a:spcPts val="600"/>
              </a:spcBef>
              <a:spcAft>
                <a:spcPts val="0"/>
              </a:spcAft>
              <a:buClr>
                <a:srgbClr val="434343"/>
              </a:buClr>
              <a:buSzPts val="1600"/>
            </a:pP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where 1 represents the principal quantum number, s represents the sub-shell and 2 represents the number of electrons in 1s sub-shell.</a:t>
            </a:r>
          </a:p>
          <a:p>
            <a:pPr marL="412750" marR="0" lvl="0" indent="-285750" algn="just" rtl="0">
              <a:lnSpc>
                <a:spcPct val="114000"/>
              </a:lnSpc>
              <a:spcBef>
                <a:spcPts val="600"/>
              </a:spcBef>
              <a:spcAft>
                <a:spcPts val="0"/>
              </a:spcAft>
              <a:buClr>
                <a:srgbClr val="434343"/>
              </a:buClr>
              <a:buSzPts val="1600"/>
              <a:buFont typeface="Arial" panose="020B0604020202020204" pitchFamily="34" charset="0"/>
              <a:buChar char="•"/>
            </a:pP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Similarly, electron configuration of nitrogen (atomic number=7) is written as: </a:t>
            </a:r>
          </a:p>
          <a:p>
            <a:pPr marL="127000" marR="0" lvl="0" algn="ctr" rtl="0">
              <a:lnSpc>
                <a:spcPct val="114000"/>
              </a:lnSpc>
              <a:spcBef>
                <a:spcPts val="600"/>
              </a:spcBef>
              <a:spcAft>
                <a:spcPts val="0"/>
              </a:spcAft>
              <a:buClr>
                <a:srgbClr val="434343"/>
              </a:buClr>
              <a:buSzPts val="1600"/>
            </a:pP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electron configuration of N=1s</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2</a:t>
            </a: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2s</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2</a:t>
            </a: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2p</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3</a:t>
            </a:r>
            <a:endPar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endParaRPr>
          </a:p>
        </p:txBody>
      </p:sp>
    </p:spTree>
    <p:extLst>
      <p:ext uri="{BB962C8B-B14F-4D97-AF65-F5344CB8AC3E}">
        <p14:creationId xmlns:p14="http://schemas.microsoft.com/office/powerpoint/2010/main" val="4714338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8"/>
          <p:cNvSpPr txBox="1">
            <a:spLocks noGrp="1"/>
          </p:cNvSpPr>
          <p:nvPr>
            <p:ph type="title"/>
          </p:nvPr>
        </p:nvSpPr>
        <p:spPr>
          <a:xfrm>
            <a:off x="933025" y="592925"/>
            <a:ext cx="6305100" cy="76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IN" dirty="0">
                <a:latin typeface="Calibri"/>
                <a:ea typeface="Calibri"/>
                <a:cs typeface="Calibri"/>
                <a:sym typeface="Calibri"/>
              </a:rPr>
              <a:t>Electron configurations</a:t>
            </a:r>
          </a:p>
        </p:txBody>
      </p:sp>
      <p:sp>
        <p:nvSpPr>
          <p:cNvPr id="247" name="Google Shape;247;p38"/>
          <p:cNvSpPr txBox="1"/>
          <p:nvPr/>
        </p:nvSpPr>
        <p:spPr>
          <a:xfrm>
            <a:off x="419355" y="1927460"/>
            <a:ext cx="7762119" cy="2779525"/>
          </a:xfrm>
          <a:prstGeom prst="rect">
            <a:avLst/>
          </a:prstGeom>
          <a:noFill/>
          <a:ln>
            <a:noFill/>
          </a:ln>
        </p:spPr>
        <p:txBody>
          <a:bodyPr spcFirstLastPara="1" wrap="square" lIns="91425" tIns="91425" rIns="91425" bIns="91425" anchor="t" anchorCtr="0">
            <a:noAutofit/>
          </a:bodyPr>
          <a:lstStyle/>
          <a:p>
            <a:pPr marL="127000" marR="0" lvl="0" indent="0" algn="just" rtl="0">
              <a:lnSpc>
                <a:spcPct val="114000"/>
              </a:lnSpc>
              <a:spcBef>
                <a:spcPts val="600"/>
              </a:spcBef>
              <a:spcAft>
                <a:spcPts val="0"/>
              </a:spcAft>
              <a:buClr>
                <a:srgbClr val="434343"/>
              </a:buClr>
              <a:buSzPts val="1600"/>
              <a:buFont typeface="Roboto Condensed"/>
              <a:buNone/>
            </a:pP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The electron configurations up to atomic number of 36 </a:t>
            </a:r>
            <a:r>
              <a:rPr lang="en-US" sz="1600" dirty="0">
                <a:solidFill>
                  <a:schemeClr val="bg2">
                    <a:lumMod val="50000"/>
                  </a:schemeClr>
                </a:solidFill>
                <a:latin typeface="Calibri" panose="020F0502020204030204" pitchFamily="34" charset="0"/>
                <a:cs typeface="Calibri" panose="020F0502020204030204" pitchFamily="34" charset="0"/>
              </a:rPr>
              <a:t>is required</a:t>
            </a: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 There are few points to be noted:</a:t>
            </a:r>
          </a:p>
          <a:p>
            <a:pPr marL="457200" marR="0" lvl="0" indent="-330200" algn="just" rtl="0">
              <a:lnSpc>
                <a:spcPct val="114000"/>
              </a:lnSpc>
              <a:spcBef>
                <a:spcPts val="600"/>
              </a:spcBef>
              <a:spcAft>
                <a:spcPts val="0"/>
              </a:spcAft>
              <a:buClr>
                <a:srgbClr val="434343"/>
              </a:buClr>
              <a:buSzPts val="1600"/>
              <a:buFont typeface="Arial"/>
              <a:buChar char="•"/>
            </a:pP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The electrons fill the 4s sub-shell before filling up the 3d sub-shell. </a:t>
            </a:r>
          </a:p>
          <a:p>
            <a:pPr marL="447675" marR="0" lvl="0" indent="0" algn="just" rtl="0">
              <a:lnSpc>
                <a:spcPct val="114000"/>
              </a:lnSpc>
              <a:spcBef>
                <a:spcPts val="600"/>
              </a:spcBef>
              <a:spcAft>
                <a:spcPts val="0"/>
              </a:spcAft>
              <a:buClr>
                <a:srgbClr val="434343"/>
              </a:buClr>
              <a:buSzPts val="1600"/>
              <a:buFont typeface="Roboto Condensed"/>
              <a:buNone/>
            </a:pP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For example:</a:t>
            </a:r>
          </a:p>
          <a:p>
            <a:pPr marL="447675" marR="0" lvl="0" indent="0" algn="just" rtl="0">
              <a:lnSpc>
                <a:spcPct val="114000"/>
              </a:lnSpc>
              <a:spcBef>
                <a:spcPts val="600"/>
              </a:spcBef>
              <a:spcAft>
                <a:spcPts val="0"/>
              </a:spcAft>
              <a:buClr>
                <a:srgbClr val="434343"/>
              </a:buClr>
              <a:buSzPts val="1600"/>
              <a:buFont typeface="Roboto Condensed"/>
              <a:buNone/>
            </a:pP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Potassium has atomic number of 19</a:t>
            </a:r>
          </a:p>
          <a:p>
            <a:pPr marL="447675" marR="0" lvl="0" indent="0" algn="ctr" rtl="0">
              <a:lnSpc>
                <a:spcPct val="114000"/>
              </a:lnSpc>
              <a:spcBef>
                <a:spcPts val="600"/>
              </a:spcBef>
              <a:spcAft>
                <a:spcPts val="0"/>
              </a:spcAft>
              <a:buClr>
                <a:srgbClr val="434343"/>
              </a:buClr>
              <a:buSzPts val="1600"/>
              <a:buFont typeface="Roboto Condensed"/>
              <a:buNone/>
            </a:pP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electron configuration of K=1s</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2</a:t>
            </a: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2s</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2</a:t>
            </a: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2p</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6</a:t>
            </a: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3s</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2</a:t>
            </a: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3p</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6</a:t>
            </a: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4s</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1</a:t>
            </a:r>
            <a:endPar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endParaRPr>
          </a:p>
          <a:p>
            <a:pPr marL="447675" marR="0" lvl="0" indent="0" algn="just" rtl="0">
              <a:lnSpc>
                <a:spcPct val="114000"/>
              </a:lnSpc>
              <a:spcBef>
                <a:spcPts val="600"/>
              </a:spcBef>
              <a:spcAft>
                <a:spcPts val="0"/>
              </a:spcAft>
              <a:buClr>
                <a:srgbClr val="434343"/>
              </a:buClr>
              <a:buSzPts val="1600"/>
              <a:buFont typeface="Roboto Condensed"/>
              <a:buNone/>
            </a:pP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Calcium has atomic number of 20</a:t>
            </a:r>
          </a:p>
          <a:p>
            <a:pPr marL="447675" marR="0" lvl="0" indent="0" algn="ctr" rtl="0">
              <a:lnSpc>
                <a:spcPct val="114000"/>
              </a:lnSpc>
              <a:spcBef>
                <a:spcPts val="600"/>
              </a:spcBef>
              <a:spcAft>
                <a:spcPts val="0"/>
              </a:spcAft>
              <a:buClr>
                <a:srgbClr val="434343"/>
              </a:buClr>
              <a:buSzPts val="1600"/>
              <a:buFont typeface="Roboto Condensed"/>
              <a:buNone/>
            </a:pP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electron configuration of Ca=1s</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2</a:t>
            </a: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2s</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2</a:t>
            </a: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2p</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6</a:t>
            </a: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3s</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2</a:t>
            </a: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3p</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6</a:t>
            </a: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4s</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2</a:t>
            </a:r>
            <a:endPar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endParaRPr>
          </a:p>
        </p:txBody>
      </p:sp>
    </p:spTree>
    <p:extLst>
      <p:ext uri="{BB962C8B-B14F-4D97-AF65-F5344CB8AC3E}">
        <p14:creationId xmlns:p14="http://schemas.microsoft.com/office/powerpoint/2010/main" val="3507785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8"/>
          <p:cNvSpPr txBox="1">
            <a:spLocks noGrp="1"/>
          </p:cNvSpPr>
          <p:nvPr>
            <p:ph type="title"/>
          </p:nvPr>
        </p:nvSpPr>
        <p:spPr>
          <a:xfrm>
            <a:off x="933025" y="592925"/>
            <a:ext cx="6305100" cy="76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IN" dirty="0">
                <a:latin typeface="Calibri"/>
                <a:ea typeface="Calibri"/>
                <a:cs typeface="Calibri"/>
                <a:sym typeface="Calibri"/>
              </a:rPr>
              <a:t>Electron configurations</a:t>
            </a:r>
          </a:p>
        </p:txBody>
      </p:sp>
      <p:sp>
        <p:nvSpPr>
          <p:cNvPr id="247" name="Google Shape;247;p38"/>
          <p:cNvSpPr txBox="1"/>
          <p:nvPr/>
        </p:nvSpPr>
        <p:spPr>
          <a:xfrm>
            <a:off x="419355" y="1927460"/>
            <a:ext cx="7762119" cy="2779525"/>
          </a:xfrm>
          <a:prstGeom prst="rect">
            <a:avLst/>
          </a:prstGeom>
          <a:noFill/>
          <a:ln>
            <a:noFill/>
          </a:ln>
        </p:spPr>
        <p:txBody>
          <a:bodyPr spcFirstLastPara="1" wrap="square" lIns="91425" tIns="91425" rIns="91425" bIns="91425" anchor="t" anchorCtr="0">
            <a:noAutofit/>
          </a:bodyPr>
          <a:lstStyle/>
          <a:p>
            <a:pPr marL="457200" marR="0" lvl="0" indent="-330200" algn="just" rtl="0">
              <a:lnSpc>
                <a:spcPct val="114000"/>
              </a:lnSpc>
              <a:spcBef>
                <a:spcPts val="600"/>
              </a:spcBef>
              <a:spcAft>
                <a:spcPts val="0"/>
              </a:spcAft>
              <a:buClr>
                <a:srgbClr val="434343"/>
              </a:buClr>
              <a:buSzPts val="1600"/>
              <a:buFont typeface="Arial"/>
              <a:buChar char="•"/>
            </a:pP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The electrons fill up 3d sub shell after filling up 4s sub shell. For example:</a:t>
            </a:r>
          </a:p>
          <a:p>
            <a:pPr marL="447675" marR="0" lvl="0" indent="0" algn="just" rtl="0">
              <a:lnSpc>
                <a:spcPct val="114000"/>
              </a:lnSpc>
              <a:spcBef>
                <a:spcPts val="600"/>
              </a:spcBef>
              <a:spcAft>
                <a:spcPts val="0"/>
              </a:spcAft>
              <a:buClr>
                <a:srgbClr val="434343"/>
              </a:buClr>
              <a:buSzPts val="1600"/>
              <a:buFont typeface="Roboto Condensed"/>
              <a:buNone/>
            </a:pP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Scandium has atomic number of 21</a:t>
            </a:r>
          </a:p>
          <a:p>
            <a:pPr marL="447675" marR="0" lvl="0" indent="0" algn="ctr" rtl="0">
              <a:lnSpc>
                <a:spcPct val="114000"/>
              </a:lnSpc>
              <a:spcBef>
                <a:spcPts val="600"/>
              </a:spcBef>
              <a:spcAft>
                <a:spcPts val="0"/>
              </a:spcAft>
              <a:buClr>
                <a:srgbClr val="434343"/>
              </a:buClr>
              <a:buSzPts val="1600"/>
              <a:buFont typeface="Roboto Condensed"/>
              <a:buNone/>
            </a:pP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electron configuration of Sc=1s</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2</a:t>
            </a: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2s</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2</a:t>
            </a: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2p</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6</a:t>
            </a: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3s</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2</a:t>
            </a: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3p</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6</a:t>
            </a: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4s</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2</a:t>
            </a: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3d</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1</a:t>
            </a:r>
            <a:endPar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endParaRPr>
          </a:p>
          <a:p>
            <a:pPr marL="446088" marR="0" lvl="0" algn="just" rtl="0">
              <a:lnSpc>
                <a:spcPct val="114000"/>
              </a:lnSpc>
              <a:spcBef>
                <a:spcPts val="600"/>
              </a:spcBef>
              <a:spcAft>
                <a:spcPts val="0"/>
              </a:spcAft>
              <a:buClr>
                <a:srgbClr val="434343"/>
              </a:buClr>
              <a:buSzPts val="1600"/>
            </a:pP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Some exceptions to this pattern are</a:t>
            </a:r>
            <a:r>
              <a:rPr lang="en-US" sz="1600" dirty="0">
                <a:solidFill>
                  <a:schemeClr val="bg2">
                    <a:lumMod val="50000"/>
                  </a:schemeClr>
                </a:solidFill>
                <a:latin typeface="Calibri" panose="020F0502020204030204" pitchFamily="34" charset="0"/>
                <a:cs typeface="Calibri" panose="020F0502020204030204" pitchFamily="34" charset="0"/>
              </a:rPr>
              <a:t> </a:t>
            </a: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Chromium (atomic number=24) and copper (atomic number=29). It can be noted that 4s shell is filled with only one electron for these two elements.</a:t>
            </a:r>
          </a:p>
          <a:p>
            <a:pPr marL="127000" marR="0" lvl="0" indent="0" algn="ctr" rtl="0">
              <a:lnSpc>
                <a:spcPct val="114000"/>
              </a:lnSpc>
              <a:spcBef>
                <a:spcPts val="600"/>
              </a:spcBef>
              <a:spcAft>
                <a:spcPts val="0"/>
              </a:spcAft>
              <a:buClr>
                <a:srgbClr val="434343"/>
              </a:buClr>
              <a:buSzPts val="1600"/>
              <a:buFont typeface="Roboto Condensed"/>
              <a:buNone/>
            </a:pP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electron configuration of Cr=1s</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2</a:t>
            </a: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2s</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2</a:t>
            </a: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2p</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6</a:t>
            </a: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3s</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2</a:t>
            </a: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3p</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6</a:t>
            </a: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3d</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5</a:t>
            </a: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4s</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1</a:t>
            </a:r>
            <a:endPar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endParaRPr>
          </a:p>
          <a:p>
            <a:pPr marL="127000" marR="0" lvl="0" indent="0" algn="ctr" rtl="0">
              <a:lnSpc>
                <a:spcPct val="114000"/>
              </a:lnSpc>
              <a:spcBef>
                <a:spcPts val="600"/>
              </a:spcBef>
              <a:spcAft>
                <a:spcPts val="0"/>
              </a:spcAft>
              <a:buClr>
                <a:srgbClr val="434343"/>
              </a:buClr>
              <a:buSzPts val="1600"/>
              <a:buFont typeface="Roboto Condensed"/>
              <a:buNone/>
            </a:pP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electron configuration of Cu=1s</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2</a:t>
            </a: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2s</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2</a:t>
            </a: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2p</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6</a:t>
            </a: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3s</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2</a:t>
            </a: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3p</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6</a:t>
            </a: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3d</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10</a:t>
            </a:r>
            <a:r>
              <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rPr>
              <a:t>4s</a:t>
            </a:r>
            <a:r>
              <a:rPr lang="en-US" sz="1600" b="0" i="0" u="none" strike="noStrike" cap="none" baseline="30000" dirty="0">
                <a:solidFill>
                  <a:schemeClr val="bg2">
                    <a:lumMod val="50000"/>
                  </a:schemeClr>
                </a:solidFill>
                <a:latin typeface="Calibri" panose="020F0502020204030204" pitchFamily="34" charset="0"/>
                <a:cs typeface="Calibri" panose="020F0502020204030204" pitchFamily="34" charset="0"/>
                <a:sym typeface="Arial"/>
              </a:rPr>
              <a:t>1</a:t>
            </a:r>
            <a:endParaRPr lang="en-US" sz="1600" b="0" i="0" u="none" strike="noStrike" cap="none" dirty="0">
              <a:solidFill>
                <a:schemeClr val="bg2">
                  <a:lumMod val="50000"/>
                </a:schemeClr>
              </a:solidFill>
              <a:latin typeface="Calibri" panose="020F0502020204030204" pitchFamily="34" charset="0"/>
              <a:cs typeface="Calibri" panose="020F0502020204030204" pitchFamily="34" charset="0"/>
              <a:sym typeface="Arial"/>
            </a:endParaRPr>
          </a:p>
        </p:txBody>
      </p:sp>
    </p:spTree>
    <p:extLst>
      <p:ext uri="{BB962C8B-B14F-4D97-AF65-F5344CB8AC3E}">
        <p14:creationId xmlns:p14="http://schemas.microsoft.com/office/powerpoint/2010/main" val="18428215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47"/>
          <p:cNvSpPr txBox="1">
            <a:spLocks noGrp="1"/>
          </p:cNvSpPr>
          <p:nvPr>
            <p:ph type="title"/>
          </p:nvPr>
        </p:nvSpPr>
        <p:spPr>
          <a:xfrm>
            <a:off x="933025" y="592925"/>
            <a:ext cx="6305100" cy="76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IN">
                <a:latin typeface="Calibri"/>
                <a:ea typeface="Calibri"/>
                <a:cs typeface="Calibri"/>
                <a:sym typeface="Calibri"/>
              </a:rPr>
              <a:t>Electron Configuration of ions</a:t>
            </a:r>
            <a:endParaRPr/>
          </a:p>
        </p:txBody>
      </p:sp>
      <p:sp>
        <p:nvSpPr>
          <p:cNvPr id="311" name="Google Shape;311;p47"/>
          <p:cNvSpPr txBox="1"/>
          <p:nvPr/>
        </p:nvSpPr>
        <p:spPr>
          <a:xfrm>
            <a:off x="407322" y="1908143"/>
            <a:ext cx="8368377" cy="2872405"/>
          </a:xfrm>
          <a:prstGeom prst="rect">
            <a:avLst/>
          </a:prstGeom>
          <a:noFill/>
          <a:ln>
            <a:noFill/>
          </a:ln>
        </p:spPr>
        <p:txBody>
          <a:bodyPr spcFirstLastPara="1" wrap="square" lIns="91425" tIns="91425" rIns="91425" bIns="91425" anchor="t" anchorCtr="0">
            <a:noAutofit/>
          </a:bodyPr>
          <a:lstStyle/>
          <a:p>
            <a:pPr marL="412750" marR="0" lvl="0" indent="-285750" algn="just" rtl="0">
              <a:lnSpc>
                <a:spcPct val="114000"/>
              </a:lnSpc>
              <a:spcBef>
                <a:spcPts val="600"/>
              </a:spcBef>
              <a:spcAft>
                <a:spcPts val="0"/>
              </a:spcAft>
              <a:buClr>
                <a:srgbClr val="000000"/>
              </a:buClr>
              <a:buSzPts val="1400"/>
              <a:buFont typeface="Arial"/>
              <a:buChar char="•"/>
            </a:pPr>
            <a:r>
              <a:rPr lang="en-IN" sz="1600" b="0" i="0" u="none" strike="noStrike" cap="none" dirty="0">
                <a:solidFill>
                  <a:srgbClr val="000000"/>
                </a:solidFill>
                <a:latin typeface="Calibri"/>
                <a:ea typeface="Calibri"/>
                <a:cs typeface="Calibri"/>
                <a:sym typeface="Calibri"/>
              </a:rPr>
              <a:t>Positive ions are formed when atoms lose electrons. </a:t>
            </a:r>
          </a:p>
          <a:p>
            <a:pPr marL="412750" marR="0" lvl="0" indent="-285750" algn="just" rtl="0">
              <a:lnSpc>
                <a:spcPct val="114000"/>
              </a:lnSpc>
              <a:spcBef>
                <a:spcPts val="600"/>
              </a:spcBef>
              <a:spcAft>
                <a:spcPts val="0"/>
              </a:spcAft>
              <a:buClr>
                <a:srgbClr val="000000"/>
              </a:buClr>
              <a:buSzPts val="1400"/>
              <a:buFont typeface="Arial"/>
              <a:buChar char="•"/>
            </a:pPr>
            <a:r>
              <a:rPr lang="en-IN" sz="1600" b="0" i="0" u="none" strike="noStrike" cap="none" dirty="0">
                <a:solidFill>
                  <a:srgbClr val="000000"/>
                </a:solidFill>
                <a:latin typeface="Calibri"/>
                <a:ea typeface="Calibri"/>
                <a:cs typeface="Calibri"/>
                <a:sym typeface="Calibri"/>
              </a:rPr>
              <a:t>For s-block elements, electrons are lost from the outermost s-shell. </a:t>
            </a:r>
          </a:p>
          <a:p>
            <a:pPr marL="412750" marR="0" lvl="0" indent="-285750" algn="just" rtl="0">
              <a:lnSpc>
                <a:spcPct val="114000"/>
              </a:lnSpc>
              <a:spcBef>
                <a:spcPts val="600"/>
              </a:spcBef>
              <a:spcAft>
                <a:spcPts val="0"/>
              </a:spcAft>
              <a:buClr>
                <a:srgbClr val="000000"/>
              </a:buClr>
              <a:buSzPts val="1400"/>
              <a:buFont typeface="Arial"/>
              <a:buChar char="•"/>
            </a:pPr>
            <a:r>
              <a:rPr lang="en-IN" sz="1600" b="0" i="0" u="none" strike="noStrike" cap="none" dirty="0">
                <a:solidFill>
                  <a:srgbClr val="000000"/>
                </a:solidFill>
                <a:latin typeface="Calibri"/>
                <a:ea typeface="Calibri"/>
                <a:cs typeface="Calibri"/>
                <a:sym typeface="Calibri"/>
              </a:rPr>
              <a:t>For example: electron configuration of Calcium is 1s</a:t>
            </a:r>
            <a:r>
              <a:rPr lang="en-IN" sz="1600" b="0" i="0" u="none" strike="noStrike" cap="none" baseline="30000" dirty="0">
                <a:solidFill>
                  <a:srgbClr val="000000"/>
                </a:solidFill>
                <a:latin typeface="Calibri"/>
                <a:ea typeface="Calibri"/>
                <a:cs typeface="Calibri"/>
                <a:sym typeface="Calibri"/>
              </a:rPr>
              <a:t>2</a:t>
            </a:r>
            <a:r>
              <a:rPr lang="en-IN" sz="1600" b="0" i="0" u="none" strike="noStrike" cap="none" dirty="0">
                <a:solidFill>
                  <a:srgbClr val="000000"/>
                </a:solidFill>
                <a:latin typeface="Calibri"/>
                <a:ea typeface="Calibri"/>
                <a:cs typeface="Calibri"/>
                <a:sym typeface="Calibri"/>
              </a:rPr>
              <a:t>2s</a:t>
            </a:r>
            <a:r>
              <a:rPr lang="en-IN" sz="1600" b="0" i="0" u="none" strike="noStrike" cap="none" baseline="30000" dirty="0">
                <a:solidFill>
                  <a:srgbClr val="000000"/>
                </a:solidFill>
                <a:latin typeface="Calibri"/>
                <a:ea typeface="Calibri"/>
                <a:cs typeface="Calibri"/>
                <a:sym typeface="Calibri"/>
              </a:rPr>
              <a:t>2</a:t>
            </a:r>
            <a:r>
              <a:rPr lang="en-IN" sz="1600" b="0" i="0" u="none" strike="noStrike" cap="none" dirty="0">
                <a:solidFill>
                  <a:srgbClr val="000000"/>
                </a:solidFill>
                <a:latin typeface="Calibri"/>
                <a:ea typeface="Calibri"/>
                <a:cs typeface="Calibri"/>
                <a:sym typeface="Calibri"/>
              </a:rPr>
              <a:t>2p</a:t>
            </a:r>
            <a:r>
              <a:rPr lang="en-IN" sz="1600" b="0" i="0" u="none" strike="noStrike" cap="none" baseline="30000" dirty="0">
                <a:solidFill>
                  <a:srgbClr val="000000"/>
                </a:solidFill>
                <a:latin typeface="Calibri"/>
                <a:ea typeface="Calibri"/>
                <a:cs typeface="Calibri"/>
                <a:sym typeface="Calibri"/>
              </a:rPr>
              <a:t>6</a:t>
            </a:r>
            <a:r>
              <a:rPr lang="en-IN" sz="1600" b="0" i="0" u="none" strike="noStrike" cap="none" dirty="0">
                <a:solidFill>
                  <a:srgbClr val="000000"/>
                </a:solidFill>
                <a:latin typeface="Calibri"/>
                <a:ea typeface="Calibri"/>
                <a:cs typeface="Calibri"/>
                <a:sym typeface="Calibri"/>
              </a:rPr>
              <a:t>3s</a:t>
            </a:r>
            <a:r>
              <a:rPr lang="en-IN" sz="1600" b="0" i="0" u="none" strike="noStrike" cap="none" baseline="30000" dirty="0">
                <a:solidFill>
                  <a:srgbClr val="000000"/>
                </a:solidFill>
                <a:latin typeface="Calibri"/>
                <a:ea typeface="Calibri"/>
                <a:cs typeface="Calibri"/>
                <a:sym typeface="Calibri"/>
              </a:rPr>
              <a:t>2</a:t>
            </a:r>
            <a:r>
              <a:rPr lang="en-IN" sz="1600" b="0" i="0" u="none" strike="noStrike" cap="none" dirty="0">
                <a:solidFill>
                  <a:srgbClr val="000000"/>
                </a:solidFill>
                <a:latin typeface="Calibri"/>
                <a:ea typeface="Calibri"/>
                <a:cs typeface="Calibri"/>
                <a:sym typeface="Calibri"/>
              </a:rPr>
              <a:t>3p</a:t>
            </a:r>
            <a:r>
              <a:rPr lang="en-IN" sz="1600" b="0" i="0" u="none" strike="noStrike" cap="none" baseline="30000" dirty="0">
                <a:solidFill>
                  <a:srgbClr val="000000"/>
                </a:solidFill>
                <a:latin typeface="Calibri"/>
                <a:ea typeface="Calibri"/>
                <a:cs typeface="Calibri"/>
                <a:sym typeface="Calibri"/>
              </a:rPr>
              <a:t>6</a:t>
            </a:r>
            <a:r>
              <a:rPr lang="en-IN" sz="1600" b="0" i="0" u="none" strike="noStrike" cap="none" dirty="0">
                <a:solidFill>
                  <a:srgbClr val="000000"/>
                </a:solidFill>
                <a:latin typeface="Calibri"/>
                <a:ea typeface="Calibri"/>
                <a:cs typeface="Calibri"/>
                <a:sym typeface="Calibri"/>
              </a:rPr>
              <a:t>4s</a:t>
            </a:r>
            <a:r>
              <a:rPr lang="en-IN" sz="1600" b="0" i="0" u="none" strike="noStrike" cap="none" baseline="30000" dirty="0">
                <a:solidFill>
                  <a:srgbClr val="000000"/>
                </a:solidFill>
                <a:latin typeface="Calibri"/>
                <a:ea typeface="Calibri"/>
                <a:cs typeface="Calibri"/>
                <a:sym typeface="Calibri"/>
              </a:rPr>
              <a:t>2</a:t>
            </a:r>
            <a:r>
              <a:rPr lang="en-IN" sz="1600" b="0" i="0" u="none" strike="noStrike" cap="none" dirty="0">
                <a:solidFill>
                  <a:srgbClr val="000000"/>
                </a:solidFill>
                <a:latin typeface="Calibri"/>
                <a:ea typeface="Calibri"/>
                <a:cs typeface="Calibri"/>
                <a:sym typeface="Calibri"/>
              </a:rPr>
              <a:t>. </a:t>
            </a:r>
          </a:p>
          <a:p>
            <a:pPr marL="412750" marR="0" lvl="0" indent="-285750" algn="just" rtl="0">
              <a:lnSpc>
                <a:spcPct val="114000"/>
              </a:lnSpc>
              <a:spcBef>
                <a:spcPts val="600"/>
              </a:spcBef>
              <a:spcAft>
                <a:spcPts val="0"/>
              </a:spcAft>
              <a:buClr>
                <a:srgbClr val="000000"/>
              </a:buClr>
              <a:buSzPts val="1400"/>
              <a:buFont typeface="Arial"/>
              <a:buChar char="•"/>
            </a:pPr>
            <a:r>
              <a:rPr lang="en-IN" sz="1600" b="0" i="0" u="none" strike="noStrike" cap="none" dirty="0">
                <a:solidFill>
                  <a:srgbClr val="000000"/>
                </a:solidFill>
                <a:latin typeface="Calibri"/>
                <a:ea typeface="Calibri"/>
                <a:cs typeface="Calibri"/>
                <a:sym typeface="Calibri"/>
              </a:rPr>
              <a:t>Calcium loses two electrons and forms Ca</a:t>
            </a:r>
            <a:r>
              <a:rPr lang="en-IN" sz="1600" b="0" i="0" u="none" strike="noStrike" cap="none" baseline="30000" dirty="0">
                <a:solidFill>
                  <a:srgbClr val="000000"/>
                </a:solidFill>
                <a:latin typeface="Calibri"/>
                <a:ea typeface="Calibri"/>
                <a:cs typeface="Calibri"/>
                <a:sym typeface="Calibri"/>
              </a:rPr>
              <a:t>2+</a:t>
            </a:r>
            <a:r>
              <a:rPr lang="en-IN" sz="1600" b="0" i="0" u="none" strike="noStrike" cap="none" dirty="0">
                <a:solidFill>
                  <a:srgbClr val="000000"/>
                </a:solidFill>
                <a:latin typeface="Calibri"/>
                <a:ea typeface="Calibri"/>
                <a:cs typeface="Calibri"/>
                <a:sym typeface="Calibri"/>
              </a:rPr>
              <a:t>.</a:t>
            </a:r>
            <a:endParaRPr sz="1600" b="0" i="0" u="none" strike="noStrike" cap="none" dirty="0">
              <a:solidFill>
                <a:srgbClr val="000000"/>
              </a:solidFill>
              <a:latin typeface="Calibri"/>
              <a:ea typeface="Calibri"/>
              <a:cs typeface="Calibri"/>
              <a:sym typeface="Calibri"/>
            </a:endParaRPr>
          </a:p>
          <a:p>
            <a:pPr marL="127000" marR="0" lvl="0" indent="0" algn="ctr" rtl="0">
              <a:lnSpc>
                <a:spcPct val="114000"/>
              </a:lnSpc>
              <a:spcBef>
                <a:spcPts val="600"/>
              </a:spcBef>
              <a:spcAft>
                <a:spcPts val="0"/>
              </a:spcAft>
              <a:buClr>
                <a:srgbClr val="000000"/>
              </a:buClr>
              <a:buSzPts val="1400"/>
              <a:buFont typeface="Arial"/>
              <a:buNone/>
            </a:pPr>
            <a:r>
              <a:rPr lang="en-IN" sz="1600" b="0" i="0" u="none" strike="noStrike" cap="none" dirty="0">
                <a:solidFill>
                  <a:srgbClr val="000000"/>
                </a:solidFill>
                <a:latin typeface="Calibri"/>
                <a:ea typeface="Calibri"/>
                <a:cs typeface="Calibri"/>
                <a:sym typeface="Calibri"/>
              </a:rPr>
              <a:t>Electron configuration of Ca</a:t>
            </a:r>
            <a:r>
              <a:rPr lang="en-IN" sz="1600" b="0" i="0" u="none" strike="noStrike" cap="none" baseline="30000" dirty="0">
                <a:solidFill>
                  <a:srgbClr val="000000"/>
                </a:solidFill>
                <a:latin typeface="Calibri"/>
                <a:ea typeface="Calibri"/>
                <a:cs typeface="Calibri"/>
                <a:sym typeface="Calibri"/>
              </a:rPr>
              <a:t>2+</a:t>
            </a:r>
            <a:r>
              <a:rPr lang="en-IN" sz="1600" b="0" i="0" u="none" strike="noStrike" cap="none" dirty="0">
                <a:solidFill>
                  <a:srgbClr val="000000"/>
                </a:solidFill>
                <a:latin typeface="Calibri"/>
                <a:ea typeface="Calibri"/>
                <a:cs typeface="Calibri"/>
                <a:sym typeface="Calibri"/>
              </a:rPr>
              <a:t>=1s</a:t>
            </a:r>
            <a:r>
              <a:rPr lang="en-IN" sz="1600" b="0" i="0" u="none" strike="noStrike" cap="none" baseline="30000" dirty="0">
                <a:solidFill>
                  <a:srgbClr val="000000"/>
                </a:solidFill>
                <a:latin typeface="Calibri"/>
                <a:ea typeface="Calibri"/>
                <a:cs typeface="Calibri"/>
                <a:sym typeface="Calibri"/>
              </a:rPr>
              <a:t>2</a:t>
            </a:r>
            <a:r>
              <a:rPr lang="en-IN" sz="1600" b="0" i="0" u="none" strike="noStrike" cap="none" dirty="0">
                <a:solidFill>
                  <a:srgbClr val="000000"/>
                </a:solidFill>
                <a:latin typeface="Calibri"/>
                <a:ea typeface="Calibri"/>
                <a:cs typeface="Calibri"/>
                <a:sym typeface="Calibri"/>
              </a:rPr>
              <a:t>2s</a:t>
            </a:r>
            <a:r>
              <a:rPr lang="en-IN" sz="1600" b="0" i="0" u="none" strike="noStrike" cap="none" baseline="30000" dirty="0">
                <a:solidFill>
                  <a:srgbClr val="000000"/>
                </a:solidFill>
                <a:latin typeface="Calibri"/>
                <a:ea typeface="Calibri"/>
                <a:cs typeface="Calibri"/>
                <a:sym typeface="Calibri"/>
              </a:rPr>
              <a:t>2</a:t>
            </a:r>
            <a:r>
              <a:rPr lang="en-IN" sz="1600" b="0" i="0" u="none" strike="noStrike" cap="none" dirty="0">
                <a:solidFill>
                  <a:srgbClr val="000000"/>
                </a:solidFill>
                <a:latin typeface="Calibri"/>
                <a:ea typeface="Calibri"/>
                <a:cs typeface="Calibri"/>
                <a:sym typeface="Calibri"/>
              </a:rPr>
              <a:t>2p</a:t>
            </a:r>
            <a:r>
              <a:rPr lang="en-IN" sz="1600" b="0" i="0" u="none" strike="noStrike" cap="none" baseline="30000" dirty="0">
                <a:solidFill>
                  <a:srgbClr val="000000"/>
                </a:solidFill>
                <a:latin typeface="Calibri"/>
                <a:ea typeface="Calibri"/>
                <a:cs typeface="Calibri"/>
                <a:sym typeface="Calibri"/>
              </a:rPr>
              <a:t>6</a:t>
            </a:r>
            <a:r>
              <a:rPr lang="en-IN" sz="1600" b="0" i="0" u="none" strike="noStrike" cap="none" dirty="0">
                <a:solidFill>
                  <a:srgbClr val="000000"/>
                </a:solidFill>
                <a:latin typeface="Calibri"/>
                <a:ea typeface="Calibri"/>
                <a:cs typeface="Calibri"/>
                <a:sym typeface="Calibri"/>
              </a:rPr>
              <a:t>3s</a:t>
            </a:r>
            <a:r>
              <a:rPr lang="en-IN" sz="1600" b="0" i="0" u="none" strike="noStrike" cap="none" baseline="30000" dirty="0">
                <a:solidFill>
                  <a:srgbClr val="000000"/>
                </a:solidFill>
                <a:latin typeface="Calibri"/>
                <a:ea typeface="Calibri"/>
                <a:cs typeface="Calibri"/>
                <a:sym typeface="Calibri"/>
              </a:rPr>
              <a:t>2</a:t>
            </a:r>
            <a:r>
              <a:rPr lang="en-IN" sz="1600" b="0" i="0" u="none" strike="noStrike" cap="none" dirty="0">
                <a:solidFill>
                  <a:srgbClr val="000000"/>
                </a:solidFill>
                <a:latin typeface="Calibri"/>
                <a:ea typeface="Calibri"/>
                <a:cs typeface="Calibri"/>
                <a:sym typeface="Calibri"/>
              </a:rPr>
              <a:t>3p</a:t>
            </a:r>
            <a:r>
              <a:rPr lang="en-IN" sz="1600" b="0" i="0" u="none" strike="noStrike" cap="none" baseline="30000" dirty="0">
                <a:solidFill>
                  <a:srgbClr val="000000"/>
                </a:solidFill>
                <a:latin typeface="Calibri"/>
                <a:ea typeface="Calibri"/>
                <a:cs typeface="Calibri"/>
                <a:sym typeface="Calibri"/>
              </a:rPr>
              <a:t>6</a:t>
            </a:r>
            <a:endParaRPr sz="1600" b="0" i="0" u="none" strike="noStrike" cap="none" dirty="0">
              <a:solidFill>
                <a:srgbClr val="000000"/>
              </a:solidFill>
              <a:latin typeface="Calibri"/>
              <a:ea typeface="Calibri"/>
              <a:cs typeface="Calibri"/>
              <a:sym typeface="Calibri"/>
            </a:endParaRPr>
          </a:p>
          <a:p>
            <a:pPr marL="412750" marR="0" lvl="0" indent="-285750" algn="just" rtl="0">
              <a:lnSpc>
                <a:spcPct val="114000"/>
              </a:lnSpc>
              <a:spcBef>
                <a:spcPts val="600"/>
              </a:spcBef>
              <a:spcAft>
                <a:spcPts val="0"/>
              </a:spcAft>
              <a:buClr>
                <a:srgbClr val="000000"/>
              </a:buClr>
              <a:buSzPts val="1400"/>
              <a:buFont typeface="Arial" panose="020B0604020202020204" pitchFamily="34" charset="0"/>
              <a:buChar char="•"/>
            </a:pPr>
            <a:r>
              <a:rPr lang="en-IN" sz="1600" b="0" i="0" u="none" strike="noStrike" cap="none" dirty="0">
                <a:solidFill>
                  <a:srgbClr val="000000"/>
                </a:solidFill>
                <a:latin typeface="Calibri"/>
                <a:ea typeface="Calibri"/>
                <a:cs typeface="Calibri"/>
                <a:sym typeface="Calibri"/>
              </a:rPr>
              <a:t>The configuration of Ca</a:t>
            </a:r>
            <a:r>
              <a:rPr lang="en-IN" sz="1600" b="0" i="0" u="none" strike="noStrike" cap="none" baseline="30000" dirty="0">
                <a:solidFill>
                  <a:srgbClr val="000000"/>
                </a:solidFill>
                <a:latin typeface="Calibri"/>
                <a:ea typeface="Calibri"/>
                <a:cs typeface="Calibri"/>
                <a:sym typeface="Calibri"/>
              </a:rPr>
              <a:t>2+</a:t>
            </a:r>
            <a:r>
              <a:rPr lang="en-IN" sz="1600" b="0" i="0" u="none" strike="noStrike" cap="none" dirty="0">
                <a:solidFill>
                  <a:srgbClr val="000000"/>
                </a:solidFill>
                <a:latin typeface="Calibri"/>
                <a:ea typeface="Calibri"/>
                <a:cs typeface="Calibri"/>
                <a:sym typeface="Calibri"/>
              </a:rPr>
              <a:t> is similar to that of Argon (Atomic number =18) which is a noble gas.</a:t>
            </a:r>
            <a:endParaRPr sz="1600" b="0" i="0" u="none" strike="noStrike" cap="none" dirty="0">
              <a:solidFill>
                <a:srgbClr val="000000"/>
              </a:solidFill>
              <a:latin typeface="Calibri"/>
              <a:ea typeface="Calibri"/>
              <a:cs typeface="Calibri"/>
              <a:sym typeface="Calibri"/>
            </a:endParaRPr>
          </a:p>
          <a:p>
            <a:pPr marL="412750" marR="0" lvl="0" indent="-285750" algn="just" rtl="0">
              <a:lnSpc>
                <a:spcPct val="114000"/>
              </a:lnSpc>
              <a:spcBef>
                <a:spcPts val="600"/>
              </a:spcBef>
              <a:spcAft>
                <a:spcPts val="0"/>
              </a:spcAft>
              <a:buClr>
                <a:srgbClr val="000000"/>
              </a:buClr>
              <a:buSzPts val="1400"/>
              <a:buFont typeface="Arial"/>
              <a:buChar char="•"/>
            </a:pPr>
            <a:endParaRPr sz="1600" b="0" i="0" u="none" strike="noStrike" cap="none" dirty="0">
              <a:solidFill>
                <a:srgbClr val="000000"/>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47"/>
          <p:cNvSpPr txBox="1">
            <a:spLocks noGrp="1"/>
          </p:cNvSpPr>
          <p:nvPr>
            <p:ph type="title"/>
          </p:nvPr>
        </p:nvSpPr>
        <p:spPr>
          <a:xfrm>
            <a:off x="933025" y="592925"/>
            <a:ext cx="6305100" cy="76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IN">
                <a:latin typeface="Calibri"/>
                <a:ea typeface="Calibri"/>
                <a:cs typeface="Calibri"/>
                <a:sym typeface="Calibri"/>
              </a:rPr>
              <a:t>Electron Configuration of ions</a:t>
            </a:r>
            <a:endParaRPr/>
          </a:p>
        </p:txBody>
      </p:sp>
      <p:sp>
        <p:nvSpPr>
          <p:cNvPr id="311" name="Google Shape;311;p47"/>
          <p:cNvSpPr txBox="1"/>
          <p:nvPr/>
        </p:nvSpPr>
        <p:spPr>
          <a:xfrm>
            <a:off x="407322" y="2016427"/>
            <a:ext cx="8368377" cy="2872405"/>
          </a:xfrm>
          <a:prstGeom prst="rect">
            <a:avLst/>
          </a:prstGeom>
          <a:noFill/>
          <a:ln>
            <a:noFill/>
          </a:ln>
        </p:spPr>
        <p:txBody>
          <a:bodyPr spcFirstLastPara="1" wrap="square" lIns="91425" tIns="91425" rIns="91425" bIns="91425" anchor="t" anchorCtr="0">
            <a:noAutofit/>
          </a:bodyPr>
          <a:lstStyle/>
          <a:p>
            <a:pPr marL="412750" marR="0" lvl="0" indent="-285750" algn="just" rtl="0">
              <a:lnSpc>
                <a:spcPct val="114000"/>
              </a:lnSpc>
              <a:spcBef>
                <a:spcPts val="600"/>
              </a:spcBef>
              <a:spcAft>
                <a:spcPts val="0"/>
              </a:spcAft>
              <a:buClr>
                <a:srgbClr val="000000"/>
              </a:buClr>
              <a:buSzPts val="1400"/>
              <a:buFont typeface="Arial"/>
              <a:buChar char="•"/>
            </a:pPr>
            <a:r>
              <a:rPr lang="en-IN" sz="1600" b="0" i="0" u="none" strike="noStrike" cap="none" dirty="0">
                <a:solidFill>
                  <a:srgbClr val="000000"/>
                </a:solidFill>
                <a:latin typeface="Calibri"/>
                <a:ea typeface="Calibri"/>
                <a:cs typeface="Calibri"/>
                <a:sym typeface="Calibri"/>
              </a:rPr>
              <a:t>Negative ions are formed when atoms gain electrons. </a:t>
            </a:r>
          </a:p>
          <a:p>
            <a:pPr marL="412750" marR="0" lvl="0" indent="-285750" algn="just" rtl="0">
              <a:lnSpc>
                <a:spcPct val="114000"/>
              </a:lnSpc>
              <a:spcBef>
                <a:spcPts val="600"/>
              </a:spcBef>
              <a:spcAft>
                <a:spcPts val="0"/>
              </a:spcAft>
              <a:buClr>
                <a:srgbClr val="000000"/>
              </a:buClr>
              <a:buSzPts val="1400"/>
              <a:buFont typeface="Arial"/>
              <a:buChar char="•"/>
            </a:pPr>
            <a:r>
              <a:rPr lang="en-IN" sz="1600" b="0" i="0" u="none" strike="noStrike" cap="none" dirty="0">
                <a:solidFill>
                  <a:srgbClr val="000000"/>
                </a:solidFill>
                <a:latin typeface="Calibri"/>
                <a:ea typeface="Calibri"/>
                <a:cs typeface="Calibri"/>
                <a:sym typeface="Calibri"/>
              </a:rPr>
              <a:t>For example: electron configuration of oxygen is 1s</a:t>
            </a:r>
            <a:r>
              <a:rPr lang="en-IN" sz="1600" b="0" i="0" u="none" strike="noStrike" cap="none" baseline="30000" dirty="0">
                <a:solidFill>
                  <a:srgbClr val="000000"/>
                </a:solidFill>
                <a:latin typeface="Calibri"/>
                <a:ea typeface="Calibri"/>
                <a:cs typeface="Calibri"/>
                <a:sym typeface="Calibri"/>
              </a:rPr>
              <a:t>2</a:t>
            </a:r>
            <a:r>
              <a:rPr lang="en-IN" sz="1600" b="0" i="0" u="none" strike="noStrike" cap="none" dirty="0">
                <a:solidFill>
                  <a:srgbClr val="000000"/>
                </a:solidFill>
                <a:latin typeface="Calibri"/>
                <a:ea typeface="Calibri"/>
                <a:cs typeface="Calibri"/>
                <a:sym typeface="Calibri"/>
              </a:rPr>
              <a:t>2s</a:t>
            </a:r>
            <a:r>
              <a:rPr lang="en-IN" sz="1600" b="0" i="0" u="none" strike="noStrike" cap="none" baseline="30000" dirty="0">
                <a:solidFill>
                  <a:srgbClr val="000000"/>
                </a:solidFill>
                <a:latin typeface="Calibri"/>
                <a:ea typeface="Calibri"/>
                <a:cs typeface="Calibri"/>
                <a:sym typeface="Calibri"/>
              </a:rPr>
              <a:t>2</a:t>
            </a:r>
            <a:r>
              <a:rPr lang="en-IN" sz="1600" b="0" i="0" u="none" strike="noStrike" cap="none" dirty="0">
                <a:solidFill>
                  <a:srgbClr val="000000"/>
                </a:solidFill>
                <a:latin typeface="Calibri"/>
                <a:ea typeface="Calibri"/>
                <a:cs typeface="Calibri"/>
                <a:sym typeface="Calibri"/>
              </a:rPr>
              <a:t>2p</a:t>
            </a:r>
            <a:r>
              <a:rPr lang="en-IN" sz="1600" b="0" i="0" u="none" strike="noStrike" cap="none" baseline="30000" dirty="0">
                <a:solidFill>
                  <a:srgbClr val="000000"/>
                </a:solidFill>
                <a:latin typeface="Calibri"/>
                <a:ea typeface="Calibri"/>
                <a:cs typeface="Calibri"/>
                <a:sym typeface="Calibri"/>
              </a:rPr>
              <a:t>4</a:t>
            </a:r>
            <a:r>
              <a:rPr lang="en-IN" sz="1600" b="0" i="0" u="none" strike="noStrike" cap="none" dirty="0">
                <a:solidFill>
                  <a:srgbClr val="000000"/>
                </a:solidFill>
                <a:latin typeface="Calibri"/>
                <a:ea typeface="Calibri"/>
                <a:cs typeface="Calibri"/>
                <a:sym typeface="Calibri"/>
              </a:rPr>
              <a:t>. </a:t>
            </a:r>
          </a:p>
          <a:p>
            <a:pPr marL="412750" marR="0" lvl="0" indent="-285750" algn="just" rtl="0">
              <a:lnSpc>
                <a:spcPct val="114000"/>
              </a:lnSpc>
              <a:spcBef>
                <a:spcPts val="600"/>
              </a:spcBef>
              <a:spcAft>
                <a:spcPts val="0"/>
              </a:spcAft>
              <a:buClr>
                <a:srgbClr val="000000"/>
              </a:buClr>
              <a:buSzPts val="1400"/>
              <a:buFont typeface="Arial"/>
              <a:buChar char="•"/>
            </a:pPr>
            <a:r>
              <a:rPr lang="en-IN" sz="1600" b="0" i="0" u="none" strike="noStrike" cap="none" dirty="0">
                <a:solidFill>
                  <a:srgbClr val="000000"/>
                </a:solidFill>
                <a:latin typeface="Calibri"/>
                <a:ea typeface="Calibri"/>
                <a:cs typeface="Calibri"/>
                <a:sym typeface="Calibri"/>
              </a:rPr>
              <a:t>Oxygen gains two electrons and forms O</a:t>
            </a:r>
            <a:r>
              <a:rPr lang="en-IN" sz="1600" b="0" i="0" u="none" strike="noStrike" cap="none" baseline="30000" dirty="0">
                <a:solidFill>
                  <a:srgbClr val="000000"/>
                </a:solidFill>
                <a:latin typeface="Calibri"/>
                <a:ea typeface="Calibri"/>
                <a:cs typeface="Calibri"/>
                <a:sym typeface="Calibri"/>
              </a:rPr>
              <a:t>2-</a:t>
            </a:r>
            <a:r>
              <a:rPr lang="en-IN" sz="1600" b="0" i="0" u="none" strike="noStrike" cap="none" dirty="0">
                <a:solidFill>
                  <a:srgbClr val="000000"/>
                </a:solidFill>
                <a:latin typeface="Calibri"/>
                <a:ea typeface="Calibri"/>
                <a:cs typeface="Calibri"/>
                <a:sym typeface="Calibri"/>
              </a:rPr>
              <a:t>.</a:t>
            </a:r>
            <a:endParaRPr sz="1600" b="0" i="0" u="none" strike="noStrike" cap="none" dirty="0">
              <a:solidFill>
                <a:srgbClr val="000000"/>
              </a:solidFill>
              <a:latin typeface="Calibri"/>
              <a:ea typeface="Calibri"/>
              <a:cs typeface="Calibri"/>
              <a:sym typeface="Calibri"/>
            </a:endParaRPr>
          </a:p>
          <a:p>
            <a:pPr marL="127000" marR="0" lvl="0" indent="0" algn="ctr" rtl="0">
              <a:lnSpc>
                <a:spcPct val="114000"/>
              </a:lnSpc>
              <a:spcBef>
                <a:spcPts val="600"/>
              </a:spcBef>
              <a:spcAft>
                <a:spcPts val="0"/>
              </a:spcAft>
              <a:buClr>
                <a:srgbClr val="000000"/>
              </a:buClr>
              <a:buSzPts val="1400"/>
              <a:buFont typeface="Arial"/>
              <a:buNone/>
            </a:pPr>
            <a:r>
              <a:rPr lang="en-IN" sz="1600" b="0" i="0" u="none" strike="noStrike" cap="none" dirty="0">
                <a:solidFill>
                  <a:srgbClr val="000000"/>
                </a:solidFill>
                <a:latin typeface="Calibri"/>
                <a:ea typeface="Calibri"/>
                <a:cs typeface="Calibri"/>
                <a:sym typeface="Calibri"/>
              </a:rPr>
              <a:t>Electron configuration of O</a:t>
            </a:r>
            <a:r>
              <a:rPr lang="en-IN" sz="1600" b="0" i="0" u="none" strike="noStrike" cap="none" baseline="30000" dirty="0">
                <a:solidFill>
                  <a:srgbClr val="000000"/>
                </a:solidFill>
                <a:latin typeface="Calibri"/>
                <a:ea typeface="Calibri"/>
                <a:cs typeface="Calibri"/>
                <a:sym typeface="Calibri"/>
              </a:rPr>
              <a:t>2-</a:t>
            </a:r>
            <a:r>
              <a:rPr lang="en-IN" sz="1600" b="0" i="0" u="none" strike="noStrike" cap="none" dirty="0">
                <a:solidFill>
                  <a:srgbClr val="000000"/>
                </a:solidFill>
                <a:latin typeface="Calibri"/>
                <a:ea typeface="Calibri"/>
                <a:cs typeface="Calibri"/>
                <a:sym typeface="Calibri"/>
              </a:rPr>
              <a:t>=1s</a:t>
            </a:r>
            <a:r>
              <a:rPr lang="en-IN" sz="1600" b="0" i="0" u="none" strike="noStrike" cap="none" baseline="30000" dirty="0">
                <a:solidFill>
                  <a:srgbClr val="000000"/>
                </a:solidFill>
                <a:latin typeface="Calibri"/>
                <a:ea typeface="Calibri"/>
                <a:cs typeface="Calibri"/>
                <a:sym typeface="Calibri"/>
              </a:rPr>
              <a:t>2</a:t>
            </a:r>
            <a:r>
              <a:rPr lang="en-IN" sz="1600" b="0" i="0" u="none" strike="noStrike" cap="none" dirty="0">
                <a:solidFill>
                  <a:srgbClr val="000000"/>
                </a:solidFill>
                <a:latin typeface="Calibri"/>
                <a:ea typeface="Calibri"/>
                <a:cs typeface="Calibri"/>
                <a:sym typeface="Calibri"/>
              </a:rPr>
              <a:t>2s</a:t>
            </a:r>
            <a:r>
              <a:rPr lang="en-IN" sz="1600" b="0" i="0" u="none" strike="noStrike" cap="none" baseline="30000" dirty="0">
                <a:solidFill>
                  <a:srgbClr val="000000"/>
                </a:solidFill>
                <a:latin typeface="Calibri"/>
                <a:ea typeface="Calibri"/>
                <a:cs typeface="Calibri"/>
                <a:sym typeface="Calibri"/>
              </a:rPr>
              <a:t>2</a:t>
            </a:r>
            <a:r>
              <a:rPr lang="en-IN" sz="1600" b="0" i="0" u="none" strike="noStrike" cap="none" dirty="0">
                <a:solidFill>
                  <a:srgbClr val="000000"/>
                </a:solidFill>
                <a:latin typeface="Calibri"/>
                <a:ea typeface="Calibri"/>
                <a:cs typeface="Calibri"/>
                <a:sym typeface="Calibri"/>
              </a:rPr>
              <a:t>2p</a:t>
            </a:r>
            <a:r>
              <a:rPr lang="en-IN" sz="1600" b="0" i="0" u="none" strike="noStrike" cap="none" baseline="30000" dirty="0">
                <a:solidFill>
                  <a:srgbClr val="000000"/>
                </a:solidFill>
                <a:latin typeface="Calibri"/>
                <a:ea typeface="Calibri"/>
                <a:cs typeface="Calibri"/>
                <a:sym typeface="Calibri"/>
              </a:rPr>
              <a:t>6</a:t>
            </a:r>
            <a:endParaRPr sz="1600" b="0" i="0" u="none" strike="noStrike" cap="none" dirty="0">
              <a:solidFill>
                <a:srgbClr val="000000"/>
              </a:solidFill>
              <a:latin typeface="Calibri"/>
              <a:ea typeface="Calibri"/>
              <a:cs typeface="Calibri"/>
              <a:sym typeface="Calibri"/>
            </a:endParaRPr>
          </a:p>
          <a:p>
            <a:pPr marL="412750" marR="0" lvl="0" indent="-285750" algn="just" rtl="0">
              <a:lnSpc>
                <a:spcPct val="114000"/>
              </a:lnSpc>
              <a:spcBef>
                <a:spcPts val="600"/>
              </a:spcBef>
              <a:spcAft>
                <a:spcPts val="0"/>
              </a:spcAft>
              <a:buClr>
                <a:srgbClr val="000000"/>
              </a:buClr>
              <a:buSzPts val="1400"/>
              <a:buFont typeface="Arial" panose="020B0604020202020204" pitchFamily="34" charset="0"/>
              <a:buChar char="•"/>
            </a:pPr>
            <a:r>
              <a:rPr lang="en-IN" sz="1600" b="0" i="0" u="none" strike="noStrike" cap="none" dirty="0">
                <a:solidFill>
                  <a:srgbClr val="000000"/>
                </a:solidFill>
                <a:latin typeface="Calibri"/>
                <a:ea typeface="Calibri"/>
                <a:cs typeface="Calibri"/>
                <a:sym typeface="Calibri"/>
              </a:rPr>
              <a:t>The configuration of O</a:t>
            </a:r>
            <a:r>
              <a:rPr lang="en-IN" sz="1600" b="0" i="0" u="none" strike="noStrike" cap="none" baseline="30000" dirty="0">
                <a:solidFill>
                  <a:srgbClr val="000000"/>
                </a:solidFill>
                <a:latin typeface="Calibri"/>
                <a:ea typeface="Calibri"/>
                <a:cs typeface="Calibri"/>
                <a:sym typeface="Calibri"/>
              </a:rPr>
              <a:t>2-</a:t>
            </a:r>
            <a:r>
              <a:rPr lang="en-IN" sz="1600" b="0" i="0" u="none" strike="noStrike" cap="none" dirty="0">
                <a:solidFill>
                  <a:srgbClr val="000000"/>
                </a:solidFill>
                <a:latin typeface="Calibri"/>
                <a:ea typeface="Calibri"/>
                <a:cs typeface="Calibri"/>
                <a:sym typeface="Calibri"/>
              </a:rPr>
              <a:t> is similar to that of Neon (Atomic number =10) which is a noble gas.</a:t>
            </a:r>
            <a:endParaRPr sz="1600" b="0" i="0" u="none" strike="noStrike" cap="none"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9815914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285689"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rPr>
              <a:t>Periodic trends in electronic configurations</a:t>
            </a: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57200" lvl="0" indent="-342900">
              <a:buSzPts val="1800"/>
              <a:buChar char="●"/>
            </a:pPr>
            <a:r>
              <a:rPr lang="en-IN" dirty="0">
                <a:latin typeface="Calibri" panose="020F0502020204030204" pitchFamily="34" charset="0"/>
              </a:rPr>
              <a:t>The pattern in the electronic configuration of period 2 and period 3 elements: </a:t>
            </a:r>
          </a:p>
          <a:p>
            <a:pPr marL="0" lvl="0" indent="0" algn="l" rtl="0">
              <a:spcBef>
                <a:spcPts val="1000"/>
              </a:spcBef>
              <a:spcAft>
                <a:spcPts val="0"/>
              </a:spcAft>
              <a:buNone/>
            </a:pPr>
            <a:endParaRPr dirty="0">
              <a:latin typeface="Calibri" panose="020F0502020204030204" pitchFamily="34" charset="0"/>
            </a:endParaRPr>
          </a:p>
          <a:p>
            <a:pPr marL="0" lvl="0" indent="0" algn="l" rtl="0">
              <a:spcBef>
                <a:spcPts val="0"/>
              </a:spcBef>
              <a:spcAft>
                <a:spcPts val="0"/>
              </a:spcAft>
              <a:buNone/>
            </a:pPr>
            <a:endParaRPr dirty="0">
              <a:latin typeface="Calibri" panose="020F0502020204030204" pitchFamily="34" charset="0"/>
            </a:endParaRPr>
          </a:p>
          <a:p>
            <a:pPr marL="0" lvl="0" indent="0" algn="l" rtl="0">
              <a:spcBef>
                <a:spcPts val="0"/>
              </a:spcBef>
              <a:spcAft>
                <a:spcPts val="0"/>
              </a:spcAft>
              <a:buNone/>
            </a:pPr>
            <a:endParaRPr dirty="0">
              <a:latin typeface="Calibri" panose="020F0502020204030204" pitchFamily="34" charset="0"/>
            </a:endParaRPr>
          </a:p>
        </p:txBody>
      </p:sp>
      <p:graphicFrame>
        <p:nvGraphicFramePr>
          <p:cNvPr id="4" name="Table 3">
            <a:extLst>
              <a:ext uri="{FF2B5EF4-FFF2-40B4-BE49-F238E27FC236}">
                <a16:creationId xmlns:a16="http://schemas.microsoft.com/office/drawing/2014/main" id="{25D06B7F-CF1B-4ECC-8760-FA6BB3EE3ED7}"/>
              </a:ext>
            </a:extLst>
          </p:cNvPr>
          <p:cNvGraphicFramePr>
            <a:graphicFrameLocks noGrp="1"/>
          </p:cNvGraphicFramePr>
          <p:nvPr/>
        </p:nvGraphicFramePr>
        <p:xfrm>
          <a:off x="2143882" y="2526328"/>
          <a:ext cx="4863971" cy="2462469"/>
        </p:xfrm>
        <a:graphic>
          <a:graphicData uri="http://schemas.openxmlformats.org/drawingml/2006/table">
            <a:tbl>
              <a:tblPr firstRow="1" firstCol="1" bandRow="1"/>
              <a:tblGrid>
                <a:gridCol w="922149">
                  <a:extLst>
                    <a:ext uri="{9D8B030D-6E8A-4147-A177-3AD203B41FA5}">
                      <a16:colId xmlns:a16="http://schemas.microsoft.com/office/drawing/2014/main" val="3540050034"/>
                    </a:ext>
                  </a:extLst>
                </a:gridCol>
                <a:gridCol w="1452019">
                  <a:extLst>
                    <a:ext uri="{9D8B030D-6E8A-4147-A177-3AD203B41FA5}">
                      <a16:colId xmlns:a16="http://schemas.microsoft.com/office/drawing/2014/main" val="3806801599"/>
                    </a:ext>
                  </a:extLst>
                </a:gridCol>
                <a:gridCol w="1037784">
                  <a:extLst>
                    <a:ext uri="{9D8B030D-6E8A-4147-A177-3AD203B41FA5}">
                      <a16:colId xmlns:a16="http://schemas.microsoft.com/office/drawing/2014/main" val="558711872"/>
                    </a:ext>
                  </a:extLst>
                </a:gridCol>
                <a:gridCol w="1452019">
                  <a:extLst>
                    <a:ext uri="{9D8B030D-6E8A-4147-A177-3AD203B41FA5}">
                      <a16:colId xmlns:a16="http://schemas.microsoft.com/office/drawing/2014/main" val="1257940956"/>
                    </a:ext>
                  </a:extLst>
                </a:gridCol>
              </a:tblGrid>
              <a:tr h="0">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nSpc>
                          <a:spcPct val="107000"/>
                        </a:lnSpc>
                        <a:spcAft>
                          <a:spcPts val="0"/>
                        </a:spcAft>
                        <a:tabLst/>
                      </a:pPr>
                      <a:r>
                        <a:rPr lang="en-IN" sz="1400" b="0" i="0" u="none" strike="noStrike" cap="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sym typeface="Arial"/>
                        </a:rPr>
                        <a:t>Element</a:t>
                      </a:r>
                      <a:r>
                        <a:rPr lang="en-IN" sz="1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(Period 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nSpc>
                          <a:spcPct val="107000"/>
                        </a:lnSpc>
                        <a:spcAft>
                          <a:spcPts val="0"/>
                        </a:spcAft>
                      </a:pPr>
                      <a:r>
                        <a:rPr lang="en-IN" sz="1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Electronic configuration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nSpc>
                          <a:spcPct val="107000"/>
                        </a:lnSpc>
                        <a:spcAft>
                          <a:spcPts val="0"/>
                        </a:spcAft>
                      </a:pPr>
                      <a:r>
                        <a:rPr lang="en-IN" sz="1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Element (Period 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nSpc>
                          <a:spcPct val="107000"/>
                        </a:lnSpc>
                        <a:spcAft>
                          <a:spcPts val="0"/>
                        </a:spcAft>
                        <a:tabLst>
                          <a:tab pos="0" algn="l"/>
                        </a:tabLst>
                      </a:pPr>
                      <a:r>
                        <a:rPr lang="en-IN" sz="1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Electronic configuration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436558632"/>
                  </a:ext>
                </a:extLst>
              </a:tr>
              <a:tr h="252000">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nSpc>
                          <a:spcPct val="107000"/>
                        </a:lnSpc>
                        <a:spcAft>
                          <a:spcPts val="0"/>
                        </a:spcAft>
                      </a:pPr>
                      <a:r>
                        <a:rPr lang="en-IN" sz="1400" b="0" i="0" u="none" strike="noStrike" cap="none"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sym typeface="Arial"/>
                        </a:rPr>
                        <a:t>Li</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nSpc>
                          <a:spcPct val="107000"/>
                        </a:lnSpc>
                        <a:spcAft>
                          <a:spcPts val="0"/>
                        </a:spcAft>
                      </a:pPr>
                      <a:r>
                        <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[He]2s</a:t>
                      </a:r>
                      <a:r>
                        <a:rPr lang="en-IN" sz="1400" baseline="300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1</a:t>
                      </a:r>
                      <a:endPar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l" rtl="0">
                        <a:lnSpc>
                          <a:spcPct val="107000"/>
                        </a:lnSpc>
                        <a:spcBef>
                          <a:spcPts val="0"/>
                        </a:spcBef>
                        <a:spcAft>
                          <a:spcPts val="0"/>
                        </a:spcAft>
                        <a:buClr>
                          <a:srgbClr val="000000"/>
                        </a:buClr>
                        <a:buFont typeface="Arial"/>
                        <a:tabLst/>
                      </a:pPr>
                      <a:r>
                        <a:rPr lang="en-IN" sz="1400" b="0" i="0" u="none" strike="noStrike" cap="none"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sym typeface="Arial"/>
                        </a:rPr>
                        <a:t>Na</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nSpc>
                          <a:spcPct val="107000"/>
                        </a:lnSpc>
                        <a:spcAft>
                          <a:spcPts val="0"/>
                        </a:spcAft>
                      </a:pPr>
                      <a:r>
                        <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[Ne]3s</a:t>
                      </a:r>
                      <a:r>
                        <a:rPr lang="en-IN" sz="1400" baseline="300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1</a:t>
                      </a:r>
                      <a:endPar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9671062"/>
                  </a:ext>
                </a:extLst>
              </a:tr>
              <a:tr h="252000">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l" rtl="0">
                        <a:lnSpc>
                          <a:spcPct val="107000"/>
                        </a:lnSpc>
                        <a:spcBef>
                          <a:spcPts val="0"/>
                        </a:spcBef>
                        <a:spcAft>
                          <a:spcPts val="0"/>
                        </a:spcAft>
                        <a:buClr>
                          <a:srgbClr val="000000"/>
                        </a:buClr>
                        <a:buFont typeface="Arial"/>
                        <a:tabLst/>
                      </a:pPr>
                      <a:r>
                        <a:rPr lang="en-IN" sz="1400" b="0" i="0" u="none" strike="noStrike" cap="none"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sym typeface="Arial"/>
                        </a:rPr>
                        <a:t>Be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nSpc>
                          <a:spcPct val="107000"/>
                        </a:lnSpc>
                        <a:spcAft>
                          <a:spcPts val="0"/>
                        </a:spcAft>
                      </a:pPr>
                      <a:r>
                        <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[He]2s</a:t>
                      </a:r>
                      <a:r>
                        <a:rPr lang="en-IN" sz="1400" baseline="300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2</a:t>
                      </a:r>
                      <a:endPar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l" rtl="0">
                        <a:lnSpc>
                          <a:spcPct val="107000"/>
                        </a:lnSpc>
                        <a:spcBef>
                          <a:spcPts val="0"/>
                        </a:spcBef>
                        <a:spcAft>
                          <a:spcPts val="0"/>
                        </a:spcAft>
                        <a:buClr>
                          <a:srgbClr val="000000"/>
                        </a:buClr>
                        <a:buFont typeface="Arial"/>
                        <a:tabLst/>
                      </a:pPr>
                      <a:r>
                        <a:rPr lang="en-IN" sz="1400" b="0" i="0" u="none" strike="noStrike" cap="none"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sym typeface="Arial"/>
                        </a:rPr>
                        <a:t>Mg</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nSpc>
                          <a:spcPct val="107000"/>
                        </a:lnSpc>
                        <a:spcAft>
                          <a:spcPts val="0"/>
                        </a:spcAft>
                      </a:pPr>
                      <a:r>
                        <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[Ne]3s</a:t>
                      </a:r>
                      <a:r>
                        <a:rPr lang="en-IN" sz="1400" baseline="300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2</a:t>
                      </a:r>
                      <a:endPar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6179419"/>
                  </a:ext>
                </a:extLst>
              </a:tr>
              <a:tr h="252000">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l" rtl="0">
                        <a:lnSpc>
                          <a:spcPct val="107000"/>
                        </a:lnSpc>
                        <a:spcBef>
                          <a:spcPts val="0"/>
                        </a:spcBef>
                        <a:spcAft>
                          <a:spcPts val="0"/>
                        </a:spcAft>
                        <a:buClr>
                          <a:srgbClr val="000000"/>
                        </a:buClr>
                        <a:buFont typeface="Arial"/>
                        <a:tabLst/>
                      </a:pPr>
                      <a:r>
                        <a:rPr lang="en-IN" sz="1400" b="0" i="0" u="none" strike="noStrike" cap="none"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sym typeface="Arial"/>
                        </a:rPr>
                        <a:t>B</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nSpc>
                          <a:spcPct val="107000"/>
                        </a:lnSpc>
                        <a:spcAft>
                          <a:spcPts val="0"/>
                        </a:spcAft>
                      </a:pPr>
                      <a:r>
                        <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[He]2s</a:t>
                      </a:r>
                      <a:r>
                        <a:rPr lang="en-IN" sz="1400" baseline="300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2</a:t>
                      </a:r>
                      <a:r>
                        <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2p</a:t>
                      </a:r>
                      <a:r>
                        <a:rPr lang="en-IN" sz="1400" baseline="300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1</a:t>
                      </a:r>
                      <a:endPar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l" rtl="0">
                        <a:lnSpc>
                          <a:spcPct val="107000"/>
                        </a:lnSpc>
                        <a:spcBef>
                          <a:spcPts val="0"/>
                        </a:spcBef>
                        <a:spcAft>
                          <a:spcPts val="0"/>
                        </a:spcAft>
                        <a:buClr>
                          <a:srgbClr val="000000"/>
                        </a:buClr>
                        <a:buFont typeface="Arial"/>
                        <a:tabLst/>
                      </a:pPr>
                      <a:r>
                        <a:rPr lang="en-IN" sz="1400" b="0" i="0" u="none" strike="noStrike" cap="none"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sym typeface="Arial"/>
                        </a:rPr>
                        <a:t>Al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nSpc>
                          <a:spcPct val="107000"/>
                        </a:lnSpc>
                        <a:spcAft>
                          <a:spcPts val="0"/>
                        </a:spcAft>
                      </a:pPr>
                      <a:r>
                        <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[Ne]3s</a:t>
                      </a:r>
                      <a:r>
                        <a:rPr lang="en-IN" sz="1400" baseline="300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2</a:t>
                      </a:r>
                      <a:r>
                        <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3p</a:t>
                      </a:r>
                      <a:r>
                        <a:rPr lang="en-IN" sz="1400" baseline="300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1</a:t>
                      </a:r>
                      <a:endPar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0853648"/>
                  </a:ext>
                </a:extLst>
              </a:tr>
              <a:tr h="252000">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l" rtl="0">
                        <a:lnSpc>
                          <a:spcPct val="107000"/>
                        </a:lnSpc>
                        <a:spcBef>
                          <a:spcPts val="0"/>
                        </a:spcBef>
                        <a:spcAft>
                          <a:spcPts val="0"/>
                        </a:spcAft>
                        <a:buClr>
                          <a:srgbClr val="000000"/>
                        </a:buClr>
                        <a:buFont typeface="Arial"/>
                        <a:tabLst/>
                      </a:pPr>
                      <a:r>
                        <a:rPr lang="en-IN" sz="1400" b="0" i="0" u="none" strike="noStrike" cap="none"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sym typeface="Arial"/>
                        </a:rPr>
                        <a:t>C</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nSpc>
                          <a:spcPct val="107000"/>
                        </a:lnSpc>
                        <a:spcAft>
                          <a:spcPts val="0"/>
                        </a:spcAft>
                      </a:pPr>
                      <a:r>
                        <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[He]2s</a:t>
                      </a:r>
                      <a:r>
                        <a:rPr lang="en-IN" sz="1400" baseline="300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2</a:t>
                      </a:r>
                      <a:r>
                        <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2p</a:t>
                      </a:r>
                      <a:r>
                        <a:rPr lang="en-IN" sz="1400" baseline="300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2</a:t>
                      </a:r>
                      <a:endPar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l" rtl="0">
                        <a:lnSpc>
                          <a:spcPct val="107000"/>
                        </a:lnSpc>
                        <a:spcBef>
                          <a:spcPts val="0"/>
                        </a:spcBef>
                        <a:spcAft>
                          <a:spcPts val="0"/>
                        </a:spcAft>
                        <a:buClr>
                          <a:srgbClr val="000000"/>
                        </a:buClr>
                        <a:buFont typeface="Arial"/>
                        <a:tabLst/>
                      </a:pPr>
                      <a:r>
                        <a:rPr lang="en-IN" sz="1400" b="0" i="0" u="none" strike="noStrike" cap="none"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sym typeface="Arial"/>
                        </a:rPr>
                        <a:t>Si</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nSpc>
                          <a:spcPct val="107000"/>
                        </a:lnSpc>
                        <a:spcAft>
                          <a:spcPts val="0"/>
                        </a:spcAft>
                      </a:pPr>
                      <a:r>
                        <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[Ne]3s</a:t>
                      </a:r>
                      <a:r>
                        <a:rPr lang="en-IN" sz="1400" baseline="300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2</a:t>
                      </a:r>
                      <a:r>
                        <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3p</a:t>
                      </a:r>
                      <a:r>
                        <a:rPr lang="en-IN" sz="1400" baseline="300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2</a:t>
                      </a:r>
                      <a:endPar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048374"/>
                  </a:ext>
                </a:extLst>
              </a:tr>
              <a:tr h="252000">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l" rtl="0">
                        <a:lnSpc>
                          <a:spcPct val="107000"/>
                        </a:lnSpc>
                        <a:spcBef>
                          <a:spcPts val="0"/>
                        </a:spcBef>
                        <a:spcAft>
                          <a:spcPts val="0"/>
                        </a:spcAft>
                        <a:buClr>
                          <a:srgbClr val="000000"/>
                        </a:buClr>
                        <a:buFont typeface="Arial"/>
                        <a:tabLst/>
                      </a:pPr>
                      <a:r>
                        <a:rPr lang="en-IN" sz="1400" b="0" i="0" u="none" strike="noStrike" cap="none"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sym typeface="Arial"/>
                        </a:rPr>
                        <a:t>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nSpc>
                          <a:spcPct val="107000"/>
                        </a:lnSpc>
                        <a:spcAft>
                          <a:spcPts val="0"/>
                        </a:spcAft>
                      </a:pPr>
                      <a:r>
                        <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[He]2s</a:t>
                      </a:r>
                      <a:r>
                        <a:rPr lang="en-IN" sz="1400" baseline="300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2</a:t>
                      </a:r>
                      <a:r>
                        <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2p</a:t>
                      </a:r>
                      <a:r>
                        <a:rPr lang="en-IN" sz="1400" baseline="300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3</a:t>
                      </a:r>
                      <a:endPar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l" rtl="0">
                        <a:lnSpc>
                          <a:spcPct val="107000"/>
                        </a:lnSpc>
                        <a:spcBef>
                          <a:spcPts val="0"/>
                        </a:spcBef>
                        <a:spcAft>
                          <a:spcPts val="0"/>
                        </a:spcAft>
                        <a:buClr>
                          <a:srgbClr val="000000"/>
                        </a:buClr>
                        <a:buFont typeface="Arial"/>
                        <a:tabLst/>
                      </a:pPr>
                      <a:r>
                        <a:rPr lang="en-IN" sz="1400" b="0" i="0" u="none" strike="noStrike" cap="none"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sym typeface="Arial"/>
                        </a:rPr>
                        <a:t>P</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nSpc>
                          <a:spcPct val="107000"/>
                        </a:lnSpc>
                        <a:spcAft>
                          <a:spcPts val="0"/>
                        </a:spcAft>
                      </a:pPr>
                      <a:r>
                        <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[Ne]3s</a:t>
                      </a:r>
                      <a:r>
                        <a:rPr lang="en-IN" sz="1400" baseline="300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2</a:t>
                      </a:r>
                      <a:r>
                        <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3p</a:t>
                      </a:r>
                      <a:r>
                        <a:rPr lang="en-IN" sz="1400" baseline="300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3</a:t>
                      </a:r>
                      <a:endPar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3994140"/>
                  </a:ext>
                </a:extLst>
              </a:tr>
              <a:tr h="252000">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l" rtl="0">
                        <a:lnSpc>
                          <a:spcPct val="107000"/>
                        </a:lnSpc>
                        <a:spcBef>
                          <a:spcPts val="0"/>
                        </a:spcBef>
                        <a:spcAft>
                          <a:spcPts val="0"/>
                        </a:spcAft>
                        <a:buClr>
                          <a:srgbClr val="000000"/>
                        </a:buClr>
                        <a:buFont typeface="Arial"/>
                        <a:tabLst/>
                      </a:pPr>
                      <a:r>
                        <a:rPr lang="en-IN" sz="1400" b="0" i="0" u="none" strike="noStrike" cap="none"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sym typeface="Arial"/>
                        </a:rPr>
                        <a:t>O</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nSpc>
                          <a:spcPct val="107000"/>
                        </a:lnSpc>
                        <a:spcAft>
                          <a:spcPts val="0"/>
                        </a:spcAft>
                      </a:pPr>
                      <a:r>
                        <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[He]2s</a:t>
                      </a:r>
                      <a:r>
                        <a:rPr lang="en-IN" sz="1400" baseline="300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2</a:t>
                      </a:r>
                      <a:r>
                        <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2p</a:t>
                      </a:r>
                      <a:r>
                        <a:rPr lang="en-IN" sz="1400" baseline="300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4</a:t>
                      </a:r>
                      <a:endPar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l" rtl="0">
                        <a:lnSpc>
                          <a:spcPct val="107000"/>
                        </a:lnSpc>
                        <a:spcBef>
                          <a:spcPts val="0"/>
                        </a:spcBef>
                        <a:spcAft>
                          <a:spcPts val="0"/>
                        </a:spcAft>
                        <a:buClr>
                          <a:srgbClr val="000000"/>
                        </a:buClr>
                        <a:buFont typeface="Arial"/>
                        <a:tabLst/>
                      </a:pPr>
                      <a:r>
                        <a:rPr lang="en-IN" sz="1400" b="0" i="0" u="none" strike="noStrike" cap="none"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sym typeface="Arial"/>
                        </a:rPr>
                        <a:t>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nSpc>
                          <a:spcPct val="107000"/>
                        </a:lnSpc>
                        <a:spcAft>
                          <a:spcPts val="0"/>
                        </a:spcAft>
                      </a:pPr>
                      <a:r>
                        <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[Ne]3s</a:t>
                      </a:r>
                      <a:r>
                        <a:rPr lang="en-IN" sz="1400" baseline="300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2</a:t>
                      </a:r>
                      <a:r>
                        <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3p</a:t>
                      </a:r>
                      <a:r>
                        <a:rPr lang="en-IN" sz="1400" baseline="300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4</a:t>
                      </a:r>
                      <a:endPar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2285497"/>
                  </a:ext>
                </a:extLst>
              </a:tr>
              <a:tr h="252000">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l" rtl="0">
                        <a:lnSpc>
                          <a:spcPct val="107000"/>
                        </a:lnSpc>
                        <a:spcBef>
                          <a:spcPts val="0"/>
                        </a:spcBef>
                        <a:spcAft>
                          <a:spcPts val="0"/>
                        </a:spcAft>
                        <a:buClr>
                          <a:srgbClr val="000000"/>
                        </a:buClr>
                        <a:buFont typeface="Arial"/>
                        <a:tabLst/>
                      </a:pPr>
                      <a:r>
                        <a:rPr lang="en-IN" sz="1400" b="0" i="0" u="none" strike="noStrike" cap="none"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sym typeface="Arial"/>
                        </a:rPr>
                        <a:t>F</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nSpc>
                          <a:spcPct val="107000"/>
                        </a:lnSpc>
                        <a:spcAft>
                          <a:spcPts val="0"/>
                        </a:spcAft>
                      </a:pPr>
                      <a:r>
                        <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[He]2s</a:t>
                      </a:r>
                      <a:r>
                        <a:rPr lang="en-IN" sz="1400" baseline="300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2</a:t>
                      </a:r>
                      <a:r>
                        <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2p</a:t>
                      </a:r>
                      <a:r>
                        <a:rPr lang="en-IN" sz="1400" baseline="300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5</a:t>
                      </a:r>
                      <a:endPar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l" rtl="0">
                        <a:lnSpc>
                          <a:spcPct val="107000"/>
                        </a:lnSpc>
                        <a:spcBef>
                          <a:spcPts val="0"/>
                        </a:spcBef>
                        <a:spcAft>
                          <a:spcPts val="0"/>
                        </a:spcAft>
                        <a:buClr>
                          <a:srgbClr val="000000"/>
                        </a:buClr>
                        <a:buFont typeface="Arial"/>
                        <a:tabLst/>
                      </a:pPr>
                      <a:r>
                        <a:rPr lang="en-IN" sz="1400" b="0" i="0" u="none" strike="noStrike" cap="none"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sym typeface="Arial"/>
                        </a:rPr>
                        <a:t>Cl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nSpc>
                          <a:spcPct val="107000"/>
                        </a:lnSpc>
                        <a:spcAft>
                          <a:spcPts val="0"/>
                        </a:spcAft>
                      </a:pPr>
                      <a:r>
                        <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[Ne]3s</a:t>
                      </a:r>
                      <a:r>
                        <a:rPr lang="en-IN" sz="1400" baseline="300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2</a:t>
                      </a:r>
                      <a:r>
                        <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3p</a:t>
                      </a:r>
                      <a:r>
                        <a:rPr lang="en-IN" sz="1400" baseline="300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5</a:t>
                      </a:r>
                      <a:endPar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14665623"/>
                  </a:ext>
                </a:extLst>
              </a:tr>
              <a:tr h="252000">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l" rtl="0">
                        <a:lnSpc>
                          <a:spcPct val="107000"/>
                        </a:lnSpc>
                        <a:spcBef>
                          <a:spcPts val="0"/>
                        </a:spcBef>
                        <a:spcAft>
                          <a:spcPts val="0"/>
                        </a:spcAft>
                        <a:buClr>
                          <a:srgbClr val="000000"/>
                        </a:buClr>
                        <a:buFont typeface="Arial"/>
                        <a:tabLst/>
                      </a:pPr>
                      <a:r>
                        <a:rPr lang="en-IN" sz="1400" b="0" i="0" u="none" strike="noStrike" cap="none"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sym typeface="Arial"/>
                        </a:rPr>
                        <a:t>Ne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nSpc>
                          <a:spcPct val="107000"/>
                        </a:lnSpc>
                        <a:spcAft>
                          <a:spcPts val="0"/>
                        </a:spcAft>
                      </a:pPr>
                      <a:r>
                        <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[He]2s</a:t>
                      </a:r>
                      <a:r>
                        <a:rPr lang="en-IN" sz="1400" baseline="300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2</a:t>
                      </a:r>
                      <a:r>
                        <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2p</a:t>
                      </a:r>
                      <a:r>
                        <a:rPr lang="en-IN" sz="1400" baseline="300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6</a:t>
                      </a:r>
                      <a:endPar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l" rtl="0">
                        <a:lnSpc>
                          <a:spcPct val="107000"/>
                        </a:lnSpc>
                        <a:spcBef>
                          <a:spcPts val="0"/>
                        </a:spcBef>
                        <a:spcAft>
                          <a:spcPts val="0"/>
                        </a:spcAft>
                        <a:buClr>
                          <a:srgbClr val="000000"/>
                        </a:buClr>
                        <a:buFont typeface="Arial"/>
                        <a:tabLst/>
                      </a:pPr>
                      <a:r>
                        <a:rPr lang="en-IN" sz="1400" b="0" i="0" u="none" strike="noStrike" cap="none" dirty="0" err="1">
                          <a:solidFill>
                            <a:schemeClr val="bg2"/>
                          </a:solidFill>
                          <a:effectLst/>
                          <a:latin typeface="Calibri" panose="020F0502020204030204" pitchFamily="34" charset="0"/>
                          <a:ea typeface="Calibri" panose="020F0502020204030204" pitchFamily="34" charset="0"/>
                          <a:cs typeface="Times New Roman" panose="02020603050405020304" pitchFamily="18" charset="0"/>
                          <a:sym typeface="Arial"/>
                        </a:rPr>
                        <a:t>Ar</a:t>
                      </a:r>
                      <a:endParaRPr lang="en-IN" sz="1400" b="0" i="0" u="none" strike="noStrike" cap="none"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sym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nSpc>
                          <a:spcPct val="107000"/>
                        </a:lnSpc>
                        <a:spcAft>
                          <a:spcPts val="0"/>
                        </a:spcAft>
                      </a:pPr>
                      <a:r>
                        <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[Ne]3s</a:t>
                      </a:r>
                      <a:r>
                        <a:rPr lang="en-IN" sz="1400" baseline="300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2</a:t>
                      </a:r>
                      <a:r>
                        <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3p</a:t>
                      </a:r>
                      <a:r>
                        <a:rPr lang="en-IN" sz="1400" baseline="300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t>6</a:t>
                      </a:r>
                      <a:endParaRPr lang="en-IN"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6358049"/>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49"/>
          <p:cNvSpPr txBox="1">
            <a:spLocks noGrp="1"/>
          </p:cNvSpPr>
          <p:nvPr>
            <p:ph type="title"/>
          </p:nvPr>
        </p:nvSpPr>
        <p:spPr>
          <a:xfrm>
            <a:off x="933025" y="592925"/>
            <a:ext cx="8036804" cy="76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IN">
                <a:latin typeface="Calibri"/>
                <a:ea typeface="Calibri"/>
                <a:cs typeface="Calibri"/>
                <a:sym typeface="Calibri"/>
              </a:rPr>
              <a:t>Electronic configuration of transition elements</a:t>
            </a:r>
            <a:endParaRPr/>
          </a:p>
        </p:txBody>
      </p:sp>
      <p:sp>
        <p:nvSpPr>
          <p:cNvPr id="324" name="Google Shape;324;p49"/>
          <p:cNvSpPr txBox="1"/>
          <p:nvPr/>
        </p:nvSpPr>
        <p:spPr>
          <a:xfrm>
            <a:off x="702599" y="1994054"/>
            <a:ext cx="2731665" cy="24921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13000"/>
              </a:lnSpc>
              <a:spcBef>
                <a:spcPts val="0"/>
              </a:spcBef>
              <a:spcAft>
                <a:spcPts val="0"/>
              </a:spcAft>
              <a:buClr>
                <a:srgbClr val="000000"/>
              </a:buClr>
              <a:buSzPts val="1800"/>
              <a:buFont typeface="Arial" panose="020B0604020202020204" pitchFamily="34" charset="0"/>
              <a:buChar char="•"/>
            </a:pPr>
            <a:r>
              <a:rPr lang="en-US" sz="1600" b="0" i="0" u="none" strike="noStrike" cap="none" dirty="0">
                <a:solidFill>
                  <a:srgbClr val="080808"/>
                </a:solidFill>
                <a:latin typeface="Calibri"/>
                <a:ea typeface="Calibri"/>
                <a:cs typeface="Calibri"/>
                <a:sym typeface="Calibri"/>
              </a:rPr>
              <a:t>Transition element is a d-block element that forms one or more stable ions with an incomplete d sub-shell. </a:t>
            </a:r>
          </a:p>
          <a:p>
            <a:pPr marL="457200" marR="0" lvl="0" indent="-342900" algn="l" rtl="0">
              <a:lnSpc>
                <a:spcPct val="113000"/>
              </a:lnSpc>
              <a:spcBef>
                <a:spcPts val="0"/>
              </a:spcBef>
              <a:spcAft>
                <a:spcPts val="0"/>
              </a:spcAft>
              <a:buClr>
                <a:srgbClr val="000000"/>
              </a:buClr>
              <a:buSzPts val="1800"/>
              <a:buFont typeface="Arial" panose="020B0604020202020204" pitchFamily="34" charset="0"/>
              <a:buChar char="•"/>
            </a:pPr>
            <a:r>
              <a:rPr lang="en-US" sz="1600" b="0" i="0" u="none" strike="noStrike" cap="none" dirty="0">
                <a:solidFill>
                  <a:srgbClr val="080808"/>
                </a:solidFill>
                <a:latin typeface="Calibri"/>
                <a:ea typeface="Calibri"/>
                <a:cs typeface="Calibri"/>
                <a:sym typeface="Calibri"/>
              </a:rPr>
              <a:t>The electronic configuration of d block elements of period 4 is given in the table below.</a:t>
            </a:r>
          </a:p>
        </p:txBody>
      </p:sp>
      <p:graphicFrame>
        <p:nvGraphicFramePr>
          <p:cNvPr id="325" name="Google Shape;325;p49"/>
          <p:cNvGraphicFramePr/>
          <p:nvPr/>
        </p:nvGraphicFramePr>
        <p:xfrm>
          <a:off x="3566612" y="2395878"/>
          <a:ext cx="5007137" cy="1951350"/>
        </p:xfrm>
        <a:graphic>
          <a:graphicData uri="http://schemas.openxmlformats.org/drawingml/2006/table">
            <a:tbl>
              <a:tblPr>
                <a:noFill/>
              </a:tblPr>
              <a:tblGrid>
                <a:gridCol w="1251784">
                  <a:extLst>
                    <a:ext uri="{9D8B030D-6E8A-4147-A177-3AD203B41FA5}">
                      <a16:colId xmlns:a16="http://schemas.microsoft.com/office/drawing/2014/main" val="20000"/>
                    </a:ext>
                  </a:extLst>
                </a:gridCol>
                <a:gridCol w="772605">
                  <a:extLst>
                    <a:ext uri="{9D8B030D-6E8A-4147-A177-3AD203B41FA5}">
                      <a16:colId xmlns:a16="http://schemas.microsoft.com/office/drawing/2014/main" val="20001"/>
                    </a:ext>
                  </a:extLst>
                </a:gridCol>
                <a:gridCol w="1346453">
                  <a:extLst>
                    <a:ext uri="{9D8B030D-6E8A-4147-A177-3AD203B41FA5}">
                      <a16:colId xmlns:a16="http://schemas.microsoft.com/office/drawing/2014/main" val="20002"/>
                    </a:ext>
                  </a:extLst>
                </a:gridCol>
                <a:gridCol w="1636295">
                  <a:extLst>
                    <a:ext uri="{9D8B030D-6E8A-4147-A177-3AD203B41FA5}">
                      <a16:colId xmlns:a16="http://schemas.microsoft.com/office/drawing/2014/main" val="20003"/>
                    </a:ext>
                  </a:extLst>
                </a:gridCol>
              </a:tblGrid>
              <a:tr h="561850">
                <a:tc>
                  <a:txBody>
                    <a:bodyPr/>
                    <a:lstStyle/>
                    <a:p>
                      <a:pPr marL="0" marR="0" lvl="0" indent="0" algn="ctr" rtl="0">
                        <a:lnSpc>
                          <a:spcPct val="115000"/>
                        </a:lnSpc>
                        <a:spcBef>
                          <a:spcPts val="0"/>
                        </a:spcBef>
                        <a:spcAft>
                          <a:spcPts val="0"/>
                        </a:spcAft>
                        <a:buNone/>
                      </a:pPr>
                      <a:r>
                        <a:rPr lang="en-IN" sz="1400" b="0" u="none" strike="noStrike" cap="none">
                          <a:solidFill>
                            <a:schemeClr val="lt1"/>
                          </a:solidFill>
                          <a:latin typeface="Calibri"/>
                          <a:ea typeface="Calibri"/>
                          <a:cs typeface="Calibri"/>
                          <a:sym typeface="Calibri"/>
                        </a:rPr>
                        <a:t>Element</a:t>
                      </a:r>
                      <a:endParaRPr sz="1400" b="0" u="none" strike="noStrike" cap="none">
                        <a:solidFill>
                          <a:schemeClr val="lt1"/>
                        </a:solidFill>
                        <a:latin typeface="Calibri"/>
                        <a:ea typeface="Calibri"/>
                        <a:cs typeface="Calibri"/>
                        <a:sym typeface="Calibri"/>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0B050"/>
                    </a:solidFill>
                  </a:tcPr>
                </a:tc>
                <a:tc>
                  <a:txBody>
                    <a:bodyPr/>
                    <a:lstStyle/>
                    <a:p>
                      <a:pPr marL="0" marR="0" lvl="0" indent="0" algn="ctr" rtl="0">
                        <a:lnSpc>
                          <a:spcPct val="115000"/>
                        </a:lnSpc>
                        <a:spcBef>
                          <a:spcPts val="0"/>
                        </a:spcBef>
                        <a:spcAft>
                          <a:spcPts val="0"/>
                        </a:spcAft>
                        <a:buNone/>
                      </a:pPr>
                      <a:r>
                        <a:rPr lang="en-IN" sz="1400" b="0" u="none" strike="noStrike" cap="none" dirty="0">
                          <a:solidFill>
                            <a:schemeClr val="lt1"/>
                          </a:solidFill>
                          <a:latin typeface="Calibri"/>
                          <a:ea typeface="Calibri"/>
                          <a:cs typeface="Calibri"/>
                          <a:sym typeface="Calibri"/>
                        </a:rPr>
                        <a:t>Atomic number</a:t>
                      </a:r>
                      <a:endParaRPr sz="1400" b="0" u="none" strike="noStrike" cap="none" dirty="0">
                        <a:solidFill>
                          <a:schemeClr val="lt1"/>
                        </a:solidFill>
                        <a:latin typeface="Calibri"/>
                        <a:ea typeface="Calibri"/>
                        <a:cs typeface="Calibri"/>
                        <a:sym typeface="Calibri"/>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0B050"/>
                    </a:solidFill>
                  </a:tcPr>
                </a:tc>
                <a:tc>
                  <a:txBody>
                    <a:bodyPr/>
                    <a:lstStyle/>
                    <a:p>
                      <a:pPr marL="0" marR="0" lvl="0" indent="0" algn="ctr" rtl="0">
                        <a:lnSpc>
                          <a:spcPct val="115000"/>
                        </a:lnSpc>
                        <a:spcBef>
                          <a:spcPts val="0"/>
                        </a:spcBef>
                        <a:spcAft>
                          <a:spcPts val="0"/>
                        </a:spcAft>
                        <a:buNone/>
                      </a:pPr>
                      <a:r>
                        <a:rPr lang="en-IN" sz="1400" b="0" u="none" strike="noStrike" cap="none">
                          <a:solidFill>
                            <a:schemeClr val="lt1"/>
                          </a:solidFill>
                          <a:latin typeface="Calibri"/>
                          <a:ea typeface="Calibri"/>
                          <a:cs typeface="Calibri"/>
                          <a:sym typeface="Calibri"/>
                        </a:rPr>
                        <a:t>Electronic configuration</a:t>
                      </a:r>
                      <a:endParaRPr sz="1400" b="0" u="none" strike="noStrike" cap="none">
                        <a:solidFill>
                          <a:schemeClr val="lt1"/>
                        </a:solidFill>
                        <a:latin typeface="Calibri"/>
                        <a:ea typeface="Calibri"/>
                        <a:cs typeface="Calibri"/>
                        <a:sym typeface="Calibri"/>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0B050"/>
                    </a:solidFill>
                  </a:tcPr>
                </a:tc>
                <a:tc>
                  <a:txBody>
                    <a:bodyPr/>
                    <a:lstStyle/>
                    <a:p>
                      <a:pPr marL="0" marR="0" lvl="0" indent="0" algn="ctr" rtl="0">
                        <a:lnSpc>
                          <a:spcPct val="115000"/>
                        </a:lnSpc>
                        <a:spcBef>
                          <a:spcPts val="0"/>
                        </a:spcBef>
                        <a:spcAft>
                          <a:spcPts val="0"/>
                        </a:spcAft>
                        <a:buNone/>
                      </a:pPr>
                      <a:r>
                        <a:rPr lang="en-IN" sz="1400" b="0" u="none" strike="noStrike" cap="none">
                          <a:solidFill>
                            <a:schemeClr val="lt1"/>
                          </a:solidFill>
                          <a:latin typeface="Calibri"/>
                          <a:ea typeface="Calibri"/>
                          <a:cs typeface="Calibri"/>
                          <a:sym typeface="Calibri"/>
                        </a:rPr>
                        <a:t>Ions</a:t>
                      </a:r>
                      <a:endParaRPr sz="1400" b="0" u="none" strike="noStrike" cap="none">
                        <a:solidFill>
                          <a:schemeClr val="lt1"/>
                        </a:solidFill>
                        <a:latin typeface="Calibri"/>
                        <a:ea typeface="Calibri"/>
                        <a:cs typeface="Calibri"/>
                        <a:sym typeface="Calibri"/>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0B050"/>
                    </a:solidFill>
                  </a:tcPr>
                </a:tc>
                <a:extLst>
                  <a:ext uri="{0D108BD9-81ED-4DB2-BD59-A6C34878D82A}">
                    <a16:rowId xmlns:a16="http://schemas.microsoft.com/office/drawing/2014/main" val="10000"/>
                  </a:ext>
                </a:extLst>
              </a:tr>
              <a:tr h="347375">
                <a:tc>
                  <a:txBody>
                    <a:bodyPr/>
                    <a:lstStyle/>
                    <a:p>
                      <a:pPr marL="0" marR="0" lvl="0" indent="0" algn="l" rtl="0">
                        <a:lnSpc>
                          <a:spcPct val="115000"/>
                        </a:lnSpc>
                        <a:spcBef>
                          <a:spcPts val="0"/>
                        </a:spcBef>
                        <a:spcAft>
                          <a:spcPts val="0"/>
                        </a:spcAft>
                        <a:buNone/>
                      </a:pPr>
                      <a:r>
                        <a:rPr lang="en-IN" sz="1400" b="0" i="0" u="none" strike="noStrike" cap="none">
                          <a:solidFill>
                            <a:srgbClr val="080808"/>
                          </a:solidFill>
                          <a:latin typeface="Calibri"/>
                          <a:ea typeface="Calibri"/>
                          <a:cs typeface="Calibri"/>
                          <a:sym typeface="Calibri"/>
                        </a:rPr>
                        <a:t>Scandium (Sc)</a:t>
                      </a:r>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None/>
                      </a:pPr>
                      <a:r>
                        <a:rPr lang="en-IN" sz="1400" b="0" i="0" u="none" strike="noStrike" cap="none">
                          <a:solidFill>
                            <a:srgbClr val="080808"/>
                          </a:solidFill>
                          <a:latin typeface="Calibri"/>
                          <a:ea typeface="Calibri"/>
                          <a:cs typeface="Calibri"/>
                          <a:sym typeface="Calibri"/>
                        </a:rPr>
                        <a:t>21</a:t>
                      </a:r>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None/>
                      </a:pPr>
                      <a:r>
                        <a:rPr lang="en-IN" sz="1400" b="0" u="none" strike="noStrike" cap="none">
                          <a:solidFill>
                            <a:srgbClr val="080808"/>
                          </a:solidFill>
                          <a:latin typeface="Calibri"/>
                          <a:ea typeface="Calibri"/>
                          <a:cs typeface="Calibri"/>
                          <a:sym typeface="Calibri"/>
                        </a:rPr>
                        <a:t>[Ar]3d</a:t>
                      </a:r>
                      <a:r>
                        <a:rPr lang="en-IN" sz="1400" b="0" u="none" strike="noStrike" cap="none" baseline="30000">
                          <a:solidFill>
                            <a:srgbClr val="080808"/>
                          </a:solidFill>
                          <a:latin typeface="Calibri"/>
                          <a:ea typeface="Calibri"/>
                          <a:cs typeface="Calibri"/>
                          <a:sym typeface="Calibri"/>
                        </a:rPr>
                        <a:t>1</a:t>
                      </a:r>
                      <a:r>
                        <a:rPr lang="en-IN" sz="1400" b="0" u="none" strike="noStrike" cap="none">
                          <a:solidFill>
                            <a:srgbClr val="080808"/>
                          </a:solidFill>
                          <a:latin typeface="Calibri"/>
                          <a:ea typeface="Calibri"/>
                          <a:cs typeface="Calibri"/>
                          <a:sym typeface="Calibri"/>
                        </a:rPr>
                        <a:t>4s</a:t>
                      </a:r>
                      <a:r>
                        <a:rPr lang="en-IN" sz="1400" b="0" u="none" strike="noStrike" cap="none" baseline="30000">
                          <a:solidFill>
                            <a:srgbClr val="080808"/>
                          </a:solidFill>
                          <a:latin typeface="Calibri"/>
                          <a:ea typeface="Calibri"/>
                          <a:cs typeface="Calibri"/>
                          <a:sym typeface="Calibri"/>
                        </a:rPr>
                        <a:t>2</a:t>
                      </a:r>
                      <a:endParaRPr sz="1400" b="0" u="none" strike="noStrike" cap="none">
                        <a:solidFill>
                          <a:srgbClr val="080808"/>
                        </a:solidFill>
                        <a:latin typeface="Calibri"/>
                        <a:ea typeface="Calibri"/>
                        <a:cs typeface="Calibri"/>
                        <a:sym typeface="Calibri"/>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None/>
                      </a:pPr>
                      <a:r>
                        <a:rPr lang="en-IN" sz="1400" b="0" u="none" strike="noStrike" cap="none">
                          <a:solidFill>
                            <a:srgbClr val="080808"/>
                          </a:solidFill>
                          <a:latin typeface="Calibri"/>
                          <a:ea typeface="Calibri"/>
                          <a:cs typeface="Calibri"/>
                          <a:sym typeface="Calibri"/>
                        </a:rPr>
                        <a:t>Sc</a:t>
                      </a:r>
                      <a:r>
                        <a:rPr lang="en-IN" sz="1400" b="0" u="none" strike="noStrike" cap="none" baseline="30000">
                          <a:solidFill>
                            <a:srgbClr val="080808"/>
                          </a:solidFill>
                          <a:latin typeface="Calibri"/>
                          <a:ea typeface="Calibri"/>
                          <a:cs typeface="Calibri"/>
                          <a:sym typeface="Calibri"/>
                        </a:rPr>
                        <a:t>3+</a:t>
                      </a:r>
                      <a:endParaRPr sz="1400" b="0" u="none" strike="noStrike" cap="none">
                        <a:solidFill>
                          <a:srgbClr val="080808"/>
                        </a:solidFill>
                        <a:latin typeface="Calibri"/>
                        <a:ea typeface="Calibri"/>
                        <a:cs typeface="Calibri"/>
                        <a:sym typeface="Calibri"/>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47375">
                <a:tc>
                  <a:txBody>
                    <a:bodyPr/>
                    <a:lstStyle/>
                    <a:p>
                      <a:pPr marL="0" marR="0" lvl="0" indent="0" algn="l" rtl="0">
                        <a:lnSpc>
                          <a:spcPct val="115000"/>
                        </a:lnSpc>
                        <a:spcBef>
                          <a:spcPts val="0"/>
                        </a:spcBef>
                        <a:spcAft>
                          <a:spcPts val="0"/>
                        </a:spcAft>
                        <a:buNone/>
                      </a:pPr>
                      <a:r>
                        <a:rPr lang="en-IN" sz="1400" b="0" i="0" u="none" strike="noStrike" cap="none">
                          <a:solidFill>
                            <a:srgbClr val="080808"/>
                          </a:solidFill>
                          <a:latin typeface="Calibri"/>
                          <a:ea typeface="Calibri"/>
                          <a:cs typeface="Calibri"/>
                          <a:sym typeface="Calibri"/>
                        </a:rPr>
                        <a:t>Titanium (Ti)</a:t>
                      </a:r>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None/>
                      </a:pPr>
                      <a:r>
                        <a:rPr lang="en-IN" sz="1400" b="0" i="0" u="none" strike="noStrike" cap="none">
                          <a:solidFill>
                            <a:srgbClr val="080808"/>
                          </a:solidFill>
                          <a:latin typeface="Calibri"/>
                          <a:ea typeface="Calibri"/>
                          <a:cs typeface="Calibri"/>
                          <a:sym typeface="Calibri"/>
                        </a:rPr>
                        <a:t>22</a:t>
                      </a:r>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None/>
                      </a:pPr>
                      <a:r>
                        <a:rPr lang="en-IN" sz="1400" b="0" u="none" strike="noStrike" cap="none">
                          <a:solidFill>
                            <a:srgbClr val="080808"/>
                          </a:solidFill>
                          <a:latin typeface="Calibri"/>
                          <a:ea typeface="Calibri"/>
                          <a:cs typeface="Calibri"/>
                          <a:sym typeface="Calibri"/>
                        </a:rPr>
                        <a:t>[Ar]3d</a:t>
                      </a:r>
                      <a:r>
                        <a:rPr lang="en-IN" sz="1400" b="0" u="none" strike="noStrike" cap="none" baseline="30000">
                          <a:solidFill>
                            <a:srgbClr val="080808"/>
                          </a:solidFill>
                          <a:latin typeface="Calibri"/>
                          <a:ea typeface="Calibri"/>
                          <a:cs typeface="Calibri"/>
                          <a:sym typeface="Calibri"/>
                        </a:rPr>
                        <a:t>2</a:t>
                      </a:r>
                      <a:r>
                        <a:rPr lang="en-IN" sz="1400" b="0" u="none" strike="noStrike" cap="none">
                          <a:solidFill>
                            <a:srgbClr val="080808"/>
                          </a:solidFill>
                          <a:latin typeface="Calibri"/>
                          <a:ea typeface="Calibri"/>
                          <a:cs typeface="Calibri"/>
                          <a:sym typeface="Calibri"/>
                        </a:rPr>
                        <a:t>4s</a:t>
                      </a:r>
                      <a:r>
                        <a:rPr lang="en-IN" sz="1400" b="0" u="none" strike="noStrike" cap="none" baseline="30000">
                          <a:solidFill>
                            <a:srgbClr val="080808"/>
                          </a:solidFill>
                          <a:latin typeface="Calibri"/>
                          <a:ea typeface="Calibri"/>
                          <a:cs typeface="Calibri"/>
                          <a:sym typeface="Calibri"/>
                        </a:rPr>
                        <a:t>2</a:t>
                      </a:r>
                      <a:endParaRPr sz="1400" b="0" u="none" strike="noStrike" cap="none">
                        <a:solidFill>
                          <a:srgbClr val="080808"/>
                        </a:solidFill>
                        <a:latin typeface="Calibri"/>
                        <a:ea typeface="Calibri"/>
                        <a:cs typeface="Calibri"/>
                        <a:sym typeface="Calibri"/>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None/>
                      </a:pPr>
                      <a:r>
                        <a:rPr lang="en-IN" sz="1400" b="0" u="none" strike="noStrike" cap="none">
                          <a:solidFill>
                            <a:srgbClr val="080808"/>
                          </a:solidFill>
                          <a:latin typeface="Calibri"/>
                          <a:ea typeface="Calibri"/>
                          <a:cs typeface="Calibri"/>
                          <a:sym typeface="Calibri"/>
                        </a:rPr>
                        <a:t>Ti</a:t>
                      </a:r>
                      <a:r>
                        <a:rPr lang="en-IN" sz="1400" b="0" u="none" strike="noStrike" cap="none" baseline="30000">
                          <a:solidFill>
                            <a:srgbClr val="080808"/>
                          </a:solidFill>
                          <a:latin typeface="Calibri"/>
                          <a:ea typeface="Calibri"/>
                          <a:cs typeface="Calibri"/>
                          <a:sym typeface="Calibri"/>
                        </a:rPr>
                        <a:t>3+</a:t>
                      </a:r>
                      <a:r>
                        <a:rPr lang="en-IN" sz="1400" b="0" u="none" strike="noStrike" cap="none">
                          <a:solidFill>
                            <a:srgbClr val="080808"/>
                          </a:solidFill>
                          <a:latin typeface="Calibri"/>
                          <a:ea typeface="Calibri"/>
                          <a:cs typeface="Calibri"/>
                          <a:sym typeface="Calibri"/>
                        </a:rPr>
                        <a:t>, Ti</a:t>
                      </a:r>
                      <a:r>
                        <a:rPr lang="en-IN" sz="1400" b="0" u="none" strike="noStrike" cap="none" baseline="30000">
                          <a:solidFill>
                            <a:srgbClr val="080808"/>
                          </a:solidFill>
                          <a:latin typeface="Calibri"/>
                          <a:ea typeface="Calibri"/>
                          <a:cs typeface="Calibri"/>
                          <a:sym typeface="Calibri"/>
                        </a:rPr>
                        <a:t>4+</a:t>
                      </a:r>
                      <a:endParaRPr sz="1400" b="0" u="none" strike="noStrike" cap="none">
                        <a:solidFill>
                          <a:srgbClr val="080808"/>
                        </a:solidFill>
                        <a:latin typeface="Calibri"/>
                        <a:ea typeface="Calibri"/>
                        <a:cs typeface="Calibri"/>
                        <a:sym typeface="Calibri"/>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47375">
                <a:tc>
                  <a:txBody>
                    <a:bodyPr/>
                    <a:lstStyle/>
                    <a:p>
                      <a:pPr marL="0" marR="0" lvl="0" indent="0" algn="l" rtl="0">
                        <a:lnSpc>
                          <a:spcPct val="115000"/>
                        </a:lnSpc>
                        <a:spcBef>
                          <a:spcPts val="0"/>
                        </a:spcBef>
                        <a:spcAft>
                          <a:spcPts val="0"/>
                        </a:spcAft>
                        <a:buNone/>
                      </a:pPr>
                      <a:r>
                        <a:rPr lang="en-IN" sz="1400" b="0" i="0" u="none" strike="noStrike" cap="none">
                          <a:solidFill>
                            <a:srgbClr val="080808"/>
                          </a:solidFill>
                          <a:latin typeface="Calibri"/>
                          <a:ea typeface="Calibri"/>
                          <a:cs typeface="Calibri"/>
                          <a:sym typeface="Calibri"/>
                        </a:rPr>
                        <a:t>Vanadium (V)</a:t>
                      </a:r>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None/>
                      </a:pPr>
                      <a:r>
                        <a:rPr lang="en-IN" sz="1400" b="0" i="0" u="none" strike="noStrike" cap="none">
                          <a:solidFill>
                            <a:srgbClr val="080808"/>
                          </a:solidFill>
                          <a:latin typeface="Calibri"/>
                          <a:ea typeface="Calibri"/>
                          <a:cs typeface="Calibri"/>
                          <a:sym typeface="Calibri"/>
                        </a:rPr>
                        <a:t>23</a:t>
                      </a:r>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None/>
                      </a:pPr>
                      <a:r>
                        <a:rPr lang="en-IN" sz="1400" b="0" u="none" strike="noStrike" cap="none">
                          <a:solidFill>
                            <a:srgbClr val="080808"/>
                          </a:solidFill>
                          <a:latin typeface="Calibri"/>
                          <a:ea typeface="Calibri"/>
                          <a:cs typeface="Calibri"/>
                          <a:sym typeface="Calibri"/>
                        </a:rPr>
                        <a:t>[Ar]3d</a:t>
                      </a:r>
                      <a:r>
                        <a:rPr lang="en-IN" sz="1400" b="0" u="none" strike="noStrike" cap="none" baseline="30000">
                          <a:solidFill>
                            <a:srgbClr val="080808"/>
                          </a:solidFill>
                          <a:latin typeface="Calibri"/>
                          <a:ea typeface="Calibri"/>
                          <a:cs typeface="Calibri"/>
                          <a:sym typeface="Calibri"/>
                        </a:rPr>
                        <a:t>3</a:t>
                      </a:r>
                      <a:r>
                        <a:rPr lang="en-IN" sz="1400" b="0" u="none" strike="noStrike" cap="none">
                          <a:solidFill>
                            <a:srgbClr val="080808"/>
                          </a:solidFill>
                          <a:latin typeface="Calibri"/>
                          <a:ea typeface="Calibri"/>
                          <a:cs typeface="Calibri"/>
                          <a:sym typeface="Calibri"/>
                        </a:rPr>
                        <a:t>4s</a:t>
                      </a:r>
                      <a:r>
                        <a:rPr lang="en-IN" sz="1400" b="0" u="none" strike="noStrike" cap="none" baseline="30000">
                          <a:solidFill>
                            <a:srgbClr val="080808"/>
                          </a:solidFill>
                          <a:latin typeface="Calibri"/>
                          <a:ea typeface="Calibri"/>
                          <a:cs typeface="Calibri"/>
                          <a:sym typeface="Calibri"/>
                        </a:rPr>
                        <a:t>2</a:t>
                      </a:r>
                      <a:endParaRPr sz="1400" b="0" u="none" strike="noStrike" cap="none">
                        <a:solidFill>
                          <a:srgbClr val="080808"/>
                        </a:solidFill>
                        <a:latin typeface="Calibri"/>
                        <a:ea typeface="Calibri"/>
                        <a:cs typeface="Calibri"/>
                        <a:sym typeface="Calibri"/>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None/>
                      </a:pPr>
                      <a:r>
                        <a:rPr lang="en-IN" sz="1400" b="0" u="none" strike="noStrike" cap="none">
                          <a:solidFill>
                            <a:srgbClr val="080808"/>
                          </a:solidFill>
                          <a:latin typeface="Calibri"/>
                          <a:ea typeface="Calibri"/>
                          <a:cs typeface="Calibri"/>
                          <a:sym typeface="Calibri"/>
                        </a:rPr>
                        <a:t>V</a:t>
                      </a:r>
                      <a:r>
                        <a:rPr lang="en-IN" sz="1400" b="0" u="none" strike="noStrike" cap="none" baseline="30000">
                          <a:solidFill>
                            <a:srgbClr val="080808"/>
                          </a:solidFill>
                          <a:latin typeface="Calibri"/>
                          <a:ea typeface="Calibri"/>
                          <a:cs typeface="Calibri"/>
                          <a:sym typeface="Calibri"/>
                        </a:rPr>
                        <a:t>2+</a:t>
                      </a:r>
                      <a:r>
                        <a:rPr lang="en-IN" sz="1400" b="0" u="none" strike="noStrike" cap="none">
                          <a:solidFill>
                            <a:srgbClr val="080808"/>
                          </a:solidFill>
                          <a:latin typeface="Calibri"/>
                          <a:ea typeface="Calibri"/>
                          <a:cs typeface="Calibri"/>
                          <a:sym typeface="Calibri"/>
                        </a:rPr>
                        <a:t>, V</a:t>
                      </a:r>
                      <a:r>
                        <a:rPr lang="en-IN" sz="1400" b="0" u="none" strike="noStrike" cap="none" baseline="30000">
                          <a:solidFill>
                            <a:srgbClr val="080808"/>
                          </a:solidFill>
                          <a:latin typeface="Calibri"/>
                          <a:ea typeface="Calibri"/>
                          <a:cs typeface="Calibri"/>
                          <a:sym typeface="Calibri"/>
                        </a:rPr>
                        <a:t>3+</a:t>
                      </a:r>
                      <a:r>
                        <a:rPr lang="en-IN" sz="1400" b="0" u="none" strike="noStrike" cap="none">
                          <a:solidFill>
                            <a:srgbClr val="080808"/>
                          </a:solidFill>
                          <a:latin typeface="Calibri"/>
                          <a:ea typeface="Calibri"/>
                          <a:cs typeface="Calibri"/>
                          <a:sym typeface="Calibri"/>
                        </a:rPr>
                        <a:t>, V</a:t>
                      </a:r>
                      <a:r>
                        <a:rPr lang="en-IN" sz="1400" b="0" u="none" strike="noStrike" cap="none" baseline="30000">
                          <a:solidFill>
                            <a:srgbClr val="080808"/>
                          </a:solidFill>
                          <a:latin typeface="Calibri"/>
                          <a:ea typeface="Calibri"/>
                          <a:cs typeface="Calibri"/>
                          <a:sym typeface="Calibri"/>
                        </a:rPr>
                        <a:t>4+</a:t>
                      </a:r>
                      <a:r>
                        <a:rPr lang="en-IN" sz="1400" b="0" u="none" strike="noStrike" cap="none">
                          <a:solidFill>
                            <a:srgbClr val="080808"/>
                          </a:solidFill>
                          <a:latin typeface="Calibri"/>
                          <a:ea typeface="Calibri"/>
                          <a:cs typeface="Calibri"/>
                          <a:sym typeface="Calibri"/>
                        </a:rPr>
                        <a:t>, V</a:t>
                      </a:r>
                      <a:r>
                        <a:rPr lang="en-IN" sz="1400" b="0" u="none" strike="noStrike" cap="none" baseline="30000">
                          <a:solidFill>
                            <a:srgbClr val="080808"/>
                          </a:solidFill>
                          <a:latin typeface="Calibri"/>
                          <a:ea typeface="Calibri"/>
                          <a:cs typeface="Calibri"/>
                          <a:sym typeface="Calibri"/>
                        </a:rPr>
                        <a:t>5+</a:t>
                      </a:r>
                      <a:endParaRPr sz="1400" b="0" u="none" strike="noStrike" cap="none">
                        <a:solidFill>
                          <a:srgbClr val="080808"/>
                        </a:solidFill>
                        <a:latin typeface="Calibri"/>
                        <a:ea typeface="Calibri"/>
                        <a:cs typeface="Calibri"/>
                        <a:sym typeface="Calibri"/>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47375">
                <a:tc>
                  <a:txBody>
                    <a:bodyPr/>
                    <a:lstStyle/>
                    <a:p>
                      <a:pPr marL="0" marR="0" lvl="0" indent="0" algn="l" rtl="0">
                        <a:lnSpc>
                          <a:spcPct val="115000"/>
                        </a:lnSpc>
                        <a:spcBef>
                          <a:spcPts val="0"/>
                        </a:spcBef>
                        <a:spcAft>
                          <a:spcPts val="0"/>
                        </a:spcAft>
                        <a:buNone/>
                      </a:pPr>
                      <a:r>
                        <a:rPr lang="en-IN" sz="1400" b="0" i="0" u="none" strike="noStrike" cap="none">
                          <a:solidFill>
                            <a:srgbClr val="080808"/>
                          </a:solidFill>
                          <a:latin typeface="Calibri"/>
                          <a:ea typeface="Calibri"/>
                          <a:cs typeface="Calibri"/>
                          <a:sym typeface="Calibri"/>
                        </a:rPr>
                        <a:t>Chromium (Cr)</a:t>
                      </a:r>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None/>
                      </a:pPr>
                      <a:r>
                        <a:rPr lang="en-IN" sz="1400" b="0" i="0" u="none" strike="noStrike" cap="none">
                          <a:solidFill>
                            <a:srgbClr val="080808"/>
                          </a:solidFill>
                          <a:latin typeface="Calibri"/>
                          <a:ea typeface="Calibri"/>
                          <a:cs typeface="Calibri"/>
                          <a:sym typeface="Calibri"/>
                        </a:rPr>
                        <a:t>24</a:t>
                      </a:r>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None/>
                      </a:pPr>
                      <a:r>
                        <a:rPr lang="en-IN" sz="1400" b="0" u="none" strike="noStrike" cap="none">
                          <a:solidFill>
                            <a:srgbClr val="080808"/>
                          </a:solidFill>
                          <a:latin typeface="Calibri"/>
                          <a:ea typeface="Calibri"/>
                          <a:cs typeface="Calibri"/>
                          <a:sym typeface="Calibri"/>
                        </a:rPr>
                        <a:t>[Ar]3d</a:t>
                      </a:r>
                      <a:r>
                        <a:rPr lang="en-IN" sz="1400" b="0" u="none" strike="noStrike" cap="none" baseline="30000">
                          <a:solidFill>
                            <a:srgbClr val="080808"/>
                          </a:solidFill>
                          <a:latin typeface="Calibri"/>
                          <a:ea typeface="Calibri"/>
                          <a:cs typeface="Calibri"/>
                          <a:sym typeface="Calibri"/>
                        </a:rPr>
                        <a:t>5</a:t>
                      </a:r>
                      <a:r>
                        <a:rPr lang="en-IN" sz="1400" b="0" u="none" strike="noStrike" cap="none">
                          <a:solidFill>
                            <a:srgbClr val="080808"/>
                          </a:solidFill>
                          <a:latin typeface="Calibri"/>
                          <a:ea typeface="Calibri"/>
                          <a:cs typeface="Calibri"/>
                          <a:sym typeface="Calibri"/>
                        </a:rPr>
                        <a:t>4s</a:t>
                      </a:r>
                      <a:r>
                        <a:rPr lang="en-IN" sz="1400" b="0" u="none" strike="noStrike" cap="none" baseline="30000">
                          <a:solidFill>
                            <a:srgbClr val="080808"/>
                          </a:solidFill>
                          <a:latin typeface="Calibri"/>
                          <a:ea typeface="Calibri"/>
                          <a:cs typeface="Calibri"/>
                          <a:sym typeface="Calibri"/>
                        </a:rPr>
                        <a:t>1</a:t>
                      </a:r>
                      <a:endParaRPr sz="1400" b="0" u="none" strike="noStrike" cap="none">
                        <a:solidFill>
                          <a:srgbClr val="080808"/>
                        </a:solidFill>
                        <a:latin typeface="Calibri"/>
                        <a:ea typeface="Calibri"/>
                        <a:cs typeface="Calibri"/>
                        <a:sym typeface="Calibri"/>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None/>
                      </a:pPr>
                      <a:r>
                        <a:rPr lang="en-IN" sz="1400" b="0" u="none" strike="noStrike" cap="none" dirty="0">
                          <a:solidFill>
                            <a:srgbClr val="080808"/>
                          </a:solidFill>
                          <a:latin typeface="Calibri"/>
                          <a:ea typeface="Calibri"/>
                          <a:cs typeface="Calibri"/>
                          <a:sym typeface="Calibri"/>
                        </a:rPr>
                        <a:t>Cr</a:t>
                      </a:r>
                      <a:r>
                        <a:rPr lang="en-IN" sz="1400" b="0" u="none" strike="noStrike" cap="none" baseline="30000" dirty="0">
                          <a:solidFill>
                            <a:srgbClr val="080808"/>
                          </a:solidFill>
                          <a:latin typeface="Calibri"/>
                          <a:ea typeface="Calibri"/>
                          <a:cs typeface="Calibri"/>
                          <a:sym typeface="Calibri"/>
                        </a:rPr>
                        <a:t>3+</a:t>
                      </a:r>
                      <a:r>
                        <a:rPr lang="en-IN" sz="1400" b="0" u="none" strike="noStrike" cap="none" dirty="0">
                          <a:solidFill>
                            <a:srgbClr val="080808"/>
                          </a:solidFill>
                          <a:latin typeface="Calibri"/>
                          <a:ea typeface="Calibri"/>
                          <a:cs typeface="Calibri"/>
                          <a:sym typeface="Calibri"/>
                        </a:rPr>
                        <a:t>, Cr</a:t>
                      </a:r>
                      <a:r>
                        <a:rPr lang="en-IN" sz="1400" b="0" u="none" strike="noStrike" cap="none" baseline="30000" dirty="0">
                          <a:solidFill>
                            <a:srgbClr val="080808"/>
                          </a:solidFill>
                          <a:latin typeface="Calibri"/>
                          <a:ea typeface="Calibri"/>
                          <a:cs typeface="Calibri"/>
                          <a:sym typeface="Calibri"/>
                        </a:rPr>
                        <a:t>6+</a:t>
                      </a:r>
                      <a:endParaRPr sz="1400" b="0" u="none" strike="noStrike" cap="none" dirty="0">
                        <a:solidFill>
                          <a:srgbClr val="080808"/>
                        </a:solidFill>
                        <a:latin typeface="Calibri"/>
                        <a:ea typeface="Calibri"/>
                        <a:cs typeface="Calibri"/>
                        <a:sym typeface="Calibri"/>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50"/>
          <p:cNvSpPr txBox="1">
            <a:spLocks noGrp="1"/>
          </p:cNvSpPr>
          <p:nvPr>
            <p:ph type="title"/>
          </p:nvPr>
        </p:nvSpPr>
        <p:spPr>
          <a:xfrm>
            <a:off x="933024" y="592925"/>
            <a:ext cx="8069461" cy="76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IN">
                <a:latin typeface="Calibri"/>
                <a:ea typeface="Calibri"/>
                <a:cs typeface="Calibri"/>
                <a:sym typeface="Calibri"/>
              </a:rPr>
              <a:t>Electronic configuration of transition elements</a:t>
            </a:r>
            <a:endParaRPr/>
          </a:p>
        </p:txBody>
      </p:sp>
      <p:graphicFrame>
        <p:nvGraphicFramePr>
          <p:cNvPr id="332" name="Google Shape;332;p50"/>
          <p:cNvGraphicFramePr/>
          <p:nvPr/>
        </p:nvGraphicFramePr>
        <p:xfrm>
          <a:off x="1108093" y="2210186"/>
          <a:ext cx="7313700" cy="2662275"/>
        </p:xfrm>
        <a:graphic>
          <a:graphicData uri="http://schemas.openxmlformats.org/drawingml/2006/table">
            <a:tbl>
              <a:tblPr>
                <a:noFill/>
              </a:tblPr>
              <a:tblGrid>
                <a:gridCol w="1828425">
                  <a:extLst>
                    <a:ext uri="{9D8B030D-6E8A-4147-A177-3AD203B41FA5}">
                      <a16:colId xmlns:a16="http://schemas.microsoft.com/office/drawing/2014/main" val="20000"/>
                    </a:ext>
                  </a:extLst>
                </a:gridCol>
                <a:gridCol w="1128500">
                  <a:extLst>
                    <a:ext uri="{9D8B030D-6E8A-4147-A177-3AD203B41FA5}">
                      <a16:colId xmlns:a16="http://schemas.microsoft.com/office/drawing/2014/main" val="20001"/>
                    </a:ext>
                  </a:extLst>
                </a:gridCol>
                <a:gridCol w="1734550">
                  <a:extLst>
                    <a:ext uri="{9D8B030D-6E8A-4147-A177-3AD203B41FA5}">
                      <a16:colId xmlns:a16="http://schemas.microsoft.com/office/drawing/2014/main" val="20002"/>
                    </a:ext>
                  </a:extLst>
                </a:gridCol>
                <a:gridCol w="2622225">
                  <a:extLst>
                    <a:ext uri="{9D8B030D-6E8A-4147-A177-3AD203B41FA5}">
                      <a16:colId xmlns:a16="http://schemas.microsoft.com/office/drawing/2014/main" val="20003"/>
                    </a:ext>
                  </a:extLst>
                </a:gridCol>
              </a:tblGrid>
              <a:tr h="561850">
                <a:tc>
                  <a:txBody>
                    <a:bodyPr/>
                    <a:lstStyle/>
                    <a:p>
                      <a:pPr marL="0" marR="0" lvl="0" indent="0" algn="ctr" rtl="0">
                        <a:lnSpc>
                          <a:spcPct val="115000"/>
                        </a:lnSpc>
                        <a:spcBef>
                          <a:spcPts val="0"/>
                        </a:spcBef>
                        <a:spcAft>
                          <a:spcPts val="0"/>
                        </a:spcAft>
                        <a:buNone/>
                      </a:pPr>
                      <a:r>
                        <a:rPr lang="en-IN" sz="1400" b="0" u="none" strike="noStrike" cap="none">
                          <a:solidFill>
                            <a:schemeClr val="lt1"/>
                          </a:solidFill>
                          <a:latin typeface="Calibri"/>
                          <a:ea typeface="Calibri"/>
                          <a:cs typeface="Calibri"/>
                          <a:sym typeface="Calibri"/>
                        </a:rPr>
                        <a:t>Element</a:t>
                      </a:r>
                      <a:endParaRPr sz="1400" b="0" u="none" strike="noStrike" cap="none">
                        <a:solidFill>
                          <a:schemeClr val="lt1"/>
                        </a:solidFill>
                        <a:latin typeface="Calibri"/>
                        <a:ea typeface="Calibri"/>
                        <a:cs typeface="Calibri"/>
                        <a:sym typeface="Calibri"/>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0B050"/>
                    </a:solidFill>
                  </a:tcPr>
                </a:tc>
                <a:tc>
                  <a:txBody>
                    <a:bodyPr/>
                    <a:lstStyle/>
                    <a:p>
                      <a:pPr marL="0" marR="0" lvl="0" indent="0" algn="ctr" rtl="0">
                        <a:lnSpc>
                          <a:spcPct val="115000"/>
                        </a:lnSpc>
                        <a:spcBef>
                          <a:spcPts val="0"/>
                        </a:spcBef>
                        <a:spcAft>
                          <a:spcPts val="0"/>
                        </a:spcAft>
                        <a:buNone/>
                      </a:pPr>
                      <a:r>
                        <a:rPr lang="en-IN" sz="1400" b="0" u="none" strike="noStrike" cap="none">
                          <a:solidFill>
                            <a:schemeClr val="lt1"/>
                          </a:solidFill>
                          <a:latin typeface="Calibri"/>
                          <a:ea typeface="Calibri"/>
                          <a:cs typeface="Calibri"/>
                          <a:sym typeface="Calibri"/>
                        </a:rPr>
                        <a:t>Atomic number</a:t>
                      </a:r>
                      <a:endParaRPr sz="1400" b="0" u="none" strike="noStrike" cap="none">
                        <a:solidFill>
                          <a:schemeClr val="lt1"/>
                        </a:solidFill>
                        <a:latin typeface="Calibri"/>
                        <a:ea typeface="Calibri"/>
                        <a:cs typeface="Calibri"/>
                        <a:sym typeface="Calibri"/>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0B050"/>
                    </a:solidFill>
                  </a:tcPr>
                </a:tc>
                <a:tc>
                  <a:txBody>
                    <a:bodyPr/>
                    <a:lstStyle/>
                    <a:p>
                      <a:pPr marL="0" marR="0" lvl="0" indent="0" algn="ctr" rtl="0">
                        <a:lnSpc>
                          <a:spcPct val="115000"/>
                        </a:lnSpc>
                        <a:spcBef>
                          <a:spcPts val="0"/>
                        </a:spcBef>
                        <a:spcAft>
                          <a:spcPts val="0"/>
                        </a:spcAft>
                        <a:buNone/>
                      </a:pPr>
                      <a:r>
                        <a:rPr lang="en-IN" sz="1400" b="0" u="none" strike="noStrike" cap="none">
                          <a:solidFill>
                            <a:schemeClr val="lt1"/>
                          </a:solidFill>
                          <a:latin typeface="Calibri"/>
                          <a:ea typeface="Calibri"/>
                          <a:cs typeface="Calibri"/>
                          <a:sym typeface="Calibri"/>
                        </a:rPr>
                        <a:t>Electronic configuration</a:t>
                      </a:r>
                      <a:endParaRPr sz="1400" b="0" u="none" strike="noStrike" cap="none">
                        <a:solidFill>
                          <a:schemeClr val="lt1"/>
                        </a:solidFill>
                        <a:latin typeface="Calibri"/>
                        <a:ea typeface="Calibri"/>
                        <a:cs typeface="Calibri"/>
                        <a:sym typeface="Calibri"/>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0B050"/>
                    </a:solidFill>
                  </a:tcPr>
                </a:tc>
                <a:tc>
                  <a:txBody>
                    <a:bodyPr/>
                    <a:lstStyle/>
                    <a:p>
                      <a:pPr marL="0" marR="0" lvl="0" indent="0" algn="ctr" rtl="0">
                        <a:lnSpc>
                          <a:spcPct val="115000"/>
                        </a:lnSpc>
                        <a:spcBef>
                          <a:spcPts val="0"/>
                        </a:spcBef>
                        <a:spcAft>
                          <a:spcPts val="0"/>
                        </a:spcAft>
                        <a:buNone/>
                      </a:pPr>
                      <a:r>
                        <a:rPr lang="en-IN" sz="1400" b="0" u="none" strike="noStrike" cap="none">
                          <a:solidFill>
                            <a:schemeClr val="lt1"/>
                          </a:solidFill>
                          <a:latin typeface="Calibri"/>
                          <a:ea typeface="Calibri"/>
                          <a:cs typeface="Calibri"/>
                          <a:sym typeface="Calibri"/>
                        </a:rPr>
                        <a:t>Ions</a:t>
                      </a:r>
                      <a:endParaRPr sz="1400" b="0" u="none" strike="noStrike" cap="none">
                        <a:solidFill>
                          <a:schemeClr val="lt1"/>
                        </a:solidFill>
                        <a:latin typeface="Calibri"/>
                        <a:ea typeface="Calibri"/>
                        <a:cs typeface="Calibri"/>
                        <a:sym typeface="Calibri"/>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0B050"/>
                    </a:solidFill>
                  </a:tcPr>
                </a:tc>
                <a:extLst>
                  <a:ext uri="{0D108BD9-81ED-4DB2-BD59-A6C34878D82A}">
                    <a16:rowId xmlns:a16="http://schemas.microsoft.com/office/drawing/2014/main" val="10000"/>
                  </a:ext>
                </a:extLst>
              </a:tr>
              <a:tr h="363550">
                <a:tc>
                  <a:txBody>
                    <a:bodyPr/>
                    <a:lstStyle/>
                    <a:p>
                      <a:pPr marL="0" marR="0" lvl="0" indent="0" algn="l" rtl="0">
                        <a:lnSpc>
                          <a:spcPct val="115000"/>
                        </a:lnSpc>
                        <a:spcBef>
                          <a:spcPts val="0"/>
                        </a:spcBef>
                        <a:spcAft>
                          <a:spcPts val="0"/>
                        </a:spcAft>
                        <a:buNone/>
                      </a:pPr>
                      <a:r>
                        <a:rPr lang="en-IN" sz="1400" b="0" i="0" u="none" strike="noStrike" cap="none">
                          <a:solidFill>
                            <a:srgbClr val="080808"/>
                          </a:solidFill>
                          <a:latin typeface="Calibri"/>
                          <a:ea typeface="Calibri"/>
                          <a:cs typeface="Calibri"/>
                          <a:sym typeface="Calibri"/>
                        </a:rPr>
                        <a:t>Manganese (Mn)</a:t>
                      </a:r>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None/>
                      </a:pPr>
                      <a:r>
                        <a:rPr lang="en-IN" sz="1400" b="0" i="0" u="none" strike="noStrike" cap="none">
                          <a:solidFill>
                            <a:srgbClr val="080808"/>
                          </a:solidFill>
                          <a:latin typeface="Calibri"/>
                          <a:ea typeface="Calibri"/>
                          <a:cs typeface="Calibri"/>
                          <a:sym typeface="Calibri"/>
                        </a:rPr>
                        <a:t>25</a:t>
                      </a:r>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None/>
                      </a:pPr>
                      <a:r>
                        <a:rPr lang="en-IN" sz="1400" b="0" u="none" strike="noStrike" cap="none">
                          <a:solidFill>
                            <a:srgbClr val="080808"/>
                          </a:solidFill>
                          <a:latin typeface="Calibri"/>
                          <a:ea typeface="Calibri"/>
                          <a:cs typeface="Calibri"/>
                          <a:sym typeface="Calibri"/>
                        </a:rPr>
                        <a:t>[Ar]3d</a:t>
                      </a:r>
                      <a:r>
                        <a:rPr lang="en-IN" sz="1400" b="0" u="none" strike="noStrike" cap="none" baseline="30000">
                          <a:solidFill>
                            <a:srgbClr val="080808"/>
                          </a:solidFill>
                          <a:latin typeface="Calibri"/>
                          <a:ea typeface="Calibri"/>
                          <a:cs typeface="Calibri"/>
                          <a:sym typeface="Calibri"/>
                        </a:rPr>
                        <a:t>5</a:t>
                      </a:r>
                      <a:r>
                        <a:rPr lang="en-IN" sz="1400" b="0" u="none" strike="noStrike" cap="none">
                          <a:solidFill>
                            <a:srgbClr val="080808"/>
                          </a:solidFill>
                          <a:latin typeface="Calibri"/>
                          <a:ea typeface="Calibri"/>
                          <a:cs typeface="Calibri"/>
                          <a:sym typeface="Calibri"/>
                        </a:rPr>
                        <a:t>4s</a:t>
                      </a:r>
                      <a:r>
                        <a:rPr lang="en-IN" sz="1400" b="0" u="none" strike="noStrike" cap="none" baseline="30000">
                          <a:solidFill>
                            <a:srgbClr val="080808"/>
                          </a:solidFill>
                          <a:latin typeface="Calibri"/>
                          <a:ea typeface="Calibri"/>
                          <a:cs typeface="Calibri"/>
                          <a:sym typeface="Calibri"/>
                        </a:rPr>
                        <a:t>2</a:t>
                      </a:r>
                      <a:endParaRPr sz="1400" b="0" u="none" strike="noStrike" cap="none">
                        <a:solidFill>
                          <a:srgbClr val="080808"/>
                        </a:solidFill>
                        <a:latin typeface="Calibri"/>
                        <a:ea typeface="Calibri"/>
                        <a:cs typeface="Calibri"/>
                        <a:sym typeface="Calibri"/>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None/>
                      </a:pPr>
                      <a:r>
                        <a:rPr lang="en-IN" sz="1400" b="0" u="none" strike="noStrike" cap="none">
                          <a:solidFill>
                            <a:srgbClr val="080808"/>
                          </a:solidFill>
                          <a:latin typeface="Calibri"/>
                          <a:ea typeface="Calibri"/>
                          <a:cs typeface="Calibri"/>
                          <a:sym typeface="Calibri"/>
                        </a:rPr>
                        <a:t>Mn</a:t>
                      </a:r>
                      <a:r>
                        <a:rPr lang="en-IN" sz="1400" b="0" u="none" strike="noStrike" cap="none" baseline="30000">
                          <a:solidFill>
                            <a:srgbClr val="080808"/>
                          </a:solidFill>
                          <a:latin typeface="Calibri"/>
                          <a:ea typeface="Calibri"/>
                          <a:cs typeface="Calibri"/>
                          <a:sym typeface="Calibri"/>
                        </a:rPr>
                        <a:t>2+</a:t>
                      </a:r>
                      <a:r>
                        <a:rPr lang="en-IN" sz="1400" b="0" u="none" strike="noStrike" cap="none">
                          <a:solidFill>
                            <a:srgbClr val="080808"/>
                          </a:solidFill>
                          <a:latin typeface="Calibri"/>
                          <a:ea typeface="Calibri"/>
                          <a:cs typeface="Calibri"/>
                          <a:sym typeface="Calibri"/>
                        </a:rPr>
                        <a:t>, Mn</a:t>
                      </a:r>
                      <a:r>
                        <a:rPr lang="en-IN" sz="1400" b="0" u="none" strike="noStrike" cap="none" baseline="30000">
                          <a:solidFill>
                            <a:srgbClr val="080808"/>
                          </a:solidFill>
                          <a:latin typeface="Calibri"/>
                          <a:ea typeface="Calibri"/>
                          <a:cs typeface="Calibri"/>
                          <a:sym typeface="Calibri"/>
                        </a:rPr>
                        <a:t>3+</a:t>
                      </a:r>
                      <a:r>
                        <a:rPr lang="en-IN" sz="1400" b="0" u="none" strike="noStrike" cap="none">
                          <a:solidFill>
                            <a:srgbClr val="080808"/>
                          </a:solidFill>
                          <a:latin typeface="Calibri"/>
                          <a:ea typeface="Calibri"/>
                          <a:cs typeface="Calibri"/>
                          <a:sym typeface="Calibri"/>
                        </a:rPr>
                        <a:t>,  Mn</a:t>
                      </a:r>
                      <a:r>
                        <a:rPr lang="en-IN" sz="1400" b="0" u="none" strike="noStrike" cap="none" baseline="30000">
                          <a:solidFill>
                            <a:srgbClr val="080808"/>
                          </a:solidFill>
                          <a:latin typeface="Calibri"/>
                          <a:ea typeface="Calibri"/>
                          <a:cs typeface="Calibri"/>
                          <a:sym typeface="Calibri"/>
                        </a:rPr>
                        <a:t>4+</a:t>
                      </a:r>
                      <a:r>
                        <a:rPr lang="en-IN" sz="1400" b="0" u="none" strike="noStrike" cap="none">
                          <a:solidFill>
                            <a:srgbClr val="080808"/>
                          </a:solidFill>
                          <a:latin typeface="Calibri"/>
                          <a:ea typeface="Calibri"/>
                          <a:cs typeface="Calibri"/>
                          <a:sym typeface="Calibri"/>
                        </a:rPr>
                        <a:t>, Mn</a:t>
                      </a:r>
                      <a:r>
                        <a:rPr lang="en-IN" sz="1400" b="0" u="none" strike="noStrike" cap="none" baseline="30000">
                          <a:solidFill>
                            <a:srgbClr val="080808"/>
                          </a:solidFill>
                          <a:latin typeface="Calibri"/>
                          <a:ea typeface="Calibri"/>
                          <a:cs typeface="Calibri"/>
                          <a:sym typeface="Calibri"/>
                        </a:rPr>
                        <a:t>6+</a:t>
                      </a:r>
                      <a:r>
                        <a:rPr lang="en-IN" sz="1400" b="0" u="none" strike="noStrike" cap="none">
                          <a:solidFill>
                            <a:srgbClr val="080808"/>
                          </a:solidFill>
                          <a:latin typeface="Calibri"/>
                          <a:ea typeface="Calibri"/>
                          <a:cs typeface="Calibri"/>
                          <a:sym typeface="Calibri"/>
                        </a:rPr>
                        <a:t>, Mn</a:t>
                      </a:r>
                      <a:r>
                        <a:rPr lang="en-IN" sz="1400" b="0" u="none" strike="noStrike" cap="none" baseline="30000">
                          <a:solidFill>
                            <a:srgbClr val="080808"/>
                          </a:solidFill>
                          <a:latin typeface="Calibri"/>
                          <a:ea typeface="Calibri"/>
                          <a:cs typeface="Calibri"/>
                          <a:sym typeface="Calibri"/>
                        </a:rPr>
                        <a:t>7+</a:t>
                      </a:r>
                      <a:endParaRPr sz="1400" b="0" u="none" strike="noStrike" cap="none">
                        <a:solidFill>
                          <a:srgbClr val="080808"/>
                        </a:solidFill>
                        <a:latin typeface="Calibri"/>
                        <a:ea typeface="Calibri"/>
                        <a:cs typeface="Calibri"/>
                        <a:sym typeface="Calibri"/>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47375">
                <a:tc>
                  <a:txBody>
                    <a:bodyPr/>
                    <a:lstStyle/>
                    <a:p>
                      <a:pPr marL="0" marR="0" lvl="0" indent="0" algn="l" rtl="0">
                        <a:lnSpc>
                          <a:spcPct val="115000"/>
                        </a:lnSpc>
                        <a:spcBef>
                          <a:spcPts val="0"/>
                        </a:spcBef>
                        <a:spcAft>
                          <a:spcPts val="0"/>
                        </a:spcAft>
                        <a:buNone/>
                      </a:pPr>
                      <a:r>
                        <a:rPr lang="en-IN" sz="1400" b="0" i="0" u="none" strike="noStrike" cap="none">
                          <a:solidFill>
                            <a:srgbClr val="080808"/>
                          </a:solidFill>
                          <a:latin typeface="Calibri"/>
                          <a:ea typeface="Calibri"/>
                          <a:cs typeface="Calibri"/>
                          <a:sym typeface="Calibri"/>
                        </a:rPr>
                        <a:t>Iron (Fe)</a:t>
                      </a:r>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None/>
                      </a:pPr>
                      <a:r>
                        <a:rPr lang="en-IN" sz="1400" b="0" i="0" u="none" strike="noStrike" cap="none">
                          <a:solidFill>
                            <a:srgbClr val="080808"/>
                          </a:solidFill>
                          <a:latin typeface="Calibri"/>
                          <a:ea typeface="Calibri"/>
                          <a:cs typeface="Calibri"/>
                          <a:sym typeface="Calibri"/>
                        </a:rPr>
                        <a:t>26</a:t>
                      </a:r>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None/>
                      </a:pPr>
                      <a:r>
                        <a:rPr lang="en-IN" sz="1400" b="0" u="none" strike="noStrike" cap="none">
                          <a:solidFill>
                            <a:srgbClr val="080808"/>
                          </a:solidFill>
                          <a:latin typeface="Calibri"/>
                          <a:ea typeface="Calibri"/>
                          <a:cs typeface="Calibri"/>
                          <a:sym typeface="Calibri"/>
                        </a:rPr>
                        <a:t>[Ar]3d</a:t>
                      </a:r>
                      <a:r>
                        <a:rPr lang="en-IN" sz="1400" b="0" u="none" strike="noStrike" cap="none" baseline="30000">
                          <a:solidFill>
                            <a:srgbClr val="080808"/>
                          </a:solidFill>
                          <a:latin typeface="Calibri"/>
                          <a:ea typeface="Calibri"/>
                          <a:cs typeface="Calibri"/>
                          <a:sym typeface="Calibri"/>
                        </a:rPr>
                        <a:t>6</a:t>
                      </a:r>
                      <a:r>
                        <a:rPr lang="en-IN" sz="1400" b="0" u="none" strike="noStrike" cap="none">
                          <a:solidFill>
                            <a:srgbClr val="080808"/>
                          </a:solidFill>
                          <a:latin typeface="Calibri"/>
                          <a:ea typeface="Calibri"/>
                          <a:cs typeface="Calibri"/>
                          <a:sym typeface="Calibri"/>
                        </a:rPr>
                        <a:t>4s</a:t>
                      </a:r>
                      <a:r>
                        <a:rPr lang="en-IN" sz="1400" b="0" u="none" strike="noStrike" cap="none" baseline="30000">
                          <a:solidFill>
                            <a:srgbClr val="080808"/>
                          </a:solidFill>
                          <a:latin typeface="Calibri"/>
                          <a:ea typeface="Calibri"/>
                          <a:cs typeface="Calibri"/>
                          <a:sym typeface="Calibri"/>
                        </a:rPr>
                        <a:t>2</a:t>
                      </a:r>
                      <a:endParaRPr sz="1400" b="0" u="none" strike="noStrike" cap="none">
                        <a:solidFill>
                          <a:srgbClr val="080808"/>
                        </a:solidFill>
                        <a:latin typeface="Calibri"/>
                        <a:ea typeface="Calibri"/>
                        <a:cs typeface="Calibri"/>
                        <a:sym typeface="Calibri"/>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None/>
                      </a:pPr>
                      <a:r>
                        <a:rPr lang="en-IN" sz="1400" b="0" u="none" strike="noStrike" cap="none">
                          <a:solidFill>
                            <a:srgbClr val="080808"/>
                          </a:solidFill>
                          <a:latin typeface="Calibri"/>
                          <a:ea typeface="Calibri"/>
                          <a:cs typeface="Calibri"/>
                          <a:sym typeface="Calibri"/>
                        </a:rPr>
                        <a:t>Fe</a:t>
                      </a:r>
                      <a:r>
                        <a:rPr lang="en-IN" sz="1400" b="0" u="none" strike="noStrike" cap="none" baseline="30000">
                          <a:solidFill>
                            <a:srgbClr val="080808"/>
                          </a:solidFill>
                          <a:latin typeface="Calibri"/>
                          <a:ea typeface="Calibri"/>
                          <a:cs typeface="Calibri"/>
                          <a:sym typeface="Calibri"/>
                        </a:rPr>
                        <a:t>2+</a:t>
                      </a:r>
                      <a:r>
                        <a:rPr lang="en-IN" sz="1400" b="0" u="none" strike="noStrike" cap="none">
                          <a:solidFill>
                            <a:srgbClr val="080808"/>
                          </a:solidFill>
                          <a:latin typeface="Calibri"/>
                          <a:ea typeface="Calibri"/>
                          <a:cs typeface="Calibri"/>
                          <a:sym typeface="Calibri"/>
                        </a:rPr>
                        <a:t>, Fe</a:t>
                      </a:r>
                      <a:r>
                        <a:rPr lang="en-IN" sz="1400" b="0" u="none" strike="noStrike" cap="none" baseline="30000">
                          <a:solidFill>
                            <a:srgbClr val="080808"/>
                          </a:solidFill>
                          <a:latin typeface="Calibri"/>
                          <a:ea typeface="Calibri"/>
                          <a:cs typeface="Calibri"/>
                          <a:sym typeface="Calibri"/>
                        </a:rPr>
                        <a:t>3+</a:t>
                      </a:r>
                      <a:endParaRPr sz="1400" b="0" u="none" strike="noStrike" cap="none">
                        <a:solidFill>
                          <a:srgbClr val="080808"/>
                        </a:solidFill>
                        <a:latin typeface="Calibri"/>
                        <a:ea typeface="Calibri"/>
                        <a:cs typeface="Calibri"/>
                        <a:sym typeface="Calibri"/>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47375">
                <a:tc>
                  <a:txBody>
                    <a:bodyPr/>
                    <a:lstStyle/>
                    <a:p>
                      <a:pPr marL="0" marR="0" lvl="0" indent="0" algn="l" rtl="0">
                        <a:lnSpc>
                          <a:spcPct val="115000"/>
                        </a:lnSpc>
                        <a:spcBef>
                          <a:spcPts val="0"/>
                        </a:spcBef>
                        <a:spcAft>
                          <a:spcPts val="0"/>
                        </a:spcAft>
                        <a:buNone/>
                      </a:pPr>
                      <a:r>
                        <a:rPr lang="en-IN" sz="1400" b="0" i="0" u="none" strike="noStrike" cap="none">
                          <a:solidFill>
                            <a:srgbClr val="080808"/>
                          </a:solidFill>
                          <a:latin typeface="Calibri"/>
                          <a:ea typeface="Calibri"/>
                          <a:cs typeface="Calibri"/>
                          <a:sym typeface="Calibri"/>
                        </a:rPr>
                        <a:t>Cobalt (Co)</a:t>
                      </a:r>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None/>
                      </a:pPr>
                      <a:r>
                        <a:rPr lang="en-IN" sz="1400" b="0" i="0" u="none" strike="noStrike" cap="none">
                          <a:solidFill>
                            <a:srgbClr val="080808"/>
                          </a:solidFill>
                          <a:latin typeface="Calibri"/>
                          <a:ea typeface="Calibri"/>
                          <a:cs typeface="Calibri"/>
                          <a:sym typeface="Calibri"/>
                        </a:rPr>
                        <a:t>27</a:t>
                      </a:r>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None/>
                      </a:pPr>
                      <a:r>
                        <a:rPr lang="en-IN" sz="1400" b="0" u="none" strike="noStrike" cap="none">
                          <a:solidFill>
                            <a:srgbClr val="080808"/>
                          </a:solidFill>
                          <a:latin typeface="Calibri"/>
                          <a:ea typeface="Calibri"/>
                          <a:cs typeface="Calibri"/>
                          <a:sym typeface="Calibri"/>
                        </a:rPr>
                        <a:t>[Ar]3d</a:t>
                      </a:r>
                      <a:r>
                        <a:rPr lang="en-IN" sz="1400" b="0" u="none" strike="noStrike" cap="none" baseline="30000">
                          <a:solidFill>
                            <a:srgbClr val="080808"/>
                          </a:solidFill>
                          <a:latin typeface="Calibri"/>
                          <a:ea typeface="Calibri"/>
                          <a:cs typeface="Calibri"/>
                          <a:sym typeface="Calibri"/>
                        </a:rPr>
                        <a:t>7</a:t>
                      </a:r>
                      <a:r>
                        <a:rPr lang="en-IN" sz="1400" b="0" u="none" strike="noStrike" cap="none">
                          <a:solidFill>
                            <a:srgbClr val="080808"/>
                          </a:solidFill>
                          <a:latin typeface="Calibri"/>
                          <a:ea typeface="Calibri"/>
                          <a:cs typeface="Calibri"/>
                          <a:sym typeface="Calibri"/>
                        </a:rPr>
                        <a:t>4s</a:t>
                      </a:r>
                      <a:r>
                        <a:rPr lang="en-IN" sz="1400" b="0" u="none" strike="noStrike" cap="none" baseline="30000">
                          <a:solidFill>
                            <a:srgbClr val="080808"/>
                          </a:solidFill>
                          <a:latin typeface="Calibri"/>
                          <a:ea typeface="Calibri"/>
                          <a:cs typeface="Calibri"/>
                          <a:sym typeface="Calibri"/>
                        </a:rPr>
                        <a:t>2</a:t>
                      </a:r>
                      <a:endParaRPr sz="1400" b="0" u="none" strike="noStrike" cap="none">
                        <a:solidFill>
                          <a:srgbClr val="080808"/>
                        </a:solidFill>
                        <a:latin typeface="Calibri"/>
                        <a:ea typeface="Calibri"/>
                        <a:cs typeface="Calibri"/>
                        <a:sym typeface="Calibri"/>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None/>
                      </a:pPr>
                      <a:r>
                        <a:rPr lang="en-IN" sz="1400" b="0" u="none" strike="noStrike" cap="none">
                          <a:solidFill>
                            <a:srgbClr val="080808"/>
                          </a:solidFill>
                          <a:latin typeface="Calibri"/>
                          <a:ea typeface="Calibri"/>
                          <a:cs typeface="Calibri"/>
                          <a:sym typeface="Calibri"/>
                        </a:rPr>
                        <a:t>Co</a:t>
                      </a:r>
                      <a:r>
                        <a:rPr lang="en-IN" sz="1400" b="0" u="none" strike="noStrike" cap="none" baseline="30000">
                          <a:solidFill>
                            <a:srgbClr val="080808"/>
                          </a:solidFill>
                          <a:latin typeface="Calibri"/>
                          <a:ea typeface="Calibri"/>
                          <a:cs typeface="Calibri"/>
                          <a:sym typeface="Calibri"/>
                        </a:rPr>
                        <a:t>2+</a:t>
                      </a:r>
                      <a:r>
                        <a:rPr lang="en-IN" sz="1400" b="0" u="none" strike="noStrike" cap="none">
                          <a:solidFill>
                            <a:srgbClr val="080808"/>
                          </a:solidFill>
                          <a:latin typeface="Calibri"/>
                          <a:ea typeface="Calibri"/>
                          <a:cs typeface="Calibri"/>
                          <a:sym typeface="Calibri"/>
                        </a:rPr>
                        <a:t>, Co</a:t>
                      </a:r>
                      <a:r>
                        <a:rPr lang="en-IN" sz="1400" b="0" u="none" strike="noStrike" cap="none" baseline="30000">
                          <a:solidFill>
                            <a:srgbClr val="080808"/>
                          </a:solidFill>
                          <a:latin typeface="Calibri"/>
                          <a:ea typeface="Calibri"/>
                          <a:cs typeface="Calibri"/>
                          <a:sym typeface="Calibri"/>
                        </a:rPr>
                        <a:t>3+</a:t>
                      </a:r>
                      <a:endParaRPr sz="1400" b="0" u="none" strike="noStrike" cap="none">
                        <a:solidFill>
                          <a:srgbClr val="080808"/>
                        </a:solidFill>
                        <a:latin typeface="Calibri"/>
                        <a:ea typeface="Calibri"/>
                        <a:cs typeface="Calibri"/>
                        <a:sym typeface="Calibri"/>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47375">
                <a:tc>
                  <a:txBody>
                    <a:bodyPr/>
                    <a:lstStyle/>
                    <a:p>
                      <a:pPr marL="0" marR="0" lvl="0" indent="0" algn="l" rtl="0">
                        <a:lnSpc>
                          <a:spcPct val="115000"/>
                        </a:lnSpc>
                        <a:spcBef>
                          <a:spcPts val="0"/>
                        </a:spcBef>
                        <a:spcAft>
                          <a:spcPts val="0"/>
                        </a:spcAft>
                        <a:buNone/>
                      </a:pPr>
                      <a:r>
                        <a:rPr lang="en-IN" sz="1400" b="0" i="0" u="none" strike="noStrike" cap="none">
                          <a:solidFill>
                            <a:srgbClr val="080808"/>
                          </a:solidFill>
                          <a:latin typeface="Calibri"/>
                          <a:ea typeface="Calibri"/>
                          <a:cs typeface="Calibri"/>
                          <a:sym typeface="Calibri"/>
                        </a:rPr>
                        <a:t>Nickel (Ni)</a:t>
                      </a:r>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None/>
                      </a:pPr>
                      <a:r>
                        <a:rPr lang="en-IN" sz="1400" b="0" i="0" u="none" strike="noStrike" cap="none">
                          <a:solidFill>
                            <a:srgbClr val="080808"/>
                          </a:solidFill>
                          <a:latin typeface="Calibri"/>
                          <a:ea typeface="Calibri"/>
                          <a:cs typeface="Calibri"/>
                          <a:sym typeface="Calibri"/>
                        </a:rPr>
                        <a:t>28</a:t>
                      </a:r>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None/>
                      </a:pPr>
                      <a:r>
                        <a:rPr lang="en-IN" sz="1400" b="0" u="none" strike="noStrike" cap="none">
                          <a:solidFill>
                            <a:srgbClr val="080808"/>
                          </a:solidFill>
                          <a:latin typeface="Calibri"/>
                          <a:ea typeface="Calibri"/>
                          <a:cs typeface="Calibri"/>
                          <a:sym typeface="Calibri"/>
                        </a:rPr>
                        <a:t>[Ar]3d</a:t>
                      </a:r>
                      <a:r>
                        <a:rPr lang="en-IN" sz="1400" b="0" u="none" strike="noStrike" cap="none" baseline="30000">
                          <a:solidFill>
                            <a:srgbClr val="080808"/>
                          </a:solidFill>
                          <a:latin typeface="Calibri"/>
                          <a:ea typeface="Calibri"/>
                          <a:cs typeface="Calibri"/>
                          <a:sym typeface="Calibri"/>
                        </a:rPr>
                        <a:t>8</a:t>
                      </a:r>
                      <a:r>
                        <a:rPr lang="en-IN" sz="1400" b="0" u="none" strike="noStrike" cap="none">
                          <a:solidFill>
                            <a:srgbClr val="080808"/>
                          </a:solidFill>
                          <a:latin typeface="Calibri"/>
                          <a:ea typeface="Calibri"/>
                          <a:cs typeface="Calibri"/>
                          <a:sym typeface="Calibri"/>
                        </a:rPr>
                        <a:t>4s</a:t>
                      </a:r>
                      <a:r>
                        <a:rPr lang="en-IN" sz="1400" b="0" u="none" strike="noStrike" cap="none" baseline="30000">
                          <a:solidFill>
                            <a:srgbClr val="080808"/>
                          </a:solidFill>
                          <a:latin typeface="Calibri"/>
                          <a:ea typeface="Calibri"/>
                          <a:cs typeface="Calibri"/>
                          <a:sym typeface="Calibri"/>
                        </a:rPr>
                        <a:t>2</a:t>
                      </a:r>
                      <a:endParaRPr sz="1400" b="0" u="none" strike="noStrike" cap="none">
                        <a:solidFill>
                          <a:srgbClr val="080808"/>
                        </a:solidFill>
                        <a:latin typeface="Calibri"/>
                        <a:ea typeface="Calibri"/>
                        <a:cs typeface="Calibri"/>
                        <a:sym typeface="Calibri"/>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None/>
                      </a:pPr>
                      <a:r>
                        <a:rPr lang="en-IN" sz="1400" b="0" u="none" strike="noStrike" cap="none">
                          <a:solidFill>
                            <a:srgbClr val="080808"/>
                          </a:solidFill>
                          <a:latin typeface="Calibri"/>
                          <a:ea typeface="Calibri"/>
                          <a:cs typeface="Calibri"/>
                          <a:sym typeface="Calibri"/>
                        </a:rPr>
                        <a:t>Ni</a:t>
                      </a:r>
                      <a:r>
                        <a:rPr lang="en-IN" sz="1400" b="0" u="none" strike="noStrike" cap="none" baseline="30000">
                          <a:solidFill>
                            <a:srgbClr val="080808"/>
                          </a:solidFill>
                          <a:latin typeface="Calibri"/>
                          <a:ea typeface="Calibri"/>
                          <a:cs typeface="Calibri"/>
                          <a:sym typeface="Calibri"/>
                        </a:rPr>
                        <a:t>2+</a:t>
                      </a:r>
                      <a:endParaRPr sz="1400" b="0" u="none" strike="noStrike" cap="none">
                        <a:solidFill>
                          <a:srgbClr val="080808"/>
                        </a:solidFill>
                        <a:latin typeface="Calibri"/>
                        <a:ea typeface="Calibri"/>
                        <a:cs typeface="Calibri"/>
                        <a:sym typeface="Calibri"/>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47375">
                <a:tc>
                  <a:txBody>
                    <a:bodyPr/>
                    <a:lstStyle/>
                    <a:p>
                      <a:pPr marL="0" marR="0" lvl="0" indent="0" algn="l" rtl="0">
                        <a:lnSpc>
                          <a:spcPct val="115000"/>
                        </a:lnSpc>
                        <a:spcBef>
                          <a:spcPts val="0"/>
                        </a:spcBef>
                        <a:spcAft>
                          <a:spcPts val="0"/>
                        </a:spcAft>
                        <a:buNone/>
                      </a:pPr>
                      <a:r>
                        <a:rPr lang="en-IN" sz="1400" b="0" i="0" u="none" strike="noStrike" cap="none">
                          <a:solidFill>
                            <a:srgbClr val="080808"/>
                          </a:solidFill>
                          <a:latin typeface="Calibri"/>
                          <a:ea typeface="Calibri"/>
                          <a:cs typeface="Calibri"/>
                          <a:sym typeface="Calibri"/>
                        </a:rPr>
                        <a:t>Copper (Cu)</a:t>
                      </a:r>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None/>
                      </a:pPr>
                      <a:r>
                        <a:rPr lang="en-IN" sz="1400" b="0" i="0" u="none" strike="noStrike" cap="none">
                          <a:solidFill>
                            <a:srgbClr val="080808"/>
                          </a:solidFill>
                          <a:latin typeface="Calibri"/>
                          <a:ea typeface="Calibri"/>
                          <a:cs typeface="Calibri"/>
                          <a:sym typeface="Calibri"/>
                        </a:rPr>
                        <a:t>29</a:t>
                      </a:r>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None/>
                      </a:pPr>
                      <a:r>
                        <a:rPr lang="en-IN" sz="1400" b="0" u="none" strike="noStrike" cap="none">
                          <a:solidFill>
                            <a:srgbClr val="080808"/>
                          </a:solidFill>
                          <a:latin typeface="Calibri"/>
                          <a:ea typeface="Calibri"/>
                          <a:cs typeface="Calibri"/>
                          <a:sym typeface="Calibri"/>
                        </a:rPr>
                        <a:t>[Ar]3d</a:t>
                      </a:r>
                      <a:r>
                        <a:rPr lang="en-IN" sz="1400" b="0" u="none" strike="noStrike" cap="none" baseline="30000">
                          <a:solidFill>
                            <a:srgbClr val="080808"/>
                          </a:solidFill>
                          <a:latin typeface="Calibri"/>
                          <a:ea typeface="Calibri"/>
                          <a:cs typeface="Calibri"/>
                          <a:sym typeface="Calibri"/>
                        </a:rPr>
                        <a:t>10</a:t>
                      </a:r>
                      <a:r>
                        <a:rPr lang="en-IN" sz="1400" b="0" u="none" strike="noStrike" cap="none">
                          <a:solidFill>
                            <a:srgbClr val="080808"/>
                          </a:solidFill>
                          <a:latin typeface="Calibri"/>
                          <a:ea typeface="Calibri"/>
                          <a:cs typeface="Calibri"/>
                          <a:sym typeface="Calibri"/>
                        </a:rPr>
                        <a:t>4s</a:t>
                      </a:r>
                      <a:r>
                        <a:rPr lang="en-IN" sz="1400" b="0" u="none" strike="noStrike" cap="none" baseline="30000">
                          <a:solidFill>
                            <a:srgbClr val="080808"/>
                          </a:solidFill>
                          <a:latin typeface="Calibri"/>
                          <a:ea typeface="Calibri"/>
                          <a:cs typeface="Calibri"/>
                          <a:sym typeface="Calibri"/>
                        </a:rPr>
                        <a:t>1</a:t>
                      </a:r>
                      <a:endParaRPr sz="1400" b="0" u="none" strike="noStrike" cap="none">
                        <a:solidFill>
                          <a:srgbClr val="080808"/>
                        </a:solidFill>
                        <a:latin typeface="Calibri"/>
                        <a:ea typeface="Calibri"/>
                        <a:cs typeface="Calibri"/>
                        <a:sym typeface="Calibri"/>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None/>
                      </a:pPr>
                      <a:r>
                        <a:rPr lang="en-IN" sz="1400" b="0" u="none" strike="noStrike" cap="none">
                          <a:solidFill>
                            <a:srgbClr val="080808"/>
                          </a:solidFill>
                          <a:latin typeface="Calibri"/>
                          <a:ea typeface="Calibri"/>
                          <a:cs typeface="Calibri"/>
                          <a:sym typeface="Calibri"/>
                        </a:rPr>
                        <a:t>Cu</a:t>
                      </a:r>
                      <a:r>
                        <a:rPr lang="en-IN" sz="1400" b="0" u="none" strike="noStrike" cap="none" baseline="30000">
                          <a:solidFill>
                            <a:srgbClr val="080808"/>
                          </a:solidFill>
                          <a:latin typeface="Calibri"/>
                          <a:ea typeface="Calibri"/>
                          <a:cs typeface="Calibri"/>
                          <a:sym typeface="Calibri"/>
                        </a:rPr>
                        <a:t>1+</a:t>
                      </a:r>
                      <a:r>
                        <a:rPr lang="en-IN" sz="1400" b="0" u="none" strike="noStrike" cap="none">
                          <a:solidFill>
                            <a:srgbClr val="080808"/>
                          </a:solidFill>
                          <a:latin typeface="Calibri"/>
                          <a:ea typeface="Calibri"/>
                          <a:cs typeface="Calibri"/>
                          <a:sym typeface="Calibri"/>
                        </a:rPr>
                        <a:t>, Cu</a:t>
                      </a:r>
                      <a:r>
                        <a:rPr lang="en-IN" sz="1400" b="0" u="none" strike="noStrike" cap="none" baseline="30000">
                          <a:solidFill>
                            <a:srgbClr val="080808"/>
                          </a:solidFill>
                          <a:latin typeface="Calibri"/>
                          <a:ea typeface="Calibri"/>
                          <a:cs typeface="Calibri"/>
                          <a:sym typeface="Calibri"/>
                        </a:rPr>
                        <a:t>2+</a:t>
                      </a:r>
                      <a:endParaRPr sz="1400" b="0" u="none" strike="noStrike" cap="none">
                        <a:solidFill>
                          <a:srgbClr val="080808"/>
                        </a:solidFill>
                        <a:latin typeface="Calibri"/>
                        <a:ea typeface="Calibri"/>
                        <a:cs typeface="Calibri"/>
                        <a:sym typeface="Calibri"/>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347375">
                <a:tc>
                  <a:txBody>
                    <a:bodyPr/>
                    <a:lstStyle/>
                    <a:p>
                      <a:pPr marL="0" marR="0" lvl="0" indent="0" algn="l" rtl="0">
                        <a:lnSpc>
                          <a:spcPct val="115000"/>
                        </a:lnSpc>
                        <a:spcBef>
                          <a:spcPts val="0"/>
                        </a:spcBef>
                        <a:spcAft>
                          <a:spcPts val="0"/>
                        </a:spcAft>
                        <a:buNone/>
                      </a:pPr>
                      <a:r>
                        <a:rPr lang="en-IN" sz="1400" b="0" i="0" u="none" strike="noStrike" cap="none">
                          <a:solidFill>
                            <a:srgbClr val="080808"/>
                          </a:solidFill>
                          <a:latin typeface="Calibri"/>
                          <a:ea typeface="Calibri"/>
                          <a:cs typeface="Calibri"/>
                          <a:sym typeface="Calibri"/>
                        </a:rPr>
                        <a:t>Zinc (Zn)</a:t>
                      </a:r>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None/>
                      </a:pPr>
                      <a:r>
                        <a:rPr lang="en-IN" sz="1400" b="0" i="0" u="none" strike="noStrike" cap="none">
                          <a:solidFill>
                            <a:srgbClr val="080808"/>
                          </a:solidFill>
                          <a:latin typeface="Calibri"/>
                          <a:ea typeface="Calibri"/>
                          <a:cs typeface="Calibri"/>
                          <a:sym typeface="Calibri"/>
                        </a:rPr>
                        <a:t>30</a:t>
                      </a:r>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None/>
                      </a:pPr>
                      <a:r>
                        <a:rPr lang="en-IN" sz="1400" b="0" u="none" strike="noStrike" cap="none">
                          <a:solidFill>
                            <a:srgbClr val="080808"/>
                          </a:solidFill>
                          <a:latin typeface="Calibri"/>
                          <a:ea typeface="Calibri"/>
                          <a:cs typeface="Calibri"/>
                          <a:sym typeface="Calibri"/>
                        </a:rPr>
                        <a:t>[Ar]3d</a:t>
                      </a:r>
                      <a:r>
                        <a:rPr lang="en-IN" sz="1400" b="0" u="none" strike="noStrike" cap="none" baseline="30000">
                          <a:solidFill>
                            <a:srgbClr val="080808"/>
                          </a:solidFill>
                          <a:latin typeface="Calibri"/>
                          <a:ea typeface="Calibri"/>
                          <a:cs typeface="Calibri"/>
                          <a:sym typeface="Calibri"/>
                        </a:rPr>
                        <a:t>10</a:t>
                      </a:r>
                      <a:r>
                        <a:rPr lang="en-IN" sz="1400" b="0" u="none" strike="noStrike" cap="none">
                          <a:solidFill>
                            <a:srgbClr val="080808"/>
                          </a:solidFill>
                          <a:latin typeface="Calibri"/>
                          <a:ea typeface="Calibri"/>
                          <a:cs typeface="Calibri"/>
                          <a:sym typeface="Calibri"/>
                        </a:rPr>
                        <a:t>4s</a:t>
                      </a:r>
                      <a:r>
                        <a:rPr lang="en-IN" sz="1400" b="0" u="none" strike="noStrike" cap="none" baseline="30000">
                          <a:solidFill>
                            <a:srgbClr val="080808"/>
                          </a:solidFill>
                          <a:latin typeface="Calibri"/>
                          <a:ea typeface="Calibri"/>
                          <a:cs typeface="Calibri"/>
                          <a:sym typeface="Calibri"/>
                        </a:rPr>
                        <a:t>2</a:t>
                      </a:r>
                      <a:endParaRPr sz="1400" b="0" u="none" strike="noStrike" cap="none">
                        <a:solidFill>
                          <a:srgbClr val="080808"/>
                        </a:solidFill>
                        <a:latin typeface="Calibri"/>
                        <a:ea typeface="Calibri"/>
                        <a:cs typeface="Calibri"/>
                        <a:sym typeface="Calibri"/>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None/>
                      </a:pPr>
                      <a:r>
                        <a:rPr lang="en-IN" sz="1400" b="0" u="none" strike="noStrike" cap="none" dirty="0">
                          <a:solidFill>
                            <a:srgbClr val="080808"/>
                          </a:solidFill>
                          <a:latin typeface="Calibri"/>
                          <a:ea typeface="Calibri"/>
                          <a:cs typeface="Calibri"/>
                          <a:sym typeface="Calibri"/>
                        </a:rPr>
                        <a:t>Zn</a:t>
                      </a:r>
                      <a:r>
                        <a:rPr lang="en-IN" sz="1400" b="0" u="none" strike="noStrike" cap="none" baseline="30000" dirty="0">
                          <a:solidFill>
                            <a:srgbClr val="080808"/>
                          </a:solidFill>
                          <a:latin typeface="Calibri"/>
                          <a:ea typeface="Calibri"/>
                          <a:cs typeface="Calibri"/>
                          <a:sym typeface="Calibri"/>
                        </a:rPr>
                        <a:t>2+</a:t>
                      </a:r>
                      <a:endParaRPr sz="1400" b="0" u="none" strike="noStrike" cap="none" dirty="0">
                        <a:solidFill>
                          <a:srgbClr val="080808"/>
                        </a:solidFill>
                        <a:latin typeface="Calibri"/>
                        <a:ea typeface="Calibri"/>
                        <a:cs typeface="Calibri"/>
                        <a:sym typeface="Calibri"/>
                      </a:endParaRPr>
                    </a:p>
                  </a:txBody>
                  <a:tcPr marL="61775" marR="617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lvl="0"/>
            <a:r>
              <a:rPr lang="en-IN" sz="3200" dirty="0">
                <a:solidFill>
                  <a:srgbClr val="000000"/>
                </a:solidFill>
                <a:latin typeface="Calibri" panose="020F0502020204030204" pitchFamily="34" charset="0"/>
              </a:rPr>
              <a:t>Periodic trend in atomic radius</a:t>
            </a:r>
            <a:endParaRPr sz="3200" dirty="0">
              <a:solidFill>
                <a:srgbClr val="000000"/>
              </a:solidFill>
              <a:latin typeface="Calibri" panose="020F0502020204030204" pitchFamily="34" charset="0"/>
            </a:endParaRPr>
          </a:p>
        </p:txBody>
      </p:sp>
      <p:sp>
        <p:nvSpPr>
          <p:cNvPr id="124" name="Google Shape;124;p27"/>
          <p:cNvSpPr txBox="1">
            <a:spLocks noGrp="1"/>
          </p:cNvSpPr>
          <p:nvPr>
            <p:ph type="body" idx="2"/>
          </p:nvPr>
        </p:nvSpPr>
        <p:spPr>
          <a:xfrm>
            <a:off x="4792744" y="776293"/>
            <a:ext cx="3837000" cy="3695100"/>
          </a:xfrm>
          <a:prstGeom prst="rect">
            <a:avLst/>
          </a:prstGeom>
        </p:spPr>
        <p:txBody>
          <a:bodyPr spcFirstLastPara="1" wrap="square" lIns="91425" tIns="91425" rIns="91425" bIns="91425" anchor="t" anchorCtr="0">
            <a:noAutofit/>
          </a:bodyPr>
          <a:lstStyle/>
          <a:p>
            <a:pPr lvl="0">
              <a:buFont typeface="Arial" panose="020B0604020202020204" pitchFamily="34" charset="0"/>
              <a:buChar char="•"/>
            </a:pPr>
            <a:r>
              <a:rPr lang="en-IN" sz="1600" dirty="0">
                <a:latin typeface="Calibri" panose="020F0502020204030204" pitchFamily="34" charset="0"/>
              </a:rPr>
              <a:t>Across a period, the number of protons and electrons increases by one with each successive element.</a:t>
            </a:r>
          </a:p>
          <a:p>
            <a:pPr lvl="0">
              <a:buFont typeface="Arial" panose="020B0604020202020204" pitchFamily="34" charset="0"/>
              <a:buChar char="•"/>
            </a:pPr>
            <a:r>
              <a:rPr lang="en-IN" sz="1600" dirty="0">
                <a:latin typeface="Calibri" panose="020F0502020204030204" pitchFamily="34" charset="0"/>
              </a:rPr>
              <a:t>With increase in number of protons, the force of attraction between the nucleus and the electrons increases.</a:t>
            </a:r>
          </a:p>
          <a:p>
            <a:pPr lvl="0">
              <a:buFont typeface="Arial" panose="020B0604020202020204" pitchFamily="34" charset="0"/>
              <a:buChar char="•"/>
            </a:pPr>
            <a:r>
              <a:rPr lang="en-IN" sz="1600" dirty="0">
                <a:latin typeface="Calibri" panose="020F0502020204030204" pitchFamily="34" charset="0"/>
              </a:rPr>
              <a:t>As the force of attraction increases, the atomic radius decreases. </a:t>
            </a:r>
          </a:p>
          <a:p>
            <a:pPr lvl="0">
              <a:buFont typeface="Arial" panose="020B0604020202020204" pitchFamily="34" charset="0"/>
              <a:buChar char="•"/>
            </a:pPr>
            <a:r>
              <a:rPr lang="en-IN" sz="1600" dirty="0">
                <a:latin typeface="Calibri" panose="020F0502020204030204" pitchFamily="34" charset="0"/>
              </a:rPr>
              <a:t>Hence, across a period from left to right, the atomic radius decreases.</a:t>
            </a:r>
          </a:p>
          <a:p>
            <a:pPr marL="285750" lvl="0" indent="-285750" rtl="0">
              <a:spcBef>
                <a:spcPts val="1600"/>
              </a:spcBef>
              <a:spcAft>
                <a:spcPts val="1600"/>
              </a:spcAft>
              <a:buFont typeface="Arial" panose="020B0604020202020204" pitchFamily="34" charset="0"/>
              <a:buChar char="•"/>
            </a:pPr>
            <a:endParaRPr sz="1600" dirty="0">
              <a:latin typeface="Calibri" panose="020F0502020204030204" pitchFamily="34" charset="0"/>
            </a:endParaRPr>
          </a:p>
        </p:txBody>
      </p:sp>
      <p:sp>
        <p:nvSpPr>
          <p:cNvPr id="126" name="Google Shape;126;p27"/>
          <p:cNvSpPr txBox="1"/>
          <p:nvPr/>
        </p:nvSpPr>
        <p:spPr>
          <a:xfrm>
            <a:off x="3128525" y="4546950"/>
            <a:ext cx="1206300" cy="278400"/>
          </a:xfrm>
          <a:prstGeom prst="rect">
            <a:avLst/>
          </a:prstGeom>
          <a:noFill/>
          <a:ln>
            <a:noFill/>
          </a:ln>
        </p:spPr>
        <p:txBody>
          <a:bodyPr spcFirstLastPara="1" wrap="square" lIns="91425" tIns="91425" rIns="91425" bIns="91425" anchor="t" anchorCtr="0">
            <a:noAutofit/>
          </a:bodyPr>
          <a:lstStyle/>
          <a:p>
            <a:pPr lvl="0"/>
            <a:r>
              <a:rPr lang="en-IN" sz="1100" dirty="0">
                <a:solidFill>
                  <a:srgbClr val="666666"/>
                </a:solidFill>
              </a:rPr>
              <a:t>Periodic trend in atomic radius</a:t>
            </a:r>
            <a:endParaRPr sz="1100" dirty="0">
              <a:solidFill>
                <a:srgbClr val="666666"/>
              </a:solidFill>
            </a:endParaRPr>
          </a:p>
        </p:txBody>
      </p:sp>
      <p:pic>
        <p:nvPicPr>
          <p:cNvPr id="6" name="Picture 5">
            <a:extLst>
              <a:ext uri="{FF2B5EF4-FFF2-40B4-BE49-F238E27FC236}">
                <a16:creationId xmlns:a16="http://schemas.microsoft.com/office/drawing/2014/main" id="{FEE8CEE8-08BB-48AE-9846-5DC9F1075597}"/>
              </a:ext>
            </a:extLst>
          </p:cNvPr>
          <p:cNvPicPr/>
          <p:nvPr/>
        </p:nvPicPr>
        <p:blipFill>
          <a:blip r:embed="rId3">
            <a:extLst>
              <a:ext uri="{28A0092B-C50C-407E-A947-70E740481C1C}">
                <a14:useLocalDpi xmlns:a14="http://schemas.microsoft.com/office/drawing/2010/main" val="0"/>
              </a:ext>
            </a:extLst>
          </a:blip>
          <a:stretch>
            <a:fillRect/>
          </a:stretch>
        </p:blipFill>
        <p:spPr>
          <a:xfrm>
            <a:off x="651041" y="1698171"/>
            <a:ext cx="3553460" cy="1851345"/>
          </a:xfrm>
          <a:prstGeom prst="rect">
            <a:avLst/>
          </a:prstGeom>
        </p:spPr>
      </p:pic>
    </p:spTree>
    <p:extLst>
      <p:ext uri="{BB962C8B-B14F-4D97-AF65-F5344CB8AC3E}">
        <p14:creationId xmlns:p14="http://schemas.microsoft.com/office/powerpoint/2010/main" val="15929672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895289"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rPr>
              <a:t>Measuring atomic radius</a:t>
            </a: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285750" lvl="0" indent="-285750" algn="just">
              <a:buFont typeface="Arial" panose="020B0604020202020204" pitchFamily="34" charset="0"/>
              <a:buChar char="•"/>
            </a:pPr>
            <a:r>
              <a:rPr lang="en-US" sz="1600" dirty="0">
                <a:latin typeface="Calibri" panose="020F0502020204030204" pitchFamily="34" charset="0"/>
                <a:cs typeface="Calibri" panose="020F0502020204030204" pitchFamily="34" charset="0"/>
              </a:rPr>
              <a:t>The covalent radius is measured by finding the distance between two nuclei of same atom. Half of the covalent radius gives us the atomic radius. </a:t>
            </a:r>
          </a:p>
          <a:p>
            <a:pPr marL="285750" lvl="0" indent="-285750" algn="just">
              <a:buFont typeface="Arial" panose="020B0604020202020204" pitchFamily="34" charset="0"/>
              <a:buChar char="•"/>
            </a:pPr>
            <a:r>
              <a:rPr lang="en-US" sz="1600" dirty="0">
                <a:latin typeface="Calibri" panose="020F0502020204030204" pitchFamily="34" charset="0"/>
                <a:cs typeface="Calibri" panose="020F0502020204030204" pitchFamily="34" charset="0"/>
              </a:rPr>
              <a:t>Metallic radii and van der </a:t>
            </a:r>
            <a:r>
              <a:rPr lang="en-US" sz="1600" dirty="0" err="1">
                <a:latin typeface="Calibri" panose="020F0502020204030204" pitchFamily="34" charset="0"/>
                <a:cs typeface="Calibri" panose="020F0502020204030204" pitchFamily="34" charset="0"/>
              </a:rPr>
              <a:t>waals</a:t>
            </a:r>
            <a:r>
              <a:rPr lang="en-US" sz="1600" dirty="0">
                <a:latin typeface="Calibri" panose="020F0502020204030204" pitchFamily="34" charset="0"/>
                <a:cs typeface="Calibri" panose="020F0502020204030204" pitchFamily="34" charset="0"/>
              </a:rPr>
              <a:t>’ radii are other measures of atomic radii. </a:t>
            </a:r>
          </a:p>
          <a:p>
            <a:pPr marL="285750" lvl="0" indent="-285750" algn="just">
              <a:buFont typeface="Arial" panose="020B0604020202020204" pitchFamily="34" charset="0"/>
              <a:buChar char="•"/>
            </a:pPr>
            <a:r>
              <a:rPr lang="en-US" sz="1600" dirty="0">
                <a:latin typeface="Calibri" panose="020F0502020204030204" pitchFamily="34" charset="0"/>
                <a:cs typeface="Calibri" panose="020F0502020204030204" pitchFamily="34" charset="0"/>
              </a:rPr>
              <a:t>Argon does not form covalent bonds because it has stable configuration and hence, covalent radii of Argon is not available. </a:t>
            </a:r>
          </a:p>
          <a:p>
            <a:pPr marL="0" lvl="0" indent="0" algn="l" rtl="0">
              <a:spcBef>
                <a:spcPts val="1000"/>
              </a:spcBef>
              <a:spcAft>
                <a:spcPts val="0"/>
              </a:spcAft>
              <a:buNone/>
            </a:pPr>
            <a:endParaRPr sz="16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sz="16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sz="1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507368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895289"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rPr>
              <a:t>Trend in atomic radius</a:t>
            </a:r>
          </a:p>
        </p:txBody>
      </p:sp>
      <p:sp>
        <p:nvSpPr>
          <p:cNvPr id="118" name="Google Shape;118;p26"/>
          <p:cNvSpPr txBox="1"/>
          <p:nvPr/>
        </p:nvSpPr>
        <p:spPr>
          <a:xfrm>
            <a:off x="702600" y="2028225"/>
            <a:ext cx="3756511" cy="2492100"/>
          </a:xfrm>
          <a:prstGeom prst="rect">
            <a:avLst/>
          </a:prstGeom>
          <a:noFill/>
          <a:ln>
            <a:noFill/>
          </a:ln>
        </p:spPr>
        <p:txBody>
          <a:bodyPr spcFirstLastPara="1" wrap="square" lIns="91425" tIns="91425" rIns="91425" bIns="91425" anchor="t" anchorCtr="0">
            <a:noAutofit/>
          </a:bodyPr>
          <a:lstStyle/>
          <a:p>
            <a:pPr marL="285750" lvl="0" indent="-285750" algn="just">
              <a:buFont typeface="Arial" panose="020B0604020202020204" pitchFamily="34" charset="0"/>
              <a:buChar char="•"/>
            </a:pPr>
            <a:r>
              <a:rPr lang="en-US" sz="1600" dirty="0">
                <a:latin typeface="Calibri" panose="020F0502020204030204" pitchFamily="34" charset="0"/>
                <a:cs typeface="Calibri" panose="020F0502020204030204" pitchFamily="34" charset="0"/>
              </a:rPr>
              <a:t>The atomic radius of elements increases down the group. </a:t>
            </a:r>
          </a:p>
          <a:p>
            <a:pPr marL="285750" lvl="0" indent="-285750" algn="just">
              <a:buFont typeface="Arial" panose="020B0604020202020204" pitchFamily="34" charset="0"/>
              <a:buChar char="•"/>
            </a:pPr>
            <a:r>
              <a:rPr lang="en-US" sz="1600" dirty="0">
                <a:latin typeface="Calibri" panose="020F0502020204030204" pitchFamily="34" charset="0"/>
                <a:cs typeface="Calibri" panose="020F0502020204030204" pitchFamily="34" charset="0"/>
              </a:rPr>
              <a:t>This is because a new principal quantum shell away from the nucleus is filled as we go down the group. </a:t>
            </a:r>
          </a:p>
          <a:p>
            <a:pPr marL="285750" lvl="0" indent="-285750" algn="just">
              <a:buFont typeface="Arial" panose="020B0604020202020204" pitchFamily="34" charset="0"/>
              <a:buChar char="•"/>
            </a:pPr>
            <a:r>
              <a:rPr lang="en-US" sz="1600" dirty="0">
                <a:latin typeface="Calibri" panose="020F0502020204030204" pitchFamily="34" charset="0"/>
                <a:cs typeface="Calibri" panose="020F0502020204030204" pitchFamily="34" charset="0"/>
              </a:rPr>
              <a:t>The trend in metallic radius of group 2 elements is given.</a:t>
            </a:r>
          </a:p>
        </p:txBody>
      </p:sp>
      <p:pic>
        <p:nvPicPr>
          <p:cNvPr id="4" name="Picture 3">
            <a:extLst>
              <a:ext uri="{FF2B5EF4-FFF2-40B4-BE49-F238E27FC236}">
                <a16:creationId xmlns:a16="http://schemas.microsoft.com/office/drawing/2014/main" id="{50B49B5F-DB2A-4F53-A0AF-CADC409AABD2}"/>
              </a:ext>
            </a:extLst>
          </p:cNvPr>
          <p:cNvPicPr>
            <a:picLocks noChangeAspect="1"/>
          </p:cNvPicPr>
          <p:nvPr/>
        </p:nvPicPr>
        <p:blipFill>
          <a:blip r:embed="rId3"/>
          <a:stretch>
            <a:fillRect/>
          </a:stretch>
        </p:blipFill>
        <p:spPr>
          <a:xfrm>
            <a:off x="4572000" y="2018837"/>
            <a:ext cx="4177386" cy="2510876"/>
          </a:xfrm>
          <a:prstGeom prst="rect">
            <a:avLst/>
          </a:prstGeom>
        </p:spPr>
      </p:pic>
    </p:spTree>
    <p:extLst>
      <p:ext uri="{BB962C8B-B14F-4D97-AF65-F5344CB8AC3E}">
        <p14:creationId xmlns:p14="http://schemas.microsoft.com/office/powerpoint/2010/main" val="34030952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lvl="0"/>
            <a:r>
              <a:rPr lang="en-IN" sz="3200" dirty="0">
                <a:solidFill>
                  <a:srgbClr val="000000"/>
                </a:solidFill>
                <a:latin typeface="Calibri" panose="020F0502020204030204" pitchFamily="34" charset="0"/>
              </a:rPr>
              <a:t>Periodic trend in ionic radius</a:t>
            </a:r>
            <a:endParaRPr sz="3200" dirty="0">
              <a:solidFill>
                <a:srgbClr val="000000"/>
              </a:solidFill>
              <a:latin typeface="Calibri" panose="020F0502020204030204" pitchFamily="34" charset="0"/>
            </a:endParaRPr>
          </a:p>
        </p:txBody>
      </p:sp>
      <p:sp>
        <p:nvSpPr>
          <p:cNvPr id="124" name="Google Shape;124;p27"/>
          <p:cNvSpPr txBox="1">
            <a:spLocks noGrp="1"/>
          </p:cNvSpPr>
          <p:nvPr>
            <p:ph type="body" idx="2"/>
          </p:nvPr>
        </p:nvSpPr>
        <p:spPr>
          <a:xfrm>
            <a:off x="4792744" y="776293"/>
            <a:ext cx="3837000" cy="3695100"/>
          </a:xfrm>
          <a:prstGeom prst="rect">
            <a:avLst/>
          </a:prstGeom>
        </p:spPr>
        <p:txBody>
          <a:bodyPr spcFirstLastPara="1" wrap="square" lIns="91425" tIns="91425" rIns="91425" bIns="91425" anchor="t" anchorCtr="0">
            <a:noAutofit/>
          </a:bodyPr>
          <a:lstStyle/>
          <a:p>
            <a:pPr lvl="0"/>
            <a:r>
              <a:rPr lang="en-US" sz="1400" dirty="0">
                <a:latin typeface="Calibri" panose="020F0502020204030204" pitchFamily="34" charset="0"/>
              </a:rPr>
              <a:t>Metallic elements form positive ions and non-metallic elements form negative ions. </a:t>
            </a:r>
          </a:p>
          <a:p>
            <a:pPr lvl="0"/>
            <a:r>
              <a:rPr lang="en-US" sz="1400" dirty="0">
                <a:latin typeface="Calibri" panose="020F0502020204030204" pitchFamily="34" charset="0"/>
              </a:rPr>
              <a:t>Positive ions lose electrons to become stable and therefore, lose the outermost shell and become smaller than the original atom. </a:t>
            </a:r>
          </a:p>
          <a:p>
            <a:pPr lvl="0"/>
            <a:r>
              <a:rPr lang="en-US" sz="1400" dirty="0">
                <a:latin typeface="Calibri" panose="020F0502020204030204" pitchFamily="34" charset="0"/>
              </a:rPr>
              <a:t>The shielding effect of outer electrons also reduces in positive ions. </a:t>
            </a:r>
          </a:p>
          <a:p>
            <a:pPr lvl="0"/>
            <a:r>
              <a:rPr lang="en-US" sz="1400" dirty="0">
                <a:latin typeface="Calibri" panose="020F0502020204030204" pitchFamily="34" charset="0"/>
              </a:rPr>
              <a:t>Across the period, the ionic radius reduces for positive ions due to increase in nuclear charge (increased force of attraction). </a:t>
            </a:r>
          </a:p>
          <a:p>
            <a:pPr lvl="0"/>
            <a:r>
              <a:rPr lang="en-US" sz="1400" dirty="0">
                <a:latin typeface="Calibri" panose="020F0502020204030204" pitchFamily="34" charset="0"/>
              </a:rPr>
              <a:t>The trend of this ionic radius is shown in figure.</a:t>
            </a:r>
          </a:p>
          <a:p>
            <a:pPr marL="0" lvl="0" indent="0" rtl="0">
              <a:spcBef>
                <a:spcPts val="1600"/>
              </a:spcBef>
              <a:spcAft>
                <a:spcPts val="1600"/>
              </a:spcAft>
              <a:buNone/>
            </a:pPr>
            <a:endParaRPr sz="1400" dirty="0">
              <a:latin typeface="Calibri" panose="020F0502020204030204" pitchFamily="34" charset="0"/>
            </a:endParaRPr>
          </a:p>
        </p:txBody>
      </p:sp>
      <p:sp>
        <p:nvSpPr>
          <p:cNvPr id="126" name="Google Shape;126;p27"/>
          <p:cNvSpPr txBox="1"/>
          <p:nvPr/>
        </p:nvSpPr>
        <p:spPr>
          <a:xfrm>
            <a:off x="3128525" y="4546950"/>
            <a:ext cx="1206300" cy="278400"/>
          </a:xfrm>
          <a:prstGeom prst="rect">
            <a:avLst/>
          </a:prstGeom>
          <a:noFill/>
          <a:ln>
            <a:noFill/>
          </a:ln>
        </p:spPr>
        <p:txBody>
          <a:bodyPr spcFirstLastPara="1" wrap="square" lIns="91425" tIns="91425" rIns="91425" bIns="91425" anchor="t" anchorCtr="0">
            <a:noAutofit/>
          </a:bodyPr>
          <a:lstStyle/>
          <a:p>
            <a:pPr lvl="0"/>
            <a:r>
              <a:rPr lang="en-IN" sz="1100" dirty="0">
                <a:solidFill>
                  <a:srgbClr val="666666"/>
                </a:solidFill>
              </a:rPr>
              <a:t>Periodic trend in atomic radius</a:t>
            </a:r>
            <a:endParaRPr sz="1100" dirty="0">
              <a:solidFill>
                <a:srgbClr val="666666"/>
              </a:solidFill>
            </a:endParaRPr>
          </a:p>
        </p:txBody>
      </p:sp>
      <p:pic>
        <p:nvPicPr>
          <p:cNvPr id="2" name="Picture 1">
            <a:extLst>
              <a:ext uri="{FF2B5EF4-FFF2-40B4-BE49-F238E27FC236}">
                <a16:creationId xmlns:a16="http://schemas.microsoft.com/office/drawing/2014/main" id="{5CB44B38-DA00-4F2D-9DB9-6E159483AF68}"/>
              </a:ext>
            </a:extLst>
          </p:cNvPr>
          <p:cNvPicPr>
            <a:picLocks noChangeAspect="1"/>
          </p:cNvPicPr>
          <p:nvPr/>
        </p:nvPicPr>
        <p:blipFill>
          <a:blip r:embed="rId3"/>
          <a:stretch>
            <a:fillRect/>
          </a:stretch>
        </p:blipFill>
        <p:spPr>
          <a:xfrm>
            <a:off x="506047" y="1504522"/>
            <a:ext cx="3964969" cy="2490611"/>
          </a:xfrm>
          <a:prstGeom prst="rect">
            <a:avLst/>
          </a:prstGeom>
        </p:spPr>
      </p:pic>
      <p:sp>
        <p:nvSpPr>
          <p:cNvPr id="19" name="TextBox 18">
            <a:extLst>
              <a:ext uri="{FF2B5EF4-FFF2-40B4-BE49-F238E27FC236}">
                <a16:creationId xmlns:a16="http://schemas.microsoft.com/office/drawing/2014/main" id="{967B12F2-E19C-45F9-A04D-02A6BC600ADF}"/>
              </a:ext>
            </a:extLst>
          </p:cNvPr>
          <p:cNvSpPr txBox="1"/>
          <p:nvPr/>
        </p:nvSpPr>
        <p:spPr>
          <a:xfrm rot="16200000">
            <a:off x="-398013" y="2417862"/>
            <a:ext cx="1516762" cy="307777"/>
          </a:xfrm>
          <a:prstGeom prst="rect">
            <a:avLst/>
          </a:prstGeom>
          <a:noFill/>
        </p:spPr>
        <p:txBody>
          <a:bodyPr wrap="none" rtlCol="0">
            <a:spAutoFit/>
          </a:bodyPr>
          <a:lstStyle/>
          <a:p>
            <a:r>
              <a:rPr lang="en-MY" dirty="0"/>
              <a:t>Ionic radius (nm)</a:t>
            </a:r>
            <a:endParaRPr lang="en-GB" dirty="0"/>
          </a:p>
        </p:txBody>
      </p:sp>
    </p:spTree>
    <p:extLst>
      <p:ext uri="{BB962C8B-B14F-4D97-AF65-F5344CB8AC3E}">
        <p14:creationId xmlns:p14="http://schemas.microsoft.com/office/powerpoint/2010/main" val="28851979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lvl="0"/>
            <a:r>
              <a:rPr lang="en-IN" sz="3200" dirty="0">
                <a:solidFill>
                  <a:srgbClr val="000000"/>
                </a:solidFill>
                <a:latin typeface="Calibri" panose="020F0502020204030204" pitchFamily="34" charset="0"/>
              </a:rPr>
              <a:t>Periodic trend in ionic radius</a:t>
            </a:r>
            <a:endParaRPr sz="3200" dirty="0">
              <a:solidFill>
                <a:srgbClr val="000000"/>
              </a:solidFill>
              <a:latin typeface="Calibri" panose="020F0502020204030204" pitchFamily="34" charset="0"/>
            </a:endParaRPr>
          </a:p>
        </p:txBody>
      </p:sp>
      <p:sp>
        <p:nvSpPr>
          <p:cNvPr id="124" name="Google Shape;124;p27"/>
          <p:cNvSpPr txBox="1">
            <a:spLocks noGrp="1"/>
          </p:cNvSpPr>
          <p:nvPr>
            <p:ph type="body" idx="2"/>
          </p:nvPr>
        </p:nvSpPr>
        <p:spPr>
          <a:xfrm>
            <a:off x="4792744" y="776293"/>
            <a:ext cx="3837000" cy="3695100"/>
          </a:xfrm>
          <a:prstGeom prst="rect">
            <a:avLst/>
          </a:prstGeom>
        </p:spPr>
        <p:txBody>
          <a:bodyPr spcFirstLastPara="1" wrap="square" lIns="91425" tIns="91425" rIns="91425" bIns="91425" anchor="t" anchorCtr="0">
            <a:noAutofit/>
          </a:bodyPr>
          <a:lstStyle/>
          <a:p>
            <a:pPr lvl="0"/>
            <a:r>
              <a:rPr lang="en-US" sz="1600" dirty="0">
                <a:latin typeface="Calibri" panose="020F0502020204030204" pitchFamily="34" charset="0"/>
              </a:rPr>
              <a:t>Alternatively, negative ions accept electrons to become stable. </a:t>
            </a:r>
          </a:p>
          <a:p>
            <a:pPr lvl="0"/>
            <a:endParaRPr lang="en-US" sz="1600" dirty="0">
              <a:latin typeface="Calibri" panose="020F0502020204030204" pitchFamily="34" charset="0"/>
            </a:endParaRPr>
          </a:p>
          <a:p>
            <a:pPr lvl="0"/>
            <a:r>
              <a:rPr lang="en-US" sz="1600" dirty="0">
                <a:latin typeface="Calibri" panose="020F0502020204030204" pitchFamily="34" charset="0"/>
              </a:rPr>
              <a:t>The repulsion between electrons increases the size of negative ions when compared to original atoms. </a:t>
            </a:r>
          </a:p>
          <a:p>
            <a:pPr marL="114300" lvl="0" indent="0">
              <a:buNone/>
            </a:pPr>
            <a:endParaRPr lang="en-US" sz="1600" dirty="0">
              <a:latin typeface="Calibri" panose="020F0502020204030204" pitchFamily="34" charset="0"/>
            </a:endParaRPr>
          </a:p>
          <a:p>
            <a:pPr lvl="0"/>
            <a:r>
              <a:rPr lang="en-US" sz="1600" dirty="0">
                <a:latin typeface="Calibri" panose="020F0502020204030204" pitchFamily="34" charset="0"/>
              </a:rPr>
              <a:t>Across the period, the size of negative ions reduces due to increase in nuclear charge.</a:t>
            </a:r>
          </a:p>
          <a:p>
            <a:pPr marL="0" lvl="0" indent="0" rtl="0">
              <a:spcBef>
                <a:spcPts val="1600"/>
              </a:spcBef>
              <a:spcAft>
                <a:spcPts val="1600"/>
              </a:spcAft>
              <a:buNone/>
            </a:pPr>
            <a:endParaRPr sz="1600" dirty="0">
              <a:latin typeface="Calibri" panose="020F0502020204030204" pitchFamily="34" charset="0"/>
            </a:endParaRPr>
          </a:p>
        </p:txBody>
      </p:sp>
      <p:sp>
        <p:nvSpPr>
          <p:cNvPr id="126" name="Google Shape;126;p27"/>
          <p:cNvSpPr txBox="1"/>
          <p:nvPr/>
        </p:nvSpPr>
        <p:spPr>
          <a:xfrm>
            <a:off x="3128525" y="4546950"/>
            <a:ext cx="1206300" cy="278400"/>
          </a:xfrm>
          <a:prstGeom prst="rect">
            <a:avLst/>
          </a:prstGeom>
          <a:noFill/>
          <a:ln>
            <a:noFill/>
          </a:ln>
        </p:spPr>
        <p:txBody>
          <a:bodyPr spcFirstLastPara="1" wrap="square" lIns="91425" tIns="91425" rIns="91425" bIns="91425" anchor="t" anchorCtr="0">
            <a:noAutofit/>
          </a:bodyPr>
          <a:lstStyle/>
          <a:p>
            <a:pPr lvl="0"/>
            <a:r>
              <a:rPr lang="en-IN" sz="1100" dirty="0">
                <a:solidFill>
                  <a:srgbClr val="666666"/>
                </a:solidFill>
              </a:rPr>
              <a:t>Periodic trend in atomic radius</a:t>
            </a:r>
            <a:endParaRPr sz="1100" dirty="0">
              <a:solidFill>
                <a:srgbClr val="666666"/>
              </a:solidFill>
            </a:endParaRPr>
          </a:p>
        </p:txBody>
      </p:sp>
      <p:pic>
        <p:nvPicPr>
          <p:cNvPr id="2" name="Picture 1">
            <a:extLst>
              <a:ext uri="{FF2B5EF4-FFF2-40B4-BE49-F238E27FC236}">
                <a16:creationId xmlns:a16="http://schemas.microsoft.com/office/drawing/2014/main" id="{5CB44B38-DA00-4F2D-9DB9-6E159483AF68}"/>
              </a:ext>
            </a:extLst>
          </p:cNvPr>
          <p:cNvPicPr>
            <a:picLocks noChangeAspect="1"/>
          </p:cNvPicPr>
          <p:nvPr/>
        </p:nvPicPr>
        <p:blipFill>
          <a:blip r:embed="rId3"/>
          <a:stretch>
            <a:fillRect/>
          </a:stretch>
        </p:blipFill>
        <p:spPr>
          <a:xfrm>
            <a:off x="506047" y="1504522"/>
            <a:ext cx="3964969" cy="2490611"/>
          </a:xfrm>
          <a:prstGeom prst="rect">
            <a:avLst/>
          </a:prstGeom>
        </p:spPr>
      </p:pic>
      <p:sp>
        <p:nvSpPr>
          <p:cNvPr id="19" name="TextBox 18">
            <a:extLst>
              <a:ext uri="{FF2B5EF4-FFF2-40B4-BE49-F238E27FC236}">
                <a16:creationId xmlns:a16="http://schemas.microsoft.com/office/drawing/2014/main" id="{967B12F2-E19C-45F9-A04D-02A6BC600ADF}"/>
              </a:ext>
            </a:extLst>
          </p:cNvPr>
          <p:cNvSpPr txBox="1"/>
          <p:nvPr/>
        </p:nvSpPr>
        <p:spPr>
          <a:xfrm rot="16200000">
            <a:off x="-398013" y="2417862"/>
            <a:ext cx="1516762" cy="307777"/>
          </a:xfrm>
          <a:prstGeom prst="rect">
            <a:avLst/>
          </a:prstGeom>
          <a:noFill/>
        </p:spPr>
        <p:txBody>
          <a:bodyPr wrap="none" rtlCol="0">
            <a:spAutoFit/>
          </a:bodyPr>
          <a:lstStyle/>
          <a:p>
            <a:r>
              <a:rPr lang="en-MY" dirty="0"/>
              <a:t>Ionic radius (nm)</a:t>
            </a:r>
            <a:endParaRPr lang="en-GB" dirty="0"/>
          </a:p>
        </p:txBody>
      </p:sp>
    </p:spTree>
    <p:extLst>
      <p:ext uri="{BB962C8B-B14F-4D97-AF65-F5344CB8AC3E}">
        <p14:creationId xmlns:p14="http://schemas.microsoft.com/office/powerpoint/2010/main" val="33349906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51"/>
          <p:cNvSpPr txBox="1">
            <a:spLocks noGrp="1"/>
          </p:cNvSpPr>
          <p:nvPr>
            <p:ph type="title"/>
          </p:nvPr>
        </p:nvSpPr>
        <p:spPr>
          <a:xfrm>
            <a:off x="933025" y="592925"/>
            <a:ext cx="6305100" cy="76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IN">
                <a:latin typeface="Calibri"/>
                <a:ea typeface="Calibri"/>
                <a:cs typeface="Calibri"/>
                <a:sym typeface="Calibri"/>
              </a:rPr>
              <a:t>Periodic trends in ionisation energy</a:t>
            </a:r>
            <a:endParaRPr/>
          </a:p>
        </p:txBody>
      </p:sp>
      <p:sp>
        <p:nvSpPr>
          <p:cNvPr id="338" name="Google Shape;338;p51"/>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12750" lvl="0" indent="-285750" algn="just" rtl="0">
              <a:lnSpc>
                <a:spcPct val="113000"/>
              </a:lnSpc>
              <a:spcBef>
                <a:spcPts val="600"/>
              </a:spcBef>
              <a:spcAft>
                <a:spcPts val="0"/>
              </a:spcAft>
              <a:buSzPts val="1600"/>
              <a:buFont typeface="Arial" panose="020B0604020202020204" pitchFamily="34" charset="0"/>
              <a:buChar char="•"/>
            </a:pPr>
            <a:r>
              <a:rPr lang="en-US" sz="1600" dirty="0">
                <a:latin typeface="Calibri" panose="020F0502020204030204" pitchFamily="34" charset="0"/>
                <a:cs typeface="Calibri" panose="020F0502020204030204" pitchFamily="34" charset="0"/>
                <a:sym typeface="Arial"/>
              </a:rPr>
              <a:t>First </a:t>
            </a:r>
            <a:r>
              <a:rPr lang="en-US" sz="1600" dirty="0" err="1">
                <a:latin typeface="Calibri" panose="020F0502020204030204" pitchFamily="34" charset="0"/>
                <a:cs typeface="Calibri" panose="020F0502020204030204" pitchFamily="34" charset="0"/>
                <a:sym typeface="Arial"/>
              </a:rPr>
              <a:t>ionisation</a:t>
            </a:r>
            <a:r>
              <a:rPr lang="en-US" sz="1600" dirty="0">
                <a:latin typeface="Calibri" panose="020F0502020204030204" pitchFamily="34" charset="0"/>
                <a:cs typeface="Calibri" panose="020F0502020204030204" pitchFamily="34" charset="0"/>
                <a:sym typeface="Arial"/>
              </a:rPr>
              <a:t> energy of an element is the energy required to remove one electron from each atom in one mole of atoms of an element in its gaseous state to form gaseous 1+ ions. It is measured in kJ/mol.</a:t>
            </a:r>
            <a:endParaRPr lang="en-US" sz="1600" dirty="0">
              <a:latin typeface="Calibri" panose="020F0502020204030204" pitchFamily="34" charset="0"/>
              <a:cs typeface="Calibri" panose="020F0502020204030204" pitchFamily="34" charset="0"/>
            </a:endParaRPr>
          </a:p>
          <a:p>
            <a:pPr marL="127000" lvl="0" algn="ctr" rtl="0">
              <a:lnSpc>
                <a:spcPct val="113000"/>
              </a:lnSpc>
              <a:spcBef>
                <a:spcPts val="600"/>
              </a:spcBef>
              <a:spcAft>
                <a:spcPts val="0"/>
              </a:spcAft>
              <a:buSzPts val="1600"/>
            </a:pPr>
            <a:r>
              <a:rPr lang="en-US" sz="1600" dirty="0">
                <a:latin typeface="Calibri" panose="020F0502020204030204" pitchFamily="34" charset="0"/>
                <a:cs typeface="Calibri" panose="020F0502020204030204" pitchFamily="34" charset="0"/>
                <a:sym typeface="Arial"/>
              </a:rPr>
              <a:t>X(g)→X</a:t>
            </a:r>
            <a:r>
              <a:rPr lang="en-US" sz="1600" baseline="30000" dirty="0">
                <a:latin typeface="Calibri" panose="020F0502020204030204" pitchFamily="34" charset="0"/>
                <a:cs typeface="Calibri" panose="020F0502020204030204" pitchFamily="34" charset="0"/>
                <a:sym typeface="Arial"/>
              </a:rPr>
              <a:t>+</a:t>
            </a:r>
            <a:r>
              <a:rPr lang="en-US" sz="1600" dirty="0">
                <a:latin typeface="Calibri" panose="020F0502020204030204" pitchFamily="34" charset="0"/>
                <a:cs typeface="Calibri" panose="020F0502020204030204" pitchFamily="34" charset="0"/>
                <a:sym typeface="Arial"/>
              </a:rPr>
              <a:t>(g)+e</a:t>
            </a:r>
            <a:r>
              <a:rPr lang="en-US" sz="1600" baseline="30000" dirty="0">
                <a:latin typeface="Calibri" panose="020F0502020204030204" pitchFamily="34" charset="0"/>
                <a:cs typeface="Calibri" panose="020F0502020204030204" pitchFamily="34" charset="0"/>
                <a:sym typeface="Arial"/>
              </a:rPr>
              <a:t>-</a:t>
            </a:r>
            <a:endParaRPr lang="en-US" sz="1600" dirty="0">
              <a:latin typeface="Calibri" panose="020F0502020204030204" pitchFamily="34" charset="0"/>
              <a:cs typeface="Calibri" panose="020F0502020204030204" pitchFamily="34" charset="0"/>
              <a:sym typeface="Arial"/>
            </a:endParaRPr>
          </a:p>
          <a:p>
            <a:pPr marL="412750" lvl="0" indent="-285750" algn="just" rtl="0">
              <a:lnSpc>
                <a:spcPct val="113000"/>
              </a:lnSpc>
              <a:spcBef>
                <a:spcPts val="600"/>
              </a:spcBef>
              <a:spcAft>
                <a:spcPts val="0"/>
              </a:spcAft>
              <a:buSzPts val="1600"/>
              <a:buFont typeface="Arial" panose="020B0604020202020204" pitchFamily="34" charset="0"/>
              <a:buChar char="•"/>
            </a:pPr>
            <a:r>
              <a:rPr lang="en-US" sz="1600" dirty="0">
                <a:latin typeface="Calibri" panose="020F0502020204030204" pitchFamily="34" charset="0"/>
                <a:cs typeface="Calibri" panose="020F0502020204030204" pitchFamily="34" charset="0"/>
                <a:sym typeface="Arial"/>
              </a:rPr>
              <a:t>The </a:t>
            </a:r>
            <a:r>
              <a:rPr lang="en-US" sz="1600" dirty="0" err="1">
                <a:latin typeface="Calibri" panose="020F0502020204030204" pitchFamily="34" charset="0"/>
                <a:cs typeface="Calibri" panose="020F0502020204030204" pitchFamily="34" charset="0"/>
                <a:sym typeface="Arial"/>
              </a:rPr>
              <a:t>ionisation</a:t>
            </a:r>
            <a:r>
              <a:rPr lang="en-US" sz="1600" dirty="0">
                <a:latin typeface="Calibri" panose="020F0502020204030204" pitchFamily="34" charset="0"/>
                <a:cs typeface="Calibri" panose="020F0502020204030204" pitchFamily="34" charset="0"/>
                <a:sym typeface="Arial"/>
              </a:rPr>
              <a:t> energy generally increases across a period and decreases down the group. </a:t>
            </a:r>
            <a:endParaRPr lang="en-US" sz="1600" dirty="0">
              <a:latin typeface="Calibri" panose="020F0502020204030204" pitchFamily="34" charset="0"/>
              <a:cs typeface="Calibri" panose="020F050202020403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51"/>
          <p:cNvSpPr txBox="1">
            <a:spLocks noGrp="1"/>
          </p:cNvSpPr>
          <p:nvPr>
            <p:ph type="title"/>
          </p:nvPr>
        </p:nvSpPr>
        <p:spPr>
          <a:xfrm>
            <a:off x="933025" y="592925"/>
            <a:ext cx="6305100" cy="76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US" dirty="0">
                <a:latin typeface="Calibri"/>
                <a:ea typeface="Calibri"/>
                <a:cs typeface="Calibri"/>
                <a:sym typeface="Calibri"/>
              </a:rPr>
              <a:t>Factors that affect the </a:t>
            </a:r>
            <a:r>
              <a:rPr lang="en-US" dirty="0" err="1">
                <a:latin typeface="Calibri"/>
                <a:ea typeface="Calibri"/>
                <a:cs typeface="Calibri"/>
                <a:sym typeface="Calibri"/>
              </a:rPr>
              <a:t>ionisation</a:t>
            </a:r>
            <a:r>
              <a:rPr lang="en-US" dirty="0">
                <a:latin typeface="Calibri"/>
                <a:ea typeface="Calibri"/>
                <a:cs typeface="Calibri"/>
                <a:sym typeface="Calibri"/>
              </a:rPr>
              <a:t> energy</a:t>
            </a:r>
          </a:p>
        </p:txBody>
      </p:sp>
      <p:sp>
        <p:nvSpPr>
          <p:cNvPr id="338" name="Google Shape;338;p51"/>
          <p:cNvSpPr txBox="1"/>
          <p:nvPr/>
        </p:nvSpPr>
        <p:spPr>
          <a:xfrm>
            <a:off x="420175" y="1715404"/>
            <a:ext cx="7330800" cy="2492100"/>
          </a:xfrm>
          <a:prstGeom prst="rect">
            <a:avLst/>
          </a:prstGeom>
          <a:noFill/>
          <a:ln>
            <a:noFill/>
          </a:ln>
        </p:spPr>
        <p:txBody>
          <a:bodyPr spcFirstLastPara="1" wrap="square" lIns="91425" tIns="91425" rIns="91425" bIns="91425" anchor="t" anchorCtr="0">
            <a:noAutofit/>
          </a:bodyPr>
          <a:lstStyle/>
          <a:p>
            <a:pPr marL="412750" lvl="0" indent="-285750" algn="just" rtl="0">
              <a:lnSpc>
                <a:spcPct val="113000"/>
              </a:lnSpc>
              <a:spcBef>
                <a:spcPts val="600"/>
              </a:spcBef>
              <a:spcAft>
                <a:spcPts val="0"/>
              </a:spcAft>
              <a:buSzPts val="1600"/>
              <a:buFont typeface="Arial" panose="020B0604020202020204" pitchFamily="34" charset="0"/>
              <a:buChar char="•"/>
            </a:pPr>
            <a:r>
              <a:rPr lang="en-US" sz="1600" dirty="0">
                <a:latin typeface="Calibri" panose="020F0502020204030204" pitchFamily="34" charset="0"/>
                <a:cs typeface="Calibri" panose="020F0502020204030204" pitchFamily="34" charset="0"/>
                <a:sym typeface="Arial"/>
              </a:rPr>
              <a:t>Size of nuclear charge: Across the period towards right, the number of protons and electrons increases and the force of attraction between nucleus and electrons increases. Hence, more energy is required to remove electron from the outermost shell. </a:t>
            </a:r>
            <a:r>
              <a:rPr lang="en-US" sz="1600" dirty="0" err="1">
                <a:latin typeface="Calibri" panose="020F0502020204030204" pitchFamily="34" charset="0"/>
                <a:cs typeface="Calibri" panose="020F0502020204030204" pitchFamily="34" charset="0"/>
                <a:sym typeface="Arial"/>
              </a:rPr>
              <a:t>Ionisation</a:t>
            </a:r>
            <a:r>
              <a:rPr lang="en-US" sz="1600" dirty="0">
                <a:latin typeface="Calibri" panose="020F0502020204030204" pitchFamily="34" charset="0"/>
                <a:cs typeface="Calibri" panose="020F0502020204030204" pitchFamily="34" charset="0"/>
                <a:sym typeface="Arial"/>
              </a:rPr>
              <a:t> energy increases with increase in atomic number.</a:t>
            </a:r>
          </a:p>
          <a:p>
            <a:pPr marL="412750" lvl="0" indent="-285750" algn="just" rtl="0">
              <a:lnSpc>
                <a:spcPct val="113000"/>
              </a:lnSpc>
              <a:spcBef>
                <a:spcPts val="600"/>
              </a:spcBef>
              <a:spcAft>
                <a:spcPts val="0"/>
              </a:spcAft>
              <a:buSzPts val="1600"/>
              <a:buFont typeface="Arial" panose="020B0604020202020204" pitchFamily="34" charset="0"/>
              <a:buChar char="•"/>
            </a:pPr>
            <a:r>
              <a:rPr lang="en-US" sz="1600" dirty="0">
                <a:latin typeface="Calibri" panose="020F0502020204030204" pitchFamily="34" charset="0"/>
                <a:cs typeface="Calibri" panose="020F0502020204030204" pitchFamily="34" charset="0"/>
                <a:sym typeface="Arial"/>
              </a:rPr>
              <a:t>Distance of valence electrons from the nucleus: As the distance of valence electrons increases from the nucleus, the force of attraction gets weaker and hence, </a:t>
            </a:r>
            <a:r>
              <a:rPr lang="en-US" sz="1600" dirty="0" err="1">
                <a:latin typeface="Calibri" panose="020F0502020204030204" pitchFamily="34" charset="0"/>
                <a:cs typeface="Calibri" panose="020F0502020204030204" pitchFamily="34" charset="0"/>
                <a:sym typeface="Arial"/>
              </a:rPr>
              <a:t>ionisation</a:t>
            </a:r>
            <a:r>
              <a:rPr lang="en-US" sz="1600" dirty="0">
                <a:latin typeface="Calibri" panose="020F0502020204030204" pitchFamily="34" charset="0"/>
                <a:cs typeface="Calibri" panose="020F0502020204030204" pitchFamily="34" charset="0"/>
                <a:sym typeface="Arial"/>
              </a:rPr>
              <a:t> energy decreases.</a:t>
            </a:r>
          </a:p>
          <a:p>
            <a:pPr marL="412750" lvl="0" indent="-285750" algn="just" rtl="0">
              <a:lnSpc>
                <a:spcPct val="113000"/>
              </a:lnSpc>
              <a:spcBef>
                <a:spcPts val="600"/>
              </a:spcBef>
              <a:spcAft>
                <a:spcPts val="0"/>
              </a:spcAft>
              <a:buSzPts val="1600"/>
              <a:buFont typeface="Arial" panose="020B0604020202020204" pitchFamily="34" charset="0"/>
              <a:buChar char="•"/>
            </a:pPr>
            <a:r>
              <a:rPr lang="en-US" sz="1600" dirty="0">
                <a:latin typeface="Calibri" panose="020F0502020204030204" pitchFamily="34" charset="0"/>
                <a:cs typeface="Calibri" panose="020F0502020204030204" pitchFamily="34" charset="0"/>
                <a:sym typeface="Arial"/>
              </a:rPr>
              <a:t>Shielding of inner electrons: As the number of filled electron shells between the valence electrons and the nucleus increases, the </a:t>
            </a:r>
            <a:r>
              <a:rPr lang="en-US" sz="1600" dirty="0" err="1">
                <a:latin typeface="Calibri" panose="020F0502020204030204" pitchFamily="34" charset="0"/>
                <a:cs typeface="Calibri" panose="020F0502020204030204" pitchFamily="34" charset="0"/>
                <a:sym typeface="Arial"/>
              </a:rPr>
              <a:t>ionisation</a:t>
            </a:r>
            <a:r>
              <a:rPr lang="en-US" sz="1600" dirty="0">
                <a:latin typeface="Calibri" panose="020F0502020204030204" pitchFamily="34" charset="0"/>
                <a:cs typeface="Calibri" panose="020F0502020204030204" pitchFamily="34" charset="0"/>
                <a:sym typeface="Arial"/>
              </a:rPr>
              <a:t> energy decreases. The inner electrons reduce the force of attraction as they repel the valence electrons.</a:t>
            </a:r>
          </a:p>
        </p:txBody>
      </p:sp>
    </p:spTree>
    <p:extLst>
      <p:ext uri="{BB962C8B-B14F-4D97-AF65-F5344CB8AC3E}">
        <p14:creationId xmlns:p14="http://schemas.microsoft.com/office/powerpoint/2010/main" val="38000785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53"/>
          <p:cNvSpPr txBox="1">
            <a:spLocks noGrp="1"/>
          </p:cNvSpPr>
          <p:nvPr>
            <p:ph type="title"/>
          </p:nvPr>
        </p:nvSpPr>
        <p:spPr>
          <a:xfrm>
            <a:off x="662950" y="198850"/>
            <a:ext cx="3362400" cy="1001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200"/>
              <a:buNone/>
            </a:pPr>
            <a:r>
              <a:rPr lang="en-IN" sz="3200">
                <a:solidFill>
                  <a:srgbClr val="000000"/>
                </a:solidFill>
                <a:latin typeface="Calibri"/>
                <a:ea typeface="Calibri"/>
                <a:cs typeface="Calibri"/>
                <a:sym typeface="Calibri"/>
              </a:rPr>
              <a:t>Periodic trends in ionisation energy</a:t>
            </a:r>
            <a:endParaRPr sz="3200">
              <a:solidFill>
                <a:srgbClr val="000000"/>
              </a:solidFill>
              <a:latin typeface="Calibri"/>
              <a:ea typeface="Calibri"/>
              <a:cs typeface="Calibri"/>
              <a:sym typeface="Calibri"/>
            </a:endParaRPr>
          </a:p>
        </p:txBody>
      </p:sp>
      <p:sp>
        <p:nvSpPr>
          <p:cNvPr id="350" name="Google Shape;350;p53"/>
          <p:cNvSpPr txBox="1">
            <a:spLocks noGrp="1"/>
          </p:cNvSpPr>
          <p:nvPr>
            <p:ph type="body" idx="2"/>
          </p:nvPr>
        </p:nvSpPr>
        <p:spPr>
          <a:xfrm>
            <a:off x="4816810" y="198850"/>
            <a:ext cx="4098590" cy="3695100"/>
          </a:xfrm>
          <a:prstGeom prst="rect">
            <a:avLst/>
          </a:prstGeom>
          <a:noFill/>
          <a:ln>
            <a:noFill/>
          </a:ln>
        </p:spPr>
        <p:txBody>
          <a:bodyPr spcFirstLastPara="1" wrap="square" lIns="91425" tIns="91425" rIns="91425" bIns="91425" anchor="t" anchorCtr="0">
            <a:noAutofit/>
          </a:bodyPr>
          <a:lstStyle/>
          <a:p>
            <a:pPr marL="457200" lvl="0" indent="-342900" algn="just" rtl="0">
              <a:lnSpc>
                <a:spcPct val="115000"/>
              </a:lnSpc>
              <a:spcBef>
                <a:spcPts val="0"/>
              </a:spcBef>
              <a:spcAft>
                <a:spcPts val="0"/>
              </a:spcAft>
              <a:buSzPts val="1800"/>
              <a:buChar char="●"/>
            </a:pPr>
            <a:r>
              <a:rPr lang="en-IN" sz="1400" dirty="0">
                <a:latin typeface="Calibri"/>
                <a:ea typeface="Calibri"/>
                <a:cs typeface="Calibri"/>
                <a:sym typeface="Calibri"/>
              </a:rPr>
              <a:t>The ionisation energies decrease down the group because the valence electrons are shielded by the filled orbitals. </a:t>
            </a:r>
            <a:endParaRPr dirty="0"/>
          </a:p>
          <a:p>
            <a:pPr marL="457200" lvl="0" indent="-342900" algn="just" rtl="0">
              <a:lnSpc>
                <a:spcPct val="115000"/>
              </a:lnSpc>
              <a:spcBef>
                <a:spcPts val="0"/>
              </a:spcBef>
              <a:spcAft>
                <a:spcPts val="0"/>
              </a:spcAft>
              <a:buSzPts val="1800"/>
              <a:buChar char="●"/>
            </a:pPr>
            <a:r>
              <a:rPr lang="en-IN" sz="1400" dirty="0">
                <a:latin typeface="Calibri"/>
                <a:ea typeface="Calibri"/>
                <a:cs typeface="Calibri"/>
                <a:sym typeface="Calibri"/>
              </a:rPr>
              <a:t>The distance between the valence electrons and nucleus also increases down the group, making it easy to remove valence electron. </a:t>
            </a:r>
            <a:endParaRPr dirty="0"/>
          </a:p>
          <a:p>
            <a:pPr marL="457200" lvl="0" indent="-342900" algn="just" rtl="0">
              <a:lnSpc>
                <a:spcPct val="115000"/>
              </a:lnSpc>
              <a:spcBef>
                <a:spcPts val="0"/>
              </a:spcBef>
              <a:spcAft>
                <a:spcPts val="0"/>
              </a:spcAft>
              <a:buSzPts val="1800"/>
              <a:buChar char="●"/>
            </a:pPr>
            <a:r>
              <a:rPr lang="en-IN" sz="1400" dirty="0">
                <a:latin typeface="Calibri"/>
                <a:ea typeface="Calibri"/>
                <a:cs typeface="Calibri"/>
                <a:sym typeface="Calibri"/>
              </a:rPr>
              <a:t>The ionisation energy of elements of period 3.</a:t>
            </a:r>
            <a:endParaRPr sz="1400" dirty="0">
              <a:latin typeface="Calibri"/>
              <a:ea typeface="Calibri"/>
              <a:cs typeface="Calibri"/>
              <a:sym typeface="Calibri"/>
            </a:endParaRPr>
          </a:p>
        </p:txBody>
      </p:sp>
      <p:sp>
        <p:nvSpPr>
          <p:cNvPr id="351" name="Google Shape;351;p53"/>
          <p:cNvSpPr txBox="1"/>
          <p:nvPr/>
        </p:nvSpPr>
        <p:spPr>
          <a:xfrm>
            <a:off x="2912533" y="4546950"/>
            <a:ext cx="1422292" cy="278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IN" sz="1100" b="0" i="0" u="none" strike="noStrike" cap="none">
                <a:solidFill>
                  <a:srgbClr val="666666"/>
                </a:solidFill>
                <a:latin typeface="Arial"/>
                <a:ea typeface="Arial"/>
                <a:cs typeface="Arial"/>
                <a:sym typeface="Arial"/>
              </a:rPr>
              <a:t>Periodic trends in ionisation energy</a:t>
            </a:r>
            <a:endParaRPr sz="1100" b="0" i="0" u="none" strike="noStrike" cap="none">
              <a:solidFill>
                <a:srgbClr val="666666"/>
              </a:solidFill>
              <a:latin typeface="Arial"/>
              <a:ea typeface="Arial"/>
              <a:cs typeface="Arial"/>
              <a:sym typeface="Arial"/>
            </a:endParaRPr>
          </a:p>
        </p:txBody>
      </p:sp>
      <p:graphicFrame>
        <p:nvGraphicFramePr>
          <p:cNvPr id="352" name="Google Shape;352;p53"/>
          <p:cNvGraphicFramePr/>
          <p:nvPr/>
        </p:nvGraphicFramePr>
        <p:xfrm>
          <a:off x="5474438" y="2195578"/>
          <a:ext cx="3096000" cy="2749072"/>
        </p:xfrm>
        <a:graphic>
          <a:graphicData uri="http://schemas.openxmlformats.org/drawingml/2006/table">
            <a:tbl>
              <a:tblPr>
                <a:noFill/>
              </a:tblPr>
              <a:tblGrid>
                <a:gridCol w="1548000">
                  <a:extLst>
                    <a:ext uri="{9D8B030D-6E8A-4147-A177-3AD203B41FA5}">
                      <a16:colId xmlns:a16="http://schemas.microsoft.com/office/drawing/2014/main" val="20000"/>
                    </a:ext>
                  </a:extLst>
                </a:gridCol>
                <a:gridCol w="1548000">
                  <a:extLst>
                    <a:ext uri="{9D8B030D-6E8A-4147-A177-3AD203B41FA5}">
                      <a16:colId xmlns:a16="http://schemas.microsoft.com/office/drawing/2014/main" val="20001"/>
                    </a:ext>
                  </a:extLst>
                </a:gridCol>
              </a:tblGrid>
              <a:tr h="177800">
                <a:tc>
                  <a:txBody>
                    <a:bodyPr/>
                    <a:lstStyle/>
                    <a:p>
                      <a:pPr marL="0" marR="0" lvl="0" indent="0" algn="ctr" rtl="0">
                        <a:lnSpc>
                          <a:spcPct val="107000"/>
                        </a:lnSpc>
                        <a:spcBef>
                          <a:spcPts val="0"/>
                        </a:spcBef>
                        <a:spcAft>
                          <a:spcPts val="0"/>
                        </a:spcAft>
                        <a:buNone/>
                      </a:pPr>
                      <a:r>
                        <a:rPr lang="en-IN" sz="1400" b="0" u="none" strike="noStrike" cap="none">
                          <a:solidFill>
                            <a:schemeClr val="lt1"/>
                          </a:solidFill>
                          <a:latin typeface="Calibri"/>
                          <a:ea typeface="Calibri"/>
                          <a:cs typeface="Calibri"/>
                          <a:sym typeface="Calibri"/>
                        </a:rPr>
                        <a:t>Period 3 element</a:t>
                      </a:r>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0B050"/>
                    </a:solidFill>
                  </a:tcPr>
                </a:tc>
                <a:tc>
                  <a:txBody>
                    <a:bodyPr/>
                    <a:lstStyle/>
                    <a:p>
                      <a:pPr marL="0" marR="0" lvl="0" indent="0" algn="ctr" rtl="0">
                        <a:lnSpc>
                          <a:spcPct val="107000"/>
                        </a:lnSpc>
                        <a:spcBef>
                          <a:spcPts val="0"/>
                        </a:spcBef>
                        <a:spcAft>
                          <a:spcPts val="0"/>
                        </a:spcAft>
                        <a:buNone/>
                      </a:pPr>
                      <a:r>
                        <a:rPr lang="en-IN" sz="1400" b="0" u="none" strike="noStrike" cap="none">
                          <a:solidFill>
                            <a:schemeClr val="lt1"/>
                          </a:solidFill>
                          <a:latin typeface="Calibri"/>
                          <a:ea typeface="Calibri"/>
                          <a:cs typeface="Calibri"/>
                          <a:sym typeface="Calibri"/>
                        </a:rPr>
                        <a:t>First ionisation energy (kJ/mol)</a:t>
                      </a:r>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0B050"/>
                    </a:solidFill>
                  </a:tcPr>
                </a:tc>
                <a:extLst>
                  <a:ext uri="{0D108BD9-81ED-4DB2-BD59-A6C34878D82A}">
                    <a16:rowId xmlns:a16="http://schemas.microsoft.com/office/drawing/2014/main" val="10000"/>
                  </a:ext>
                </a:extLst>
              </a:tr>
              <a:tr h="288000">
                <a:tc>
                  <a:txBody>
                    <a:bodyPr/>
                    <a:lstStyle/>
                    <a:p>
                      <a:pPr marL="0" marR="0" lvl="0" indent="0" algn="just" rtl="0">
                        <a:lnSpc>
                          <a:spcPct val="107000"/>
                        </a:lnSpc>
                        <a:spcBef>
                          <a:spcPts val="0"/>
                        </a:spcBef>
                        <a:spcAft>
                          <a:spcPts val="0"/>
                        </a:spcAft>
                        <a:buNone/>
                      </a:pPr>
                      <a:r>
                        <a:rPr lang="en-IN" sz="1400" u="none" strike="noStrike" cap="none">
                          <a:solidFill>
                            <a:schemeClr val="dk2"/>
                          </a:solidFill>
                          <a:latin typeface="Calibri"/>
                          <a:ea typeface="Calibri"/>
                          <a:cs typeface="Calibri"/>
                          <a:sym typeface="Calibri"/>
                        </a:rPr>
                        <a:t>sodium (Na)</a:t>
                      </a:r>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0" marR="0" lvl="0" indent="0" algn="ctr" rtl="0">
                        <a:lnSpc>
                          <a:spcPct val="107000"/>
                        </a:lnSpc>
                        <a:spcBef>
                          <a:spcPts val="0"/>
                        </a:spcBef>
                        <a:spcAft>
                          <a:spcPts val="0"/>
                        </a:spcAft>
                        <a:buNone/>
                      </a:pPr>
                      <a:r>
                        <a:rPr lang="en-IN" sz="1400" u="none" strike="noStrike" cap="none">
                          <a:solidFill>
                            <a:schemeClr val="dk2"/>
                          </a:solidFill>
                          <a:latin typeface="Calibri"/>
                          <a:ea typeface="Calibri"/>
                          <a:cs typeface="Calibri"/>
                          <a:sym typeface="Calibri"/>
                        </a:rPr>
                        <a:t>494</a:t>
                      </a:r>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288000">
                <a:tc>
                  <a:txBody>
                    <a:bodyPr/>
                    <a:lstStyle/>
                    <a:p>
                      <a:pPr marL="0" marR="0" lvl="0" indent="0" algn="just" rtl="0">
                        <a:lnSpc>
                          <a:spcPct val="107000"/>
                        </a:lnSpc>
                        <a:spcBef>
                          <a:spcPts val="0"/>
                        </a:spcBef>
                        <a:spcAft>
                          <a:spcPts val="0"/>
                        </a:spcAft>
                        <a:buNone/>
                      </a:pPr>
                      <a:r>
                        <a:rPr lang="en-IN" sz="1400" u="none" strike="noStrike" cap="none">
                          <a:solidFill>
                            <a:schemeClr val="dk2"/>
                          </a:solidFill>
                          <a:latin typeface="Calibri"/>
                          <a:ea typeface="Calibri"/>
                          <a:cs typeface="Calibri"/>
                          <a:sym typeface="Calibri"/>
                        </a:rPr>
                        <a:t>magnesium (Mg)</a:t>
                      </a:r>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0" marR="0" lvl="0" indent="0" algn="ctr" rtl="0">
                        <a:lnSpc>
                          <a:spcPct val="107000"/>
                        </a:lnSpc>
                        <a:spcBef>
                          <a:spcPts val="0"/>
                        </a:spcBef>
                        <a:spcAft>
                          <a:spcPts val="0"/>
                        </a:spcAft>
                        <a:buNone/>
                      </a:pPr>
                      <a:r>
                        <a:rPr lang="en-IN" sz="1400" u="none" strike="noStrike" cap="none">
                          <a:solidFill>
                            <a:schemeClr val="dk2"/>
                          </a:solidFill>
                          <a:latin typeface="Calibri"/>
                          <a:ea typeface="Calibri"/>
                          <a:cs typeface="Calibri"/>
                          <a:sym typeface="Calibri"/>
                        </a:rPr>
                        <a:t>736</a:t>
                      </a:r>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288000">
                <a:tc>
                  <a:txBody>
                    <a:bodyPr/>
                    <a:lstStyle/>
                    <a:p>
                      <a:pPr marL="0" marR="0" lvl="0" indent="0" algn="just" rtl="0">
                        <a:lnSpc>
                          <a:spcPct val="107000"/>
                        </a:lnSpc>
                        <a:spcBef>
                          <a:spcPts val="0"/>
                        </a:spcBef>
                        <a:spcAft>
                          <a:spcPts val="0"/>
                        </a:spcAft>
                        <a:buNone/>
                      </a:pPr>
                      <a:r>
                        <a:rPr lang="en-IN" sz="1400" u="none" strike="noStrike" cap="none">
                          <a:solidFill>
                            <a:schemeClr val="dk2"/>
                          </a:solidFill>
                          <a:latin typeface="Calibri"/>
                          <a:ea typeface="Calibri"/>
                          <a:cs typeface="Calibri"/>
                          <a:sym typeface="Calibri"/>
                        </a:rPr>
                        <a:t>aluminium (Al)</a:t>
                      </a:r>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0" marR="0" lvl="0" indent="0" algn="ctr" rtl="0">
                        <a:lnSpc>
                          <a:spcPct val="107000"/>
                        </a:lnSpc>
                        <a:spcBef>
                          <a:spcPts val="0"/>
                        </a:spcBef>
                        <a:spcAft>
                          <a:spcPts val="0"/>
                        </a:spcAft>
                        <a:buNone/>
                      </a:pPr>
                      <a:r>
                        <a:rPr lang="en-IN" sz="1400" u="none" strike="noStrike" cap="none">
                          <a:solidFill>
                            <a:schemeClr val="dk2"/>
                          </a:solidFill>
                          <a:latin typeface="Calibri"/>
                          <a:ea typeface="Calibri"/>
                          <a:cs typeface="Calibri"/>
                          <a:sym typeface="Calibri"/>
                        </a:rPr>
                        <a:t>577</a:t>
                      </a:r>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288000">
                <a:tc>
                  <a:txBody>
                    <a:bodyPr/>
                    <a:lstStyle/>
                    <a:p>
                      <a:pPr marL="0" marR="0" lvl="0" indent="0" algn="just" rtl="0">
                        <a:lnSpc>
                          <a:spcPct val="107000"/>
                        </a:lnSpc>
                        <a:spcBef>
                          <a:spcPts val="0"/>
                        </a:spcBef>
                        <a:spcAft>
                          <a:spcPts val="0"/>
                        </a:spcAft>
                        <a:buNone/>
                      </a:pPr>
                      <a:r>
                        <a:rPr lang="en-IN" sz="1400" u="none" strike="noStrike" cap="none">
                          <a:solidFill>
                            <a:schemeClr val="dk2"/>
                          </a:solidFill>
                          <a:latin typeface="Calibri"/>
                          <a:ea typeface="Calibri"/>
                          <a:cs typeface="Calibri"/>
                          <a:sym typeface="Calibri"/>
                        </a:rPr>
                        <a:t>silicon (Si)</a:t>
                      </a:r>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0" marR="0" lvl="0" indent="0" algn="ctr" rtl="0">
                        <a:lnSpc>
                          <a:spcPct val="107000"/>
                        </a:lnSpc>
                        <a:spcBef>
                          <a:spcPts val="0"/>
                        </a:spcBef>
                        <a:spcAft>
                          <a:spcPts val="0"/>
                        </a:spcAft>
                        <a:buNone/>
                      </a:pPr>
                      <a:r>
                        <a:rPr lang="en-IN" sz="1400" u="none" strike="noStrike" cap="none">
                          <a:solidFill>
                            <a:schemeClr val="dk2"/>
                          </a:solidFill>
                          <a:latin typeface="Calibri"/>
                          <a:ea typeface="Calibri"/>
                          <a:cs typeface="Calibri"/>
                          <a:sym typeface="Calibri"/>
                        </a:rPr>
                        <a:t>786</a:t>
                      </a:r>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288000">
                <a:tc>
                  <a:txBody>
                    <a:bodyPr/>
                    <a:lstStyle/>
                    <a:p>
                      <a:pPr marL="0" marR="0" lvl="0" indent="0" algn="just" rtl="0">
                        <a:lnSpc>
                          <a:spcPct val="107000"/>
                        </a:lnSpc>
                        <a:spcBef>
                          <a:spcPts val="0"/>
                        </a:spcBef>
                        <a:spcAft>
                          <a:spcPts val="0"/>
                        </a:spcAft>
                        <a:buNone/>
                      </a:pPr>
                      <a:r>
                        <a:rPr lang="en-IN" sz="1400" u="none" strike="noStrike" cap="none">
                          <a:solidFill>
                            <a:schemeClr val="dk2"/>
                          </a:solidFill>
                          <a:latin typeface="Calibri"/>
                          <a:ea typeface="Calibri"/>
                          <a:cs typeface="Calibri"/>
                          <a:sym typeface="Calibri"/>
                        </a:rPr>
                        <a:t>phosphorus (P)</a:t>
                      </a:r>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0" marR="0" lvl="0" indent="0" algn="ctr" rtl="0">
                        <a:lnSpc>
                          <a:spcPct val="107000"/>
                        </a:lnSpc>
                        <a:spcBef>
                          <a:spcPts val="0"/>
                        </a:spcBef>
                        <a:spcAft>
                          <a:spcPts val="0"/>
                        </a:spcAft>
                        <a:buNone/>
                      </a:pPr>
                      <a:r>
                        <a:rPr lang="en-IN" sz="1400" u="none" strike="noStrike" cap="none">
                          <a:solidFill>
                            <a:schemeClr val="dk2"/>
                          </a:solidFill>
                          <a:latin typeface="Calibri"/>
                          <a:ea typeface="Calibri"/>
                          <a:cs typeface="Calibri"/>
                          <a:sym typeface="Calibri"/>
                        </a:rPr>
                        <a:t>1060</a:t>
                      </a:r>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288000">
                <a:tc>
                  <a:txBody>
                    <a:bodyPr/>
                    <a:lstStyle/>
                    <a:p>
                      <a:pPr marL="0" marR="0" lvl="0" indent="0" algn="just" rtl="0">
                        <a:lnSpc>
                          <a:spcPct val="107000"/>
                        </a:lnSpc>
                        <a:spcBef>
                          <a:spcPts val="0"/>
                        </a:spcBef>
                        <a:spcAft>
                          <a:spcPts val="0"/>
                        </a:spcAft>
                        <a:buNone/>
                      </a:pPr>
                      <a:r>
                        <a:rPr lang="en-IN" sz="1400" u="none" strike="noStrike" cap="none">
                          <a:solidFill>
                            <a:schemeClr val="dk2"/>
                          </a:solidFill>
                          <a:latin typeface="Calibri"/>
                          <a:ea typeface="Calibri"/>
                          <a:cs typeface="Calibri"/>
                          <a:sym typeface="Calibri"/>
                        </a:rPr>
                        <a:t>sulfur (S)</a:t>
                      </a:r>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0" marR="0" lvl="0" indent="0" algn="ctr" rtl="0">
                        <a:lnSpc>
                          <a:spcPct val="107000"/>
                        </a:lnSpc>
                        <a:spcBef>
                          <a:spcPts val="0"/>
                        </a:spcBef>
                        <a:spcAft>
                          <a:spcPts val="0"/>
                        </a:spcAft>
                        <a:buNone/>
                      </a:pPr>
                      <a:r>
                        <a:rPr lang="en-IN" sz="1400" u="none" strike="noStrike" cap="none">
                          <a:solidFill>
                            <a:schemeClr val="dk2"/>
                          </a:solidFill>
                          <a:latin typeface="Calibri"/>
                          <a:ea typeface="Calibri"/>
                          <a:cs typeface="Calibri"/>
                          <a:sym typeface="Calibri"/>
                        </a:rPr>
                        <a:t>1000</a:t>
                      </a:r>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288000">
                <a:tc>
                  <a:txBody>
                    <a:bodyPr/>
                    <a:lstStyle/>
                    <a:p>
                      <a:pPr marL="0" marR="0" lvl="0" indent="0" algn="just" rtl="0">
                        <a:lnSpc>
                          <a:spcPct val="107000"/>
                        </a:lnSpc>
                        <a:spcBef>
                          <a:spcPts val="0"/>
                        </a:spcBef>
                        <a:spcAft>
                          <a:spcPts val="0"/>
                        </a:spcAft>
                        <a:buNone/>
                      </a:pPr>
                      <a:r>
                        <a:rPr lang="en-IN" sz="1400" u="none" strike="noStrike" cap="none">
                          <a:solidFill>
                            <a:schemeClr val="dk2"/>
                          </a:solidFill>
                          <a:latin typeface="Calibri"/>
                          <a:ea typeface="Calibri"/>
                          <a:cs typeface="Calibri"/>
                          <a:sym typeface="Calibri"/>
                        </a:rPr>
                        <a:t>chlorine (Cl)</a:t>
                      </a:r>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0" marR="0" lvl="0" indent="0" algn="ctr" rtl="0">
                        <a:lnSpc>
                          <a:spcPct val="107000"/>
                        </a:lnSpc>
                        <a:spcBef>
                          <a:spcPts val="0"/>
                        </a:spcBef>
                        <a:spcAft>
                          <a:spcPts val="0"/>
                        </a:spcAft>
                        <a:buNone/>
                      </a:pPr>
                      <a:r>
                        <a:rPr lang="en-IN" sz="1400" u="none" strike="noStrike" cap="none">
                          <a:solidFill>
                            <a:schemeClr val="dk2"/>
                          </a:solidFill>
                          <a:latin typeface="Calibri"/>
                          <a:ea typeface="Calibri"/>
                          <a:cs typeface="Calibri"/>
                          <a:sym typeface="Calibri"/>
                        </a:rPr>
                        <a:t>1260</a:t>
                      </a:r>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r h="288000">
                <a:tc>
                  <a:txBody>
                    <a:bodyPr/>
                    <a:lstStyle/>
                    <a:p>
                      <a:pPr marL="0" marR="0" lvl="0" indent="0" algn="just" rtl="0">
                        <a:lnSpc>
                          <a:spcPct val="107000"/>
                        </a:lnSpc>
                        <a:spcBef>
                          <a:spcPts val="0"/>
                        </a:spcBef>
                        <a:spcAft>
                          <a:spcPts val="0"/>
                        </a:spcAft>
                        <a:buNone/>
                      </a:pPr>
                      <a:r>
                        <a:rPr lang="en-IN" sz="1400" u="none" strike="noStrike" cap="none">
                          <a:solidFill>
                            <a:schemeClr val="dk2"/>
                          </a:solidFill>
                          <a:latin typeface="Calibri"/>
                          <a:ea typeface="Calibri"/>
                          <a:cs typeface="Calibri"/>
                          <a:sym typeface="Calibri"/>
                        </a:rPr>
                        <a:t>argon (Ar)</a:t>
                      </a:r>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0" marR="0" lvl="0" indent="0" algn="ctr" rtl="0">
                        <a:lnSpc>
                          <a:spcPct val="107000"/>
                        </a:lnSpc>
                        <a:spcBef>
                          <a:spcPts val="0"/>
                        </a:spcBef>
                        <a:spcAft>
                          <a:spcPts val="0"/>
                        </a:spcAft>
                        <a:buNone/>
                      </a:pPr>
                      <a:r>
                        <a:rPr lang="en-IN" sz="1400" u="none" strike="noStrike" cap="none" dirty="0">
                          <a:solidFill>
                            <a:schemeClr val="dk2"/>
                          </a:solidFill>
                          <a:latin typeface="Calibri"/>
                          <a:ea typeface="Calibri"/>
                          <a:cs typeface="Calibri"/>
                          <a:sym typeface="Calibri"/>
                        </a:rPr>
                        <a:t>1520</a:t>
                      </a:r>
                      <a:endParaRPr dirty="0"/>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extLst>
                  <a:ext uri="{0D108BD9-81ED-4DB2-BD59-A6C34878D82A}">
                    <a16:rowId xmlns:a16="http://schemas.microsoft.com/office/drawing/2014/main" val="10008"/>
                  </a:ext>
                </a:extLst>
              </a:tr>
            </a:tbl>
          </a:graphicData>
        </a:graphic>
      </p:graphicFrame>
      <p:pic>
        <p:nvPicPr>
          <p:cNvPr id="353" name="Google Shape;353;p53"/>
          <p:cNvPicPr preferRelativeResize="0"/>
          <p:nvPr/>
        </p:nvPicPr>
        <p:blipFill rotWithShape="1">
          <a:blip r:embed="rId3">
            <a:alphaModFix/>
          </a:blip>
          <a:srcRect/>
          <a:stretch/>
        </p:blipFill>
        <p:spPr>
          <a:xfrm>
            <a:off x="381238" y="1425950"/>
            <a:ext cx="3925824" cy="28956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54"/>
          <p:cNvSpPr txBox="1">
            <a:spLocks noGrp="1"/>
          </p:cNvSpPr>
          <p:nvPr>
            <p:ph type="title"/>
          </p:nvPr>
        </p:nvSpPr>
        <p:spPr>
          <a:xfrm>
            <a:off x="933025" y="592925"/>
            <a:ext cx="6305100" cy="76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IN">
                <a:latin typeface="Calibri"/>
                <a:ea typeface="Calibri"/>
                <a:cs typeface="Calibri"/>
                <a:sym typeface="Calibri"/>
              </a:rPr>
              <a:t>Periodic trends in ionisation energy</a:t>
            </a:r>
            <a:endParaRPr/>
          </a:p>
        </p:txBody>
      </p:sp>
      <p:sp>
        <p:nvSpPr>
          <p:cNvPr id="359" name="Google Shape;359;p54"/>
          <p:cNvSpPr txBox="1"/>
          <p:nvPr/>
        </p:nvSpPr>
        <p:spPr>
          <a:xfrm>
            <a:off x="558220" y="1914867"/>
            <a:ext cx="4230348" cy="2492100"/>
          </a:xfrm>
          <a:prstGeom prst="rect">
            <a:avLst/>
          </a:prstGeom>
          <a:noFill/>
          <a:ln>
            <a:noFill/>
          </a:ln>
        </p:spPr>
        <p:txBody>
          <a:bodyPr spcFirstLastPara="1" wrap="square" lIns="91425" tIns="91425" rIns="91425" bIns="91425" anchor="t" anchorCtr="0">
            <a:noAutofit/>
          </a:bodyPr>
          <a:lstStyle/>
          <a:p>
            <a:pPr marL="457200" marR="0" lvl="0" indent="-342900" algn="just" rtl="0">
              <a:lnSpc>
                <a:spcPct val="114000"/>
              </a:lnSpc>
              <a:spcBef>
                <a:spcPts val="600"/>
              </a:spcBef>
              <a:spcAft>
                <a:spcPts val="0"/>
              </a:spcAft>
              <a:buClr>
                <a:srgbClr val="000000"/>
              </a:buClr>
              <a:buSzPts val="1800"/>
              <a:buFont typeface="Arial" panose="020B0604020202020204" pitchFamily="34" charset="0"/>
              <a:buChar char="•"/>
            </a:pPr>
            <a:r>
              <a:rPr lang="en-IN" sz="1600" b="0" i="0" u="none" strike="noStrike" cap="none" dirty="0">
                <a:solidFill>
                  <a:srgbClr val="000000"/>
                </a:solidFill>
                <a:latin typeface="Calibri" panose="020F0502020204030204" pitchFamily="34" charset="0"/>
                <a:ea typeface="Calibri"/>
                <a:cs typeface="Calibri" panose="020F0502020204030204" pitchFamily="34" charset="0"/>
                <a:sym typeface="Calibri"/>
              </a:rPr>
              <a:t>Generally, the first ionisation energy across the period increases towards right due to increase in atomic number.</a:t>
            </a:r>
            <a:endParaRPr sz="1600" dirty="0">
              <a:latin typeface="Calibri" panose="020F0502020204030204" pitchFamily="34" charset="0"/>
              <a:cs typeface="Calibri" panose="020F0502020204030204" pitchFamily="34" charset="0"/>
            </a:endParaRPr>
          </a:p>
          <a:p>
            <a:pPr marL="457200" marR="0" lvl="0" indent="-342900" algn="just" rtl="0">
              <a:lnSpc>
                <a:spcPct val="114000"/>
              </a:lnSpc>
              <a:spcBef>
                <a:spcPts val="600"/>
              </a:spcBef>
              <a:spcAft>
                <a:spcPts val="0"/>
              </a:spcAft>
              <a:buClr>
                <a:srgbClr val="000000"/>
              </a:buClr>
              <a:buSzPts val="1800"/>
              <a:buFont typeface="Arial" panose="020B0604020202020204" pitchFamily="34" charset="0"/>
              <a:buChar char="•"/>
            </a:pPr>
            <a:r>
              <a:rPr lang="en-IN" sz="1600" b="0" i="0" u="none" strike="noStrike" cap="none" dirty="0">
                <a:solidFill>
                  <a:srgbClr val="000000"/>
                </a:solidFill>
                <a:latin typeface="Calibri" panose="020F0502020204030204" pitchFamily="34" charset="0"/>
                <a:ea typeface="Calibri"/>
                <a:cs typeface="Calibri" panose="020F0502020204030204" pitchFamily="34" charset="0"/>
                <a:sym typeface="Calibri"/>
              </a:rPr>
              <a:t>There are small dips across the period between Magnesium and Aluminium, and between Phosphorous and Sulphur.</a:t>
            </a:r>
          </a:p>
          <a:p>
            <a:pPr marL="457200" marR="0" lvl="0" indent="-342900" algn="just" rtl="0">
              <a:lnSpc>
                <a:spcPct val="114000"/>
              </a:lnSpc>
              <a:spcBef>
                <a:spcPts val="600"/>
              </a:spcBef>
              <a:spcAft>
                <a:spcPts val="0"/>
              </a:spcAft>
              <a:buClr>
                <a:srgbClr val="000000"/>
              </a:buClr>
              <a:buSzPts val="1800"/>
              <a:buFont typeface="Arial" panose="020B0604020202020204" pitchFamily="34" charset="0"/>
              <a:buChar char="•"/>
            </a:pPr>
            <a:r>
              <a:rPr lang="en-US" sz="1600" dirty="0">
                <a:latin typeface="Calibri" panose="020F0502020204030204" pitchFamily="34" charset="0"/>
                <a:cs typeface="Calibri" panose="020F0502020204030204" pitchFamily="34" charset="0"/>
              </a:rPr>
              <a:t>These dips are also found in period 2 between Beryllium and Boron, and Nitrogen and Oxygen. </a:t>
            </a:r>
            <a:endParaRPr lang="en-GB" sz="1600" dirty="0">
              <a:latin typeface="Calibri" panose="020F0502020204030204" pitchFamily="34" charset="0"/>
              <a:cs typeface="Calibri" panose="020F0502020204030204" pitchFamily="34" charset="0"/>
            </a:endParaRPr>
          </a:p>
          <a:p>
            <a:pPr marL="400050" marR="0" lvl="0" indent="-285750" algn="just" rtl="0">
              <a:lnSpc>
                <a:spcPct val="114000"/>
              </a:lnSpc>
              <a:spcBef>
                <a:spcPts val="600"/>
              </a:spcBef>
              <a:spcAft>
                <a:spcPts val="0"/>
              </a:spcAft>
              <a:buFont typeface="Arial" panose="020B0604020202020204" pitchFamily="34" charset="0"/>
              <a:buChar char="•"/>
            </a:pPr>
            <a:endParaRPr sz="1600" b="0" i="0" u="none" strike="noStrike" cap="none" dirty="0">
              <a:solidFill>
                <a:srgbClr val="000000"/>
              </a:solidFill>
              <a:latin typeface="Calibri" panose="020F0502020204030204" pitchFamily="34" charset="0"/>
              <a:ea typeface="Calibri"/>
              <a:cs typeface="Calibri" panose="020F0502020204030204" pitchFamily="34" charset="0"/>
              <a:sym typeface="Calibri"/>
            </a:endParaRPr>
          </a:p>
          <a:p>
            <a:pPr marL="514350" marR="0" lvl="0" indent="-285750" algn="just" rtl="0">
              <a:lnSpc>
                <a:spcPct val="114000"/>
              </a:lnSpc>
              <a:spcBef>
                <a:spcPts val="600"/>
              </a:spcBef>
              <a:spcAft>
                <a:spcPts val="0"/>
              </a:spcAft>
              <a:buClr>
                <a:srgbClr val="000000"/>
              </a:buClr>
              <a:buSzPts val="1800"/>
              <a:buFont typeface="Arial" panose="020B0604020202020204" pitchFamily="34" charset="0"/>
              <a:buChar char="•"/>
            </a:pPr>
            <a:endParaRPr sz="1600" b="0" i="0" u="none" strike="noStrike" cap="none" dirty="0">
              <a:solidFill>
                <a:srgbClr val="000000"/>
              </a:solidFill>
              <a:latin typeface="Calibri" panose="020F0502020204030204" pitchFamily="34" charset="0"/>
              <a:ea typeface="Calibri"/>
              <a:cs typeface="Calibri" panose="020F0502020204030204" pitchFamily="34" charset="0"/>
              <a:sym typeface="Calibri"/>
            </a:endParaRPr>
          </a:p>
          <a:p>
            <a:pPr marL="722313" marR="0" lvl="0" indent="-285750" algn="just" rtl="0">
              <a:lnSpc>
                <a:spcPct val="114000"/>
              </a:lnSpc>
              <a:spcBef>
                <a:spcPts val="600"/>
              </a:spcBef>
              <a:spcAft>
                <a:spcPts val="0"/>
              </a:spcAft>
              <a:buFont typeface="Arial" panose="020B0604020202020204" pitchFamily="34" charset="0"/>
              <a:buChar char="•"/>
            </a:pPr>
            <a:endParaRPr sz="1600" b="0" i="0" u="none" strike="noStrike" cap="none" dirty="0">
              <a:solidFill>
                <a:srgbClr val="000000"/>
              </a:solidFill>
              <a:latin typeface="Calibri" panose="020F0502020204030204" pitchFamily="34" charset="0"/>
              <a:ea typeface="Calibri"/>
              <a:cs typeface="Calibri" panose="020F0502020204030204" pitchFamily="34" charset="0"/>
              <a:sym typeface="Calibri"/>
            </a:endParaRPr>
          </a:p>
          <a:p>
            <a:pPr marL="285750" marR="0" lvl="0" indent="-285750" algn="l" rtl="0">
              <a:lnSpc>
                <a:spcPct val="114000"/>
              </a:lnSpc>
              <a:spcBef>
                <a:spcPts val="600"/>
              </a:spcBef>
              <a:spcAft>
                <a:spcPts val="0"/>
              </a:spcAft>
              <a:buClr>
                <a:srgbClr val="000000"/>
              </a:buClr>
              <a:buSzPts val="1400"/>
              <a:buFont typeface="Arial" panose="020B0604020202020204" pitchFamily="34" charset="0"/>
              <a:buChar char="•"/>
            </a:pPr>
            <a:endParaRPr sz="1600" b="0" i="0" u="none" strike="noStrike" cap="none" dirty="0">
              <a:solidFill>
                <a:srgbClr val="000000"/>
              </a:solidFill>
              <a:latin typeface="Calibri" panose="020F0502020204030204" pitchFamily="34" charset="0"/>
              <a:ea typeface="Calibri"/>
              <a:cs typeface="Calibri" panose="020F0502020204030204" pitchFamily="34" charset="0"/>
              <a:sym typeface="Calibri"/>
            </a:endParaRPr>
          </a:p>
          <a:p>
            <a:pPr marL="285750" marR="0" lvl="0" indent="-285750" algn="l" rtl="0">
              <a:lnSpc>
                <a:spcPct val="114000"/>
              </a:lnSpc>
              <a:spcBef>
                <a:spcPts val="600"/>
              </a:spcBef>
              <a:spcAft>
                <a:spcPts val="0"/>
              </a:spcAft>
              <a:buClr>
                <a:srgbClr val="000000"/>
              </a:buClr>
              <a:buSzPts val="1400"/>
              <a:buFont typeface="Arial" panose="020B0604020202020204" pitchFamily="34" charset="0"/>
              <a:buChar char="•"/>
            </a:pPr>
            <a:endParaRPr sz="1600" b="0" i="0" u="none" strike="noStrike" cap="none" dirty="0">
              <a:solidFill>
                <a:srgbClr val="000000"/>
              </a:solidFill>
              <a:latin typeface="Calibri" panose="020F0502020204030204" pitchFamily="34" charset="0"/>
              <a:ea typeface="Calibri"/>
              <a:cs typeface="Calibri" panose="020F0502020204030204" pitchFamily="34" charset="0"/>
              <a:sym typeface="Calibri"/>
            </a:endParaRPr>
          </a:p>
          <a:p>
            <a:pPr marL="285750" marR="0" lvl="0" indent="-285750" algn="l" rtl="0">
              <a:lnSpc>
                <a:spcPct val="114000"/>
              </a:lnSpc>
              <a:spcBef>
                <a:spcPts val="600"/>
              </a:spcBef>
              <a:spcAft>
                <a:spcPts val="0"/>
              </a:spcAft>
              <a:buClr>
                <a:srgbClr val="000000"/>
              </a:buClr>
              <a:buSzPts val="1400"/>
              <a:buFont typeface="Arial" panose="020B0604020202020204" pitchFamily="34" charset="0"/>
              <a:buChar char="•"/>
            </a:pPr>
            <a:endParaRPr sz="1600" b="0" i="0" u="none" strike="noStrike" cap="none" dirty="0">
              <a:solidFill>
                <a:srgbClr val="000000"/>
              </a:solidFill>
              <a:latin typeface="Calibri" panose="020F0502020204030204" pitchFamily="34" charset="0"/>
              <a:ea typeface="Calibri"/>
              <a:cs typeface="Calibri" panose="020F0502020204030204" pitchFamily="34" charset="0"/>
              <a:sym typeface="Calibri"/>
            </a:endParaRPr>
          </a:p>
        </p:txBody>
      </p:sp>
      <p:pic>
        <p:nvPicPr>
          <p:cNvPr id="2" name="Google Shape;353;p53">
            <a:extLst>
              <a:ext uri="{FF2B5EF4-FFF2-40B4-BE49-F238E27FC236}">
                <a16:creationId xmlns:a16="http://schemas.microsoft.com/office/drawing/2014/main" id="{7BBB37A4-5530-4E38-8F8A-243D560F26A8}"/>
              </a:ext>
            </a:extLst>
          </p:cNvPr>
          <p:cNvPicPr preferRelativeResize="0"/>
          <p:nvPr/>
        </p:nvPicPr>
        <p:blipFill rotWithShape="1">
          <a:blip r:embed="rId3">
            <a:alphaModFix/>
          </a:blip>
          <a:srcRect/>
          <a:stretch/>
        </p:blipFill>
        <p:spPr>
          <a:xfrm>
            <a:off x="5055549" y="2083309"/>
            <a:ext cx="3384318" cy="24921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54"/>
          <p:cNvSpPr txBox="1">
            <a:spLocks noGrp="1"/>
          </p:cNvSpPr>
          <p:nvPr>
            <p:ph type="title"/>
          </p:nvPr>
        </p:nvSpPr>
        <p:spPr>
          <a:xfrm>
            <a:off x="933025" y="592925"/>
            <a:ext cx="6305100" cy="76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IN" dirty="0">
                <a:latin typeface="Calibri"/>
                <a:ea typeface="Calibri"/>
                <a:cs typeface="Calibri"/>
                <a:sym typeface="Calibri"/>
              </a:rPr>
              <a:t>Periodic trends in ionisation energy: dips between Mg and Al</a:t>
            </a:r>
            <a:endParaRPr dirty="0"/>
          </a:p>
        </p:txBody>
      </p:sp>
      <p:sp>
        <p:nvSpPr>
          <p:cNvPr id="359" name="Google Shape;359;p54"/>
          <p:cNvSpPr txBox="1"/>
          <p:nvPr/>
        </p:nvSpPr>
        <p:spPr>
          <a:xfrm>
            <a:off x="558220" y="1914867"/>
            <a:ext cx="4230348" cy="2492100"/>
          </a:xfrm>
          <a:prstGeom prst="rect">
            <a:avLst/>
          </a:prstGeom>
          <a:noFill/>
          <a:ln>
            <a:noFill/>
          </a:ln>
        </p:spPr>
        <p:txBody>
          <a:bodyPr spcFirstLastPara="1" wrap="square" lIns="91425" tIns="91425" rIns="91425" bIns="91425" anchor="t" anchorCtr="0">
            <a:noAutofit/>
          </a:bodyPr>
          <a:lstStyle/>
          <a:p>
            <a:pPr marL="457200" marR="0" lvl="0" indent="-342900" algn="just" rtl="0">
              <a:lnSpc>
                <a:spcPct val="114000"/>
              </a:lnSpc>
              <a:spcBef>
                <a:spcPts val="600"/>
              </a:spcBef>
              <a:spcAft>
                <a:spcPts val="0"/>
              </a:spcAft>
              <a:buClr>
                <a:srgbClr val="000000"/>
              </a:buClr>
              <a:buSzPts val="1800"/>
              <a:buFont typeface="Arial" panose="020B0604020202020204" pitchFamily="34" charset="0"/>
              <a:buChar char="•"/>
            </a:pPr>
            <a:r>
              <a:rPr lang="en-US" sz="1600" b="0" i="0" u="none" strike="noStrike" cap="none" dirty="0" err="1">
                <a:solidFill>
                  <a:srgbClr val="000000"/>
                </a:solidFill>
                <a:latin typeface="Calibri" panose="020F0502020204030204" pitchFamily="34" charset="0"/>
                <a:ea typeface="Calibri"/>
                <a:cs typeface="Calibri" panose="020F0502020204030204" pitchFamily="34" charset="0"/>
                <a:sym typeface="Calibri"/>
              </a:rPr>
              <a:t>Aluminium</a:t>
            </a:r>
            <a:r>
              <a:rPr lang="en-US" sz="1600" b="0" i="0" u="none" strike="noStrike" cap="none" dirty="0">
                <a:solidFill>
                  <a:srgbClr val="000000"/>
                </a:solidFill>
                <a:latin typeface="Calibri" panose="020F0502020204030204" pitchFamily="34" charset="0"/>
                <a:ea typeface="Calibri"/>
                <a:cs typeface="Calibri" panose="020F0502020204030204" pitchFamily="34" charset="0"/>
                <a:sym typeface="Calibri"/>
              </a:rPr>
              <a:t> has one electron in its 3p orbital. </a:t>
            </a:r>
          </a:p>
          <a:p>
            <a:pPr marL="457200" marR="0" lvl="0" indent="-342900" algn="just" rtl="0">
              <a:lnSpc>
                <a:spcPct val="114000"/>
              </a:lnSpc>
              <a:spcBef>
                <a:spcPts val="600"/>
              </a:spcBef>
              <a:spcAft>
                <a:spcPts val="0"/>
              </a:spcAft>
              <a:buClr>
                <a:srgbClr val="000000"/>
              </a:buClr>
              <a:buSzPts val="1800"/>
              <a:buFont typeface="Arial" panose="020B0604020202020204" pitchFamily="34" charset="0"/>
              <a:buChar char="•"/>
            </a:pPr>
            <a:r>
              <a:rPr lang="en-US" sz="1600" b="0" i="0" u="none" strike="noStrike" cap="none" dirty="0">
                <a:solidFill>
                  <a:srgbClr val="000000"/>
                </a:solidFill>
                <a:latin typeface="Calibri" panose="020F0502020204030204" pitchFamily="34" charset="0"/>
                <a:ea typeface="Calibri"/>
                <a:cs typeface="Calibri" panose="020F0502020204030204" pitchFamily="34" charset="0"/>
                <a:sym typeface="Calibri"/>
              </a:rPr>
              <a:t>It requires less energy to remove one electron from p-shell when compared to that of Magnesium. This is due to shielding of valence electrons in 3p orbital by electrons in 3s orbital. </a:t>
            </a:r>
          </a:p>
          <a:p>
            <a:pPr marL="457200" marR="0" lvl="0" indent="-342900" algn="just" rtl="0">
              <a:lnSpc>
                <a:spcPct val="114000"/>
              </a:lnSpc>
              <a:spcBef>
                <a:spcPts val="600"/>
              </a:spcBef>
              <a:spcAft>
                <a:spcPts val="0"/>
              </a:spcAft>
              <a:buClr>
                <a:srgbClr val="000000"/>
              </a:buClr>
              <a:buSzPts val="1800"/>
              <a:buFont typeface="Arial" panose="020B0604020202020204" pitchFamily="34" charset="0"/>
              <a:buChar char="•"/>
            </a:pPr>
            <a:r>
              <a:rPr lang="en-US" sz="1600" b="0" i="0" u="none" strike="noStrike" cap="none" dirty="0">
                <a:solidFill>
                  <a:srgbClr val="000000"/>
                </a:solidFill>
                <a:latin typeface="Calibri" panose="020F0502020204030204" pitchFamily="34" charset="0"/>
                <a:ea typeface="Calibri"/>
                <a:cs typeface="Calibri" panose="020F0502020204030204" pitchFamily="34" charset="0"/>
                <a:sym typeface="Calibri"/>
              </a:rPr>
              <a:t>In case of Mg, the shielding is comparatively less. </a:t>
            </a:r>
          </a:p>
        </p:txBody>
      </p:sp>
      <p:pic>
        <p:nvPicPr>
          <p:cNvPr id="3" name="Picture 2">
            <a:extLst>
              <a:ext uri="{FF2B5EF4-FFF2-40B4-BE49-F238E27FC236}">
                <a16:creationId xmlns:a16="http://schemas.microsoft.com/office/drawing/2014/main" id="{3959A9A4-D0F8-417E-8608-8A460E24F109}"/>
              </a:ext>
            </a:extLst>
          </p:cNvPr>
          <p:cNvPicPr>
            <a:picLocks noChangeAspect="1"/>
          </p:cNvPicPr>
          <p:nvPr/>
        </p:nvPicPr>
        <p:blipFill>
          <a:blip r:embed="rId3"/>
          <a:stretch>
            <a:fillRect/>
          </a:stretch>
        </p:blipFill>
        <p:spPr>
          <a:xfrm>
            <a:off x="4945666" y="1877847"/>
            <a:ext cx="3821784" cy="2529120"/>
          </a:xfrm>
          <a:prstGeom prst="rect">
            <a:avLst/>
          </a:prstGeom>
        </p:spPr>
      </p:pic>
      <p:sp>
        <p:nvSpPr>
          <p:cNvPr id="4" name="TextBox 3">
            <a:extLst>
              <a:ext uri="{FF2B5EF4-FFF2-40B4-BE49-F238E27FC236}">
                <a16:creationId xmlns:a16="http://schemas.microsoft.com/office/drawing/2014/main" id="{BACE961A-A87B-4CE9-ABF7-3166CBCBA9BD}"/>
              </a:ext>
            </a:extLst>
          </p:cNvPr>
          <p:cNvSpPr txBox="1"/>
          <p:nvPr/>
        </p:nvSpPr>
        <p:spPr>
          <a:xfrm>
            <a:off x="5906618" y="4550575"/>
            <a:ext cx="1899879" cy="307777"/>
          </a:xfrm>
          <a:prstGeom prst="rect">
            <a:avLst/>
          </a:prstGeom>
          <a:noFill/>
        </p:spPr>
        <p:txBody>
          <a:bodyPr wrap="none" rtlCol="0">
            <a:spAutoFit/>
          </a:bodyPr>
          <a:lstStyle/>
          <a:p>
            <a:r>
              <a:rPr lang="en-GB" dirty="0">
                <a:latin typeface="+mn-lt"/>
              </a:rPr>
              <a:t>I.E</a:t>
            </a:r>
            <a:r>
              <a:rPr lang="en-GB" baseline="-25000" dirty="0">
                <a:latin typeface="+mn-lt"/>
              </a:rPr>
              <a:t>1</a:t>
            </a:r>
            <a:r>
              <a:rPr lang="en-GB" dirty="0">
                <a:latin typeface="+mn-lt"/>
              </a:rPr>
              <a:t> of Al &lt; I.E</a:t>
            </a:r>
            <a:r>
              <a:rPr lang="en-GB" baseline="-25000" dirty="0">
                <a:latin typeface="+mn-lt"/>
              </a:rPr>
              <a:t>1</a:t>
            </a:r>
            <a:r>
              <a:rPr lang="en-GB" dirty="0">
                <a:latin typeface="+mn-lt"/>
              </a:rPr>
              <a:t> of Mg</a:t>
            </a:r>
          </a:p>
        </p:txBody>
      </p:sp>
    </p:spTree>
    <p:extLst>
      <p:ext uri="{BB962C8B-B14F-4D97-AF65-F5344CB8AC3E}">
        <p14:creationId xmlns:p14="http://schemas.microsoft.com/office/powerpoint/2010/main" val="16827763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54"/>
          <p:cNvSpPr txBox="1">
            <a:spLocks noGrp="1"/>
          </p:cNvSpPr>
          <p:nvPr>
            <p:ph type="title"/>
          </p:nvPr>
        </p:nvSpPr>
        <p:spPr>
          <a:xfrm>
            <a:off x="933025" y="592925"/>
            <a:ext cx="6305100" cy="76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IN" dirty="0">
                <a:latin typeface="Calibri"/>
                <a:ea typeface="Calibri"/>
                <a:cs typeface="Calibri"/>
                <a:sym typeface="Calibri"/>
              </a:rPr>
              <a:t>Periodic trends in ionisation energy: dips between P and S</a:t>
            </a:r>
            <a:endParaRPr dirty="0"/>
          </a:p>
        </p:txBody>
      </p:sp>
      <p:sp>
        <p:nvSpPr>
          <p:cNvPr id="359" name="Google Shape;359;p54"/>
          <p:cNvSpPr txBox="1"/>
          <p:nvPr/>
        </p:nvSpPr>
        <p:spPr>
          <a:xfrm>
            <a:off x="558220" y="1914867"/>
            <a:ext cx="4230348" cy="2492100"/>
          </a:xfrm>
          <a:prstGeom prst="rect">
            <a:avLst/>
          </a:prstGeom>
          <a:noFill/>
          <a:ln>
            <a:noFill/>
          </a:ln>
        </p:spPr>
        <p:txBody>
          <a:bodyPr spcFirstLastPara="1" wrap="square" lIns="91425" tIns="91425" rIns="91425" bIns="91425" anchor="t" anchorCtr="0">
            <a:noAutofit/>
          </a:bodyPr>
          <a:lstStyle/>
          <a:p>
            <a:pPr marL="457200" marR="0" lvl="0" indent="-342900" algn="just" rtl="0">
              <a:lnSpc>
                <a:spcPct val="114000"/>
              </a:lnSpc>
              <a:spcBef>
                <a:spcPts val="600"/>
              </a:spcBef>
              <a:spcAft>
                <a:spcPts val="0"/>
              </a:spcAft>
              <a:buClr>
                <a:srgbClr val="000000"/>
              </a:buClr>
              <a:buSzPts val="1800"/>
              <a:buFont typeface="Arial" panose="020B0604020202020204" pitchFamily="34" charset="0"/>
              <a:buChar char="•"/>
            </a:pPr>
            <a:r>
              <a:rPr lang="en-US" sz="1600" b="0" i="0" u="none" strike="noStrike" cap="none" dirty="0">
                <a:solidFill>
                  <a:srgbClr val="000000"/>
                </a:solidFill>
                <a:latin typeface="Calibri" panose="020F0502020204030204" pitchFamily="34" charset="0"/>
                <a:ea typeface="Calibri"/>
                <a:cs typeface="Calibri" panose="020F0502020204030204" pitchFamily="34" charset="0"/>
                <a:sym typeface="Calibri"/>
              </a:rPr>
              <a:t>In phosphorous, each 3p orbital consists of an electron. </a:t>
            </a:r>
          </a:p>
          <a:p>
            <a:pPr marL="457200" marR="0" lvl="0" indent="-342900" algn="just" rtl="0">
              <a:lnSpc>
                <a:spcPct val="114000"/>
              </a:lnSpc>
              <a:spcBef>
                <a:spcPts val="600"/>
              </a:spcBef>
              <a:spcAft>
                <a:spcPts val="0"/>
              </a:spcAft>
              <a:buClr>
                <a:srgbClr val="000000"/>
              </a:buClr>
              <a:buSzPts val="1800"/>
              <a:buFont typeface="Arial" panose="020B0604020202020204" pitchFamily="34" charset="0"/>
              <a:buChar char="•"/>
            </a:pPr>
            <a:r>
              <a:rPr lang="en-US" sz="1600" b="0" i="0" u="none" strike="noStrike" cap="none" dirty="0">
                <a:solidFill>
                  <a:srgbClr val="000000"/>
                </a:solidFill>
                <a:latin typeface="Calibri" panose="020F0502020204030204" pitchFamily="34" charset="0"/>
                <a:ea typeface="Calibri"/>
                <a:cs typeface="Calibri" panose="020F0502020204030204" pitchFamily="34" charset="0"/>
                <a:sym typeface="Calibri"/>
              </a:rPr>
              <a:t>Sulphur has 2 pair of electrons in one of the 3p orbitals. </a:t>
            </a:r>
          </a:p>
          <a:p>
            <a:pPr marL="457200" marR="0" lvl="0" indent="-342900" algn="just" rtl="0">
              <a:lnSpc>
                <a:spcPct val="114000"/>
              </a:lnSpc>
              <a:spcBef>
                <a:spcPts val="600"/>
              </a:spcBef>
              <a:spcAft>
                <a:spcPts val="0"/>
              </a:spcAft>
              <a:buClr>
                <a:srgbClr val="000000"/>
              </a:buClr>
              <a:buSzPts val="1800"/>
              <a:buFont typeface="Arial" panose="020B0604020202020204" pitchFamily="34" charset="0"/>
              <a:buChar char="•"/>
            </a:pPr>
            <a:r>
              <a:rPr lang="en-US" sz="1600" b="0" i="0" u="none" strike="noStrike" cap="none" dirty="0">
                <a:solidFill>
                  <a:srgbClr val="000000"/>
                </a:solidFill>
                <a:latin typeface="Calibri" panose="020F0502020204030204" pitchFamily="34" charset="0"/>
                <a:ea typeface="Calibri"/>
                <a:cs typeface="Calibri" panose="020F0502020204030204" pitchFamily="34" charset="0"/>
                <a:sym typeface="Calibri"/>
              </a:rPr>
              <a:t>There is a force of repulsion between these paired electrons which makes it easier to remove even though atomic number increases.  </a:t>
            </a:r>
          </a:p>
        </p:txBody>
      </p:sp>
      <p:sp>
        <p:nvSpPr>
          <p:cNvPr id="4" name="TextBox 3">
            <a:extLst>
              <a:ext uri="{FF2B5EF4-FFF2-40B4-BE49-F238E27FC236}">
                <a16:creationId xmlns:a16="http://schemas.microsoft.com/office/drawing/2014/main" id="{BACE961A-A87B-4CE9-ABF7-3166CBCBA9BD}"/>
              </a:ext>
            </a:extLst>
          </p:cNvPr>
          <p:cNvSpPr txBox="1"/>
          <p:nvPr/>
        </p:nvSpPr>
        <p:spPr>
          <a:xfrm>
            <a:off x="5906618" y="4550575"/>
            <a:ext cx="1699504" cy="307777"/>
          </a:xfrm>
          <a:prstGeom prst="rect">
            <a:avLst/>
          </a:prstGeom>
          <a:noFill/>
        </p:spPr>
        <p:txBody>
          <a:bodyPr wrap="none" rtlCol="0">
            <a:spAutoFit/>
          </a:bodyPr>
          <a:lstStyle/>
          <a:p>
            <a:r>
              <a:rPr lang="en-GB" dirty="0">
                <a:latin typeface="+mn-lt"/>
              </a:rPr>
              <a:t>I.E</a:t>
            </a:r>
            <a:r>
              <a:rPr lang="en-GB" baseline="-25000" dirty="0">
                <a:latin typeface="+mn-lt"/>
              </a:rPr>
              <a:t>1</a:t>
            </a:r>
            <a:r>
              <a:rPr lang="en-GB" dirty="0">
                <a:latin typeface="+mn-lt"/>
              </a:rPr>
              <a:t> of S &lt; I.E</a:t>
            </a:r>
            <a:r>
              <a:rPr lang="en-GB" baseline="-25000" dirty="0">
                <a:latin typeface="+mn-lt"/>
              </a:rPr>
              <a:t>1</a:t>
            </a:r>
            <a:r>
              <a:rPr lang="en-GB" dirty="0">
                <a:latin typeface="+mn-lt"/>
              </a:rPr>
              <a:t> of P</a:t>
            </a:r>
          </a:p>
        </p:txBody>
      </p:sp>
      <p:pic>
        <p:nvPicPr>
          <p:cNvPr id="2" name="Picture 1">
            <a:extLst>
              <a:ext uri="{FF2B5EF4-FFF2-40B4-BE49-F238E27FC236}">
                <a16:creationId xmlns:a16="http://schemas.microsoft.com/office/drawing/2014/main" id="{158F5768-3C15-4DEF-814A-64327EDCF98E}"/>
              </a:ext>
            </a:extLst>
          </p:cNvPr>
          <p:cNvPicPr>
            <a:picLocks noChangeAspect="1"/>
          </p:cNvPicPr>
          <p:nvPr/>
        </p:nvPicPr>
        <p:blipFill>
          <a:blip r:embed="rId3"/>
          <a:stretch>
            <a:fillRect/>
          </a:stretch>
        </p:blipFill>
        <p:spPr>
          <a:xfrm>
            <a:off x="5094342" y="1914867"/>
            <a:ext cx="3866250" cy="2558546"/>
          </a:xfrm>
          <a:prstGeom prst="rect">
            <a:avLst/>
          </a:prstGeom>
        </p:spPr>
      </p:pic>
    </p:spTree>
    <p:extLst>
      <p:ext uri="{BB962C8B-B14F-4D97-AF65-F5344CB8AC3E}">
        <p14:creationId xmlns:p14="http://schemas.microsoft.com/office/powerpoint/2010/main" val="5039105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AF610-DCF6-4ADF-9D1A-B81986D5EB06}"/>
              </a:ext>
            </a:extLst>
          </p:cNvPr>
          <p:cNvSpPr>
            <a:spLocks noGrp="1"/>
          </p:cNvSpPr>
          <p:nvPr>
            <p:ph type="title"/>
          </p:nvPr>
        </p:nvSpPr>
        <p:spPr/>
        <p:txBody>
          <a:bodyPr/>
          <a:lstStyle/>
          <a:p>
            <a:r>
              <a:rPr lang="en-IN" dirty="0">
                <a:latin typeface="Calibri" panose="020F0502020204030204" pitchFamily="34" charset="0"/>
              </a:rPr>
              <a:t>Predicting electronic structure using </a:t>
            </a:r>
            <a:br>
              <a:rPr lang="en-IN" dirty="0">
                <a:latin typeface="Calibri" panose="020F0502020204030204" pitchFamily="34" charset="0"/>
              </a:rPr>
            </a:br>
            <a:r>
              <a:rPr lang="en-IN" dirty="0">
                <a:latin typeface="Calibri" panose="020F0502020204030204" pitchFamily="34" charset="0"/>
              </a:rPr>
              <a:t>successive ionisation energy</a:t>
            </a:r>
          </a:p>
        </p:txBody>
      </p:sp>
      <p:sp>
        <p:nvSpPr>
          <p:cNvPr id="3" name="Text Placeholder 2">
            <a:extLst>
              <a:ext uri="{FF2B5EF4-FFF2-40B4-BE49-F238E27FC236}">
                <a16:creationId xmlns:a16="http://schemas.microsoft.com/office/drawing/2014/main" id="{CD4CB18C-7551-452B-A423-246F2571D7CC}"/>
              </a:ext>
            </a:extLst>
          </p:cNvPr>
          <p:cNvSpPr>
            <a:spLocks noGrp="1"/>
          </p:cNvSpPr>
          <p:nvPr>
            <p:ph type="body" idx="1"/>
          </p:nvPr>
        </p:nvSpPr>
        <p:spPr>
          <a:xfrm>
            <a:off x="471900" y="2125565"/>
            <a:ext cx="8222100" cy="2710200"/>
          </a:xfrm>
        </p:spPr>
        <p:txBody>
          <a:bodyPr/>
          <a:lstStyle/>
          <a:p>
            <a:pPr marL="412750" indent="-285750" algn="just">
              <a:buClr>
                <a:srgbClr val="000000"/>
              </a:buClr>
              <a:buSzPct val="100000"/>
              <a:buFont typeface="Arial" panose="020B0604020202020204" pitchFamily="34" charset="0"/>
              <a:buChar char="•"/>
            </a:pPr>
            <a:r>
              <a:rPr lang="en-IN" sz="1600" dirty="0">
                <a:solidFill>
                  <a:srgbClr val="000000"/>
                </a:solidFill>
                <a:latin typeface="Calibri" panose="020F0502020204030204" pitchFamily="34" charset="0"/>
                <a:cs typeface="Calibri" panose="020F0502020204030204" pitchFamily="34" charset="0"/>
              </a:rPr>
              <a:t>Successive ionisation energy is the energy required to remove one mol of electrons from one mol of positive gaseous ions. </a:t>
            </a:r>
          </a:p>
          <a:p>
            <a:pPr marL="412750" indent="-285750" algn="just">
              <a:buClr>
                <a:srgbClr val="000000"/>
              </a:buClr>
              <a:buSzPct val="100000"/>
              <a:buFont typeface="Arial" panose="020B0604020202020204" pitchFamily="34" charset="0"/>
              <a:buChar char="•"/>
            </a:pPr>
            <a:r>
              <a:rPr lang="en-IN" sz="1600" dirty="0">
                <a:solidFill>
                  <a:srgbClr val="000000"/>
                </a:solidFill>
                <a:latin typeface="Calibri" panose="020F0502020204030204" pitchFamily="34" charset="0"/>
                <a:cs typeface="Calibri" panose="020F0502020204030204" pitchFamily="34" charset="0"/>
              </a:rPr>
              <a:t>The successive energies are always greater than the first ionisation energy. </a:t>
            </a:r>
          </a:p>
          <a:p>
            <a:pPr marL="412750" indent="-285750" algn="just">
              <a:buClr>
                <a:srgbClr val="000000"/>
              </a:buClr>
              <a:buSzPct val="100000"/>
              <a:buFont typeface="Arial" panose="020B0604020202020204" pitchFamily="34" charset="0"/>
              <a:buChar char="•"/>
            </a:pPr>
            <a:r>
              <a:rPr lang="en-IN" sz="1600" dirty="0">
                <a:solidFill>
                  <a:srgbClr val="000000"/>
                </a:solidFill>
                <a:latin typeface="Calibri" panose="020F0502020204030204" pitchFamily="34" charset="0"/>
                <a:cs typeface="Calibri" panose="020F0502020204030204" pitchFamily="34" charset="0"/>
              </a:rPr>
              <a:t>A positive ion is smaller than the atom and, hence, the force of attraction between the nucleus and the valence electron increases.</a:t>
            </a:r>
          </a:p>
          <a:p>
            <a:pPr marL="412750" indent="-285750" algn="just">
              <a:buClr>
                <a:srgbClr val="000000"/>
              </a:buClr>
              <a:buSzPct val="100000"/>
              <a:buFont typeface="Arial" panose="020B0604020202020204" pitchFamily="34" charset="0"/>
              <a:buChar char="•"/>
            </a:pPr>
            <a:r>
              <a:rPr lang="en-US" sz="1600" dirty="0">
                <a:solidFill>
                  <a:srgbClr val="000000"/>
                </a:solidFill>
                <a:latin typeface="Calibri" panose="020F0502020204030204" pitchFamily="34" charset="0"/>
                <a:cs typeface="Calibri" panose="020F0502020204030204" pitchFamily="34" charset="0"/>
              </a:rPr>
              <a:t>Successive </a:t>
            </a:r>
            <a:r>
              <a:rPr lang="en-US" sz="1600" dirty="0" err="1">
                <a:solidFill>
                  <a:srgbClr val="000000"/>
                </a:solidFill>
                <a:latin typeface="Calibri" panose="020F0502020204030204" pitchFamily="34" charset="0"/>
                <a:cs typeface="Calibri" panose="020F0502020204030204" pitchFamily="34" charset="0"/>
              </a:rPr>
              <a:t>ionisation</a:t>
            </a:r>
            <a:r>
              <a:rPr lang="en-US" sz="1600" dirty="0">
                <a:solidFill>
                  <a:srgbClr val="000000"/>
                </a:solidFill>
                <a:latin typeface="Calibri" panose="020F0502020204030204" pitchFamily="34" charset="0"/>
                <a:cs typeface="Calibri" panose="020F0502020204030204" pitchFamily="34" charset="0"/>
              </a:rPr>
              <a:t> energies are used to predict the number of electrons in each shell of an atom and the group of an element</a:t>
            </a:r>
            <a:endParaRPr lang="en-IN" sz="1600" dirty="0">
              <a:solidFill>
                <a:srgbClr val="00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133792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57"/>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IN" dirty="0">
                <a:latin typeface="Calibri"/>
                <a:ea typeface="Calibri"/>
                <a:cs typeface="Calibri"/>
                <a:sym typeface="Calibri"/>
              </a:rPr>
              <a:t>Predicting electronic structure using </a:t>
            </a:r>
            <a:br>
              <a:rPr lang="en-IN" dirty="0">
                <a:latin typeface="Calibri"/>
                <a:ea typeface="Calibri"/>
                <a:cs typeface="Calibri"/>
                <a:sym typeface="Calibri"/>
              </a:rPr>
            </a:br>
            <a:r>
              <a:rPr lang="en-IN" dirty="0">
                <a:latin typeface="Calibri"/>
                <a:ea typeface="Calibri"/>
                <a:cs typeface="Calibri"/>
                <a:sym typeface="Calibri"/>
              </a:rPr>
              <a:t>successive ionisation energy: Example</a:t>
            </a:r>
            <a:endParaRPr dirty="0"/>
          </a:p>
        </p:txBody>
      </p:sp>
      <p:sp>
        <p:nvSpPr>
          <p:cNvPr id="378" name="Google Shape;378;p57"/>
          <p:cNvSpPr txBox="1">
            <a:spLocks noGrp="1"/>
          </p:cNvSpPr>
          <p:nvPr>
            <p:ph type="body" idx="1"/>
          </p:nvPr>
        </p:nvSpPr>
        <p:spPr>
          <a:xfrm>
            <a:off x="471900" y="2030147"/>
            <a:ext cx="5086689" cy="2710200"/>
          </a:xfrm>
          <a:prstGeom prst="rect">
            <a:avLst/>
          </a:prstGeom>
          <a:noFill/>
          <a:ln>
            <a:noFill/>
          </a:ln>
        </p:spPr>
        <p:txBody>
          <a:bodyPr spcFirstLastPara="1" wrap="square" lIns="91425" tIns="91425" rIns="91425" bIns="91425" anchor="t" anchorCtr="0">
            <a:noAutofit/>
          </a:bodyPr>
          <a:lstStyle/>
          <a:p>
            <a:pPr marL="114300" lvl="0" indent="0" algn="l" rtl="0">
              <a:lnSpc>
                <a:spcPct val="115000"/>
              </a:lnSpc>
              <a:spcBef>
                <a:spcPts val="600"/>
              </a:spcBef>
              <a:spcAft>
                <a:spcPts val="0"/>
              </a:spcAft>
              <a:buSzPts val="1800"/>
              <a:buNone/>
            </a:pPr>
            <a:r>
              <a:rPr lang="en-IN" sz="1600" dirty="0">
                <a:solidFill>
                  <a:srgbClr val="000000"/>
                </a:solidFill>
                <a:latin typeface="Calibri" panose="020F0502020204030204" pitchFamily="34" charset="0"/>
                <a:ea typeface="Calibri"/>
                <a:cs typeface="Calibri" panose="020F0502020204030204" pitchFamily="34" charset="0"/>
                <a:sym typeface="Calibri"/>
              </a:rPr>
              <a:t>Consider the graph that shows the log</a:t>
            </a:r>
            <a:r>
              <a:rPr lang="en-IN" sz="1600" baseline="-25000" dirty="0">
                <a:solidFill>
                  <a:srgbClr val="000000"/>
                </a:solidFill>
                <a:latin typeface="Calibri" panose="020F0502020204030204" pitchFamily="34" charset="0"/>
                <a:ea typeface="Calibri"/>
                <a:cs typeface="Calibri" panose="020F0502020204030204" pitchFamily="34" charset="0"/>
                <a:sym typeface="Calibri"/>
              </a:rPr>
              <a:t>10</a:t>
            </a:r>
            <a:r>
              <a:rPr lang="en-IN" sz="1600" dirty="0">
                <a:solidFill>
                  <a:srgbClr val="000000"/>
                </a:solidFill>
                <a:latin typeface="Calibri" panose="020F0502020204030204" pitchFamily="34" charset="0"/>
                <a:ea typeface="Calibri"/>
                <a:cs typeface="Calibri" panose="020F0502020204030204" pitchFamily="34" charset="0"/>
                <a:sym typeface="Calibri"/>
              </a:rPr>
              <a:t> ionisation energy versus the number of electrons removed from magnesium.</a:t>
            </a:r>
            <a:endParaRPr sz="2000" dirty="0">
              <a:latin typeface="Calibri" panose="020F0502020204030204" pitchFamily="34" charset="0"/>
              <a:cs typeface="Calibri" panose="020F0502020204030204" pitchFamily="34" charset="0"/>
            </a:endParaRPr>
          </a:p>
          <a:p>
            <a:pPr marL="527050" lvl="0" indent="-400050" algn="just" rtl="0">
              <a:lnSpc>
                <a:spcPct val="115000"/>
              </a:lnSpc>
              <a:spcBef>
                <a:spcPts val="600"/>
              </a:spcBef>
              <a:spcAft>
                <a:spcPts val="0"/>
              </a:spcAft>
              <a:buSzPts val="1800"/>
              <a:buFont typeface="Arial"/>
              <a:buAutoNum type="romanLcPeriod"/>
            </a:pPr>
            <a:r>
              <a:rPr lang="en-US" sz="1600" dirty="0">
                <a:solidFill>
                  <a:srgbClr val="000000"/>
                </a:solidFill>
                <a:latin typeface="Calibri" panose="020F0502020204030204" pitchFamily="34" charset="0"/>
                <a:ea typeface="Calibri"/>
                <a:cs typeface="Calibri" panose="020F0502020204030204" pitchFamily="34" charset="0"/>
                <a:sym typeface="Calibri"/>
              </a:rPr>
              <a:t>Why are the first two electrons easier to remove?</a:t>
            </a:r>
          </a:p>
          <a:p>
            <a:pPr marL="527050" lvl="0" indent="-400050" algn="just" rtl="0">
              <a:lnSpc>
                <a:spcPct val="115000"/>
              </a:lnSpc>
              <a:spcBef>
                <a:spcPts val="600"/>
              </a:spcBef>
              <a:spcAft>
                <a:spcPts val="0"/>
              </a:spcAft>
              <a:buSzPts val="1800"/>
              <a:buFont typeface="Arial"/>
              <a:buAutoNum type="romanLcPeriod"/>
            </a:pPr>
            <a:r>
              <a:rPr lang="en-US" sz="1600" dirty="0">
                <a:solidFill>
                  <a:srgbClr val="000000"/>
                </a:solidFill>
                <a:latin typeface="Calibri" panose="020F0502020204030204" pitchFamily="34" charset="0"/>
                <a:ea typeface="Calibri"/>
                <a:cs typeface="Calibri" panose="020F0502020204030204" pitchFamily="34" charset="0"/>
                <a:sym typeface="Calibri"/>
              </a:rPr>
              <a:t>Why is it difficult to remove the 3rd electron when compared to the first 2 electrons?</a:t>
            </a:r>
          </a:p>
          <a:p>
            <a:pPr marL="527050" lvl="0" indent="-400050" algn="just" rtl="0">
              <a:lnSpc>
                <a:spcPct val="115000"/>
              </a:lnSpc>
              <a:spcBef>
                <a:spcPts val="600"/>
              </a:spcBef>
              <a:spcAft>
                <a:spcPts val="0"/>
              </a:spcAft>
              <a:buSzPts val="1800"/>
              <a:buFont typeface="Arial"/>
              <a:buAutoNum type="romanLcPeriod"/>
            </a:pPr>
            <a:r>
              <a:rPr lang="en-US" sz="1600" dirty="0">
                <a:solidFill>
                  <a:srgbClr val="000000"/>
                </a:solidFill>
                <a:latin typeface="Calibri" panose="020F0502020204030204" pitchFamily="34" charset="0"/>
                <a:ea typeface="Calibri"/>
                <a:cs typeface="Calibri" panose="020F0502020204030204" pitchFamily="34" charset="0"/>
                <a:sym typeface="Calibri"/>
              </a:rPr>
              <a:t>What does this graph tell us about the electron configuration of magnesium?</a:t>
            </a:r>
          </a:p>
          <a:p>
            <a:pPr marL="114300" lvl="0" indent="0" algn="l" rtl="0">
              <a:lnSpc>
                <a:spcPct val="115000"/>
              </a:lnSpc>
              <a:spcBef>
                <a:spcPts val="600"/>
              </a:spcBef>
              <a:spcAft>
                <a:spcPts val="0"/>
              </a:spcAft>
              <a:buSzPts val="1800"/>
              <a:buNone/>
            </a:pPr>
            <a:endParaRPr sz="1600" dirty="0">
              <a:solidFill>
                <a:srgbClr val="000000"/>
              </a:solidFill>
              <a:latin typeface="Calibri" panose="020F0502020204030204" pitchFamily="34" charset="0"/>
              <a:ea typeface="Calibri"/>
              <a:cs typeface="Calibri" panose="020F0502020204030204" pitchFamily="34" charset="0"/>
              <a:sym typeface="Calibri"/>
            </a:endParaRPr>
          </a:p>
          <a:p>
            <a:pPr marL="114300" lvl="0" indent="0" algn="l" rtl="0">
              <a:lnSpc>
                <a:spcPct val="115000"/>
              </a:lnSpc>
              <a:spcBef>
                <a:spcPts val="600"/>
              </a:spcBef>
              <a:spcAft>
                <a:spcPts val="0"/>
              </a:spcAft>
              <a:buSzPts val="1800"/>
              <a:buNone/>
            </a:pPr>
            <a:endParaRPr sz="1600" dirty="0">
              <a:solidFill>
                <a:srgbClr val="000000"/>
              </a:solidFill>
              <a:latin typeface="Calibri" panose="020F0502020204030204" pitchFamily="34" charset="0"/>
              <a:ea typeface="Calibri"/>
              <a:cs typeface="Calibri" panose="020F0502020204030204" pitchFamily="34" charset="0"/>
              <a:sym typeface="Calibri"/>
            </a:endParaRPr>
          </a:p>
          <a:p>
            <a:pPr marL="457200" lvl="0" indent="-228600" algn="l" rtl="0">
              <a:lnSpc>
                <a:spcPct val="115000"/>
              </a:lnSpc>
              <a:spcBef>
                <a:spcPts val="600"/>
              </a:spcBef>
              <a:spcAft>
                <a:spcPts val="0"/>
              </a:spcAft>
              <a:buSzPts val="1800"/>
              <a:buNone/>
            </a:pPr>
            <a:endParaRPr sz="1600" dirty="0">
              <a:solidFill>
                <a:srgbClr val="000000"/>
              </a:solidFill>
              <a:latin typeface="Calibri" panose="020F0502020204030204" pitchFamily="34" charset="0"/>
              <a:ea typeface="Calibri"/>
              <a:cs typeface="Calibri" panose="020F0502020204030204" pitchFamily="34" charset="0"/>
              <a:sym typeface="Calibri"/>
            </a:endParaRPr>
          </a:p>
        </p:txBody>
      </p:sp>
      <p:pic>
        <p:nvPicPr>
          <p:cNvPr id="379" name="Google Shape;379;p57"/>
          <p:cNvPicPr preferRelativeResize="0"/>
          <p:nvPr/>
        </p:nvPicPr>
        <p:blipFill rotWithShape="1">
          <a:blip r:embed="rId3">
            <a:alphaModFix/>
          </a:blip>
          <a:srcRect/>
          <a:stretch/>
        </p:blipFill>
        <p:spPr>
          <a:xfrm>
            <a:off x="5558589" y="1766629"/>
            <a:ext cx="3410908" cy="323723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58"/>
          <p:cNvSpPr txBox="1">
            <a:spLocks noGrp="1"/>
          </p:cNvSpPr>
          <p:nvPr>
            <p:ph type="title"/>
          </p:nvPr>
        </p:nvSpPr>
        <p:spPr>
          <a:xfrm>
            <a:off x="933024" y="592925"/>
            <a:ext cx="7100375" cy="76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IN" dirty="0">
                <a:latin typeface="Calibri"/>
                <a:ea typeface="Calibri"/>
                <a:cs typeface="Calibri"/>
                <a:sym typeface="Calibri"/>
              </a:rPr>
              <a:t>Predicting electronic structure using successive ionisation energy: Example</a:t>
            </a:r>
            <a:endParaRPr dirty="0"/>
          </a:p>
        </p:txBody>
      </p:sp>
      <p:sp>
        <p:nvSpPr>
          <p:cNvPr id="385" name="Google Shape;385;p58"/>
          <p:cNvSpPr txBox="1"/>
          <p:nvPr/>
        </p:nvSpPr>
        <p:spPr>
          <a:xfrm>
            <a:off x="612289" y="2058475"/>
            <a:ext cx="5066616" cy="2492100"/>
          </a:xfrm>
          <a:prstGeom prst="rect">
            <a:avLst/>
          </a:prstGeom>
          <a:noFill/>
          <a:ln>
            <a:noFill/>
          </a:ln>
        </p:spPr>
        <p:txBody>
          <a:bodyPr spcFirstLastPara="1" wrap="square" lIns="91425" tIns="91425" rIns="91425" bIns="91425" anchor="t" anchorCtr="0">
            <a:noAutofit/>
          </a:bodyPr>
          <a:lstStyle/>
          <a:p>
            <a:pPr marL="114300" marR="0" lvl="0" indent="0" algn="l" rtl="0">
              <a:lnSpc>
                <a:spcPct val="114000"/>
              </a:lnSpc>
              <a:spcBef>
                <a:spcPts val="600"/>
              </a:spcBef>
              <a:spcAft>
                <a:spcPts val="0"/>
              </a:spcAft>
              <a:buNone/>
            </a:pPr>
            <a:r>
              <a:rPr lang="en-IN" sz="1600" b="1" i="0" u="none" strike="noStrike" cap="none" dirty="0">
                <a:solidFill>
                  <a:srgbClr val="000000"/>
                </a:solidFill>
                <a:latin typeface="Calibri"/>
                <a:ea typeface="Calibri"/>
                <a:cs typeface="Calibri"/>
                <a:sym typeface="Calibri"/>
              </a:rPr>
              <a:t>Solution: </a:t>
            </a:r>
            <a:endParaRPr sz="1600" b="0" i="0" u="none" strike="noStrike" cap="none" dirty="0">
              <a:solidFill>
                <a:srgbClr val="000000"/>
              </a:solidFill>
              <a:latin typeface="Calibri"/>
              <a:ea typeface="Calibri"/>
              <a:cs typeface="Calibri"/>
              <a:sym typeface="Calibri"/>
            </a:endParaRPr>
          </a:p>
          <a:p>
            <a:pPr marL="527050" lvl="0" indent="-400050" algn="just" rtl="0">
              <a:lnSpc>
                <a:spcPct val="115000"/>
              </a:lnSpc>
              <a:spcBef>
                <a:spcPts val="600"/>
              </a:spcBef>
              <a:spcAft>
                <a:spcPts val="0"/>
              </a:spcAft>
              <a:buSzPts val="1800"/>
              <a:buFont typeface="Arial"/>
              <a:buAutoNum type="romanLcPeriod"/>
            </a:pPr>
            <a:r>
              <a:rPr lang="en-US" sz="1600" dirty="0">
                <a:solidFill>
                  <a:srgbClr val="000000"/>
                </a:solidFill>
                <a:latin typeface="Calibri" panose="020F0502020204030204" pitchFamily="34" charset="0"/>
                <a:ea typeface="Calibri"/>
                <a:cs typeface="Calibri" panose="020F0502020204030204" pitchFamily="34" charset="0"/>
                <a:sym typeface="Calibri"/>
              </a:rPr>
              <a:t>Why are the first two electrons easier to remove?</a:t>
            </a:r>
          </a:p>
          <a:p>
            <a:pPr marL="457200" marR="0" lvl="0" indent="-342900" algn="just" rtl="0">
              <a:lnSpc>
                <a:spcPct val="114000"/>
              </a:lnSpc>
              <a:spcBef>
                <a:spcPts val="600"/>
              </a:spcBef>
              <a:spcAft>
                <a:spcPts val="0"/>
              </a:spcAft>
              <a:buClr>
                <a:srgbClr val="000000"/>
              </a:buClr>
              <a:buSzPct val="100000"/>
              <a:buFont typeface="Arial" panose="020B0604020202020204" pitchFamily="34" charset="0"/>
              <a:buChar char="•"/>
            </a:pPr>
            <a:r>
              <a:rPr lang="en-US" sz="1600" b="0" i="0" u="none" strike="noStrike" cap="none" dirty="0">
                <a:solidFill>
                  <a:srgbClr val="000000"/>
                </a:solidFill>
                <a:latin typeface="Calibri"/>
                <a:ea typeface="Calibri"/>
                <a:cs typeface="Calibri"/>
                <a:sym typeface="Calibri"/>
              </a:rPr>
              <a:t>The outermost shell is the s-subshell. </a:t>
            </a:r>
          </a:p>
          <a:p>
            <a:pPr marL="457200" marR="0" lvl="0" indent="-342900" algn="just" rtl="0">
              <a:lnSpc>
                <a:spcPct val="114000"/>
              </a:lnSpc>
              <a:spcBef>
                <a:spcPts val="600"/>
              </a:spcBef>
              <a:spcAft>
                <a:spcPts val="0"/>
              </a:spcAft>
              <a:buClr>
                <a:srgbClr val="000000"/>
              </a:buClr>
              <a:buSzPct val="100000"/>
              <a:buFont typeface="Arial" panose="020B0604020202020204" pitchFamily="34" charset="0"/>
              <a:buChar char="•"/>
            </a:pPr>
            <a:r>
              <a:rPr lang="en-US" sz="1600" b="0" i="0" u="none" strike="noStrike" cap="none" dirty="0">
                <a:solidFill>
                  <a:srgbClr val="000000"/>
                </a:solidFill>
                <a:latin typeface="Calibri"/>
                <a:ea typeface="Calibri"/>
                <a:cs typeface="Calibri"/>
                <a:sym typeface="Calibri"/>
              </a:rPr>
              <a:t>The outermost electrons have greatest shielding from nucleus by the inner electrons. </a:t>
            </a:r>
          </a:p>
          <a:p>
            <a:pPr marL="457200" marR="0" lvl="0" indent="-342900" algn="just" rtl="0">
              <a:lnSpc>
                <a:spcPct val="114000"/>
              </a:lnSpc>
              <a:spcBef>
                <a:spcPts val="600"/>
              </a:spcBef>
              <a:spcAft>
                <a:spcPts val="0"/>
              </a:spcAft>
              <a:buClr>
                <a:srgbClr val="000000"/>
              </a:buClr>
              <a:buSzPct val="100000"/>
              <a:buFont typeface="Arial" panose="020B0604020202020204" pitchFamily="34" charset="0"/>
              <a:buChar char="•"/>
            </a:pPr>
            <a:r>
              <a:rPr lang="en-US" sz="1600" b="0" i="0" u="none" strike="noStrike" cap="none" dirty="0">
                <a:solidFill>
                  <a:srgbClr val="000000"/>
                </a:solidFill>
                <a:latin typeface="Calibri"/>
                <a:ea typeface="Calibri"/>
                <a:cs typeface="Calibri"/>
                <a:sym typeface="Calibri"/>
              </a:rPr>
              <a:t>The force of attraction between the outermost electrons and the nucleus is the least.</a:t>
            </a:r>
          </a:p>
          <a:p>
            <a:pPr marL="0" marR="0" lvl="0" indent="0" algn="l" rtl="0">
              <a:lnSpc>
                <a:spcPct val="114000"/>
              </a:lnSpc>
              <a:spcBef>
                <a:spcPts val="600"/>
              </a:spcBef>
              <a:spcAft>
                <a:spcPts val="0"/>
              </a:spcAft>
              <a:buClr>
                <a:srgbClr val="000000"/>
              </a:buClr>
              <a:buSzPts val="1400"/>
              <a:buFont typeface="Arial"/>
              <a:buNone/>
            </a:pPr>
            <a:endParaRPr sz="1600" b="0" i="0" u="none" strike="noStrike" cap="none" dirty="0">
              <a:solidFill>
                <a:srgbClr val="000000"/>
              </a:solidFill>
              <a:latin typeface="Calibri"/>
              <a:ea typeface="Calibri"/>
              <a:cs typeface="Calibri"/>
              <a:sym typeface="Calibri"/>
            </a:endParaRPr>
          </a:p>
        </p:txBody>
      </p:sp>
      <p:pic>
        <p:nvPicPr>
          <p:cNvPr id="2" name="Google Shape;379;p57">
            <a:extLst>
              <a:ext uri="{FF2B5EF4-FFF2-40B4-BE49-F238E27FC236}">
                <a16:creationId xmlns:a16="http://schemas.microsoft.com/office/drawing/2014/main" id="{3CEDED80-3ACA-4702-8670-63891ED2358A}"/>
              </a:ext>
            </a:extLst>
          </p:cNvPr>
          <p:cNvPicPr preferRelativeResize="0"/>
          <p:nvPr/>
        </p:nvPicPr>
        <p:blipFill rotWithShape="1">
          <a:blip r:embed="rId3">
            <a:alphaModFix/>
          </a:blip>
          <a:srcRect/>
          <a:stretch/>
        </p:blipFill>
        <p:spPr>
          <a:xfrm>
            <a:off x="5889413" y="1868394"/>
            <a:ext cx="2941766" cy="2872262"/>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57"/>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IN" dirty="0">
                <a:latin typeface="Calibri"/>
                <a:ea typeface="Calibri"/>
                <a:cs typeface="Calibri"/>
                <a:sym typeface="Calibri"/>
              </a:rPr>
              <a:t>Predicting electronic structure using </a:t>
            </a:r>
            <a:br>
              <a:rPr lang="en-IN" dirty="0">
                <a:latin typeface="Calibri"/>
                <a:ea typeface="Calibri"/>
                <a:cs typeface="Calibri"/>
                <a:sym typeface="Calibri"/>
              </a:rPr>
            </a:br>
            <a:r>
              <a:rPr lang="en-IN" dirty="0">
                <a:latin typeface="Calibri"/>
                <a:ea typeface="Calibri"/>
                <a:cs typeface="Calibri"/>
                <a:sym typeface="Calibri"/>
              </a:rPr>
              <a:t>successive ionisation energy: Example</a:t>
            </a:r>
            <a:endParaRPr dirty="0"/>
          </a:p>
        </p:txBody>
      </p:sp>
      <p:sp>
        <p:nvSpPr>
          <p:cNvPr id="378" name="Google Shape;378;p57"/>
          <p:cNvSpPr txBox="1">
            <a:spLocks noGrp="1"/>
          </p:cNvSpPr>
          <p:nvPr>
            <p:ph type="body" idx="1"/>
          </p:nvPr>
        </p:nvSpPr>
        <p:spPr>
          <a:xfrm>
            <a:off x="471900" y="2030147"/>
            <a:ext cx="5086689" cy="2710200"/>
          </a:xfrm>
          <a:prstGeom prst="rect">
            <a:avLst/>
          </a:prstGeom>
          <a:noFill/>
          <a:ln>
            <a:noFill/>
          </a:ln>
        </p:spPr>
        <p:txBody>
          <a:bodyPr spcFirstLastPara="1" wrap="square" lIns="91425" tIns="91425" rIns="91425" bIns="91425" anchor="t" anchorCtr="0">
            <a:noAutofit/>
          </a:bodyPr>
          <a:lstStyle/>
          <a:p>
            <a:pPr marL="527050" lvl="0" indent="-400050" algn="just" rtl="0">
              <a:lnSpc>
                <a:spcPct val="115000"/>
              </a:lnSpc>
              <a:spcBef>
                <a:spcPts val="600"/>
              </a:spcBef>
              <a:spcAft>
                <a:spcPts val="0"/>
              </a:spcAft>
              <a:buSzPts val="1800"/>
              <a:buFont typeface="+mj-lt"/>
              <a:buAutoNum type="romanLcPeriod" startAt="2"/>
            </a:pPr>
            <a:r>
              <a:rPr lang="en-US" sz="1600" dirty="0">
                <a:solidFill>
                  <a:srgbClr val="000000"/>
                </a:solidFill>
                <a:latin typeface="Calibri" panose="020F0502020204030204" pitchFamily="34" charset="0"/>
                <a:ea typeface="Calibri"/>
                <a:cs typeface="Calibri" panose="020F0502020204030204" pitchFamily="34" charset="0"/>
                <a:sym typeface="Calibri"/>
              </a:rPr>
              <a:t>Why is it difficult to remove the 3rd electron when compared to the first 2 electrons?</a:t>
            </a:r>
          </a:p>
          <a:p>
            <a:pPr marL="412750" indent="-285750" algn="just">
              <a:spcBef>
                <a:spcPts val="600"/>
              </a:spcBef>
              <a:buFont typeface="Arial" panose="020B0604020202020204" pitchFamily="34" charset="0"/>
              <a:buChar char="•"/>
            </a:pPr>
            <a:r>
              <a:rPr lang="en-US" sz="1600" dirty="0">
                <a:solidFill>
                  <a:srgbClr val="000000"/>
                </a:solidFill>
                <a:latin typeface="Calibri" panose="020F0502020204030204" pitchFamily="34" charset="0"/>
                <a:ea typeface="Calibri"/>
                <a:cs typeface="Calibri" panose="020F0502020204030204" pitchFamily="34" charset="0"/>
                <a:sym typeface="Calibri"/>
              </a:rPr>
              <a:t>Once the second electron is removed, the size of the atom is significantly reduced, which leads to an increase in the force of attraction between outermost electrons and nucleus. </a:t>
            </a:r>
          </a:p>
          <a:p>
            <a:pPr marL="412750" indent="-285750" algn="just">
              <a:spcBef>
                <a:spcPts val="600"/>
              </a:spcBef>
              <a:buFont typeface="Arial" panose="020B0604020202020204" pitchFamily="34" charset="0"/>
              <a:buChar char="•"/>
            </a:pPr>
            <a:r>
              <a:rPr lang="en-US" sz="1600" dirty="0">
                <a:solidFill>
                  <a:srgbClr val="000000"/>
                </a:solidFill>
                <a:latin typeface="Calibri" panose="020F0502020204030204" pitchFamily="34" charset="0"/>
                <a:ea typeface="Calibri"/>
                <a:cs typeface="Calibri" panose="020F0502020204030204" pitchFamily="34" charset="0"/>
                <a:sym typeface="Calibri"/>
              </a:rPr>
              <a:t>Also, there is less shielding by inner electrons. </a:t>
            </a:r>
            <a:endParaRPr lang="en-GB" sz="1600" dirty="0">
              <a:solidFill>
                <a:srgbClr val="000000"/>
              </a:solidFill>
              <a:latin typeface="Calibri" panose="020F0502020204030204" pitchFamily="34" charset="0"/>
              <a:ea typeface="Calibri"/>
              <a:cs typeface="Calibri" panose="020F0502020204030204" pitchFamily="34" charset="0"/>
              <a:sym typeface="Calibri"/>
            </a:endParaRPr>
          </a:p>
          <a:p>
            <a:pPr marL="114300" lvl="0" indent="0" algn="l" rtl="0">
              <a:lnSpc>
                <a:spcPct val="115000"/>
              </a:lnSpc>
              <a:spcBef>
                <a:spcPts val="600"/>
              </a:spcBef>
              <a:spcAft>
                <a:spcPts val="0"/>
              </a:spcAft>
              <a:buSzPts val="1800"/>
              <a:buNone/>
            </a:pPr>
            <a:endParaRPr sz="1600" dirty="0">
              <a:solidFill>
                <a:srgbClr val="000000"/>
              </a:solidFill>
              <a:latin typeface="Calibri" panose="020F0502020204030204" pitchFamily="34" charset="0"/>
              <a:ea typeface="Calibri"/>
              <a:cs typeface="Calibri" panose="020F0502020204030204" pitchFamily="34" charset="0"/>
              <a:sym typeface="Calibri"/>
            </a:endParaRPr>
          </a:p>
          <a:p>
            <a:pPr marL="457200" lvl="0" indent="-228600" algn="l" rtl="0">
              <a:lnSpc>
                <a:spcPct val="115000"/>
              </a:lnSpc>
              <a:spcBef>
                <a:spcPts val="600"/>
              </a:spcBef>
              <a:spcAft>
                <a:spcPts val="0"/>
              </a:spcAft>
              <a:buSzPts val="1800"/>
              <a:buNone/>
            </a:pPr>
            <a:endParaRPr sz="1600" dirty="0">
              <a:solidFill>
                <a:srgbClr val="000000"/>
              </a:solidFill>
              <a:latin typeface="Calibri" panose="020F0502020204030204" pitchFamily="34" charset="0"/>
              <a:ea typeface="Calibri"/>
              <a:cs typeface="Calibri" panose="020F0502020204030204" pitchFamily="34" charset="0"/>
              <a:sym typeface="Calibri"/>
            </a:endParaRPr>
          </a:p>
        </p:txBody>
      </p:sp>
      <p:pic>
        <p:nvPicPr>
          <p:cNvPr id="379" name="Google Shape;379;p57"/>
          <p:cNvPicPr preferRelativeResize="0"/>
          <p:nvPr/>
        </p:nvPicPr>
        <p:blipFill rotWithShape="1">
          <a:blip r:embed="rId3">
            <a:alphaModFix/>
          </a:blip>
          <a:srcRect/>
          <a:stretch/>
        </p:blipFill>
        <p:spPr>
          <a:xfrm>
            <a:off x="5558589" y="1766629"/>
            <a:ext cx="3410908" cy="3237236"/>
          </a:xfrm>
          <a:prstGeom prst="rect">
            <a:avLst/>
          </a:prstGeom>
          <a:noFill/>
          <a:ln>
            <a:noFill/>
          </a:ln>
        </p:spPr>
      </p:pic>
    </p:spTree>
    <p:extLst>
      <p:ext uri="{BB962C8B-B14F-4D97-AF65-F5344CB8AC3E}">
        <p14:creationId xmlns:p14="http://schemas.microsoft.com/office/powerpoint/2010/main" val="21560407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58"/>
          <p:cNvSpPr txBox="1">
            <a:spLocks noGrp="1"/>
          </p:cNvSpPr>
          <p:nvPr>
            <p:ph type="title"/>
          </p:nvPr>
        </p:nvSpPr>
        <p:spPr>
          <a:xfrm>
            <a:off x="933024" y="592925"/>
            <a:ext cx="7100375" cy="76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IN" dirty="0">
                <a:latin typeface="Calibri"/>
                <a:ea typeface="Calibri"/>
                <a:cs typeface="Calibri"/>
                <a:sym typeface="Calibri"/>
              </a:rPr>
              <a:t>Predicting electronic structure using successive ionisation energy: Example</a:t>
            </a:r>
            <a:endParaRPr dirty="0"/>
          </a:p>
        </p:txBody>
      </p:sp>
      <p:sp>
        <p:nvSpPr>
          <p:cNvPr id="385" name="Google Shape;385;p58"/>
          <p:cNvSpPr txBox="1"/>
          <p:nvPr/>
        </p:nvSpPr>
        <p:spPr>
          <a:xfrm>
            <a:off x="516035" y="1868394"/>
            <a:ext cx="5271154" cy="2492100"/>
          </a:xfrm>
          <a:prstGeom prst="rect">
            <a:avLst/>
          </a:prstGeom>
          <a:noFill/>
          <a:ln>
            <a:noFill/>
          </a:ln>
        </p:spPr>
        <p:txBody>
          <a:bodyPr spcFirstLastPara="1" wrap="square" lIns="91425" tIns="91425" rIns="91425" bIns="91425" anchor="t" anchorCtr="0">
            <a:noAutofit/>
          </a:bodyPr>
          <a:lstStyle/>
          <a:p>
            <a:pPr marL="114300" marR="0" lvl="0" indent="0" algn="l" rtl="0">
              <a:lnSpc>
                <a:spcPct val="114000"/>
              </a:lnSpc>
              <a:spcBef>
                <a:spcPts val="600"/>
              </a:spcBef>
              <a:spcAft>
                <a:spcPts val="0"/>
              </a:spcAft>
              <a:buNone/>
            </a:pPr>
            <a:r>
              <a:rPr lang="en-IN" sz="1600" b="1" i="0" u="none" strike="noStrike" cap="none" dirty="0">
                <a:solidFill>
                  <a:srgbClr val="000000"/>
                </a:solidFill>
                <a:latin typeface="Calibri"/>
                <a:ea typeface="Calibri"/>
                <a:cs typeface="Calibri"/>
                <a:sym typeface="Calibri"/>
              </a:rPr>
              <a:t>Solution: </a:t>
            </a:r>
            <a:endParaRPr sz="1600" b="0" i="0" u="none" strike="noStrike" cap="none" dirty="0">
              <a:solidFill>
                <a:srgbClr val="000000"/>
              </a:solidFill>
              <a:latin typeface="Calibri"/>
              <a:ea typeface="Calibri"/>
              <a:cs typeface="Calibri"/>
              <a:sym typeface="Calibri"/>
            </a:endParaRPr>
          </a:p>
          <a:p>
            <a:pPr marL="514350" marR="0" lvl="0" indent="-400050" algn="just" rtl="0">
              <a:lnSpc>
                <a:spcPct val="114000"/>
              </a:lnSpc>
              <a:spcBef>
                <a:spcPts val="600"/>
              </a:spcBef>
              <a:spcAft>
                <a:spcPts val="0"/>
              </a:spcAft>
              <a:buClr>
                <a:srgbClr val="000000"/>
              </a:buClr>
              <a:buSzPct val="100000"/>
              <a:buFont typeface="+mj-lt"/>
              <a:buAutoNum type="romanLcPeriod" startAt="3"/>
            </a:pPr>
            <a:r>
              <a:rPr lang="en-US" sz="1600" b="0" i="0" u="none" strike="noStrike" cap="none" dirty="0">
                <a:solidFill>
                  <a:srgbClr val="000000"/>
                </a:solidFill>
                <a:latin typeface="Calibri"/>
                <a:ea typeface="Calibri"/>
                <a:cs typeface="Calibri"/>
                <a:sym typeface="Calibri"/>
              </a:rPr>
              <a:t>What does this </a:t>
            </a:r>
            <a:r>
              <a:rPr lang="en-US" sz="1600" b="0" i="0" u="none" strike="noStrike" cap="none">
                <a:solidFill>
                  <a:srgbClr val="000000"/>
                </a:solidFill>
                <a:latin typeface="Calibri"/>
                <a:ea typeface="Calibri"/>
                <a:cs typeface="Calibri"/>
                <a:sym typeface="Calibri"/>
              </a:rPr>
              <a:t>graph tell us about </a:t>
            </a:r>
            <a:r>
              <a:rPr lang="en-US" sz="1600" b="0" i="0" u="none" strike="noStrike" cap="none" dirty="0">
                <a:solidFill>
                  <a:srgbClr val="000000"/>
                </a:solidFill>
                <a:latin typeface="Calibri"/>
                <a:ea typeface="Calibri"/>
                <a:cs typeface="Calibri"/>
                <a:sym typeface="Calibri"/>
              </a:rPr>
              <a:t>the electron configuration of magnesium?</a:t>
            </a:r>
          </a:p>
          <a:p>
            <a:pPr marL="457200" marR="0" lvl="0" indent="-342900" algn="just" rtl="0">
              <a:lnSpc>
                <a:spcPct val="114000"/>
              </a:lnSpc>
              <a:spcBef>
                <a:spcPts val="600"/>
              </a:spcBef>
              <a:spcAft>
                <a:spcPts val="0"/>
              </a:spcAft>
              <a:buClr>
                <a:srgbClr val="000000"/>
              </a:buClr>
              <a:buSzPct val="100000"/>
              <a:buFont typeface="Arial" panose="020B0604020202020204" pitchFamily="34" charset="0"/>
              <a:buChar char="•"/>
            </a:pPr>
            <a:r>
              <a:rPr lang="en-IN" sz="1600" b="0" i="0" u="none" strike="noStrike" cap="none" dirty="0">
                <a:solidFill>
                  <a:srgbClr val="000000"/>
                </a:solidFill>
                <a:latin typeface="Calibri"/>
                <a:ea typeface="Calibri"/>
                <a:cs typeface="Calibri"/>
                <a:sym typeface="Calibri"/>
              </a:rPr>
              <a:t>The outermost shell contains 2 electrons. The next shell contains 8 electrons. The innermost shell contains 2 electrons. </a:t>
            </a:r>
            <a:endParaRPr sz="1600" b="0" i="0" u="none" strike="noStrike" cap="none" dirty="0">
              <a:solidFill>
                <a:srgbClr val="000000"/>
              </a:solidFill>
              <a:latin typeface="Calibri"/>
              <a:ea typeface="Calibri"/>
              <a:cs typeface="Calibri"/>
              <a:sym typeface="Calibri"/>
            </a:endParaRPr>
          </a:p>
          <a:p>
            <a:pPr marL="285750" marR="0" lvl="0" indent="-285750" algn="l" rtl="0">
              <a:lnSpc>
                <a:spcPct val="114000"/>
              </a:lnSpc>
              <a:spcBef>
                <a:spcPts val="600"/>
              </a:spcBef>
              <a:spcAft>
                <a:spcPts val="0"/>
              </a:spcAft>
              <a:buClr>
                <a:srgbClr val="000000"/>
              </a:buClr>
              <a:buSzPts val="1400"/>
              <a:buFont typeface="Arial" panose="020B0604020202020204" pitchFamily="34" charset="0"/>
              <a:buChar char="•"/>
            </a:pPr>
            <a:endParaRPr sz="1600" b="0" i="0" u="none" strike="noStrike" cap="none" dirty="0">
              <a:solidFill>
                <a:srgbClr val="000000"/>
              </a:solidFill>
              <a:latin typeface="Calibri"/>
              <a:ea typeface="Calibri"/>
              <a:cs typeface="Calibri"/>
              <a:sym typeface="Calibri"/>
            </a:endParaRPr>
          </a:p>
          <a:p>
            <a:pPr marL="0" marR="0" lvl="0" indent="0" algn="l" rtl="0">
              <a:lnSpc>
                <a:spcPct val="114000"/>
              </a:lnSpc>
              <a:spcBef>
                <a:spcPts val="600"/>
              </a:spcBef>
              <a:spcAft>
                <a:spcPts val="0"/>
              </a:spcAft>
              <a:buClr>
                <a:srgbClr val="000000"/>
              </a:buClr>
              <a:buSzPts val="1400"/>
              <a:buFont typeface="Arial"/>
              <a:buNone/>
            </a:pPr>
            <a:endParaRPr sz="1600" b="0" i="0" u="none" strike="noStrike" cap="none" dirty="0">
              <a:solidFill>
                <a:srgbClr val="000000"/>
              </a:solidFill>
              <a:latin typeface="Calibri"/>
              <a:ea typeface="Calibri"/>
              <a:cs typeface="Calibri"/>
              <a:sym typeface="Calibri"/>
            </a:endParaRPr>
          </a:p>
        </p:txBody>
      </p:sp>
      <p:pic>
        <p:nvPicPr>
          <p:cNvPr id="2" name="Google Shape;379;p57">
            <a:extLst>
              <a:ext uri="{FF2B5EF4-FFF2-40B4-BE49-F238E27FC236}">
                <a16:creationId xmlns:a16="http://schemas.microsoft.com/office/drawing/2014/main" id="{4CE3D576-7B96-4F38-8414-1FD2F374F0DA}"/>
              </a:ext>
            </a:extLst>
          </p:cNvPr>
          <p:cNvPicPr preferRelativeResize="0"/>
          <p:nvPr/>
        </p:nvPicPr>
        <p:blipFill rotWithShape="1">
          <a:blip r:embed="rId3">
            <a:alphaModFix/>
          </a:blip>
          <a:srcRect/>
          <a:stretch/>
        </p:blipFill>
        <p:spPr>
          <a:xfrm>
            <a:off x="5889413" y="1868394"/>
            <a:ext cx="2941766" cy="2872262"/>
          </a:xfrm>
          <a:prstGeom prst="rect">
            <a:avLst/>
          </a:prstGeom>
          <a:noFill/>
          <a:ln>
            <a:noFill/>
          </a:ln>
        </p:spPr>
      </p:pic>
    </p:spTree>
    <p:extLst>
      <p:ext uri="{BB962C8B-B14F-4D97-AF65-F5344CB8AC3E}">
        <p14:creationId xmlns:p14="http://schemas.microsoft.com/office/powerpoint/2010/main" val="388440603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TotalTime>
  <Words>3336</Words>
  <Application>Microsoft Office PowerPoint</Application>
  <PresentationFormat>On-screen Show (16:9)</PresentationFormat>
  <Paragraphs>439</Paragraphs>
  <Slides>45</Slides>
  <Notes>44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45</vt:i4>
      </vt:variant>
    </vt:vector>
  </HeadingPairs>
  <TitlesOfParts>
    <vt:vector size="52" baseType="lpstr">
      <vt:lpstr>Roboto</vt:lpstr>
      <vt:lpstr>Calibri</vt:lpstr>
      <vt:lpstr>Cambria Math</vt:lpstr>
      <vt:lpstr>Roboto Condensed</vt:lpstr>
      <vt:lpstr>Arial</vt:lpstr>
      <vt:lpstr>Simple Light</vt:lpstr>
      <vt:lpstr>Material</vt:lpstr>
      <vt:lpstr>Atomic structure</vt:lpstr>
      <vt:lpstr>Introduction</vt:lpstr>
      <vt:lpstr>Structure of an atom</vt:lpstr>
      <vt:lpstr>Mass number and atomic number</vt:lpstr>
      <vt:lpstr>Mass number and atomic number</vt:lpstr>
      <vt:lpstr>Isotopes &amp; Calculating Relative Atomic Mass</vt:lpstr>
      <vt:lpstr>Isotopes &amp; Calculating Relative Atomic Mass</vt:lpstr>
      <vt:lpstr>Mass spectrum - Boron</vt:lpstr>
      <vt:lpstr>Structure of the  periodic table</vt:lpstr>
      <vt:lpstr>The periodic table</vt:lpstr>
      <vt:lpstr>Electronic Configuration </vt:lpstr>
      <vt:lpstr>Electronic Configuration </vt:lpstr>
      <vt:lpstr>Quantum Sub-shells</vt:lpstr>
      <vt:lpstr>Quantum Sub-shells</vt:lpstr>
      <vt:lpstr>Atomic Orbitals</vt:lpstr>
      <vt:lpstr>Atomic Orbitals: s-orbital</vt:lpstr>
      <vt:lpstr>Atomic Orbitals: p-orbital</vt:lpstr>
      <vt:lpstr>Filling of Orbitals</vt:lpstr>
      <vt:lpstr>Filling of Orbitals</vt:lpstr>
      <vt:lpstr>Filling of Orbitals</vt:lpstr>
      <vt:lpstr>Filling of Orbitals: Examples</vt:lpstr>
      <vt:lpstr>Electron configurations</vt:lpstr>
      <vt:lpstr>Electron configurations</vt:lpstr>
      <vt:lpstr>Electron configurations</vt:lpstr>
      <vt:lpstr>Electron Configuration of ions</vt:lpstr>
      <vt:lpstr>Electron Configuration of ions</vt:lpstr>
      <vt:lpstr>Periodic trends in electronic configurations</vt:lpstr>
      <vt:lpstr>Electronic configuration of transition elements</vt:lpstr>
      <vt:lpstr>Electronic configuration of transition elements</vt:lpstr>
      <vt:lpstr>Periodic trend in atomic radius</vt:lpstr>
      <vt:lpstr>Measuring atomic radius</vt:lpstr>
      <vt:lpstr>Trend in atomic radius</vt:lpstr>
      <vt:lpstr>Periodic trend in ionic radius</vt:lpstr>
      <vt:lpstr>Periodic trend in ionic radius</vt:lpstr>
      <vt:lpstr>Periodic trends in ionisation energy</vt:lpstr>
      <vt:lpstr>Factors that affect the ionisation energy</vt:lpstr>
      <vt:lpstr>Periodic trends in ionisation energy</vt:lpstr>
      <vt:lpstr>Periodic trends in ionisation energy</vt:lpstr>
      <vt:lpstr>Periodic trends in ionisation energy: dips between Mg and Al</vt:lpstr>
      <vt:lpstr>Periodic trends in ionisation energy: dips between P and S</vt:lpstr>
      <vt:lpstr>Predicting electronic structure using  successive ionisation energy</vt:lpstr>
      <vt:lpstr>Predicting electronic structure using  successive ionisation energy: Example</vt:lpstr>
      <vt:lpstr>Predicting electronic structure using successive ionisation energy: Example</vt:lpstr>
      <vt:lpstr>Predicting electronic structure using  successive ionisation energy: Example</vt:lpstr>
      <vt:lpstr>Predicting electronic structure using successive ionisation energy: 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cp:lastModifiedBy>SUTHAN SELVARAJ</cp:lastModifiedBy>
  <cp:revision>29</cp:revision>
  <dcterms:modified xsi:type="dcterms:W3CDTF">2021-05-17T03:19:09Z</dcterms:modified>
</cp:coreProperties>
</file>