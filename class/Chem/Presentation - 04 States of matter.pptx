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36"/>
  </p:notesMasterIdLst>
  <p:sldIdLst>
    <p:sldId id="256" r:id="rId3"/>
    <p:sldId id="257" r:id="rId4"/>
    <p:sldId id="262" r:id="rId5"/>
    <p:sldId id="258" r:id="rId6"/>
    <p:sldId id="263" r:id="rId7"/>
    <p:sldId id="264" r:id="rId8"/>
    <p:sldId id="265" r:id="rId9"/>
    <p:sldId id="266" r:id="rId10"/>
    <p:sldId id="267" r:id="rId11"/>
    <p:sldId id="268" r:id="rId12"/>
    <p:sldId id="292"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1" r:id="rId35"/>
  </p:sldIdLst>
  <p:sldSz cx="9144000" cy="5143500" type="screen16x9"/>
  <p:notesSz cx="6858000" cy="9144000"/>
  <p:embeddedFontLst>
    <p:embeddedFont>
      <p:font typeface="Calibri" panose="020F0502020204030204" pitchFamily="34" charset="0"/>
      <p:regular r:id="rId37"/>
      <p:bold r:id="rId38"/>
      <p:italic r:id="rId39"/>
      <p:boldItalic r:id="rId40"/>
    </p:embeddedFont>
    <p:embeddedFont>
      <p:font typeface="Cambria Math" panose="02040503050406030204" pitchFamily="18" charset="0"/>
      <p:regular r:id="rId41"/>
    </p:embeddedFont>
    <p:embeddedFont>
      <p:font typeface="Roboto" panose="020000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AE60"/>
    <a:srgbClr val="000000"/>
    <a:srgbClr val="84F3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73" d="100"/>
          <a:sy n="73" d="100"/>
        </p:scale>
        <p:origin x="1008" y="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3.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6.fntdata"/><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7.fntdata"/><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2.fntdata"/><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7044428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94e51d7b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94e51d7b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1960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1392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2980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883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8853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20406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0300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9928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743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1797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0039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0198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35925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08029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31851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09204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5562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2225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943774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72643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685609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729859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848305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66695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7866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27558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011750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46354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4164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376969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08303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681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4"/>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4"/>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8" name="Google Shape;58;p14"/>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59" name="Google Shape;59;p1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62" name="Google Shape;62;p1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9"/>
        <p:cNvGrpSpPr/>
        <p:nvPr/>
      </p:nvGrpSpPr>
      <p:grpSpPr>
        <a:xfrm>
          <a:off x="0" y="0"/>
          <a:ext cx="0" cy="0"/>
          <a:chOff x="0" y="0"/>
          <a:chExt cx="0" cy="0"/>
        </a:xfrm>
      </p:grpSpPr>
      <p:sp>
        <p:nvSpPr>
          <p:cNvPr id="70" name="Google Shape;70;p17"/>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7"/>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73" name="Google Shape;73;p17"/>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4" name="Google Shape;74;p17"/>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5" name="Google Shape;75;p1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18"/>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8"/>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8"/>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80" name="Google Shape;80;p1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7"/>
        <p:cNvGrpSpPr/>
        <p:nvPr/>
      </p:nvGrpSpPr>
      <p:grpSpPr>
        <a:xfrm>
          <a:off x="0" y="0"/>
          <a:ext cx="0" cy="0"/>
          <a:chOff x="0" y="0"/>
          <a:chExt cx="0" cy="0"/>
        </a:xfrm>
      </p:grpSpPr>
      <p:sp>
        <p:nvSpPr>
          <p:cNvPr id="88" name="Google Shape;88;p20"/>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endParaRPr/>
          </a:p>
        </p:txBody>
      </p:sp>
      <p:sp>
        <p:nvSpPr>
          <p:cNvPr id="89" name="Google Shape;89;p2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7"/>
        <p:cNvGrpSpPr/>
        <p:nvPr/>
      </p:nvGrpSpPr>
      <p:grpSpPr>
        <a:xfrm>
          <a:off x="0" y="0"/>
          <a:ext cx="0" cy="0"/>
          <a:chOff x="0" y="0"/>
          <a:chExt cx="0" cy="0"/>
        </a:xfrm>
      </p:grpSpPr>
      <p:sp>
        <p:nvSpPr>
          <p:cNvPr id="98" name="Google Shape;98;p22"/>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2"/>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lstStyle>
            <a:lvl1pPr marL="457200" lvl="0" indent="-228600" rtl="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101" name="Google Shape;101;p2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2"/>
        <p:cNvGrpSpPr/>
        <p:nvPr/>
      </p:nvGrpSpPr>
      <p:grpSpPr>
        <a:xfrm>
          <a:off x="0" y="0"/>
          <a:ext cx="0" cy="0"/>
          <a:chOff x="0" y="0"/>
          <a:chExt cx="0" cy="0"/>
        </a:xfrm>
      </p:grpSpPr>
      <p:sp>
        <p:nvSpPr>
          <p:cNvPr id="103" name="Google Shape;103;p23"/>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lstStyle>
            <a:lvl1pPr lvl="0" algn="ctr" rtl="0">
              <a:spcBef>
                <a:spcPts val="0"/>
              </a:spcBef>
              <a:spcAft>
                <a:spcPts val="0"/>
              </a:spcAft>
              <a:buClr>
                <a:schemeClr val="dk2"/>
              </a:buClr>
              <a:buSzPts val="12000"/>
              <a:buNone/>
              <a:defRPr sz="12000">
                <a:solidFill>
                  <a:schemeClr val="dk2"/>
                </a:solidFill>
              </a:defRPr>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104" name="Google Shape;104;p23"/>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05" name="Google Shape;105;p2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6"/>
        <p:cNvGrpSpPr/>
        <p:nvPr/>
      </p:nvGrpSpPr>
      <p:grpSpPr>
        <a:xfrm>
          <a:off x="0" y="0"/>
          <a:ext cx="0" cy="0"/>
          <a:chOff x="0" y="0"/>
          <a:chExt cx="0" cy="0"/>
        </a:xfrm>
      </p:grpSpPr>
      <p:sp>
        <p:nvSpPr>
          <p:cNvPr id="107" name="Google Shape;107;p2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63"/>
        <p:cNvGrpSpPr/>
        <p:nvPr/>
      </p:nvGrpSpPr>
      <p:grpSpPr>
        <a:xfrm>
          <a:off x="0" y="0"/>
          <a:ext cx="0" cy="0"/>
          <a:chOff x="0" y="0"/>
          <a:chExt cx="0" cy="0"/>
        </a:xfrm>
      </p:grpSpPr>
      <p:sp>
        <p:nvSpPr>
          <p:cNvPr id="64" name="Google Shape;64;p16"/>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6"/>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67" name="Google Shape;67;p16"/>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68" name="Google Shape;68;p1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9630695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0"/>
        <p:cNvGrpSpPr/>
        <p:nvPr/>
      </p:nvGrpSpPr>
      <p:grpSpPr>
        <a:xfrm>
          <a:off x="0" y="0"/>
          <a:ext cx="0" cy="0"/>
          <a:chOff x="0" y="0"/>
          <a:chExt cx="0" cy="0"/>
        </a:xfrm>
      </p:grpSpPr>
      <p:sp>
        <p:nvSpPr>
          <p:cNvPr id="91" name="Google Shape;91;p21"/>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1"/>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rtl="0">
              <a:spcBef>
                <a:spcPts val="0"/>
              </a:spcBef>
              <a:spcAft>
                <a:spcPts val="0"/>
              </a:spcAft>
              <a:buClr>
                <a:schemeClr val="dk2"/>
              </a:buClr>
              <a:buSzPts val="4200"/>
              <a:buNone/>
              <a:defRPr sz="4200">
                <a:solidFill>
                  <a:schemeClr val="dk2"/>
                </a:solidFill>
              </a:defRPr>
            </a:lvl1pPr>
            <a:lvl2pPr lvl="1" algn="ctr" rtl="0">
              <a:spcBef>
                <a:spcPts val="0"/>
              </a:spcBef>
              <a:spcAft>
                <a:spcPts val="0"/>
              </a:spcAft>
              <a:buClr>
                <a:schemeClr val="dk2"/>
              </a:buClr>
              <a:buSzPts val="4200"/>
              <a:buNone/>
              <a:defRPr sz="4200">
                <a:solidFill>
                  <a:schemeClr val="dk2"/>
                </a:solidFill>
              </a:defRPr>
            </a:lvl2pPr>
            <a:lvl3pPr lvl="2" algn="ctr" rtl="0">
              <a:spcBef>
                <a:spcPts val="0"/>
              </a:spcBef>
              <a:spcAft>
                <a:spcPts val="0"/>
              </a:spcAft>
              <a:buClr>
                <a:schemeClr val="dk2"/>
              </a:buClr>
              <a:buSzPts val="4200"/>
              <a:buNone/>
              <a:defRPr sz="4200">
                <a:solidFill>
                  <a:schemeClr val="dk2"/>
                </a:solidFill>
              </a:defRPr>
            </a:lvl3pPr>
            <a:lvl4pPr lvl="3" algn="ctr" rtl="0">
              <a:spcBef>
                <a:spcPts val="0"/>
              </a:spcBef>
              <a:spcAft>
                <a:spcPts val="0"/>
              </a:spcAft>
              <a:buClr>
                <a:schemeClr val="dk2"/>
              </a:buClr>
              <a:buSzPts val="4200"/>
              <a:buNone/>
              <a:defRPr sz="4200">
                <a:solidFill>
                  <a:schemeClr val="dk2"/>
                </a:solidFill>
              </a:defRPr>
            </a:lvl4pPr>
            <a:lvl5pPr lvl="4" algn="ctr" rtl="0">
              <a:spcBef>
                <a:spcPts val="0"/>
              </a:spcBef>
              <a:spcAft>
                <a:spcPts val="0"/>
              </a:spcAft>
              <a:buClr>
                <a:schemeClr val="dk2"/>
              </a:buClr>
              <a:buSzPts val="4200"/>
              <a:buNone/>
              <a:defRPr sz="4200">
                <a:solidFill>
                  <a:schemeClr val="dk2"/>
                </a:solidFill>
              </a:defRPr>
            </a:lvl5pPr>
            <a:lvl6pPr lvl="5" algn="ctr" rtl="0">
              <a:spcBef>
                <a:spcPts val="0"/>
              </a:spcBef>
              <a:spcAft>
                <a:spcPts val="0"/>
              </a:spcAft>
              <a:buClr>
                <a:schemeClr val="dk2"/>
              </a:buClr>
              <a:buSzPts val="4200"/>
              <a:buNone/>
              <a:defRPr sz="4200">
                <a:solidFill>
                  <a:schemeClr val="dk2"/>
                </a:solidFill>
              </a:defRPr>
            </a:lvl6pPr>
            <a:lvl7pPr lvl="6" algn="ctr" rtl="0">
              <a:spcBef>
                <a:spcPts val="0"/>
              </a:spcBef>
              <a:spcAft>
                <a:spcPts val="0"/>
              </a:spcAft>
              <a:buClr>
                <a:schemeClr val="dk2"/>
              </a:buClr>
              <a:buSzPts val="4200"/>
              <a:buNone/>
              <a:defRPr sz="4200">
                <a:solidFill>
                  <a:schemeClr val="dk2"/>
                </a:solidFill>
              </a:defRPr>
            </a:lvl7pPr>
            <a:lvl8pPr lvl="7" algn="ctr" rtl="0">
              <a:spcBef>
                <a:spcPts val="0"/>
              </a:spcBef>
              <a:spcAft>
                <a:spcPts val="0"/>
              </a:spcAft>
              <a:buClr>
                <a:schemeClr val="dk2"/>
              </a:buClr>
              <a:buSzPts val="4200"/>
              <a:buNone/>
              <a:defRPr sz="4200">
                <a:solidFill>
                  <a:schemeClr val="dk2"/>
                </a:solidFill>
              </a:defRPr>
            </a:lvl8pPr>
            <a:lvl9pPr lvl="8" algn="ctr" rtl="0">
              <a:spcBef>
                <a:spcPts val="0"/>
              </a:spcBef>
              <a:spcAft>
                <a:spcPts val="0"/>
              </a:spcAft>
              <a:buClr>
                <a:schemeClr val="dk2"/>
              </a:buClr>
              <a:buSzPts val="4200"/>
              <a:buNone/>
              <a:defRPr sz="4200">
                <a:solidFill>
                  <a:schemeClr val="dk2"/>
                </a:solidFill>
              </a:defRPr>
            </a:lvl9pPr>
          </a:lstStyle>
          <a:p>
            <a:endParaRPr/>
          </a:p>
        </p:txBody>
      </p:sp>
      <p:sp>
        <p:nvSpPr>
          <p:cNvPr id="94" name="Google Shape;94;p21"/>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5" name="Google Shape;95;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96" name="Google Shape;96;p2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158841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rgbClr val="27AE60"/>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lstStyle>
            <a:lvl1pPr lvl="0"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52" name="Google Shape;52;p13"/>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lstStyle>
            <a:lvl1pPr marL="457200" lvl="0" indent="-342900" rtl="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rtl="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53" name="Google Shape;53;p13"/>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lt2"/>
                </a:solidFill>
                <a:latin typeface="Roboto"/>
                <a:ea typeface="Roboto"/>
                <a:cs typeface="Roboto"/>
                <a:sym typeface="Roboto"/>
              </a:defRPr>
            </a:lvl1pPr>
            <a:lvl2pPr lvl="1" algn="r" rtl="0">
              <a:buNone/>
              <a:defRPr sz="1000">
                <a:solidFill>
                  <a:schemeClr val="lt2"/>
                </a:solidFill>
                <a:latin typeface="Roboto"/>
                <a:ea typeface="Roboto"/>
                <a:cs typeface="Roboto"/>
                <a:sym typeface="Roboto"/>
              </a:defRPr>
            </a:lvl2pPr>
            <a:lvl3pPr lvl="2" algn="r" rtl="0">
              <a:buNone/>
              <a:defRPr sz="1000">
                <a:solidFill>
                  <a:schemeClr val="lt2"/>
                </a:solidFill>
                <a:latin typeface="Roboto"/>
                <a:ea typeface="Roboto"/>
                <a:cs typeface="Roboto"/>
                <a:sym typeface="Roboto"/>
              </a:defRPr>
            </a:lvl3pPr>
            <a:lvl4pPr lvl="3" algn="r" rtl="0">
              <a:buNone/>
              <a:defRPr sz="1000">
                <a:solidFill>
                  <a:schemeClr val="lt2"/>
                </a:solidFill>
                <a:latin typeface="Roboto"/>
                <a:ea typeface="Roboto"/>
                <a:cs typeface="Roboto"/>
                <a:sym typeface="Roboto"/>
              </a:defRPr>
            </a:lvl4pPr>
            <a:lvl5pPr lvl="4" algn="r" rtl="0">
              <a:buNone/>
              <a:defRPr sz="1000">
                <a:solidFill>
                  <a:schemeClr val="lt2"/>
                </a:solidFill>
                <a:latin typeface="Roboto"/>
                <a:ea typeface="Roboto"/>
                <a:cs typeface="Roboto"/>
                <a:sym typeface="Roboto"/>
              </a:defRPr>
            </a:lvl5pPr>
            <a:lvl6pPr lvl="5" algn="r" rtl="0">
              <a:buNone/>
              <a:defRPr sz="1000">
                <a:solidFill>
                  <a:schemeClr val="lt2"/>
                </a:solidFill>
                <a:latin typeface="Roboto"/>
                <a:ea typeface="Roboto"/>
                <a:cs typeface="Roboto"/>
                <a:sym typeface="Roboto"/>
              </a:defRPr>
            </a:lvl6pPr>
            <a:lvl7pPr lvl="6" algn="r" rtl="0">
              <a:buNone/>
              <a:defRPr sz="1000">
                <a:solidFill>
                  <a:schemeClr val="lt2"/>
                </a:solidFill>
                <a:latin typeface="Roboto"/>
                <a:ea typeface="Roboto"/>
                <a:cs typeface="Roboto"/>
                <a:sym typeface="Roboto"/>
              </a:defRPr>
            </a:lvl7pPr>
            <a:lvl8pPr lvl="7" algn="r" rtl="0">
              <a:buNone/>
              <a:defRPr sz="1000">
                <a:solidFill>
                  <a:schemeClr val="lt2"/>
                </a:solidFill>
                <a:latin typeface="Roboto"/>
                <a:ea typeface="Roboto"/>
                <a:cs typeface="Roboto"/>
                <a:sym typeface="Roboto"/>
              </a:defRPr>
            </a:lvl8pPr>
            <a:lvl9pPr lvl="8" algn="r" rtl="0">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2" r:id="rId3"/>
    <p:sldLayoutId id="2147483663" r:id="rId4"/>
    <p:sldLayoutId id="2147483665" r:id="rId5"/>
    <p:sldLayoutId id="2147483667" r:id="rId6"/>
    <p:sldLayoutId id="2147483668" r:id="rId7"/>
    <p:sldLayoutId id="2147483669" r:id="rId8"/>
    <p:sldLayoutId id="2147483672" r:id="rId9"/>
    <p:sldLayoutId id="2147483673"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hyperlink" Target="https://ch301.cm.utexas.edu/simulations/js/idealgaslaw/" TargetMode="External"/><Relationship Id="rId2" Type="http://schemas.openxmlformats.org/officeDocument/2006/relationships/hyperlink" Target="https://study.com/academy/lesson/using-the-ideal-gas-law-to-find-the-molar-mass-of-a-gas.html" TargetMode="External"/><Relationship Id="rId1" Type="http://schemas.openxmlformats.org/officeDocument/2006/relationships/slideLayout" Target="../slideLayouts/slideLayout20.xml"/><Relationship Id="rId6" Type="http://schemas.openxmlformats.org/officeDocument/2006/relationships/hyperlink" Target="https://edu.rsc.org/resources/the-determination-of-relative-atomic-mass/401.article" TargetMode="External"/><Relationship Id="rId5" Type="http://schemas.openxmlformats.org/officeDocument/2006/relationships/hyperlink" Target="https://www.youtube.com/watch?v=IoCWUYMagEg" TargetMode="External"/><Relationship Id="rId4" Type="http://schemas.openxmlformats.org/officeDocument/2006/relationships/hyperlink" Target="http://www.docbrown.info/page03/3_52gaslaws2.htm"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5"/>
          <p:cNvSpPr txBox="1">
            <a:spLocks noGrp="1"/>
          </p:cNvSpPr>
          <p:nvPr>
            <p:ph type="ctrTitle"/>
          </p:nvPr>
        </p:nvSpPr>
        <p:spPr>
          <a:xfrm>
            <a:off x="460950" y="1169700"/>
            <a:ext cx="8222100" cy="9336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States of matter</a:t>
            </a:r>
            <a:endParaRPr dirty="0">
              <a:latin typeface="Calibri" panose="020F0502020204030204" pitchFamily="34" charset="0"/>
            </a:endParaRPr>
          </a:p>
        </p:txBody>
      </p:sp>
      <p:sp>
        <p:nvSpPr>
          <p:cNvPr id="3" name="Google Shape;118;p26"/>
          <p:cNvSpPr txBox="1"/>
          <p:nvPr/>
        </p:nvSpPr>
        <p:spPr>
          <a:xfrm>
            <a:off x="460950" y="2220136"/>
            <a:ext cx="7330800" cy="2492100"/>
          </a:xfrm>
          <a:prstGeom prst="rect">
            <a:avLst/>
          </a:prstGeom>
          <a:noFill/>
          <a:ln>
            <a:noFill/>
          </a:ln>
        </p:spPr>
        <p:txBody>
          <a:bodyPr spcFirstLastPara="1" wrap="square" lIns="91425" tIns="91425" rIns="91425" bIns="91425" anchor="t" anchorCtr="0">
            <a:noAutofit/>
          </a:bodyPr>
          <a:lstStyle/>
          <a:p>
            <a:pPr marL="114300" lvl="0">
              <a:buSzPts val="1800"/>
            </a:pPr>
            <a:r>
              <a:rPr lang="en-US" sz="1600" dirty="0">
                <a:solidFill>
                  <a:schemeClr val="bg1"/>
                </a:solidFill>
                <a:latin typeface="Calibri" panose="020F0502020204030204" pitchFamily="34" charset="0"/>
              </a:rPr>
              <a:t>The gaseous state: ideal and real gases and </a:t>
            </a:r>
            <a:r>
              <a:rPr lang="en-US" sz="1600" dirty="0" err="1">
                <a:solidFill>
                  <a:schemeClr val="bg1"/>
                </a:solidFill>
                <a:latin typeface="Calibri" panose="020F0502020204030204" pitchFamily="34" charset="0"/>
              </a:rPr>
              <a:t>pV</a:t>
            </a:r>
            <a:r>
              <a:rPr lang="en-US" sz="1600" dirty="0">
                <a:solidFill>
                  <a:schemeClr val="bg1"/>
                </a:solidFill>
                <a:latin typeface="Calibri" panose="020F0502020204030204" pitchFamily="34" charset="0"/>
              </a:rPr>
              <a:t> = </a:t>
            </a:r>
            <a:r>
              <a:rPr lang="en-US" sz="1600" dirty="0" err="1">
                <a:solidFill>
                  <a:schemeClr val="bg1"/>
                </a:solidFill>
                <a:latin typeface="Calibri" panose="020F0502020204030204" pitchFamily="34" charset="0"/>
              </a:rPr>
              <a:t>nRT</a:t>
            </a:r>
            <a:endParaRPr lang="en-US" sz="1600" dirty="0">
              <a:solidFill>
                <a:schemeClr val="bg1"/>
              </a:solidFill>
              <a:latin typeface="Calibri" panose="020F0502020204030204" pitchFamily="34" charset="0"/>
            </a:endParaRPr>
          </a:p>
          <a:p>
            <a:pPr marL="114300" lvl="0">
              <a:buSzPts val="1800"/>
            </a:pPr>
            <a:r>
              <a:rPr lang="en-US" sz="1600" dirty="0">
                <a:solidFill>
                  <a:schemeClr val="bg1"/>
                </a:solidFill>
                <a:latin typeface="Calibri" panose="020F0502020204030204" pitchFamily="34" charset="0"/>
              </a:rPr>
              <a:t>Bonding and structure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latin typeface="Calibri" panose="020F0502020204030204" pitchFamily="34" charset="0"/>
              </a:rPr>
              <a:t>Introduction</a:t>
            </a:r>
            <a:endParaRPr dirty="0">
              <a:latin typeface="Calibri" panose="020F0502020204030204" pitchFamily="34" charset="0"/>
            </a:endParaRP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The three different states of matter are: solids, liquids and gases.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Particles in solids vibrate at their fixed position and are tightly packed in a lattice structure. They are incompressible.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Particles in liquids are close together but not tightly packed. The particles can slide over each other and hence, liquids flow. Liquids are also incompressible.</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Particles in gases are spaced far apart and arranged randomly. Gases are compressible. </a:t>
            </a:r>
          </a:p>
          <a:p>
            <a:pPr marL="114300" lvl="0">
              <a:buSzPts val="1800"/>
            </a:pPr>
            <a:r>
              <a:rPr lang="en-US" dirty="0">
                <a:latin typeface="Calibri" panose="020F0502020204030204" pitchFamily="34" charset="0"/>
              </a:rPr>
              <a:t> </a:t>
            </a:r>
            <a:endParaRPr dirty="0">
              <a:latin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Gaseous state</a:t>
            </a:r>
          </a:p>
        </p:txBody>
      </p:sp>
      <p:sp>
        <p:nvSpPr>
          <p:cNvPr id="118" name="Google Shape;118;p26"/>
          <p:cNvSpPr txBox="1"/>
          <p:nvPr/>
        </p:nvSpPr>
        <p:spPr>
          <a:xfrm>
            <a:off x="767644" y="2249568"/>
            <a:ext cx="7349067" cy="2492100"/>
          </a:xfrm>
          <a:prstGeom prst="rect">
            <a:avLst/>
          </a:prstGeom>
          <a:noFill/>
          <a:ln>
            <a:noFill/>
          </a:ln>
        </p:spPr>
        <p:txBody>
          <a:bodyPr spcFirstLastPara="1" wrap="square" lIns="91425" tIns="91425" rIns="91425" bIns="91425" anchor="t" anchorCtr="0">
            <a:noAutofit/>
          </a:bodyPr>
          <a:lstStyle/>
          <a:p>
            <a:pPr marL="114300" lvl="0">
              <a:lnSpc>
                <a:spcPct val="114000"/>
              </a:lnSpc>
              <a:buSzPts val="1800"/>
            </a:pPr>
            <a:r>
              <a:rPr lang="en-US" sz="1600" dirty="0">
                <a:latin typeface="Calibri" panose="020F0502020204030204" pitchFamily="34" charset="0"/>
              </a:rPr>
              <a:t>An ideal gas is based on the assumptions that:</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The volume of particles is negligible compared to the volume of the container.</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No change in kinetic energy due to particle collisions as these collisions are elastic.</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There is no force of attraction between particles and the walls of the container.</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Particles are in continuous random movement colliding with other particles and the walls of the container.</a:t>
            </a:r>
          </a:p>
        </p:txBody>
      </p:sp>
    </p:spTree>
    <p:extLst>
      <p:ext uri="{BB962C8B-B14F-4D97-AF65-F5344CB8AC3E}">
        <p14:creationId xmlns:p14="http://schemas.microsoft.com/office/powerpoint/2010/main" val="138099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378788" y="318150"/>
            <a:ext cx="3837001"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Gaseous state</a:t>
            </a:r>
            <a:endParaRPr sz="3200" dirty="0">
              <a:solidFill>
                <a:srgbClr val="000000"/>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24" name="Google Shape;124;p27"/>
              <p:cNvSpPr txBox="1">
                <a:spLocks noGrp="1"/>
              </p:cNvSpPr>
              <p:nvPr>
                <p:ph type="body" idx="2"/>
              </p:nvPr>
            </p:nvSpPr>
            <p:spPr>
              <a:xfrm>
                <a:off x="4928211" y="522278"/>
                <a:ext cx="3837000" cy="3695100"/>
              </a:xfrm>
              <a:prstGeom prst="rect">
                <a:avLst/>
              </a:prstGeom>
            </p:spPr>
            <p:txBody>
              <a:bodyPr spcFirstLastPara="1" wrap="square" lIns="91425" tIns="91425" rIns="91425" bIns="91425" anchor="t" anchorCtr="0">
                <a:noAutofit/>
              </a:bodyPr>
              <a:lstStyle/>
              <a:p>
                <a:pPr lvl="0" algn="just"/>
                <a:r>
                  <a:rPr lang="en-US" sz="1600" dirty="0">
                    <a:latin typeface="Calibri" panose="020F0502020204030204" pitchFamily="34" charset="0"/>
                  </a:rPr>
                  <a:t>In reality, all gases do not fit into this assumptions completely. Only noble gases with small atoms such as helium and neon fit into this description because of its small intermolecular forces.</a:t>
                </a:r>
              </a:p>
              <a:p>
                <a:pPr lvl="0" algn="just"/>
                <a:r>
                  <a:rPr lang="en-US" sz="1600" dirty="0">
                    <a:latin typeface="Calibri" panose="020F0502020204030204" pitchFamily="34" charset="0"/>
                  </a:rPr>
                  <a:t>Implementing these assumptions, Boyle discovered that at a constant temperature, the pressure due to collisions is inversely proportional to the volume of the gas.</a:t>
                </a:r>
              </a:p>
              <a:p>
                <a:pPr marL="0" lvl="0" indent="0" algn="just">
                  <a:lnSpc>
                    <a:spcPct val="114000"/>
                  </a:lnSpc>
                  <a:spcBef>
                    <a:spcPts val="600"/>
                  </a:spcBef>
                  <a:buClr>
                    <a:srgbClr val="434343"/>
                  </a:buClr>
                  <a:buSzPts val="1600"/>
                  <a:buNone/>
                </a:pPr>
                <a14:m>
                  <m:oMathPara xmlns:m="http://schemas.openxmlformats.org/officeDocument/2006/math">
                    <m:oMathParaPr>
                      <m:jc m:val="centerGroup"/>
                    </m:oMathParaPr>
                    <m:oMath xmlns:m="http://schemas.openxmlformats.org/officeDocument/2006/math">
                      <m:r>
                        <a:rPr lang="en-IN" sz="1400" i="1" smtClean="0">
                          <a:solidFill>
                            <a:schemeClr val="bg1"/>
                          </a:solidFill>
                          <a:latin typeface="Cambria Math" panose="02040503050406030204" pitchFamily="18" charset="0"/>
                          <a:sym typeface="Roboto Condensed"/>
                        </a:rPr>
                        <m:t>𝑃</m:t>
                      </m:r>
                      <m:r>
                        <a:rPr lang="en-IN" sz="1400" i="1" smtClean="0">
                          <a:solidFill>
                            <a:schemeClr val="bg1"/>
                          </a:solidFill>
                          <a:latin typeface="Cambria Math" panose="02040503050406030204" pitchFamily="18" charset="0"/>
                          <a:sym typeface="Roboto Condensed"/>
                        </a:rPr>
                        <m:t>∝</m:t>
                      </m:r>
                      <m:f>
                        <m:fPr>
                          <m:ctrlPr>
                            <a:rPr lang="ar-AE" sz="1400" i="1">
                              <a:solidFill>
                                <a:schemeClr val="bg1"/>
                              </a:solidFill>
                              <a:latin typeface="Cambria Math" panose="02040503050406030204" pitchFamily="18" charset="0"/>
                              <a:sym typeface="Roboto Condensed"/>
                            </a:rPr>
                          </m:ctrlPr>
                        </m:fPr>
                        <m:num>
                          <m:r>
                            <a:rPr lang="ar-AE" sz="1400" i="1">
                              <a:solidFill>
                                <a:schemeClr val="bg1"/>
                              </a:solidFill>
                              <a:latin typeface="Cambria Math" panose="02040503050406030204" pitchFamily="18" charset="0"/>
                              <a:sym typeface="Roboto Condensed"/>
                            </a:rPr>
                            <m:t>1</m:t>
                          </m:r>
                        </m:num>
                        <m:den>
                          <m:r>
                            <a:rPr lang="ar-AE" sz="1400" i="1">
                              <a:solidFill>
                                <a:schemeClr val="bg1"/>
                              </a:solidFill>
                              <a:latin typeface="Cambria Math" panose="02040503050406030204" pitchFamily="18" charset="0"/>
                              <a:sym typeface="Roboto Condensed"/>
                            </a:rPr>
                            <m:t>𝑉</m:t>
                          </m:r>
                        </m:den>
                      </m:f>
                      <m:r>
                        <a:rPr lang="ar-AE" sz="1400" i="1">
                          <a:solidFill>
                            <a:schemeClr val="bg1"/>
                          </a:solidFill>
                          <a:latin typeface="Cambria Math" panose="02040503050406030204" pitchFamily="18" charset="0"/>
                          <a:sym typeface="Roboto Condensed"/>
                        </a:rPr>
                        <m:t> (</m:t>
                      </m:r>
                      <m:r>
                        <a:rPr lang="ar-AE" sz="1400" i="1">
                          <a:solidFill>
                            <a:schemeClr val="bg1"/>
                          </a:solidFill>
                          <a:latin typeface="Cambria Math" panose="02040503050406030204" pitchFamily="18" charset="0"/>
                          <a:sym typeface="Roboto Condensed"/>
                        </a:rPr>
                        <m:t>𝑎𝑡</m:t>
                      </m:r>
                      <m:r>
                        <a:rPr lang="ar-AE" sz="1400" i="1">
                          <a:solidFill>
                            <a:schemeClr val="bg1"/>
                          </a:solidFill>
                          <a:latin typeface="Cambria Math" panose="02040503050406030204" pitchFamily="18" charset="0"/>
                          <a:sym typeface="Roboto Condensed"/>
                        </a:rPr>
                        <m:t> </m:t>
                      </m:r>
                      <m:r>
                        <a:rPr lang="ar-AE" sz="1400" i="1">
                          <a:solidFill>
                            <a:schemeClr val="bg1"/>
                          </a:solidFill>
                          <a:latin typeface="Cambria Math" panose="02040503050406030204" pitchFamily="18" charset="0"/>
                          <a:sym typeface="Roboto Condensed"/>
                        </a:rPr>
                        <m:t>𝑐𝑜𝑛𝑠𝑡𝑎𝑛𝑡</m:t>
                      </m:r>
                      <m:r>
                        <a:rPr lang="ar-AE" sz="1400" i="1">
                          <a:solidFill>
                            <a:schemeClr val="bg1"/>
                          </a:solidFill>
                          <a:latin typeface="Cambria Math" panose="02040503050406030204" pitchFamily="18" charset="0"/>
                          <a:sym typeface="Roboto Condensed"/>
                        </a:rPr>
                        <m:t> </m:t>
                      </m:r>
                      <m:r>
                        <a:rPr lang="ar-AE" sz="1400" i="1">
                          <a:solidFill>
                            <a:schemeClr val="bg1"/>
                          </a:solidFill>
                          <a:latin typeface="Cambria Math" panose="02040503050406030204" pitchFamily="18" charset="0"/>
                          <a:sym typeface="Roboto Condensed"/>
                        </a:rPr>
                        <m:t>𝑡𝑒𝑚𝑝𝑒𝑟𝑎𝑡𝑢𝑟𝑒</m:t>
                      </m:r>
                      <m:r>
                        <a:rPr lang="ar-AE" sz="1400" i="1">
                          <a:solidFill>
                            <a:schemeClr val="bg1"/>
                          </a:solidFill>
                          <a:latin typeface="Cambria Math" panose="02040503050406030204" pitchFamily="18" charset="0"/>
                          <a:sym typeface="Roboto Condensed"/>
                        </a:rPr>
                        <m:t>)</m:t>
                      </m:r>
                    </m:oMath>
                  </m:oMathPara>
                </a14:m>
                <a:endParaRPr lang="en-MY" sz="1400" dirty="0">
                  <a:solidFill>
                    <a:schemeClr val="bg1"/>
                  </a:solidFill>
                  <a:latin typeface="Calibri" panose="020F0502020204030204" pitchFamily="34" charset="0"/>
                  <a:ea typeface="Roboto Condensed"/>
                  <a:cs typeface="Calibri" panose="020F0502020204030204" pitchFamily="34" charset="0"/>
                  <a:sym typeface="Roboto Condensed"/>
                </a:endParaRPr>
              </a:p>
              <a:p>
                <a:pPr marL="0" lvl="0" indent="0" algn="just">
                  <a:lnSpc>
                    <a:spcPct val="114000"/>
                  </a:lnSpc>
                  <a:spcBef>
                    <a:spcPts val="600"/>
                  </a:spcBef>
                  <a:buClr>
                    <a:srgbClr val="434343"/>
                  </a:buClr>
                  <a:buSzPts val="1600"/>
                  <a:buNone/>
                </a:pPr>
                <a:r>
                  <a:rPr lang="en-IN" sz="1400" dirty="0">
                    <a:solidFill>
                      <a:schemeClr val="bg1"/>
                    </a:solidFill>
                    <a:latin typeface="Calibri" panose="020F0502020204030204" pitchFamily="34" charset="0"/>
                    <a:ea typeface="Roboto Condensed"/>
                    <a:cs typeface="Calibri" panose="020F0502020204030204" pitchFamily="34" charset="0"/>
                    <a:sym typeface="Roboto Condensed"/>
                  </a:rPr>
                  <a:t>Therefore, </a:t>
                </a:r>
                <a14:m>
                  <m:oMath xmlns:m="http://schemas.openxmlformats.org/officeDocument/2006/math">
                    <m:r>
                      <a:rPr lang="en-IN" sz="1400" i="1">
                        <a:solidFill>
                          <a:schemeClr val="bg1"/>
                        </a:solidFill>
                        <a:latin typeface="Cambria Math" panose="02040503050406030204" pitchFamily="18" charset="0"/>
                        <a:sym typeface="Roboto Condensed"/>
                      </a:rPr>
                      <m:t>𝑃𝑉</m:t>
                    </m:r>
                    <m:r>
                      <a:rPr lang="en-IN" sz="1400" i="1">
                        <a:solidFill>
                          <a:schemeClr val="bg1"/>
                        </a:solidFill>
                        <a:latin typeface="Cambria Math" panose="02040503050406030204" pitchFamily="18" charset="0"/>
                        <a:sym typeface="Roboto Condensed"/>
                      </a:rPr>
                      <m:t>=</m:t>
                    </m:r>
                    <m:r>
                      <a:rPr lang="en-IN" sz="1400" i="1">
                        <a:solidFill>
                          <a:schemeClr val="bg1"/>
                        </a:solidFill>
                        <a:latin typeface="Cambria Math" panose="02040503050406030204" pitchFamily="18" charset="0"/>
                        <a:sym typeface="Roboto Condensed"/>
                      </a:rPr>
                      <m:t>𝑐𝑜𝑛𝑠𝑡𝑎𝑛𝑡</m:t>
                    </m:r>
                  </m:oMath>
                </a14:m>
                <a:endParaRPr lang="en-IN" sz="1400" dirty="0">
                  <a:solidFill>
                    <a:schemeClr val="bg1"/>
                  </a:solidFill>
                  <a:latin typeface="Calibri" panose="020F0502020204030204" pitchFamily="34" charset="0"/>
                  <a:ea typeface="Roboto Condensed"/>
                  <a:cs typeface="Calibri" panose="020F0502020204030204" pitchFamily="34" charset="0"/>
                  <a:sym typeface="Roboto Condensed"/>
                </a:endParaRPr>
              </a:p>
              <a:p>
                <a:pPr marL="0" lvl="0" indent="0" algn="just">
                  <a:lnSpc>
                    <a:spcPct val="114000"/>
                  </a:lnSpc>
                  <a:spcBef>
                    <a:spcPts val="600"/>
                  </a:spcBef>
                  <a:buClr>
                    <a:srgbClr val="434343"/>
                  </a:buClr>
                  <a:buSzPts val="1600"/>
                  <a:buNone/>
                </a:pPr>
                <a:endParaRPr lang="ar-AE" sz="1400" dirty="0">
                  <a:solidFill>
                    <a:srgbClr val="000000"/>
                  </a:solidFill>
                  <a:latin typeface="Arial"/>
                  <a:ea typeface="Roboto Condensed"/>
                  <a:sym typeface="Roboto Condensed"/>
                </a:endParaRPr>
              </a:p>
              <a:p>
                <a:pPr marL="114300" lvl="0" indent="0" algn="just">
                  <a:buNone/>
                </a:pPr>
                <a:endParaRPr lang="en-US" sz="1600" dirty="0">
                  <a:latin typeface="Calibri" panose="020F0502020204030204" pitchFamily="34" charset="0"/>
                </a:endParaRPr>
              </a:p>
              <a:p>
                <a:pPr marL="0" lvl="0" indent="0" algn="l" rtl="0">
                  <a:spcBef>
                    <a:spcPts val="1600"/>
                  </a:spcBef>
                  <a:spcAft>
                    <a:spcPts val="1600"/>
                  </a:spcAft>
                  <a:buNone/>
                </a:pPr>
                <a:endParaRPr lang="en-MY" sz="1600" dirty="0">
                  <a:latin typeface="Calibri" panose="020F0502020204030204" pitchFamily="34" charset="0"/>
                </a:endParaRPr>
              </a:p>
              <a:p>
                <a:pPr marL="0" lvl="0" indent="0" algn="l" rtl="0">
                  <a:spcBef>
                    <a:spcPts val="1600"/>
                  </a:spcBef>
                  <a:spcAft>
                    <a:spcPts val="1600"/>
                  </a:spcAft>
                  <a:buNone/>
                </a:pPr>
                <a:endParaRPr sz="1600" dirty="0">
                  <a:latin typeface="Calibri" panose="020F0502020204030204" pitchFamily="34" charset="0"/>
                </a:endParaRPr>
              </a:p>
            </p:txBody>
          </p:sp>
        </mc:Choice>
        <mc:Fallback xmlns="">
          <p:sp>
            <p:nvSpPr>
              <p:cNvPr id="124" name="Google Shape;124;p27"/>
              <p:cNvSpPr txBox="1">
                <a:spLocks noGrp="1" noRot="1" noChangeAspect="1" noMove="1" noResize="1" noEditPoints="1" noAdjustHandles="1" noChangeArrowheads="1" noChangeShapeType="1" noTextEdit="1"/>
              </p:cNvSpPr>
              <p:nvPr>
                <p:ph type="body" idx="2"/>
              </p:nvPr>
            </p:nvSpPr>
            <p:spPr>
              <a:xfrm>
                <a:off x="4928211" y="522278"/>
                <a:ext cx="3837000" cy="3695100"/>
              </a:xfrm>
              <a:prstGeom prst="rect">
                <a:avLst/>
              </a:prstGeom>
              <a:blipFill>
                <a:blip r:embed="rId3"/>
                <a:stretch>
                  <a:fillRect l="-476" r="-794" b="-18152"/>
                </a:stretch>
              </a:blipFill>
            </p:spPr>
            <p:txBody>
              <a:bodyPr/>
              <a:lstStyle/>
              <a:p>
                <a:r>
                  <a:rPr lang="en-GB">
                    <a:noFill/>
                  </a:rPr>
                  <a:t> </a:t>
                </a:r>
              </a:p>
            </p:txBody>
          </p:sp>
        </mc:Fallback>
      </mc:AlternateContent>
      <p:sp>
        <p:nvSpPr>
          <p:cNvPr id="126" name="Google Shape;126;p27"/>
          <p:cNvSpPr txBox="1"/>
          <p:nvPr/>
        </p:nvSpPr>
        <p:spPr>
          <a:xfrm>
            <a:off x="1388533" y="4546950"/>
            <a:ext cx="2946292" cy="278400"/>
          </a:xfrm>
          <a:prstGeom prst="rect">
            <a:avLst/>
          </a:prstGeom>
          <a:noFill/>
          <a:ln>
            <a:noFill/>
          </a:ln>
        </p:spPr>
        <p:txBody>
          <a:bodyPr spcFirstLastPara="1" wrap="square" lIns="91425" tIns="91425" rIns="91425" bIns="91425" anchor="t" anchorCtr="0">
            <a:noAutofit/>
          </a:bodyPr>
          <a:lstStyle/>
          <a:p>
            <a:pPr lvl="0"/>
            <a:r>
              <a:rPr lang="en-US" sz="1100" dirty="0">
                <a:solidFill>
                  <a:srgbClr val="666666"/>
                </a:solidFill>
              </a:rPr>
              <a:t>Relationship between volume and pressure of gases (at constant temperature)</a:t>
            </a:r>
            <a:endParaRPr sz="1100" dirty="0">
              <a:solidFill>
                <a:srgbClr val="666666"/>
              </a:solidFill>
            </a:endParaRPr>
          </a:p>
        </p:txBody>
      </p:sp>
      <p:pic>
        <p:nvPicPr>
          <p:cNvPr id="4" name="Picture 3">
            <a:extLst>
              <a:ext uri="{FF2B5EF4-FFF2-40B4-BE49-F238E27FC236}">
                <a16:creationId xmlns:a16="http://schemas.microsoft.com/office/drawing/2014/main" id="{A2337E69-94A8-46E4-B6F9-E53AF492DEBC}"/>
              </a:ext>
            </a:extLst>
          </p:cNvPr>
          <p:cNvPicPr>
            <a:picLocks noChangeAspect="1"/>
          </p:cNvPicPr>
          <p:nvPr/>
        </p:nvPicPr>
        <p:blipFill>
          <a:blip r:embed="rId4"/>
          <a:stretch>
            <a:fillRect/>
          </a:stretch>
        </p:blipFill>
        <p:spPr>
          <a:xfrm>
            <a:off x="550697" y="1746589"/>
            <a:ext cx="3434680" cy="1952344"/>
          </a:xfrm>
          <a:prstGeom prst="rect">
            <a:avLst/>
          </a:prstGeom>
          <a:ln w="6350">
            <a:solidFill>
              <a:schemeClr val="bg2"/>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378788" y="318150"/>
            <a:ext cx="3837001"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Gaseous state</a:t>
            </a:r>
            <a:endParaRPr sz="3200" dirty="0">
              <a:solidFill>
                <a:srgbClr val="000000"/>
              </a:solidFill>
              <a:latin typeface="Calibri" panose="020F0502020204030204" pitchFamily="34" charset="0"/>
            </a:endParaRPr>
          </a:p>
        </p:txBody>
      </p:sp>
      <mc:AlternateContent xmlns:mc="http://schemas.openxmlformats.org/markup-compatibility/2006" xmlns:a14="http://schemas.microsoft.com/office/drawing/2010/main">
        <mc:Choice Requires="a14">
          <p:sp>
            <p:nvSpPr>
              <p:cNvPr id="124" name="Google Shape;124;p27"/>
              <p:cNvSpPr txBox="1">
                <a:spLocks noGrp="1"/>
              </p:cNvSpPr>
              <p:nvPr>
                <p:ph type="body" idx="2"/>
              </p:nvPr>
            </p:nvSpPr>
            <p:spPr>
              <a:xfrm>
                <a:off x="4928211" y="1130250"/>
                <a:ext cx="3837000" cy="3695100"/>
              </a:xfrm>
              <a:prstGeom prst="rect">
                <a:avLst/>
              </a:prstGeom>
            </p:spPr>
            <p:txBody>
              <a:bodyPr spcFirstLastPara="1" wrap="square" lIns="91425" tIns="91425" rIns="91425" bIns="91425" anchor="t" anchorCtr="0">
                <a:noAutofit/>
              </a:bodyPr>
              <a:lstStyle/>
              <a:p>
                <a:pPr lvl="0" algn="just"/>
                <a:r>
                  <a:rPr lang="en-US" sz="1600" dirty="0">
                    <a:latin typeface="Calibri" panose="020F0502020204030204" pitchFamily="34" charset="0"/>
                  </a:rPr>
                  <a:t>Charles implemented these assumptions and found out that the volume occupied by gas is directly proportional to temperature at constant pressure.</a:t>
                </a:r>
              </a:p>
              <a:p>
                <a:pPr marL="0" lvl="0" indent="0" algn="just">
                  <a:lnSpc>
                    <a:spcPct val="114000"/>
                  </a:lnSpc>
                  <a:spcBef>
                    <a:spcPts val="600"/>
                  </a:spcBef>
                  <a:buClr>
                    <a:srgbClr val="434343"/>
                  </a:buClr>
                  <a:buSzPts val="1600"/>
                  <a:buNone/>
                </a:pPr>
                <a14:m>
                  <m:oMathPara xmlns:m="http://schemas.openxmlformats.org/officeDocument/2006/math">
                    <m:oMathParaPr>
                      <m:jc m:val="centerGroup"/>
                    </m:oMathParaPr>
                    <m:oMath xmlns:m="http://schemas.openxmlformats.org/officeDocument/2006/math">
                      <m:r>
                        <a:rPr lang="en-IN" sz="1400" i="1">
                          <a:solidFill>
                            <a:schemeClr val="bg1"/>
                          </a:solidFill>
                          <a:latin typeface="Cambria Math" panose="02040503050406030204" pitchFamily="18" charset="0"/>
                          <a:sym typeface="Roboto Condensed"/>
                        </a:rPr>
                        <m:t>𝑉</m:t>
                      </m:r>
                      <m:r>
                        <a:rPr lang="en-IN" sz="1400" i="1">
                          <a:solidFill>
                            <a:schemeClr val="bg1"/>
                          </a:solidFill>
                          <a:latin typeface="Cambria Math" panose="02040503050406030204" pitchFamily="18" charset="0"/>
                          <a:sym typeface="Roboto Condensed"/>
                        </a:rPr>
                        <m:t>∝</m:t>
                      </m:r>
                      <m:r>
                        <a:rPr lang="en-IN" sz="1400" i="1">
                          <a:solidFill>
                            <a:schemeClr val="bg1"/>
                          </a:solidFill>
                          <a:latin typeface="Cambria Math" panose="02040503050406030204" pitchFamily="18" charset="0"/>
                          <a:sym typeface="Roboto Condensed"/>
                        </a:rPr>
                        <m:t>𝑇</m:t>
                      </m:r>
                      <m:r>
                        <a:rPr lang="en-IN" sz="1400" i="1">
                          <a:solidFill>
                            <a:schemeClr val="bg1"/>
                          </a:solidFill>
                          <a:latin typeface="Cambria Math" panose="02040503050406030204" pitchFamily="18" charset="0"/>
                          <a:sym typeface="Roboto Condensed"/>
                        </a:rPr>
                        <m:t> (</m:t>
                      </m:r>
                      <m:r>
                        <a:rPr lang="en-IN" sz="1400" i="1">
                          <a:solidFill>
                            <a:schemeClr val="bg1"/>
                          </a:solidFill>
                          <a:latin typeface="Cambria Math" panose="02040503050406030204" pitchFamily="18" charset="0"/>
                          <a:sym typeface="Roboto Condensed"/>
                        </a:rPr>
                        <m:t>𝑎𝑡</m:t>
                      </m:r>
                      <m:r>
                        <a:rPr lang="en-IN" sz="1400" i="1">
                          <a:solidFill>
                            <a:schemeClr val="bg1"/>
                          </a:solidFill>
                          <a:latin typeface="Cambria Math" panose="02040503050406030204" pitchFamily="18" charset="0"/>
                          <a:sym typeface="Roboto Condensed"/>
                        </a:rPr>
                        <m:t> </m:t>
                      </m:r>
                      <m:r>
                        <a:rPr lang="en-IN" sz="1400" i="1">
                          <a:solidFill>
                            <a:schemeClr val="bg1"/>
                          </a:solidFill>
                          <a:latin typeface="Cambria Math" panose="02040503050406030204" pitchFamily="18" charset="0"/>
                          <a:sym typeface="Roboto Condensed"/>
                        </a:rPr>
                        <m:t>𝑐𝑜𝑛𝑠𝑡𝑎𝑛𝑡</m:t>
                      </m:r>
                      <m:r>
                        <a:rPr lang="en-IN" sz="1400" i="1">
                          <a:solidFill>
                            <a:schemeClr val="bg1"/>
                          </a:solidFill>
                          <a:latin typeface="Cambria Math" panose="02040503050406030204" pitchFamily="18" charset="0"/>
                          <a:sym typeface="Roboto Condensed"/>
                        </a:rPr>
                        <m:t> </m:t>
                      </m:r>
                      <m:r>
                        <a:rPr lang="en-IN" sz="1400" i="1">
                          <a:solidFill>
                            <a:schemeClr val="bg1"/>
                          </a:solidFill>
                          <a:latin typeface="Cambria Math" panose="02040503050406030204" pitchFamily="18" charset="0"/>
                          <a:sym typeface="Roboto Condensed"/>
                        </a:rPr>
                        <m:t>𝑝𝑟𝑒𝑠𝑠𝑢𝑟𝑒</m:t>
                      </m:r>
                      <m:r>
                        <a:rPr lang="en-IN" sz="1400" i="1">
                          <a:solidFill>
                            <a:schemeClr val="bg1"/>
                          </a:solidFill>
                          <a:latin typeface="Cambria Math" panose="02040503050406030204" pitchFamily="18" charset="0"/>
                          <a:sym typeface="Roboto Condensed"/>
                        </a:rPr>
                        <m:t>)</m:t>
                      </m:r>
                    </m:oMath>
                  </m:oMathPara>
                </a14:m>
                <a:endParaRPr lang="en-MY" sz="1400" dirty="0">
                  <a:solidFill>
                    <a:schemeClr val="bg1"/>
                  </a:solidFill>
                  <a:latin typeface="Calibri" panose="020F0502020204030204" pitchFamily="34" charset="0"/>
                  <a:ea typeface="Roboto Condensed"/>
                  <a:cs typeface="Calibri" panose="020F0502020204030204" pitchFamily="34" charset="0"/>
                  <a:sym typeface="Roboto Condensed"/>
                </a:endParaRPr>
              </a:p>
              <a:p>
                <a:pPr marL="0" lvl="0" indent="0" algn="just">
                  <a:lnSpc>
                    <a:spcPct val="114000"/>
                  </a:lnSpc>
                  <a:spcBef>
                    <a:spcPts val="600"/>
                  </a:spcBef>
                  <a:buClr>
                    <a:srgbClr val="434343"/>
                  </a:buClr>
                  <a:buSzPts val="1600"/>
                  <a:buNone/>
                </a:pPr>
                <a:endParaRPr lang="ar-AE" sz="1400" dirty="0">
                  <a:solidFill>
                    <a:srgbClr val="000000"/>
                  </a:solidFill>
                  <a:latin typeface="Arial"/>
                  <a:ea typeface="Roboto Condensed"/>
                  <a:sym typeface="Roboto Condensed"/>
                </a:endParaRPr>
              </a:p>
              <a:p>
                <a:pPr marL="114300" lvl="0" indent="0" algn="just">
                  <a:buNone/>
                </a:pPr>
                <a:endParaRPr lang="en-US" sz="1600" dirty="0">
                  <a:latin typeface="Calibri" panose="020F0502020204030204" pitchFamily="34" charset="0"/>
                </a:endParaRPr>
              </a:p>
              <a:p>
                <a:pPr marL="0" lvl="0" indent="0" algn="l" rtl="0">
                  <a:spcBef>
                    <a:spcPts val="1600"/>
                  </a:spcBef>
                  <a:spcAft>
                    <a:spcPts val="1600"/>
                  </a:spcAft>
                  <a:buNone/>
                </a:pPr>
                <a:endParaRPr lang="en-MY" sz="1600" dirty="0">
                  <a:latin typeface="Calibri" panose="020F0502020204030204" pitchFamily="34" charset="0"/>
                </a:endParaRPr>
              </a:p>
              <a:p>
                <a:pPr marL="0" lvl="0" indent="0" algn="l" rtl="0">
                  <a:spcBef>
                    <a:spcPts val="1600"/>
                  </a:spcBef>
                  <a:spcAft>
                    <a:spcPts val="1600"/>
                  </a:spcAft>
                  <a:buNone/>
                </a:pPr>
                <a:endParaRPr sz="1600" dirty="0">
                  <a:latin typeface="Calibri" panose="020F0502020204030204" pitchFamily="34" charset="0"/>
                </a:endParaRPr>
              </a:p>
            </p:txBody>
          </p:sp>
        </mc:Choice>
        <mc:Fallback xmlns="">
          <p:sp>
            <p:nvSpPr>
              <p:cNvPr id="124" name="Google Shape;124;p27"/>
              <p:cNvSpPr txBox="1">
                <a:spLocks noGrp="1" noRot="1" noChangeAspect="1" noMove="1" noResize="1" noEditPoints="1" noAdjustHandles="1" noChangeArrowheads="1" noChangeShapeType="1" noTextEdit="1"/>
              </p:cNvSpPr>
              <p:nvPr>
                <p:ph type="body" idx="2"/>
              </p:nvPr>
            </p:nvSpPr>
            <p:spPr>
              <a:xfrm>
                <a:off x="4928211" y="1130250"/>
                <a:ext cx="3837000" cy="3695100"/>
              </a:xfrm>
              <a:prstGeom prst="rect">
                <a:avLst/>
              </a:prstGeom>
              <a:blipFill>
                <a:blip r:embed="rId3"/>
                <a:stretch>
                  <a:fillRect l="-476" r="-794"/>
                </a:stretch>
              </a:blipFill>
            </p:spPr>
            <p:txBody>
              <a:bodyPr/>
              <a:lstStyle/>
              <a:p>
                <a:r>
                  <a:rPr lang="en-GB">
                    <a:noFill/>
                  </a:rPr>
                  <a:t> </a:t>
                </a:r>
              </a:p>
            </p:txBody>
          </p:sp>
        </mc:Fallback>
      </mc:AlternateContent>
      <p:sp>
        <p:nvSpPr>
          <p:cNvPr id="126" name="Google Shape;126;p27"/>
          <p:cNvSpPr txBox="1"/>
          <p:nvPr/>
        </p:nvSpPr>
        <p:spPr>
          <a:xfrm>
            <a:off x="1388533" y="4546950"/>
            <a:ext cx="2946292" cy="278400"/>
          </a:xfrm>
          <a:prstGeom prst="rect">
            <a:avLst/>
          </a:prstGeom>
          <a:noFill/>
          <a:ln>
            <a:noFill/>
          </a:ln>
        </p:spPr>
        <p:txBody>
          <a:bodyPr spcFirstLastPara="1" wrap="square" lIns="91425" tIns="91425" rIns="91425" bIns="91425" anchor="t" anchorCtr="0">
            <a:noAutofit/>
          </a:bodyPr>
          <a:lstStyle/>
          <a:p>
            <a:pPr lvl="0"/>
            <a:r>
              <a:rPr lang="en-US" sz="1100" dirty="0">
                <a:solidFill>
                  <a:srgbClr val="666666"/>
                </a:solidFill>
              </a:rPr>
              <a:t>Relationship between volume and temperature (at constant pressure)</a:t>
            </a:r>
            <a:endParaRPr sz="1100" dirty="0">
              <a:solidFill>
                <a:srgbClr val="666666"/>
              </a:solidFill>
            </a:endParaRPr>
          </a:p>
        </p:txBody>
      </p:sp>
      <p:pic>
        <p:nvPicPr>
          <p:cNvPr id="2" name="Picture 1">
            <a:extLst>
              <a:ext uri="{FF2B5EF4-FFF2-40B4-BE49-F238E27FC236}">
                <a16:creationId xmlns:a16="http://schemas.microsoft.com/office/drawing/2014/main" id="{08E0A23B-2F0E-4C1B-B670-A67D407388F8}"/>
              </a:ext>
            </a:extLst>
          </p:cNvPr>
          <p:cNvPicPr>
            <a:picLocks noChangeAspect="1"/>
          </p:cNvPicPr>
          <p:nvPr/>
        </p:nvPicPr>
        <p:blipFill>
          <a:blip r:embed="rId4"/>
          <a:stretch>
            <a:fillRect/>
          </a:stretch>
        </p:blipFill>
        <p:spPr>
          <a:xfrm>
            <a:off x="122964" y="1725217"/>
            <a:ext cx="4348647" cy="2232517"/>
          </a:xfrm>
          <a:prstGeom prst="rect">
            <a:avLst/>
          </a:prstGeom>
          <a:ln w="6350">
            <a:solidFill>
              <a:schemeClr val="bg2"/>
            </a:solidFill>
          </a:ln>
        </p:spPr>
      </p:pic>
    </p:spTree>
    <p:extLst>
      <p:ext uri="{BB962C8B-B14F-4D97-AF65-F5344CB8AC3E}">
        <p14:creationId xmlns:p14="http://schemas.microsoft.com/office/powerpoint/2010/main" val="3092670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Gaseous state</a:t>
            </a:r>
          </a:p>
        </p:txBody>
      </p:sp>
      <mc:AlternateContent xmlns:mc="http://schemas.openxmlformats.org/markup-compatibility/2006" xmlns:a14="http://schemas.microsoft.com/office/drawing/2010/main">
        <mc:Choice Requires="a14">
          <p:sp>
            <p:nvSpPr>
              <p:cNvPr id="118" name="Google Shape;118;p26"/>
              <p:cNvSpPr txBox="1"/>
              <p:nvPr/>
            </p:nvSpPr>
            <p:spPr>
              <a:xfrm>
                <a:off x="767644" y="2249568"/>
                <a:ext cx="7349067"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Using Charles’ and Boyle’s law, an ideal gas equation was developed</a:t>
                </a:r>
              </a:p>
              <a:p>
                <a:pPr lvl="0" algn="just">
                  <a:lnSpc>
                    <a:spcPct val="114000"/>
                  </a:lnSpc>
                  <a:spcBef>
                    <a:spcPts val="600"/>
                  </a:spcBef>
                  <a:buClr>
                    <a:srgbClr val="434343"/>
                  </a:buClr>
                  <a:buSzPts val="1600"/>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sym typeface="Roboto Condensed"/>
                        </a:rPr>
                        <m:t>𝑃𝑉</m:t>
                      </m:r>
                      <m:r>
                        <a:rPr lang="en-IN" i="1">
                          <a:latin typeface="Cambria Math" panose="02040503050406030204" pitchFamily="18" charset="0"/>
                          <a:sym typeface="Roboto Condensed"/>
                        </a:rPr>
                        <m:t>=</m:t>
                      </m:r>
                      <m:r>
                        <a:rPr lang="en-IN" i="1">
                          <a:latin typeface="Cambria Math" panose="02040503050406030204" pitchFamily="18" charset="0"/>
                          <a:sym typeface="Roboto Condensed"/>
                        </a:rPr>
                        <m:t>𝑛𝑅𝑇</m:t>
                      </m:r>
                    </m:oMath>
                  </m:oMathPara>
                </a14:m>
                <a:endParaRPr lang="en-US" sz="1600" dirty="0">
                  <a:latin typeface="Calibri" panose="020F0502020204030204" pitchFamily="34" charset="0"/>
                </a:endParaRPr>
              </a:p>
              <a:p>
                <a:pPr marL="450850" lvl="0">
                  <a:lnSpc>
                    <a:spcPct val="114000"/>
                  </a:lnSpc>
                  <a:buSzPts val="1800"/>
                </a:pPr>
                <a:r>
                  <a:rPr lang="en-US" sz="1600" dirty="0">
                    <a:latin typeface="Calibri" panose="020F0502020204030204" pitchFamily="34" charset="0"/>
                  </a:rPr>
                  <a:t>where n is the number of moles and R is the universal molar constant.</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Units of the terms used in an ideal gas equation are given in the table below:</a:t>
                </a:r>
              </a:p>
              <a:p>
                <a:pPr marL="400050" lvl="0" indent="-285750">
                  <a:lnSpc>
                    <a:spcPct val="114000"/>
                  </a:lnSpc>
                  <a:buSzPts val="1800"/>
                  <a:buFont typeface="Arial" panose="020B0604020202020204" pitchFamily="34" charset="0"/>
                  <a:buChar char="•"/>
                </a:pPr>
                <a:endParaRPr lang="en-US" sz="1600" dirty="0">
                  <a:latin typeface="Calibri" panose="020F0502020204030204" pitchFamily="34" charset="0"/>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767644" y="2249568"/>
                <a:ext cx="7349067" cy="2492100"/>
              </a:xfrm>
              <a:prstGeom prst="rect">
                <a:avLst/>
              </a:prstGeom>
              <a:blipFill>
                <a:blip r:embed="rId3"/>
                <a:stretch>
                  <a:fillRect/>
                </a:stretch>
              </a:blipFill>
              <a:ln>
                <a:noFill/>
              </a:ln>
            </p:spPr>
            <p:txBody>
              <a:bodyPr/>
              <a:lstStyle/>
              <a:p>
                <a:r>
                  <a:rPr lang="en-GB">
                    <a:noFill/>
                  </a:rPr>
                  <a:t> </a:t>
                </a:r>
              </a:p>
            </p:txBody>
          </p:sp>
        </mc:Fallback>
      </mc:AlternateContent>
      <p:graphicFrame>
        <p:nvGraphicFramePr>
          <p:cNvPr id="6" name="Table 5">
            <a:extLst>
              <a:ext uri="{FF2B5EF4-FFF2-40B4-BE49-F238E27FC236}">
                <a16:creationId xmlns:a16="http://schemas.microsoft.com/office/drawing/2014/main" id="{24975BBD-DC19-4CAC-AD5A-8E86E85A4A74}"/>
              </a:ext>
            </a:extLst>
          </p:cNvPr>
          <p:cNvGraphicFramePr>
            <a:graphicFrameLocks noGrp="1"/>
          </p:cNvGraphicFramePr>
          <p:nvPr>
            <p:extLst>
              <p:ext uri="{D42A27DB-BD31-4B8C-83A1-F6EECF244321}">
                <p14:modId xmlns:p14="http://schemas.microsoft.com/office/powerpoint/2010/main" val="3853112367"/>
              </p:ext>
            </p:extLst>
          </p:nvPr>
        </p:nvGraphicFramePr>
        <p:xfrm>
          <a:off x="1573096" y="3669913"/>
          <a:ext cx="5997808" cy="756000"/>
        </p:xfrm>
        <a:graphic>
          <a:graphicData uri="http://schemas.openxmlformats.org/drawingml/2006/table">
            <a:tbl>
              <a:tblPr firstRow="1" firstCol="1" bandRow="1"/>
              <a:tblGrid>
                <a:gridCol w="1188000">
                  <a:extLst>
                    <a:ext uri="{9D8B030D-6E8A-4147-A177-3AD203B41FA5}">
                      <a16:colId xmlns:a16="http://schemas.microsoft.com/office/drawing/2014/main" val="1298153597"/>
                    </a:ext>
                  </a:extLst>
                </a:gridCol>
                <a:gridCol w="857568">
                  <a:extLst>
                    <a:ext uri="{9D8B030D-6E8A-4147-A177-3AD203B41FA5}">
                      <a16:colId xmlns:a16="http://schemas.microsoft.com/office/drawing/2014/main" val="1738982233"/>
                    </a:ext>
                  </a:extLst>
                </a:gridCol>
                <a:gridCol w="857568">
                  <a:extLst>
                    <a:ext uri="{9D8B030D-6E8A-4147-A177-3AD203B41FA5}">
                      <a16:colId xmlns:a16="http://schemas.microsoft.com/office/drawing/2014/main" val="862040487"/>
                    </a:ext>
                  </a:extLst>
                </a:gridCol>
                <a:gridCol w="857568">
                  <a:extLst>
                    <a:ext uri="{9D8B030D-6E8A-4147-A177-3AD203B41FA5}">
                      <a16:colId xmlns:a16="http://schemas.microsoft.com/office/drawing/2014/main" val="3192436145"/>
                    </a:ext>
                  </a:extLst>
                </a:gridCol>
                <a:gridCol w="2237104">
                  <a:extLst>
                    <a:ext uri="{9D8B030D-6E8A-4147-A177-3AD203B41FA5}">
                      <a16:colId xmlns:a16="http://schemas.microsoft.com/office/drawing/2014/main" val="3971387824"/>
                    </a:ext>
                  </a:extLst>
                </a:gridCol>
              </a:tblGrid>
              <a:tr h="252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400" b="1" dirty="0">
                          <a:solidFill>
                            <a:schemeClr val="bg1"/>
                          </a:solidFill>
                          <a:effectLst/>
                          <a:latin typeface="+mn-lt"/>
                          <a:ea typeface="Times New Roman" panose="02020603050405020304" pitchFamily="18" charset="0"/>
                          <a:cs typeface="Times New Roman" panose="02020603050405020304" pitchFamily="18" charset="0"/>
                        </a:rPr>
                        <a:t>P</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400" b="1">
                          <a:solidFill>
                            <a:schemeClr val="bg1"/>
                          </a:solidFill>
                          <a:effectLst/>
                          <a:latin typeface="+mn-lt"/>
                          <a:ea typeface="Times New Roman" panose="02020603050405020304" pitchFamily="18" charset="0"/>
                          <a:cs typeface="Times New Roman" panose="02020603050405020304" pitchFamily="18" charset="0"/>
                        </a:rPr>
                        <a:t>V</a:t>
                      </a:r>
                      <a:endParaRPr lang="en-IN" sz="140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400" b="1">
                          <a:solidFill>
                            <a:schemeClr val="bg1"/>
                          </a:solidFill>
                          <a:effectLst/>
                          <a:latin typeface="+mn-lt"/>
                          <a:ea typeface="Times New Roman" panose="02020603050405020304" pitchFamily="18" charset="0"/>
                          <a:cs typeface="Times New Roman" panose="02020603050405020304" pitchFamily="18" charset="0"/>
                        </a:rPr>
                        <a:t>n</a:t>
                      </a:r>
                      <a:endParaRPr lang="en-IN" sz="140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400" b="1">
                          <a:solidFill>
                            <a:schemeClr val="bg1"/>
                          </a:solidFill>
                          <a:effectLst/>
                          <a:latin typeface="+mn-lt"/>
                          <a:ea typeface="Times New Roman" panose="02020603050405020304" pitchFamily="18" charset="0"/>
                          <a:cs typeface="Times New Roman" panose="02020603050405020304" pitchFamily="18" charset="0"/>
                        </a:rPr>
                        <a:t>T</a:t>
                      </a:r>
                      <a:endParaRPr lang="en-IN" sz="140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400" b="1" dirty="0">
                          <a:solidFill>
                            <a:schemeClr val="bg1"/>
                          </a:solidFill>
                          <a:effectLst/>
                          <a:latin typeface="+mn-lt"/>
                          <a:ea typeface="Times New Roman" panose="02020603050405020304" pitchFamily="18" charset="0"/>
                          <a:cs typeface="Times New Roman" panose="02020603050405020304" pitchFamily="18" charset="0"/>
                        </a:rPr>
                        <a:t>R</a:t>
                      </a:r>
                      <a:endParaRPr lang="en-IN" sz="1400" dirty="0">
                        <a:solidFill>
                          <a:schemeClr val="bg1"/>
                        </a:solidFill>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656002147"/>
                  </a:ext>
                </a:extLst>
              </a:tr>
              <a:tr h="252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400" dirty="0">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Pascals (Pa)</a:t>
                      </a:r>
                      <a:endParaRPr lang="en-IN" sz="14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400" dirty="0">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m</a:t>
                      </a:r>
                      <a:r>
                        <a:rPr lang="en-IN" sz="1400" baseline="30000" dirty="0">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3</a:t>
                      </a:r>
                      <a:endParaRPr lang="en-IN" sz="14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400" dirty="0" err="1">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mol</a:t>
                      </a:r>
                      <a:endParaRPr lang="en-IN" sz="14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400" dirty="0">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K</a:t>
                      </a:r>
                      <a:endParaRPr lang="en-IN" sz="14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400" dirty="0">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8.314 J/mol K</a:t>
                      </a:r>
                      <a:endParaRPr lang="en-IN" sz="14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2514010"/>
                  </a:ext>
                </a:extLst>
              </a:tr>
              <a:tr h="252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400" dirty="0" err="1">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atm</a:t>
                      </a:r>
                      <a:endParaRPr lang="en-IN" sz="14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400">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dm</a:t>
                      </a:r>
                      <a:r>
                        <a:rPr lang="en-IN" sz="1400" baseline="30000">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3</a:t>
                      </a:r>
                      <a:endParaRPr lang="en-IN" sz="140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400">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mol</a:t>
                      </a:r>
                      <a:endParaRPr lang="en-IN" sz="140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400" dirty="0">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K</a:t>
                      </a:r>
                      <a:endParaRPr lang="en-IN" sz="14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algn="ctr">
                        <a:lnSpc>
                          <a:spcPct val="115000"/>
                        </a:lnSpc>
                        <a:spcAft>
                          <a:spcPts val="0"/>
                        </a:spcAft>
                      </a:pPr>
                      <a:r>
                        <a:rPr lang="en-IN" sz="1400" dirty="0">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0.08206 </a:t>
                      </a:r>
                      <a:r>
                        <a:rPr lang="en-IN" sz="1400" dirty="0" err="1">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atm</a:t>
                      </a:r>
                      <a:r>
                        <a:rPr lang="en-IN" sz="1400" dirty="0">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 dm</a:t>
                      </a:r>
                      <a:r>
                        <a:rPr lang="en-IN" sz="1400" baseline="30000" dirty="0">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3</a:t>
                      </a:r>
                      <a:r>
                        <a:rPr lang="en-IN" sz="1400" dirty="0">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 </a:t>
                      </a:r>
                      <a:r>
                        <a:rPr lang="en-IN" sz="1400" dirty="0" err="1">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mol</a:t>
                      </a:r>
                      <a:r>
                        <a:rPr lang="en-IN" sz="1400" dirty="0">
                          <a:solidFill>
                            <a:schemeClr val="bg2"/>
                          </a:solidFill>
                          <a:effectLst/>
                          <a:latin typeface="Calibri" panose="020F0502020204030204" pitchFamily="34" charset="0"/>
                          <a:ea typeface="Times New Roman" panose="02020603050405020304" pitchFamily="18" charset="0"/>
                          <a:cs typeface="Calibri" panose="020F0502020204030204" pitchFamily="34" charset="0"/>
                        </a:rPr>
                        <a:t> K</a:t>
                      </a:r>
                      <a:endParaRPr lang="en-IN" sz="14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55720"/>
                  </a:ext>
                </a:extLst>
              </a:tr>
            </a:tbl>
          </a:graphicData>
        </a:graphic>
      </p:graphicFrame>
    </p:spTree>
    <p:extLst>
      <p:ext uri="{BB962C8B-B14F-4D97-AF65-F5344CB8AC3E}">
        <p14:creationId xmlns:p14="http://schemas.microsoft.com/office/powerpoint/2010/main" val="648929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Gaseous state</a:t>
            </a:r>
          </a:p>
        </p:txBody>
      </p:sp>
      <mc:AlternateContent xmlns:mc="http://schemas.openxmlformats.org/markup-compatibility/2006" xmlns:a14="http://schemas.microsoft.com/office/drawing/2010/main">
        <mc:Choice Requires="a14">
          <p:sp>
            <p:nvSpPr>
              <p:cNvPr id="118" name="Google Shape;118;p26"/>
              <p:cNvSpPr txBox="1"/>
              <p:nvPr/>
            </p:nvSpPr>
            <p:spPr>
              <a:xfrm>
                <a:off x="778933" y="1910901"/>
                <a:ext cx="7349067" cy="2492100"/>
              </a:xfrm>
              <a:prstGeom prst="rect">
                <a:avLst/>
              </a:prstGeom>
              <a:noFill/>
              <a:ln>
                <a:noFill/>
              </a:ln>
            </p:spPr>
            <p:txBody>
              <a:bodyPr spcFirstLastPara="1" wrap="square" lIns="91425" tIns="91425" rIns="91425" bIns="91425" anchor="t" anchorCtr="0">
                <a:noAutofit/>
              </a:bodyPr>
              <a:lstStyle/>
              <a:p>
                <a:pPr marL="127000" lvl="0" algn="just">
                  <a:lnSpc>
                    <a:spcPct val="114000"/>
                  </a:lnSpc>
                  <a:spcBef>
                    <a:spcPts val="600"/>
                  </a:spcBef>
                  <a:buClr>
                    <a:srgbClr val="434343"/>
                  </a:buClr>
                  <a:buSzPts val="1600"/>
                </a:pPr>
                <a:r>
                  <a:rPr lang="en-IN" sz="1600" b="1" dirty="0">
                    <a:latin typeface="Calibri" panose="020F0502020204030204" pitchFamily="34" charset="0"/>
                    <a:ea typeface="Roboto Condensed"/>
                    <a:cs typeface="Calibri" panose="020F0502020204030204" pitchFamily="34" charset="0"/>
                    <a:sym typeface="Roboto Condensed"/>
                  </a:rPr>
                  <a:t>Example 1</a:t>
                </a:r>
                <a:r>
                  <a:rPr lang="en-IN" sz="1600" dirty="0">
                    <a:latin typeface="Calibri" panose="020F0502020204030204" pitchFamily="34" charset="0"/>
                    <a:ea typeface="Roboto Condensed"/>
                    <a:cs typeface="Calibri" panose="020F0502020204030204" pitchFamily="34" charset="0"/>
                    <a:sym typeface="Roboto Condensed"/>
                  </a:rPr>
                  <a:t>: How many moles of an ideal gas occupy a volume of 75 cm</a:t>
                </a:r>
                <a:r>
                  <a:rPr lang="en-IN" sz="1600" baseline="30000" dirty="0">
                    <a:latin typeface="Calibri" panose="020F0502020204030204" pitchFamily="34" charset="0"/>
                    <a:ea typeface="Roboto Condensed"/>
                    <a:cs typeface="Calibri" panose="020F0502020204030204" pitchFamily="34" charset="0"/>
                    <a:sym typeface="Roboto Condensed"/>
                  </a:rPr>
                  <a:t>3</a:t>
                </a:r>
                <a:r>
                  <a:rPr lang="en-IN" sz="1600" dirty="0">
                    <a:latin typeface="Calibri" panose="020F0502020204030204" pitchFamily="34" charset="0"/>
                    <a:ea typeface="Roboto Condensed"/>
                    <a:cs typeface="Calibri" panose="020F0502020204030204" pitchFamily="34" charset="0"/>
                    <a:sym typeface="Roboto Condensed"/>
                  </a:rPr>
                  <a:t> at a pressure of 1.28 </a:t>
                </a:r>
                <a:r>
                  <a:rPr lang="en-IN" sz="1600" dirty="0" err="1">
                    <a:latin typeface="Calibri" panose="020F0502020204030204" pitchFamily="34" charset="0"/>
                    <a:ea typeface="Roboto Condensed"/>
                    <a:cs typeface="Calibri" panose="020F0502020204030204" pitchFamily="34" charset="0"/>
                    <a:sym typeface="Roboto Condensed"/>
                  </a:rPr>
                  <a:t>atm</a:t>
                </a:r>
                <a:r>
                  <a:rPr lang="en-IN" sz="1600" dirty="0">
                    <a:latin typeface="Calibri" panose="020F0502020204030204" pitchFamily="34" charset="0"/>
                    <a:ea typeface="Roboto Condensed"/>
                    <a:cs typeface="Calibri" panose="020F0502020204030204" pitchFamily="34" charset="0"/>
                    <a:sym typeface="Roboto Condensed"/>
                  </a:rPr>
                  <a:t> if the temperature is 27°C?</a:t>
                </a:r>
              </a:p>
              <a:p>
                <a:pPr marL="127000" lvl="0" algn="just">
                  <a:lnSpc>
                    <a:spcPct val="114000"/>
                  </a:lnSpc>
                  <a:spcBef>
                    <a:spcPts val="600"/>
                  </a:spcBef>
                  <a:buClr>
                    <a:srgbClr val="434343"/>
                  </a:buClr>
                  <a:buSzPts val="1600"/>
                </a:pPr>
                <a:r>
                  <a:rPr lang="en-IN" sz="1600" b="1" dirty="0">
                    <a:latin typeface="Calibri" panose="020F0502020204030204" pitchFamily="34" charset="0"/>
                    <a:ea typeface="Roboto Condensed"/>
                    <a:cs typeface="Calibri" panose="020F0502020204030204" pitchFamily="34" charset="0"/>
                    <a:sym typeface="Roboto Condensed"/>
                  </a:rPr>
                  <a:t>Solution:</a:t>
                </a:r>
                <a:endParaRPr lang="en-IN" sz="1600" dirty="0">
                  <a:latin typeface="Calibri" panose="020F0502020204030204" pitchFamily="34" charset="0"/>
                  <a:ea typeface="Roboto Condensed"/>
                  <a:cs typeface="Calibri" panose="020F0502020204030204" pitchFamily="34" charset="0"/>
                  <a:sym typeface="Roboto Condensed"/>
                </a:endParaRPr>
              </a:p>
              <a:p>
                <a:pPr marL="127000" lvl="0" algn="just">
                  <a:lnSpc>
                    <a:spcPct val="114000"/>
                  </a:lnSpc>
                  <a:spcBef>
                    <a:spcPts val="600"/>
                  </a:spcBef>
                  <a:buClr>
                    <a:srgbClr val="434343"/>
                  </a:buClr>
                  <a:buSzPts val="1600"/>
                </a:pPr>
                <a:r>
                  <a:rPr lang="en-IN" sz="1600" dirty="0">
                    <a:latin typeface="Calibri" panose="020F0502020204030204" pitchFamily="34" charset="0"/>
                    <a:ea typeface="Roboto Condensed"/>
                    <a:cs typeface="Calibri" panose="020F0502020204030204" pitchFamily="34" charset="0"/>
                    <a:sym typeface="Roboto Condensed"/>
                  </a:rPr>
                  <a:t>Volume= 75 cm</a:t>
                </a:r>
                <a:r>
                  <a:rPr lang="en-IN" sz="1600" baseline="30000" dirty="0">
                    <a:latin typeface="Calibri" panose="020F0502020204030204" pitchFamily="34" charset="0"/>
                    <a:ea typeface="Roboto Condensed"/>
                    <a:cs typeface="Calibri" panose="020F0502020204030204" pitchFamily="34" charset="0"/>
                    <a:sym typeface="Roboto Condensed"/>
                  </a:rPr>
                  <a:t>3</a:t>
                </a:r>
                <a:r>
                  <a:rPr lang="en-IN" sz="1600" dirty="0">
                    <a:latin typeface="Calibri" panose="020F0502020204030204" pitchFamily="34" charset="0"/>
                    <a:ea typeface="Roboto Condensed"/>
                    <a:cs typeface="Calibri" panose="020F0502020204030204" pitchFamily="34" charset="0"/>
                    <a:sym typeface="Roboto Condensed"/>
                  </a:rPr>
                  <a:t>=0.075 dm</a:t>
                </a:r>
                <a:r>
                  <a:rPr lang="en-IN" sz="1600" baseline="30000" dirty="0">
                    <a:latin typeface="Calibri" panose="020F0502020204030204" pitchFamily="34" charset="0"/>
                    <a:ea typeface="Roboto Condensed"/>
                    <a:cs typeface="Calibri" panose="020F0502020204030204" pitchFamily="34" charset="0"/>
                    <a:sym typeface="Roboto Condensed"/>
                  </a:rPr>
                  <a:t>3</a:t>
                </a:r>
                <a:r>
                  <a:rPr lang="en-IN" sz="1600" dirty="0">
                    <a:latin typeface="Calibri" panose="020F0502020204030204" pitchFamily="34" charset="0"/>
                    <a:ea typeface="Roboto Condensed"/>
                    <a:cs typeface="Calibri" panose="020F0502020204030204" pitchFamily="34" charset="0"/>
                    <a:sym typeface="Roboto Condensed"/>
                  </a:rPr>
                  <a:t> (1 dm</a:t>
                </a:r>
                <a:r>
                  <a:rPr lang="en-IN" sz="1600" baseline="30000" dirty="0">
                    <a:latin typeface="Calibri" panose="020F0502020204030204" pitchFamily="34" charset="0"/>
                    <a:ea typeface="Roboto Condensed"/>
                    <a:cs typeface="Calibri" panose="020F0502020204030204" pitchFamily="34" charset="0"/>
                    <a:sym typeface="Roboto Condensed"/>
                  </a:rPr>
                  <a:t>3</a:t>
                </a:r>
                <a:r>
                  <a:rPr lang="en-IN" sz="1600" dirty="0">
                    <a:latin typeface="Calibri" panose="020F0502020204030204" pitchFamily="34" charset="0"/>
                    <a:ea typeface="Roboto Condensed"/>
                    <a:cs typeface="Calibri" panose="020F0502020204030204" pitchFamily="34" charset="0"/>
                    <a:sym typeface="Roboto Condensed"/>
                  </a:rPr>
                  <a:t>= 1000 cm</a:t>
                </a:r>
                <a:r>
                  <a:rPr lang="en-IN" sz="1600" baseline="30000" dirty="0">
                    <a:latin typeface="Calibri" panose="020F0502020204030204" pitchFamily="34" charset="0"/>
                    <a:ea typeface="Roboto Condensed"/>
                    <a:cs typeface="Calibri" panose="020F0502020204030204" pitchFamily="34" charset="0"/>
                    <a:sym typeface="Roboto Condensed"/>
                  </a:rPr>
                  <a:t>3</a:t>
                </a:r>
                <a:r>
                  <a:rPr lang="en-IN" sz="1600" dirty="0">
                    <a:latin typeface="Calibri" panose="020F0502020204030204" pitchFamily="34" charset="0"/>
                    <a:ea typeface="Roboto Condensed"/>
                    <a:cs typeface="Calibri" panose="020F0502020204030204" pitchFamily="34" charset="0"/>
                    <a:sym typeface="Roboto Condensed"/>
                  </a:rPr>
                  <a:t>)</a:t>
                </a:r>
              </a:p>
              <a:p>
                <a:pPr marL="127000" lvl="0" algn="just">
                  <a:lnSpc>
                    <a:spcPct val="114000"/>
                  </a:lnSpc>
                  <a:spcBef>
                    <a:spcPts val="600"/>
                  </a:spcBef>
                  <a:buClr>
                    <a:srgbClr val="434343"/>
                  </a:buClr>
                  <a:buSzPts val="1600"/>
                </a:pPr>
                <a:r>
                  <a:rPr lang="en-IN" sz="1600" dirty="0">
                    <a:latin typeface="Calibri" panose="020F0502020204030204" pitchFamily="34" charset="0"/>
                    <a:ea typeface="Roboto Condensed"/>
                    <a:cs typeface="Calibri" panose="020F0502020204030204" pitchFamily="34" charset="0"/>
                    <a:sym typeface="Roboto Condensed"/>
                  </a:rPr>
                  <a:t>Pressure=1.28 </a:t>
                </a:r>
                <a:r>
                  <a:rPr lang="en-IN" sz="1600" dirty="0" err="1">
                    <a:latin typeface="Calibri" panose="020F0502020204030204" pitchFamily="34" charset="0"/>
                    <a:ea typeface="Roboto Condensed"/>
                    <a:cs typeface="Calibri" panose="020F0502020204030204" pitchFamily="34" charset="0"/>
                    <a:sym typeface="Roboto Condensed"/>
                  </a:rPr>
                  <a:t>atm</a:t>
                </a:r>
                <a:endParaRPr lang="en-IN" sz="1600" dirty="0">
                  <a:latin typeface="Calibri" panose="020F0502020204030204" pitchFamily="34" charset="0"/>
                  <a:ea typeface="Roboto Condensed"/>
                  <a:cs typeface="Calibri" panose="020F0502020204030204" pitchFamily="34" charset="0"/>
                  <a:sym typeface="Roboto Condensed"/>
                </a:endParaRPr>
              </a:p>
              <a:p>
                <a:pPr marL="127000" lvl="0" algn="just">
                  <a:lnSpc>
                    <a:spcPct val="114000"/>
                  </a:lnSpc>
                  <a:spcBef>
                    <a:spcPts val="600"/>
                  </a:spcBef>
                  <a:buClr>
                    <a:srgbClr val="434343"/>
                  </a:buClr>
                  <a:buSzPts val="1600"/>
                </a:pPr>
                <a:r>
                  <a:rPr lang="en-IN" sz="1600" dirty="0">
                    <a:latin typeface="Calibri" panose="020F0502020204030204" pitchFamily="34" charset="0"/>
                    <a:ea typeface="Roboto Condensed"/>
                    <a:cs typeface="Calibri" panose="020F0502020204030204" pitchFamily="34" charset="0"/>
                    <a:sym typeface="Roboto Condensed"/>
                  </a:rPr>
                  <a:t>Temperature =273+27=300 K</a:t>
                </a:r>
              </a:p>
              <a:p>
                <a:pPr marL="127000" lvl="0" algn="just">
                  <a:lnSpc>
                    <a:spcPct val="114000"/>
                  </a:lnSpc>
                  <a:spcBef>
                    <a:spcPts val="600"/>
                  </a:spcBef>
                  <a:buClr>
                    <a:srgbClr val="434343"/>
                  </a:buClr>
                  <a:buSzPts val="1600"/>
                </a:pPr>
                <a:r>
                  <a:rPr lang="en-IN" sz="1600" dirty="0">
                    <a:latin typeface="Calibri" panose="020F0502020204030204" pitchFamily="34" charset="0"/>
                    <a:ea typeface="Roboto Condensed"/>
                    <a:cs typeface="Calibri" panose="020F0502020204030204" pitchFamily="34" charset="0"/>
                    <a:sym typeface="Roboto Condensed"/>
                  </a:rPr>
                  <a:t>Using the ideal gas equation</a:t>
                </a:r>
              </a:p>
              <a:p>
                <a:pPr marL="127000" lvl="0" algn="just">
                  <a:lnSpc>
                    <a:spcPct val="114000"/>
                  </a:lnSpc>
                  <a:spcBef>
                    <a:spcPts val="600"/>
                  </a:spcBef>
                  <a:buClr>
                    <a:srgbClr val="434343"/>
                  </a:buClr>
                  <a:buSzPts val="1600"/>
                </a:pPr>
                <a14:m>
                  <m:oMathPara xmlns:m="http://schemas.openxmlformats.org/officeDocument/2006/math">
                    <m:oMathParaPr>
                      <m:jc m:val="centerGroup"/>
                    </m:oMathParaPr>
                    <m:oMath xmlns:m="http://schemas.openxmlformats.org/officeDocument/2006/math">
                      <m:r>
                        <a:rPr lang="en-IN" sz="1600" i="1">
                          <a:latin typeface="Cambria Math" panose="02040503050406030204" pitchFamily="18" charset="0"/>
                          <a:sym typeface="Roboto Condensed"/>
                        </a:rPr>
                        <m:t>1</m:t>
                      </m:r>
                      <m:r>
                        <a:rPr lang="en-IN" sz="1600" i="1">
                          <a:latin typeface="Cambria Math" panose="02040503050406030204" pitchFamily="18" charset="0"/>
                          <a:sym typeface="Roboto Condensed"/>
                        </a:rPr>
                        <m:t>.</m:t>
                      </m:r>
                      <m:r>
                        <a:rPr lang="en-IN" sz="1600" i="1">
                          <a:latin typeface="Cambria Math" panose="02040503050406030204" pitchFamily="18" charset="0"/>
                          <a:sym typeface="Roboto Condensed"/>
                        </a:rPr>
                        <m:t>28</m:t>
                      </m:r>
                      <m:r>
                        <a:rPr lang="en-IN" sz="1600" i="1">
                          <a:latin typeface="Cambria Math" panose="02040503050406030204" pitchFamily="18" charset="0"/>
                          <a:sym typeface="Roboto Condensed"/>
                        </a:rPr>
                        <m:t> ×</m:t>
                      </m:r>
                      <m:r>
                        <a:rPr lang="en-IN" sz="1600" i="1">
                          <a:latin typeface="Cambria Math" panose="02040503050406030204" pitchFamily="18" charset="0"/>
                          <a:sym typeface="Roboto Condensed"/>
                        </a:rPr>
                        <m:t>0</m:t>
                      </m:r>
                      <m:r>
                        <a:rPr lang="en-IN" sz="1600" i="1">
                          <a:latin typeface="Cambria Math" panose="02040503050406030204" pitchFamily="18" charset="0"/>
                          <a:sym typeface="Roboto Condensed"/>
                        </a:rPr>
                        <m:t>.</m:t>
                      </m:r>
                      <m:r>
                        <a:rPr lang="en-IN" sz="1600" i="1">
                          <a:latin typeface="Cambria Math" panose="02040503050406030204" pitchFamily="18" charset="0"/>
                          <a:sym typeface="Roboto Condensed"/>
                        </a:rPr>
                        <m:t>075</m:t>
                      </m:r>
                      <m:r>
                        <a:rPr lang="en-IN" sz="1600" i="1">
                          <a:latin typeface="Cambria Math" panose="02040503050406030204" pitchFamily="18" charset="0"/>
                          <a:sym typeface="Roboto Condensed"/>
                        </a:rPr>
                        <m:t>=</m:t>
                      </m:r>
                      <m:r>
                        <a:rPr lang="en-IN" sz="1600" i="1">
                          <a:latin typeface="Cambria Math" panose="02040503050406030204" pitchFamily="18" charset="0"/>
                          <a:sym typeface="Roboto Condensed"/>
                        </a:rPr>
                        <m:t>𝑛</m:t>
                      </m:r>
                      <m:r>
                        <a:rPr lang="en-IN" sz="1600" i="1">
                          <a:latin typeface="Cambria Math" panose="02040503050406030204" pitchFamily="18" charset="0"/>
                          <a:sym typeface="Roboto Condensed"/>
                        </a:rPr>
                        <m:t>×</m:t>
                      </m:r>
                      <m:r>
                        <a:rPr lang="en-IN" sz="1600" i="1">
                          <a:latin typeface="Cambria Math" panose="02040503050406030204" pitchFamily="18" charset="0"/>
                          <a:sym typeface="Roboto Condensed"/>
                        </a:rPr>
                        <m:t>0</m:t>
                      </m:r>
                      <m:r>
                        <a:rPr lang="en-IN" sz="1600" i="1">
                          <a:latin typeface="Cambria Math" panose="02040503050406030204" pitchFamily="18" charset="0"/>
                          <a:sym typeface="Roboto Condensed"/>
                        </a:rPr>
                        <m:t>.</m:t>
                      </m:r>
                      <m:r>
                        <a:rPr lang="en-IN" sz="1600" i="1">
                          <a:latin typeface="Cambria Math" panose="02040503050406030204" pitchFamily="18" charset="0"/>
                          <a:sym typeface="Roboto Condensed"/>
                        </a:rPr>
                        <m:t>08206</m:t>
                      </m:r>
                      <m:r>
                        <a:rPr lang="en-IN" sz="1600" i="1">
                          <a:latin typeface="Cambria Math" panose="02040503050406030204" pitchFamily="18" charset="0"/>
                          <a:sym typeface="Roboto Condensed"/>
                        </a:rPr>
                        <m:t>×</m:t>
                      </m:r>
                      <m:r>
                        <a:rPr lang="en-IN" sz="1600" i="1">
                          <a:latin typeface="Cambria Math" panose="02040503050406030204" pitchFamily="18" charset="0"/>
                          <a:sym typeface="Roboto Condensed"/>
                        </a:rPr>
                        <m:t>300</m:t>
                      </m:r>
                    </m:oMath>
                  </m:oMathPara>
                </a14:m>
                <a:endParaRPr lang="en-IN" sz="1600" dirty="0">
                  <a:latin typeface="Calibri" panose="020F0502020204030204" pitchFamily="34" charset="0"/>
                  <a:ea typeface="Roboto Condensed"/>
                  <a:cs typeface="Calibri" panose="020F0502020204030204" pitchFamily="34" charset="0"/>
                  <a:sym typeface="Roboto Condensed"/>
                </a:endParaRPr>
              </a:p>
              <a:p>
                <a:pPr marL="127000" lvl="0" algn="just">
                  <a:lnSpc>
                    <a:spcPct val="114000"/>
                  </a:lnSpc>
                  <a:spcBef>
                    <a:spcPts val="600"/>
                  </a:spcBef>
                  <a:buClr>
                    <a:srgbClr val="434343"/>
                  </a:buClr>
                  <a:buSzPts val="1600"/>
                </a:pPr>
                <a14:m>
                  <m:oMathPara xmlns:m="http://schemas.openxmlformats.org/officeDocument/2006/math">
                    <m:oMathParaPr>
                      <m:jc m:val="centerGroup"/>
                    </m:oMathParaPr>
                    <m:oMath xmlns:m="http://schemas.openxmlformats.org/officeDocument/2006/math">
                      <m:r>
                        <a:rPr lang="en-IN" sz="1600" i="1">
                          <a:latin typeface="Cambria Math" panose="02040503050406030204" pitchFamily="18" charset="0"/>
                          <a:sym typeface="Roboto Condensed"/>
                        </a:rPr>
                        <m:t>𝑛</m:t>
                      </m:r>
                      <m:r>
                        <a:rPr lang="en-IN" sz="1600" i="1">
                          <a:latin typeface="Cambria Math" panose="02040503050406030204" pitchFamily="18" charset="0"/>
                          <a:sym typeface="Roboto Condensed"/>
                        </a:rPr>
                        <m:t>=</m:t>
                      </m:r>
                      <m:r>
                        <a:rPr lang="en-IN" sz="1600" i="1">
                          <a:latin typeface="Cambria Math" panose="02040503050406030204" pitchFamily="18" charset="0"/>
                          <a:sym typeface="Roboto Condensed"/>
                        </a:rPr>
                        <m:t>3</m:t>
                      </m:r>
                      <m:r>
                        <a:rPr lang="en-IN" sz="1600" i="1">
                          <a:latin typeface="Cambria Math" panose="02040503050406030204" pitchFamily="18" charset="0"/>
                          <a:sym typeface="Roboto Condensed"/>
                        </a:rPr>
                        <m:t>.</m:t>
                      </m:r>
                      <m:r>
                        <a:rPr lang="en-IN" sz="1600" i="1">
                          <a:latin typeface="Cambria Math" panose="02040503050406030204" pitchFamily="18" charset="0"/>
                          <a:sym typeface="Roboto Condensed"/>
                        </a:rPr>
                        <m:t>9</m:t>
                      </m:r>
                      <m:r>
                        <a:rPr lang="en-IN" sz="1600" i="1">
                          <a:latin typeface="Cambria Math" panose="02040503050406030204" pitchFamily="18" charset="0"/>
                          <a:sym typeface="Roboto Condensed"/>
                        </a:rPr>
                        <m:t> ×</m:t>
                      </m:r>
                      <m:sSup>
                        <m:sSupPr>
                          <m:ctrlPr>
                            <a:rPr lang="ar-AE" sz="1600" i="1">
                              <a:latin typeface="Cambria Math" panose="02040503050406030204" pitchFamily="18" charset="0"/>
                              <a:sym typeface="Roboto Condensed"/>
                            </a:rPr>
                          </m:ctrlPr>
                        </m:sSupPr>
                        <m:e>
                          <m:r>
                            <a:rPr lang="ar-AE" sz="1600" i="1">
                              <a:latin typeface="Cambria Math" panose="02040503050406030204" pitchFamily="18" charset="0"/>
                              <a:sym typeface="Roboto Condensed"/>
                            </a:rPr>
                            <m:t>10</m:t>
                          </m:r>
                        </m:e>
                        <m:sup>
                          <m:r>
                            <a:rPr lang="ar-AE" sz="1600" i="1">
                              <a:latin typeface="Cambria Math" panose="02040503050406030204" pitchFamily="18" charset="0"/>
                              <a:sym typeface="Roboto Condensed"/>
                            </a:rPr>
                            <m:t>−</m:t>
                          </m:r>
                          <m:r>
                            <a:rPr lang="ar-AE" sz="1600" i="1">
                              <a:latin typeface="Cambria Math" panose="02040503050406030204" pitchFamily="18" charset="0"/>
                              <a:sym typeface="Roboto Condensed"/>
                            </a:rPr>
                            <m:t>3</m:t>
                          </m:r>
                        </m:sup>
                      </m:sSup>
                      <m:r>
                        <a:rPr lang="ar-AE" sz="1600" i="1">
                          <a:latin typeface="Cambria Math" panose="02040503050406030204" pitchFamily="18" charset="0"/>
                          <a:sym typeface="Roboto Condensed"/>
                        </a:rPr>
                        <m:t> </m:t>
                      </m:r>
                      <m:r>
                        <a:rPr lang="ar-AE" sz="1600" i="1">
                          <a:latin typeface="Cambria Math" panose="02040503050406030204" pitchFamily="18" charset="0"/>
                          <a:sym typeface="Roboto Condensed"/>
                        </a:rPr>
                        <m:t>𝑚𝑜𝑙</m:t>
                      </m:r>
                    </m:oMath>
                  </m:oMathPara>
                </a14:m>
                <a:endParaRPr lang="ar-AE" sz="1600" dirty="0">
                  <a:latin typeface="Calibri" panose="020F0502020204030204" pitchFamily="34" charset="0"/>
                  <a:ea typeface="Roboto Condensed"/>
                  <a:cs typeface="Calibri" panose="020F0502020204030204" pitchFamily="34" charset="0"/>
                  <a:sym typeface="Roboto Condensed"/>
                </a:endParaRPr>
              </a:p>
              <a:p>
                <a:pPr marL="400050" lvl="0" indent="-285750">
                  <a:lnSpc>
                    <a:spcPct val="114000"/>
                  </a:lnSpc>
                  <a:buSzPts val="1800"/>
                  <a:buFont typeface="Arial" panose="020B0604020202020204" pitchFamily="34" charset="0"/>
                  <a:buChar char="•"/>
                </a:pPr>
                <a:endParaRPr lang="en-US" sz="1600" dirty="0">
                  <a:latin typeface="Calibri" panose="020F0502020204030204" pitchFamily="34" charset="0"/>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778933" y="1910901"/>
                <a:ext cx="7349067" cy="2492100"/>
              </a:xfrm>
              <a:prstGeom prst="rect">
                <a:avLst/>
              </a:prstGeom>
              <a:blipFill>
                <a:blip r:embed="rId3"/>
                <a:stretch>
                  <a:fillRect r="-498" b="-26895"/>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38784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Gaseous state</a:t>
            </a:r>
          </a:p>
        </p:txBody>
      </p:sp>
      <mc:AlternateContent xmlns:mc="http://schemas.openxmlformats.org/markup-compatibility/2006" xmlns:a14="http://schemas.microsoft.com/office/drawing/2010/main">
        <mc:Choice Requires="a14">
          <p:sp>
            <p:nvSpPr>
              <p:cNvPr id="118" name="Google Shape;118;p26"/>
              <p:cNvSpPr txBox="1"/>
              <p:nvPr/>
            </p:nvSpPr>
            <p:spPr>
              <a:xfrm>
                <a:off x="767644" y="2249568"/>
                <a:ext cx="7349067"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We know that, </a:t>
                </a:r>
              </a:p>
              <a:p>
                <a:pPr lvl="0" algn="just">
                  <a:lnSpc>
                    <a:spcPct val="112000"/>
                  </a:lnSpc>
                  <a:spcBef>
                    <a:spcPts val="600"/>
                  </a:spcBef>
                  <a:buClr>
                    <a:srgbClr val="434343"/>
                  </a:buClr>
                  <a:buSzPts val="1600"/>
                </a:pPr>
                <a14:m>
                  <m:oMathPara xmlns:m="http://schemas.openxmlformats.org/officeDocument/2006/math">
                    <m:oMathParaPr>
                      <m:jc m:val="centerGroup"/>
                    </m:oMathParaPr>
                    <m:oMath xmlns:m="http://schemas.openxmlformats.org/officeDocument/2006/math">
                      <m:r>
                        <a:rPr lang="en-MY" i="1">
                          <a:latin typeface="Cambria Math" panose="02040503050406030204" pitchFamily="18" charset="0"/>
                          <a:sym typeface="Roboto Condensed"/>
                        </a:rPr>
                        <m:t>𝑁𝑢𝑚𝑏𝑒𝑟</m:t>
                      </m:r>
                      <m:r>
                        <a:rPr lang="en-MY" i="1">
                          <a:latin typeface="Cambria Math" panose="02040503050406030204" pitchFamily="18" charset="0"/>
                          <a:sym typeface="Roboto Condensed"/>
                        </a:rPr>
                        <m:t> </m:t>
                      </m:r>
                      <m:r>
                        <a:rPr lang="en-MY" i="1">
                          <a:latin typeface="Cambria Math" panose="02040503050406030204" pitchFamily="18" charset="0"/>
                          <a:sym typeface="Roboto Condensed"/>
                        </a:rPr>
                        <m:t>𝑜𝑓</m:t>
                      </m:r>
                      <m:r>
                        <a:rPr lang="en-MY" i="1">
                          <a:latin typeface="Cambria Math" panose="02040503050406030204" pitchFamily="18" charset="0"/>
                          <a:sym typeface="Roboto Condensed"/>
                        </a:rPr>
                        <m:t> </m:t>
                      </m:r>
                      <m:r>
                        <a:rPr lang="en-MY" i="1">
                          <a:latin typeface="Cambria Math" panose="02040503050406030204" pitchFamily="18" charset="0"/>
                          <a:sym typeface="Roboto Condensed"/>
                        </a:rPr>
                        <m:t>𝑚𝑜𝑙𝑒𝑠</m:t>
                      </m:r>
                      <m:d>
                        <m:dPr>
                          <m:ctrlPr>
                            <a:rPr lang="ar-AE" i="1">
                              <a:latin typeface="Cambria Math" panose="02040503050406030204" pitchFamily="18" charset="0"/>
                              <a:sym typeface="Roboto Condensed"/>
                            </a:rPr>
                          </m:ctrlPr>
                        </m:dPr>
                        <m:e>
                          <m:r>
                            <a:rPr lang="ar-AE" i="1">
                              <a:latin typeface="Cambria Math" panose="02040503050406030204" pitchFamily="18" charset="0"/>
                              <a:sym typeface="Roboto Condensed"/>
                            </a:rPr>
                            <m:t>𝑚𝑜𝑙</m:t>
                          </m:r>
                        </m:e>
                      </m:d>
                      <m:r>
                        <a:rPr lang="ar-AE" i="1">
                          <a:latin typeface="Cambria Math" panose="02040503050406030204" pitchFamily="18" charset="0"/>
                          <a:sym typeface="Roboto Condensed"/>
                        </a:rPr>
                        <m:t>=</m:t>
                      </m:r>
                      <m:f>
                        <m:fPr>
                          <m:ctrlPr>
                            <a:rPr lang="ar-AE" i="1">
                              <a:latin typeface="Cambria Math" panose="02040503050406030204" pitchFamily="18" charset="0"/>
                              <a:sym typeface="Roboto Condensed"/>
                            </a:rPr>
                          </m:ctrlPr>
                        </m:fPr>
                        <m:num>
                          <m:r>
                            <a:rPr lang="ar-AE" i="1">
                              <a:latin typeface="Cambria Math" panose="02040503050406030204" pitchFamily="18" charset="0"/>
                              <a:sym typeface="Roboto Condensed"/>
                            </a:rPr>
                            <m:t>𝑚𝑎𝑠𝑠</m:t>
                          </m:r>
                          <m:r>
                            <a:rPr lang="ar-AE" i="1">
                              <a:latin typeface="Cambria Math" panose="02040503050406030204" pitchFamily="18" charset="0"/>
                              <a:sym typeface="Roboto Condensed"/>
                            </a:rPr>
                            <m:t> (</m:t>
                          </m:r>
                          <m:r>
                            <a:rPr lang="ar-AE" i="1">
                              <a:latin typeface="Cambria Math" panose="02040503050406030204" pitchFamily="18" charset="0"/>
                              <a:sym typeface="Roboto Condensed"/>
                            </a:rPr>
                            <m:t>𝑔</m:t>
                          </m:r>
                          <m:r>
                            <a:rPr lang="ar-AE" i="1">
                              <a:latin typeface="Cambria Math" panose="02040503050406030204" pitchFamily="18" charset="0"/>
                              <a:sym typeface="Roboto Condensed"/>
                            </a:rPr>
                            <m:t>)</m:t>
                          </m:r>
                        </m:num>
                        <m:den>
                          <m:r>
                            <a:rPr lang="en-MY" i="1">
                              <a:latin typeface="Cambria Math" panose="02040503050406030204" pitchFamily="18" charset="0"/>
                              <a:sym typeface="Roboto Condensed"/>
                            </a:rPr>
                            <m:t>𝑟𝑒𝑙𝑎𝑡𝑖𝑣𝑒</m:t>
                          </m:r>
                          <m:r>
                            <a:rPr lang="en-MY" i="1">
                              <a:latin typeface="Cambria Math" panose="02040503050406030204" pitchFamily="18" charset="0"/>
                              <a:sym typeface="Roboto Condensed"/>
                            </a:rPr>
                            <m:t> </m:t>
                          </m:r>
                          <m:r>
                            <a:rPr lang="en-MY" i="1">
                              <a:latin typeface="Cambria Math" panose="02040503050406030204" pitchFamily="18" charset="0"/>
                              <a:sym typeface="Roboto Condensed"/>
                            </a:rPr>
                            <m:t>𝑚𝑜𝑙𝑒𝑐𝑢𝑙𝑎𝑟</m:t>
                          </m:r>
                          <m:r>
                            <a:rPr lang="ar-AE" i="1">
                              <a:latin typeface="Cambria Math" panose="02040503050406030204" pitchFamily="18" charset="0"/>
                              <a:sym typeface="Roboto Condensed"/>
                            </a:rPr>
                            <m:t> </m:t>
                          </m:r>
                          <m:r>
                            <a:rPr lang="ar-AE" i="1">
                              <a:latin typeface="Cambria Math" panose="02040503050406030204" pitchFamily="18" charset="0"/>
                              <a:sym typeface="Roboto Condensed"/>
                            </a:rPr>
                            <m:t>𝑚𝑎𝑠𝑠</m:t>
                          </m:r>
                          <m:r>
                            <a:rPr lang="ar-AE" i="1">
                              <a:latin typeface="Cambria Math" panose="02040503050406030204" pitchFamily="18" charset="0"/>
                              <a:sym typeface="Roboto Condensed"/>
                            </a:rPr>
                            <m:t> (</m:t>
                          </m:r>
                          <m:f>
                            <m:fPr>
                              <m:ctrlPr>
                                <a:rPr lang="ar-AE" i="1">
                                  <a:latin typeface="Cambria Math" panose="02040503050406030204" pitchFamily="18" charset="0"/>
                                  <a:sym typeface="Roboto Condensed"/>
                                </a:rPr>
                              </m:ctrlPr>
                            </m:fPr>
                            <m:num>
                              <m:r>
                                <a:rPr lang="ar-AE" i="1">
                                  <a:latin typeface="Cambria Math" panose="02040503050406030204" pitchFamily="18" charset="0"/>
                                  <a:sym typeface="Roboto Condensed"/>
                                </a:rPr>
                                <m:t>𝑔</m:t>
                              </m:r>
                            </m:num>
                            <m:den>
                              <m:r>
                                <a:rPr lang="ar-AE" i="1">
                                  <a:latin typeface="Cambria Math" panose="02040503050406030204" pitchFamily="18" charset="0"/>
                                  <a:sym typeface="Roboto Condensed"/>
                                </a:rPr>
                                <m:t>𝑚𝑜𝑙</m:t>
                              </m:r>
                            </m:den>
                          </m:f>
                          <m:r>
                            <a:rPr lang="ar-AE" i="1">
                              <a:latin typeface="Cambria Math" panose="02040503050406030204" pitchFamily="18" charset="0"/>
                              <a:sym typeface="Roboto Condensed"/>
                            </a:rPr>
                            <m:t>)</m:t>
                          </m:r>
                        </m:den>
                      </m:f>
                    </m:oMath>
                  </m:oMathPara>
                </a14:m>
                <a:endParaRPr lang="en-IN" dirty="0">
                  <a:ea typeface="Roboto Condensed"/>
                  <a:sym typeface="Roboto Condensed"/>
                </a:endParaRPr>
              </a:p>
              <a:p>
                <a:pPr marL="450850" lvl="0">
                  <a:lnSpc>
                    <a:spcPct val="114000"/>
                  </a:lnSpc>
                  <a:buSzPts val="1800"/>
                </a:pPr>
                <a:r>
                  <a:rPr lang="en-US" sz="1600" dirty="0">
                    <a:latin typeface="Calibri" panose="020F0502020204030204" pitchFamily="34" charset="0"/>
                  </a:rPr>
                  <a:t>where n is the number of moles and R is the universal molar constant.</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We can find the relative molecular mass of gases by substituting this equation in ideal gas equation. </a:t>
                </a:r>
              </a:p>
              <a:p>
                <a:pPr lvl="0" algn="just">
                  <a:lnSpc>
                    <a:spcPct val="112000"/>
                  </a:lnSpc>
                  <a:spcBef>
                    <a:spcPts val="600"/>
                  </a:spcBef>
                  <a:buClr>
                    <a:srgbClr val="434343"/>
                  </a:buClr>
                  <a:buSzPts val="1600"/>
                </a:pPr>
                <a14:m>
                  <m:oMathPara xmlns:m="http://schemas.openxmlformats.org/officeDocument/2006/math">
                    <m:oMathParaPr>
                      <m:jc m:val="centerGroup"/>
                    </m:oMathParaPr>
                    <m:oMath xmlns:m="http://schemas.openxmlformats.org/officeDocument/2006/math">
                      <m:r>
                        <a:rPr lang="en-MY" i="1">
                          <a:latin typeface="Cambria Math" panose="02040503050406030204" pitchFamily="18" charset="0"/>
                          <a:sym typeface="Roboto Condensed"/>
                        </a:rPr>
                        <m:t>𝑃𝑉</m:t>
                      </m:r>
                      <m:r>
                        <a:rPr lang="en-MY" i="1">
                          <a:latin typeface="Cambria Math" panose="02040503050406030204" pitchFamily="18" charset="0"/>
                          <a:sym typeface="Roboto Condensed"/>
                        </a:rPr>
                        <m:t>=</m:t>
                      </m:r>
                      <m:f>
                        <m:fPr>
                          <m:ctrlPr>
                            <a:rPr lang="en-MY" i="1">
                              <a:latin typeface="Cambria Math" panose="02040503050406030204" pitchFamily="18" charset="0"/>
                              <a:sym typeface="Roboto Condensed"/>
                            </a:rPr>
                          </m:ctrlPr>
                        </m:fPr>
                        <m:num>
                          <m:r>
                            <a:rPr lang="en-MY" i="1">
                              <a:latin typeface="Cambria Math" panose="02040503050406030204" pitchFamily="18" charset="0"/>
                              <a:sym typeface="Roboto Condensed"/>
                            </a:rPr>
                            <m:t>𝑚</m:t>
                          </m:r>
                        </m:num>
                        <m:den>
                          <m:sSub>
                            <m:sSubPr>
                              <m:ctrlPr>
                                <a:rPr lang="en-MY" i="1">
                                  <a:latin typeface="Cambria Math" panose="02040503050406030204" pitchFamily="18" charset="0"/>
                                  <a:sym typeface="Roboto Condensed"/>
                                </a:rPr>
                              </m:ctrlPr>
                            </m:sSubPr>
                            <m:e>
                              <m:r>
                                <a:rPr lang="en-MY" i="1">
                                  <a:latin typeface="Cambria Math" panose="02040503050406030204" pitchFamily="18" charset="0"/>
                                  <a:sym typeface="Roboto Condensed"/>
                                </a:rPr>
                                <m:t>𝑀</m:t>
                              </m:r>
                            </m:e>
                            <m:sub>
                              <m:r>
                                <a:rPr lang="en-MY" i="1">
                                  <a:latin typeface="Cambria Math" panose="02040503050406030204" pitchFamily="18" charset="0"/>
                                  <a:sym typeface="Roboto Condensed"/>
                                </a:rPr>
                                <m:t>𝑟</m:t>
                              </m:r>
                            </m:sub>
                          </m:sSub>
                        </m:den>
                      </m:f>
                      <m:r>
                        <a:rPr lang="en-MY" i="1">
                          <a:latin typeface="Cambria Math" panose="02040503050406030204" pitchFamily="18" charset="0"/>
                          <a:sym typeface="Roboto Condensed"/>
                        </a:rPr>
                        <m:t>𝑅𝑇</m:t>
                      </m:r>
                    </m:oMath>
                  </m:oMathPara>
                </a14:m>
                <a:endParaRPr lang="en-IN" dirty="0">
                  <a:ea typeface="Roboto Condensed"/>
                  <a:sym typeface="Roboto Condensed"/>
                </a:endParaRPr>
              </a:p>
              <a:p>
                <a:pPr marL="114300" lvl="0">
                  <a:lnSpc>
                    <a:spcPct val="114000"/>
                  </a:lnSpc>
                  <a:buSzPts val="1800"/>
                </a:pPr>
                <a:endParaRPr lang="en-US" sz="1600" dirty="0">
                  <a:latin typeface="Calibri" panose="020F0502020204030204" pitchFamily="34" charset="0"/>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767644" y="2249568"/>
                <a:ext cx="7349067" cy="2492100"/>
              </a:xfrm>
              <a:prstGeom prst="rect">
                <a:avLst/>
              </a:prstGeom>
              <a:blipFill>
                <a:blip r:embed="rId3"/>
                <a:stretch>
                  <a:fillRect/>
                </a:stretch>
              </a:blipFill>
              <a:ln>
                <a:noFill/>
              </a:ln>
            </p:spPr>
            <p:txBody>
              <a:bodyPr/>
              <a:lstStyle/>
              <a:p>
                <a:r>
                  <a:rPr lang="en-GB">
                    <a:noFill/>
                  </a:rPr>
                  <a:t> </a:t>
                </a:r>
              </a:p>
            </p:txBody>
          </p:sp>
        </mc:Fallback>
      </mc:AlternateContent>
    </p:spTree>
    <p:extLst>
      <p:ext uri="{BB962C8B-B14F-4D97-AF65-F5344CB8AC3E}">
        <p14:creationId xmlns:p14="http://schemas.microsoft.com/office/powerpoint/2010/main" val="3090825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Gaseous state</a:t>
            </a:r>
          </a:p>
        </p:txBody>
      </p:sp>
      <mc:AlternateContent xmlns:mc="http://schemas.openxmlformats.org/markup-compatibility/2006" xmlns:a14="http://schemas.microsoft.com/office/drawing/2010/main">
        <mc:Choice Requires="a14">
          <p:sp>
            <p:nvSpPr>
              <p:cNvPr id="118" name="Google Shape;118;p26"/>
              <p:cNvSpPr txBox="1"/>
              <p:nvPr/>
            </p:nvSpPr>
            <p:spPr>
              <a:xfrm>
                <a:off x="778933" y="1910901"/>
                <a:ext cx="7349067" cy="2492100"/>
              </a:xfrm>
              <a:prstGeom prst="rect">
                <a:avLst/>
              </a:prstGeom>
              <a:noFill/>
              <a:ln>
                <a:noFill/>
              </a:ln>
            </p:spPr>
            <p:txBody>
              <a:bodyPr spcFirstLastPara="1" wrap="square" lIns="91425" tIns="91425" rIns="91425" bIns="91425" anchor="t" anchorCtr="0">
                <a:noAutofit/>
              </a:bodyPr>
              <a:lstStyle/>
              <a:p>
                <a:pPr lvl="0" algn="just">
                  <a:lnSpc>
                    <a:spcPct val="112000"/>
                  </a:lnSpc>
                  <a:spcBef>
                    <a:spcPts val="600"/>
                  </a:spcBef>
                  <a:buClr>
                    <a:srgbClr val="434343"/>
                  </a:buClr>
                  <a:buSzPts val="1600"/>
                </a:pPr>
                <a:r>
                  <a:rPr lang="en-MY" sz="1600" b="1" dirty="0">
                    <a:latin typeface="Calibri" panose="020F0502020204030204" pitchFamily="34" charset="0"/>
                    <a:ea typeface="Roboto Condensed"/>
                    <a:cs typeface="Calibri" panose="020F0502020204030204" pitchFamily="34" charset="0"/>
                    <a:sym typeface="Roboto Condensed"/>
                  </a:rPr>
                  <a:t>Example 2: </a:t>
                </a:r>
                <a:r>
                  <a:rPr lang="en-MY" sz="1600" dirty="0">
                    <a:latin typeface="Calibri" panose="020F0502020204030204" pitchFamily="34" charset="0"/>
                    <a:ea typeface="Roboto Condensed"/>
                    <a:cs typeface="Calibri" panose="020F0502020204030204" pitchFamily="34" charset="0"/>
                    <a:sym typeface="Roboto Condensed"/>
                  </a:rPr>
                  <a:t>A flask of 184 dm</a:t>
                </a:r>
                <a:r>
                  <a:rPr lang="en-MY" sz="1600" baseline="30000" dirty="0">
                    <a:latin typeface="Calibri" panose="020F0502020204030204" pitchFamily="34" charset="0"/>
                    <a:ea typeface="Roboto Condensed"/>
                    <a:cs typeface="Calibri" panose="020F0502020204030204" pitchFamily="34" charset="0"/>
                    <a:sym typeface="Roboto Condensed"/>
                  </a:rPr>
                  <a:t>3</a:t>
                </a:r>
                <a:r>
                  <a:rPr lang="en-MY" sz="1600" dirty="0">
                    <a:latin typeface="Calibri" panose="020F0502020204030204" pitchFamily="34" charset="0"/>
                    <a:ea typeface="Roboto Condensed"/>
                    <a:cs typeface="Calibri" panose="020F0502020204030204" pitchFamily="34" charset="0"/>
                    <a:sym typeface="Roboto Condensed"/>
                  </a:rPr>
                  <a:t> contains 272 g of gas at a pressure of 250 kPa and temperature of 327 K. Calculate the relative molecular mass of gas. </a:t>
                </a:r>
                <a:endParaRPr lang="ar-AE" sz="1600" dirty="0">
                  <a:latin typeface="Calibri" panose="020F0502020204030204" pitchFamily="34" charset="0"/>
                  <a:ea typeface="Roboto Condensed"/>
                  <a:cs typeface="Calibri" panose="020F0502020204030204" pitchFamily="34" charset="0"/>
                  <a:sym typeface="Roboto Condensed"/>
                </a:endParaRPr>
              </a:p>
              <a:p>
                <a:pPr lvl="0" algn="just">
                  <a:lnSpc>
                    <a:spcPct val="112000"/>
                  </a:lnSpc>
                  <a:spcBef>
                    <a:spcPts val="600"/>
                  </a:spcBef>
                  <a:buClr>
                    <a:srgbClr val="434343"/>
                  </a:buClr>
                  <a:buSzPts val="1600"/>
                </a:pPr>
                <a:r>
                  <a:rPr lang="en-MY" sz="1600" b="1" dirty="0">
                    <a:latin typeface="Calibri" panose="020F0502020204030204" pitchFamily="34" charset="0"/>
                    <a:ea typeface="Roboto Condensed"/>
                    <a:cs typeface="Calibri" panose="020F0502020204030204" pitchFamily="34" charset="0"/>
                    <a:sym typeface="Roboto Condensed"/>
                  </a:rPr>
                  <a:t>Solution:</a:t>
                </a:r>
              </a:p>
              <a:p>
                <a:pPr lvl="0" algn="just">
                  <a:lnSpc>
                    <a:spcPct val="112000"/>
                  </a:lnSpc>
                  <a:spcBef>
                    <a:spcPts val="600"/>
                  </a:spcBef>
                  <a:buClr>
                    <a:srgbClr val="434343"/>
                  </a:buClr>
                  <a:buSzPts val="1600"/>
                </a:pPr>
                <a:r>
                  <a:rPr lang="en-MY" sz="1600" dirty="0">
                    <a:latin typeface="Calibri" panose="020F0502020204030204" pitchFamily="34" charset="0"/>
                    <a:ea typeface="Roboto Condensed"/>
                    <a:cs typeface="Calibri" panose="020F0502020204030204" pitchFamily="34" charset="0"/>
                    <a:sym typeface="Roboto Condensed"/>
                  </a:rPr>
                  <a:t>184 dm</a:t>
                </a:r>
                <a:r>
                  <a:rPr lang="en-MY" sz="1600" baseline="30000" dirty="0">
                    <a:latin typeface="Calibri" panose="020F0502020204030204" pitchFamily="34" charset="0"/>
                    <a:ea typeface="Roboto Condensed"/>
                    <a:cs typeface="Calibri" panose="020F0502020204030204" pitchFamily="34" charset="0"/>
                    <a:sym typeface="Roboto Condensed"/>
                  </a:rPr>
                  <a:t>3</a:t>
                </a:r>
                <a:r>
                  <a:rPr lang="en-MY" sz="1600" dirty="0">
                    <a:latin typeface="Calibri" panose="020F0502020204030204" pitchFamily="34" charset="0"/>
                    <a:ea typeface="Roboto Condensed"/>
                    <a:cs typeface="Calibri" panose="020F0502020204030204" pitchFamily="34" charset="0"/>
                    <a:sym typeface="Roboto Condensed"/>
                  </a:rPr>
                  <a:t> = 0.184 m</a:t>
                </a:r>
                <a:r>
                  <a:rPr lang="en-MY" sz="1600" baseline="30000" dirty="0">
                    <a:latin typeface="Calibri" panose="020F0502020204030204" pitchFamily="34" charset="0"/>
                    <a:ea typeface="Roboto Condensed"/>
                    <a:cs typeface="Calibri" panose="020F0502020204030204" pitchFamily="34" charset="0"/>
                    <a:sym typeface="Roboto Condensed"/>
                  </a:rPr>
                  <a:t>3</a:t>
                </a:r>
              </a:p>
              <a:p>
                <a:pPr lvl="0" algn="just">
                  <a:lnSpc>
                    <a:spcPct val="112000"/>
                  </a:lnSpc>
                  <a:spcBef>
                    <a:spcPts val="600"/>
                  </a:spcBef>
                  <a:buClr>
                    <a:srgbClr val="434343"/>
                  </a:buClr>
                  <a:buSzPts val="1600"/>
                </a:pPr>
                <a14:m>
                  <m:oMathPara xmlns:m="http://schemas.openxmlformats.org/officeDocument/2006/math">
                    <m:oMathParaPr>
                      <m:jc m:val="centerGroup"/>
                    </m:oMathParaPr>
                    <m:oMath xmlns:m="http://schemas.openxmlformats.org/officeDocument/2006/math">
                      <m:r>
                        <a:rPr lang="en-MY" sz="1600" i="1">
                          <a:latin typeface="Cambria Math" panose="02040503050406030204" pitchFamily="18" charset="0"/>
                          <a:sym typeface="Roboto Condensed"/>
                        </a:rPr>
                        <m:t>𝑃𝑉</m:t>
                      </m:r>
                      <m:r>
                        <a:rPr lang="en-MY" sz="1600" i="1">
                          <a:latin typeface="Cambria Math" panose="02040503050406030204" pitchFamily="18" charset="0"/>
                          <a:sym typeface="Roboto Condensed"/>
                        </a:rPr>
                        <m:t>=</m:t>
                      </m:r>
                      <m:f>
                        <m:fPr>
                          <m:ctrlPr>
                            <a:rPr lang="en-MY" sz="1600" i="1">
                              <a:latin typeface="Cambria Math" panose="02040503050406030204" pitchFamily="18" charset="0"/>
                              <a:sym typeface="Roboto Condensed"/>
                            </a:rPr>
                          </m:ctrlPr>
                        </m:fPr>
                        <m:num>
                          <m:r>
                            <a:rPr lang="en-MY" sz="1600" i="1">
                              <a:latin typeface="Cambria Math" panose="02040503050406030204" pitchFamily="18" charset="0"/>
                              <a:sym typeface="Roboto Condensed"/>
                            </a:rPr>
                            <m:t>𝑚</m:t>
                          </m:r>
                        </m:num>
                        <m:den>
                          <m:sSub>
                            <m:sSubPr>
                              <m:ctrlPr>
                                <a:rPr lang="en-MY" sz="1600" i="1">
                                  <a:latin typeface="Cambria Math" panose="02040503050406030204" pitchFamily="18" charset="0"/>
                                  <a:sym typeface="Roboto Condensed"/>
                                </a:rPr>
                              </m:ctrlPr>
                            </m:sSubPr>
                            <m:e>
                              <m:r>
                                <a:rPr lang="en-MY" sz="1600" i="1">
                                  <a:latin typeface="Cambria Math" panose="02040503050406030204" pitchFamily="18" charset="0"/>
                                  <a:sym typeface="Roboto Condensed"/>
                                </a:rPr>
                                <m:t>𝑀</m:t>
                              </m:r>
                            </m:e>
                            <m:sub>
                              <m:r>
                                <a:rPr lang="en-MY" sz="1600" i="1">
                                  <a:latin typeface="Cambria Math" panose="02040503050406030204" pitchFamily="18" charset="0"/>
                                  <a:sym typeface="Roboto Condensed"/>
                                </a:rPr>
                                <m:t>𝑟</m:t>
                              </m:r>
                            </m:sub>
                          </m:sSub>
                        </m:den>
                      </m:f>
                      <m:r>
                        <a:rPr lang="en-MY" sz="1600" i="1">
                          <a:latin typeface="Cambria Math" panose="02040503050406030204" pitchFamily="18" charset="0"/>
                          <a:sym typeface="Roboto Condensed"/>
                        </a:rPr>
                        <m:t>𝑅𝑇</m:t>
                      </m:r>
                    </m:oMath>
                  </m:oMathPara>
                </a14:m>
                <a:endParaRPr lang="en-IN" sz="1600" dirty="0">
                  <a:latin typeface="Calibri" panose="020F0502020204030204" pitchFamily="34" charset="0"/>
                  <a:ea typeface="Roboto Condensed"/>
                  <a:cs typeface="Calibri" panose="020F0502020204030204" pitchFamily="34" charset="0"/>
                  <a:sym typeface="Roboto Condensed"/>
                </a:endParaRPr>
              </a:p>
              <a:p>
                <a:pPr lvl="0" algn="just">
                  <a:lnSpc>
                    <a:spcPct val="112000"/>
                  </a:lnSpc>
                  <a:spcBef>
                    <a:spcPts val="600"/>
                  </a:spcBef>
                  <a:buClr>
                    <a:srgbClr val="434343"/>
                  </a:buClr>
                  <a:buSzPts val="1600"/>
                </a:pPr>
                <a14:m>
                  <m:oMathPara xmlns:m="http://schemas.openxmlformats.org/officeDocument/2006/math">
                    <m:oMathParaPr>
                      <m:jc m:val="centerGroup"/>
                    </m:oMathParaPr>
                    <m:oMath xmlns:m="http://schemas.openxmlformats.org/officeDocument/2006/math">
                      <m:r>
                        <a:rPr lang="en-MY" sz="1600" i="1">
                          <a:latin typeface="Cambria Math" panose="02040503050406030204" pitchFamily="18" charset="0"/>
                          <a:sym typeface="Roboto Condensed"/>
                        </a:rPr>
                        <m:t>250 ×10</m:t>
                      </m:r>
                      <m:r>
                        <a:rPr lang="en-GB" sz="1600" b="0" i="1" smtClean="0">
                          <a:latin typeface="Cambria Math" panose="02040503050406030204" pitchFamily="18" charset="0"/>
                          <a:sym typeface="Roboto Condensed"/>
                        </a:rPr>
                        <m:t>00</m:t>
                      </m:r>
                      <m:r>
                        <a:rPr lang="en-MY" sz="1600" i="1">
                          <a:latin typeface="Cambria Math" panose="02040503050406030204" pitchFamily="18" charset="0"/>
                          <a:sym typeface="Roboto Condensed"/>
                        </a:rPr>
                        <m:t>×</m:t>
                      </m:r>
                      <m:r>
                        <a:rPr lang="en-GB" sz="1600" b="0" i="1" smtClean="0">
                          <a:latin typeface="Cambria Math" panose="02040503050406030204" pitchFamily="18" charset="0"/>
                          <a:sym typeface="Roboto Condensed"/>
                        </a:rPr>
                        <m:t>0.184</m:t>
                      </m:r>
                      <m:r>
                        <a:rPr lang="en-MY" sz="1600" i="1">
                          <a:latin typeface="Cambria Math" panose="02040503050406030204" pitchFamily="18" charset="0"/>
                          <a:sym typeface="Roboto Condensed"/>
                        </a:rPr>
                        <m:t>=</m:t>
                      </m:r>
                      <m:f>
                        <m:fPr>
                          <m:ctrlPr>
                            <a:rPr lang="en-MY" sz="1600" i="1">
                              <a:latin typeface="Cambria Math" panose="02040503050406030204" pitchFamily="18" charset="0"/>
                              <a:sym typeface="Roboto Condensed"/>
                            </a:rPr>
                          </m:ctrlPr>
                        </m:fPr>
                        <m:num>
                          <m:r>
                            <a:rPr lang="en-MY" sz="1600" i="1">
                              <a:latin typeface="Cambria Math" panose="02040503050406030204" pitchFamily="18" charset="0"/>
                              <a:sym typeface="Roboto Condensed"/>
                            </a:rPr>
                            <m:t>272</m:t>
                          </m:r>
                        </m:num>
                        <m:den>
                          <m:sSub>
                            <m:sSubPr>
                              <m:ctrlPr>
                                <a:rPr lang="en-MY" sz="1600" i="1">
                                  <a:latin typeface="Cambria Math" panose="02040503050406030204" pitchFamily="18" charset="0"/>
                                  <a:sym typeface="Roboto Condensed"/>
                                </a:rPr>
                              </m:ctrlPr>
                            </m:sSubPr>
                            <m:e>
                              <m:r>
                                <a:rPr lang="en-MY" sz="1600" i="1">
                                  <a:latin typeface="Cambria Math" panose="02040503050406030204" pitchFamily="18" charset="0"/>
                                  <a:sym typeface="Roboto Condensed"/>
                                </a:rPr>
                                <m:t>𝑀</m:t>
                              </m:r>
                            </m:e>
                            <m:sub>
                              <m:r>
                                <a:rPr lang="en-MY" sz="1600" i="1">
                                  <a:latin typeface="Cambria Math" panose="02040503050406030204" pitchFamily="18" charset="0"/>
                                  <a:sym typeface="Roboto Condensed"/>
                                </a:rPr>
                                <m:t>𝑟</m:t>
                              </m:r>
                            </m:sub>
                          </m:sSub>
                        </m:den>
                      </m:f>
                      <m:r>
                        <a:rPr lang="en-MY" sz="1600" i="1">
                          <a:latin typeface="Cambria Math" panose="02040503050406030204" pitchFamily="18" charset="0"/>
                          <a:sym typeface="Roboto Condensed"/>
                        </a:rPr>
                        <m:t>×8.31×327</m:t>
                      </m:r>
                    </m:oMath>
                  </m:oMathPara>
                </a14:m>
                <a:endParaRPr lang="ar-AE" sz="1600" dirty="0">
                  <a:latin typeface="Calibri" panose="020F0502020204030204" pitchFamily="34" charset="0"/>
                  <a:ea typeface="Roboto Condensed"/>
                  <a:cs typeface="Calibri" panose="020F0502020204030204" pitchFamily="34" charset="0"/>
                  <a:sym typeface="Roboto Condensed"/>
                </a:endParaRPr>
              </a:p>
              <a:p>
                <a:pPr lvl="0" algn="just">
                  <a:lnSpc>
                    <a:spcPct val="112000"/>
                  </a:lnSpc>
                  <a:spcBef>
                    <a:spcPts val="600"/>
                  </a:spcBef>
                  <a:buClr>
                    <a:srgbClr val="434343"/>
                  </a:buClr>
                  <a:buSzPts val="1600"/>
                </a:pPr>
                <a14:m>
                  <m:oMathPara xmlns:m="http://schemas.openxmlformats.org/officeDocument/2006/math">
                    <m:oMathParaPr>
                      <m:jc m:val="centerGroup"/>
                    </m:oMathParaPr>
                    <m:oMath xmlns:m="http://schemas.openxmlformats.org/officeDocument/2006/math">
                      <m:sSub>
                        <m:sSubPr>
                          <m:ctrlPr>
                            <a:rPr lang="en-MY" sz="1600" i="1">
                              <a:latin typeface="Cambria Math" panose="02040503050406030204" pitchFamily="18" charset="0"/>
                              <a:sym typeface="Roboto Condensed"/>
                            </a:rPr>
                          </m:ctrlPr>
                        </m:sSubPr>
                        <m:e>
                          <m:r>
                            <a:rPr lang="en-MY" sz="1600" i="1">
                              <a:latin typeface="Cambria Math" panose="02040503050406030204" pitchFamily="18" charset="0"/>
                              <a:sym typeface="Roboto Condensed"/>
                            </a:rPr>
                            <m:t>𝑀</m:t>
                          </m:r>
                        </m:e>
                        <m:sub>
                          <m:r>
                            <a:rPr lang="en-MY" sz="1600" i="1">
                              <a:latin typeface="Cambria Math" panose="02040503050406030204" pitchFamily="18" charset="0"/>
                              <a:sym typeface="Roboto Condensed"/>
                            </a:rPr>
                            <m:t>𝑟</m:t>
                          </m:r>
                        </m:sub>
                      </m:sSub>
                      <m:r>
                        <a:rPr lang="en-MY" sz="1600" i="1">
                          <a:latin typeface="Cambria Math" panose="02040503050406030204" pitchFamily="18" charset="0"/>
                          <a:sym typeface="Roboto Condensed"/>
                        </a:rPr>
                        <m:t> =</m:t>
                      </m:r>
                      <m:r>
                        <a:rPr lang="en-GB" sz="1600" b="0" i="1" smtClean="0">
                          <a:latin typeface="Cambria Math" panose="02040503050406030204" pitchFamily="18" charset="0"/>
                          <a:sym typeface="Roboto Condensed"/>
                        </a:rPr>
                        <m:t>16.1</m:t>
                      </m:r>
                    </m:oMath>
                  </m:oMathPara>
                </a14:m>
                <a:endParaRPr lang="en-MY" sz="1600" dirty="0">
                  <a:latin typeface="Calibri" panose="020F0502020204030204" pitchFamily="34" charset="0"/>
                  <a:ea typeface="Roboto Condensed"/>
                  <a:cs typeface="Calibri" panose="020F0502020204030204" pitchFamily="34" charset="0"/>
                  <a:sym typeface="Roboto Condensed"/>
                </a:endParaRPr>
              </a:p>
              <a:p>
                <a:pPr marL="400050" lvl="0" indent="-285750">
                  <a:lnSpc>
                    <a:spcPct val="114000"/>
                  </a:lnSpc>
                  <a:buSzPts val="1800"/>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p:txBody>
          </p:sp>
        </mc:Choice>
        <mc:Fallback xmlns="">
          <p:sp>
            <p:nvSpPr>
              <p:cNvPr id="118" name="Google Shape;118;p26"/>
              <p:cNvSpPr txBox="1">
                <a:spLocks noRot="1" noChangeAspect="1" noMove="1" noResize="1" noEditPoints="1" noAdjustHandles="1" noChangeArrowheads="1" noChangeShapeType="1" noTextEdit="1"/>
              </p:cNvSpPr>
              <p:nvPr/>
            </p:nvSpPr>
            <p:spPr>
              <a:xfrm>
                <a:off x="778933" y="1910901"/>
                <a:ext cx="7349067" cy="2492100"/>
              </a:xfrm>
              <a:prstGeom prst="rect">
                <a:avLst/>
              </a:prstGeom>
              <a:blipFill>
                <a:blip r:embed="rId3"/>
                <a:stretch>
                  <a:fillRect l="-498" r="-498" b="-11247"/>
                </a:stretch>
              </a:blipFill>
              <a:ln>
                <a:noFill/>
              </a:ln>
            </p:spPr>
            <p:txBody>
              <a:bodyPr/>
              <a:lstStyle/>
              <a:p>
                <a:r>
                  <a:rPr lang="LID4096">
                    <a:noFill/>
                  </a:rPr>
                  <a:t> </a:t>
                </a:r>
              </a:p>
            </p:txBody>
          </p:sp>
        </mc:Fallback>
      </mc:AlternateContent>
    </p:spTree>
    <p:extLst>
      <p:ext uri="{BB962C8B-B14F-4D97-AF65-F5344CB8AC3E}">
        <p14:creationId xmlns:p14="http://schemas.microsoft.com/office/powerpoint/2010/main" val="2068959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Gaseous state</a:t>
            </a:r>
          </a:p>
        </p:txBody>
      </p:sp>
      <p:sp>
        <p:nvSpPr>
          <p:cNvPr id="118" name="Google Shape;118;p26"/>
          <p:cNvSpPr txBox="1"/>
          <p:nvPr/>
        </p:nvSpPr>
        <p:spPr>
          <a:xfrm>
            <a:off x="587022" y="1933479"/>
            <a:ext cx="4865512"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A simple gas syringe that measures the volume of gas released in a reaction is shown in the figure.</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Molecular mass of volatile liquids can also be found by placing them in syringe oven wherein the liquid is </a:t>
            </a:r>
            <a:r>
              <a:rPr lang="en-US" sz="1600" dirty="0" err="1">
                <a:latin typeface="Calibri" panose="020F0502020204030204" pitchFamily="34" charset="0"/>
              </a:rPr>
              <a:t>vaporised</a:t>
            </a:r>
            <a:r>
              <a:rPr lang="en-US" sz="1600" dirty="0">
                <a:latin typeface="Calibri" panose="020F0502020204030204" pitchFamily="34" charset="0"/>
              </a:rPr>
              <a:t> and its volume is calculated.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Kinetic theory of gases does not consider forces of attraction between molecules and volume of molecules. Therefore real gases do not obey ideal gas laws at high pressure and very low temperatures.</a:t>
            </a:r>
          </a:p>
          <a:p>
            <a:pPr marL="400050" lvl="0" indent="-285750">
              <a:lnSpc>
                <a:spcPct val="114000"/>
              </a:lnSpc>
              <a:buSzPts val="1800"/>
              <a:buFont typeface="Arial" panose="020B0604020202020204" pitchFamily="34" charset="0"/>
              <a:buChar char="•"/>
            </a:pPr>
            <a:endParaRPr lang="en-US" sz="1600" dirty="0">
              <a:latin typeface="Calibri" panose="020F0502020204030204" pitchFamily="34" charset="0"/>
            </a:endParaRPr>
          </a:p>
          <a:p>
            <a:pPr marL="400050" lvl="0" indent="-285750">
              <a:lnSpc>
                <a:spcPct val="114000"/>
              </a:lnSpc>
              <a:buSzPts val="1800"/>
              <a:buFont typeface="Arial" panose="020B0604020202020204" pitchFamily="34" charset="0"/>
              <a:buChar char="•"/>
            </a:pPr>
            <a:endParaRPr lang="en-US" sz="1600" dirty="0">
              <a:latin typeface="Calibri" panose="020F0502020204030204" pitchFamily="34" charset="0"/>
            </a:endParaRPr>
          </a:p>
        </p:txBody>
      </p:sp>
      <p:pic>
        <p:nvPicPr>
          <p:cNvPr id="5" name="Picture 4">
            <a:extLst>
              <a:ext uri="{FF2B5EF4-FFF2-40B4-BE49-F238E27FC236}">
                <a16:creationId xmlns:a16="http://schemas.microsoft.com/office/drawing/2014/main" id="{1C6D900D-9452-43A7-886B-29AFBD73023B}"/>
              </a:ext>
            </a:extLst>
          </p:cNvPr>
          <p:cNvPicPr>
            <a:picLocks noChangeAspect="1"/>
          </p:cNvPicPr>
          <p:nvPr/>
        </p:nvPicPr>
        <p:blipFill>
          <a:blip r:embed="rId3"/>
          <a:stretch>
            <a:fillRect/>
          </a:stretch>
        </p:blipFill>
        <p:spPr>
          <a:xfrm>
            <a:off x="5685108" y="2339155"/>
            <a:ext cx="3106034" cy="2086424"/>
          </a:xfrm>
          <a:prstGeom prst="rect">
            <a:avLst/>
          </a:prstGeom>
        </p:spPr>
      </p:pic>
    </p:spTree>
    <p:extLst>
      <p:ext uri="{BB962C8B-B14F-4D97-AF65-F5344CB8AC3E}">
        <p14:creationId xmlns:p14="http://schemas.microsoft.com/office/powerpoint/2010/main" val="1363401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BB439-FC80-0AA2-8615-CC6DBED1A97C}"/>
              </a:ext>
            </a:extLst>
          </p:cNvPr>
          <p:cNvSpPr>
            <a:spLocks noGrp="1"/>
          </p:cNvSpPr>
          <p:nvPr>
            <p:ph type="title"/>
          </p:nvPr>
        </p:nvSpPr>
        <p:spPr/>
        <p:txBody>
          <a:bodyPr/>
          <a:lstStyle/>
          <a:p>
            <a:r>
              <a:rPr lang="en-GB" dirty="0"/>
              <a:t>Activities</a:t>
            </a:r>
          </a:p>
        </p:txBody>
      </p:sp>
      <p:sp>
        <p:nvSpPr>
          <p:cNvPr id="3" name="Text Placeholder 2">
            <a:extLst>
              <a:ext uri="{FF2B5EF4-FFF2-40B4-BE49-F238E27FC236}">
                <a16:creationId xmlns:a16="http://schemas.microsoft.com/office/drawing/2014/main" id="{0B54DC41-673B-A36E-C96D-7048D7C820CA}"/>
              </a:ext>
            </a:extLst>
          </p:cNvPr>
          <p:cNvSpPr>
            <a:spLocks noGrp="1"/>
          </p:cNvSpPr>
          <p:nvPr>
            <p:ph type="body" idx="1"/>
          </p:nvPr>
        </p:nvSpPr>
        <p:spPr/>
        <p:txBody>
          <a:bodyPr/>
          <a:lstStyle/>
          <a:p>
            <a:r>
              <a:rPr lang="en-GB" sz="1800" b="0" u="sng" dirty="0">
                <a:solidFill>
                  <a:srgbClr val="4A4A4A"/>
                </a:solidFill>
                <a:effectLst/>
                <a:latin typeface="Arial" panose="020B0604020202020204" pitchFamily="34" charset="0"/>
                <a:ea typeface="MS ??"/>
                <a:cs typeface="Times New Roman" panose="02020603050405020304" pitchFamily="18" charset="0"/>
                <a:hlinkClick r:id="rId2"/>
              </a:rPr>
              <a:t>study.com/academy/lesson/using-the-ideal-gas-law-to-find-the-molar-mass-of-a-gas.html</a:t>
            </a:r>
            <a:endParaRPr lang="en-GB" sz="1800" dirty="0">
              <a:effectLst/>
              <a:latin typeface="Arial" panose="020B0604020202020204" pitchFamily="34" charset="0"/>
              <a:ea typeface="MS ??"/>
            </a:endParaRPr>
          </a:p>
          <a:p>
            <a:r>
              <a:rPr lang="en-US" sz="1800" b="0" u="sng" dirty="0">
                <a:solidFill>
                  <a:srgbClr val="4A4A4A"/>
                </a:solidFill>
                <a:effectLst/>
                <a:latin typeface="Arial" panose="020B0604020202020204" pitchFamily="34" charset="0"/>
                <a:ea typeface="Arial Unicode MS"/>
                <a:cs typeface="Times New Roman" panose="02020603050405020304" pitchFamily="18" charset="0"/>
                <a:hlinkClick r:id="rId3"/>
              </a:rPr>
              <a:t>ch301.cm.utexas.edu/simulations/</a:t>
            </a:r>
            <a:r>
              <a:rPr lang="en-US" sz="1800" b="0" u="sng" dirty="0" err="1">
                <a:solidFill>
                  <a:srgbClr val="4A4A4A"/>
                </a:solidFill>
                <a:effectLst/>
                <a:latin typeface="Arial" panose="020B0604020202020204" pitchFamily="34" charset="0"/>
                <a:ea typeface="Arial Unicode MS"/>
                <a:cs typeface="Times New Roman" panose="02020603050405020304" pitchFamily="18" charset="0"/>
                <a:hlinkClick r:id="rId3"/>
              </a:rPr>
              <a:t>js</a:t>
            </a:r>
            <a:r>
              <a:rPr lang="en-US" sz="1800" b="0" u="sng" dirty="0">
                <a:solidFill>
                  <a:srgbClr val="4A4A4A"/>
                </a:solidFill>
                <a:effectLst/>
                <a:latin typeface="Arial" panose="020B0604020202020204" pitchFamily="34" charset="0"/>
                <a:ea typeface="Arial Unicode MS"/>
                <a:cs typeface="Times New Roman" panose="02020603050405020304" pitchFamily="18" charset="0"/>
                <a:hlinkClick r:id="rId3"/>
              </a:rPr>
              <a:t>/</a:t>
            </a:r>
            <a:r>
              <a:rPr lang="en-US" sz="1800" b="0" u="sng" dirty="0" err="1">
                <a:solidFill>
                  <a:srgbClr val="4A4A4A"/>
                </a:solidFill>
                <a:effectLst/>
                <a:latin typeface="Arial" panose="020B0604020202020204" pitchFamily="34" charset="0"/>
                <a:ea typeface="Arial Unicode MS"/>
                <a:cs typeface="Times New Roman" panose="02020603050405020304" pitchFamily="18" charset="0"/>
                <a:hlinkClick r:id="rId3"/>
              </a:rPr>
              <a:t>idealgaslaw</a:t>
            </a:r>
            <a:r>
              <a:rPr lang="en-US" sz="1800" b="0" u="sng" dirty="0">
                <a:solidFill>
                  <a:srgbClr val="4A4A4A"/>
                </a:solidFill>
                <a:effectLst/>
                <a:latin typeface="Arial" panose="020B0604020202020204" pitchFamily="34" charset="0"/>
                <a:ea typeface="Arial Unicode MS"/>
                <a:cs typeface="Times New Roman" panose="02020603050405020304" pitchFamily="18" charset="0"/>
                <a:hlinkClick r:id="rId3"/>
              </a:rPr>
              <a:t>/</a:t>
            </a:r>
            <a:endParaRPr lang="en-GB" dirty="0"/>
          </a:p>
          <a:p>
            <a:r>
              <a:rPr lang="en-US" sz="1800" b="0" u="sng" dirty="0">
                <a:solidFill>
                  <a:srgbClr val="4A4A4A"/>
                </a:solidFill>
                <a:effectLst/>
                <a:latin typeface="Arial" panose="020B0604020202020204" pitchFamily="34" charset="0"/>
                <a:ea typeface="Arial Unicode MS"/>
                <a:cs typeface="Times New Roman" panose="02020603050405020304" pitchFamily="18" charset="0"/>
                <a:hlinkClick r:id="rId4"/>
              </a:rPr>
              <a:t>www.docbrown.info/page03/3_52gaslaws2.htm</a:t>
            </a:r>
            <a:endParaRPr lang="en-GB" sz="1800" b="0" u="sng" dirty="0">
              <a:solidFill>
                <a:srgbClr val="4A4A4A"/>
              </a:solidFill>
              <a:effectLst/>
              <a:latin typeface="Arial" panose="020B0604020202020204" pitchFamily="34" charset="0"/>
              <a:ea typeface="Arial Unicode MS"/>
              <a:cs typeface="Times New Roman" panose="02020603050405020304" pitchFamily="18" charset="0"/>
            </a:endParaRPr>
          </a:p>
          <a:p>
            <a:r>
              <a:rPr lang="en-GB" sz="1800" b="0" u="sng" dirty="0">
                <a:solidFill>
                  <a:srgbClr val="4A4A4A"/>
                </a:solidFill>
                <a:effectLst/>
                <a:latin typeface="Arial" panose="020B0604020202020204" pitchFamily="34" charset="0"/>
                <a:ea typeface="MS ??"/>
                <a:cs typeface="Times New Roman" panose="02020603050405020304" pitchFamily="18" charset="0"/>
                <a:hlinkClick r:id="rId5"/>
              </a:rPr>
              <a:t>www.youtube.com/watch?v=IoCWUYMagEg</a:t>
            </a:r>
            <a:r>
              <a:rPr lang="en-GB" sz="1800" dirty="0">
                <a:effectLst/>
                <a:latin typeface="Arial" panose="020B0604020202020204" pitchFamily="34" charset="0"/>
                <a:ea typeface="MS ??"/>
              </a:rPr>
              <a:t> </a:t>
            </a:r>
          </a:p>
          <a:p>
            <a:r>
              <a:rPr lang="en-GB" sz="1800" b="0" u="sng" dirty="0">
                <a:solidFill>
                  <a:srgbClr val="4A4A4A"/>
                </a:solidFill>
                <a:effectLst/>
                <a:latin typeface="Arial" panose="020B0604020202020204" pitchFamily="34" charset="0"/>
                <a:ea typeface="MS ??"/>
                <a:cs typeface="Times New Roman" panose="02020603050405020304" pitchFamily="18" charset="0"/>
                <a:hlinkClick r:id="rId5"/>
              </a:rPr>
              <a:t>www.youtube.com/watch?v=IoCWUYMagEg</a:t>
            </a:r>
            <a:r>
              <a:rPr lang="en-GB" sz="1800" dirty="0">
                <a:effectLst/>
                <a:latin typeface="Arial" panose="020B0604020202020204" pitchFamily="34" charset="0"/>
                <a:ea typeface="MS ??"/>
              </a:rPr>
              <a:t> </a:t>
            </a:r>
          </a:p>
          <a:p>
            <a:r>
              <a:rPr lang="en-US" sz="1800" b="0" u="sng" dirty="0">
                <a:solidFill>
                  <a:srgbClr val="4A4A4A"/>
                </a:solidFill>
                <a:effectLst/>
                <a:latin typeface="Arial" panose="020B0604020202020204" pitchFamily="34" charset="0"/>
                <a:ea typeface="Arial Unicode MS"/>
                <a:cs typeface="Times New Roman" panose="02020603050405020304" pitchFamily="18" charset="0"/>
                <a:hlinkClick r:id="rId6"/>
              </a:rPr>
              <a:t>edu.rsc.org/resources/the-determination-of-relative-atomic-mass/401.article</a:t>
            </a:r>
            <a:endParaRPr lang="en-GB" sz="1800" dirty="0">
              <a:effectLst/>
              <a:latin typeface="Arial" panose="020B0604020202020204" pitchFamily="34" charset="0"/>
              <a:ea typeface="MS ??"/>
            </a:endParaRPr>
          </a:p>
          <a:p>
            <a:endParaRPr lang="en-GB" sz="1800" dirty="0">
              <a:effectLst/>
              <a:latin typeface="Arial" panose="020B0604020202020204" pitchFamily="34" charset="0"/>
              <a:ea typeface="MS ??"/>
            </a:endParaRPr>
          </a:p>
          <a:p>
            <a:endParaRPr lang="en-GB" dirty="0"/>
          </a:p>
        </p:txBody>
      </p:sp>
    </p:spTree>
    <p:extLst>
      <p:ext uri="{BB962C8B-B14F-4D97-AF65-F5344CB8AC3E}">
        <p14:creationId xmlns:p14="http://schemas.microsoft.com/office/powerpoint/2010/main" val="1982540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Liquid state</a:t>
            </a:r>
          </a:p>
        </p:txBody>
      </p:sp>
      <p:sp>
        <p:nvSpPr>
          <p:cNvPr id="118" name="Google Shape;118;p26"/>
          <p:cNvSpPr txBox="1"/>
          <p:nvPr/>
        </p:nvSpPr>
        <p:spPr>
          <a:xfrm>
            <a:off x="519289" y="2176675"/>
            <a:ext cx="8105422"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Particles in liquids are close together but not tightly packed. The particles can slide over each other and hence, liquids flow. Liquids are also incompressible.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The process that changes the states of matter are:</a:t>
            </a:r>
          </a:p>
          <a:p>
            <a:pPr marL="801688" lvl="0" indent="-342900">
              <a:lnSpc>
                <a:spcPct val="114000"/>
              </a:lnSpc>
              <a:buSzPts val="1800"/>
              <a:buFont typeface="+mj-lt"/>
              <a:buAutoNum type="alphaLcParenR"/>
            </a:pPr>
            <a:r>
              <a:rPr lang="en-US" sz="1600" dirty="0">
                <a:latin typeface="Calibri" panose="020F0502020204030204" pitchFamily="34" charset="0"/>
              </a:rPr>
              <a:t>Melting</a:t>
            </a:r>
          </a:p>
          <a:p>
            <a:pPr marL="801688" lvl="0" indent="-342900">
              <a:lnSpc>
                <a:spcPct val="114000"/>
              </a:lnSpc>
              <a:buSzPts val="1800"/>
              <a:buFont typeface="+mj-lt"/>
              <a:buAutoNum type="alphaLcParenR"/>
            </a:pPr>
            <a:r>
              <a:rPr lang="en-US" sz="1600" dirty="0">
                <a:latin typeface="Calibri" panose="020F0502020204030204" pitchFamily="34" charset="0"/>
              </a:rPr>
              <a:t>Freezing</a:t>
            </a:r>
          </a:p>
          <a:p>
            <a:pPr marL="801688" lvl="0" indent="-342900">
              <a:lnSpc>
                <a:spcPct val="114000"/>
              </a:lnSpc>
              <a:buSzPts val="1800"/>
              <a:buFont typeface="+mj-lt"/>
              <a:buAutoNum type="alphaLcParenR"/>
            </a:pPr>
            <a:r>
              <a:rPr lang="en-US" sz="1600" dirty="0" err="1">
                <a:latin typeface="Calibri" panose="020F0502020204030204" pitchFamily="34" charset="0"/>
              </a:rPr>
              <a:t>Vaporisation</a:t>
            </a:r>
            <a:endParaRPr lang="en-US" sz="1600" dirty="0">
              <a:latin typeface="Calibri" panose="020F0502020204030204" pitchFamily="34" charset="0"/>
            </a:endParaRPr>
          </a:p>
          <a:p>
            <a:pPr marL="801688" lvl="0" indent="-342900">
              <a:lnSpc>
                <a:spcPct val="114000"/>
              </a:lnSpc>
              <a:buSzPts val="1800"/>
              <a:buFont typeface="+mj-lt"/>
              <a:buAutoNum type="alphaLcParenR"/>
            </a:pPr>
            <a:r>
              <a:rPr lang="en-US" sz="1600" dirty="0">
                <a:latin typeface="Calibri" panose="020F0502020204030204" pitchFamily="34" charset="0"/>
              </a:rPr>
              <a:t>Condensation</a:t>
            </a:r>
          </a:p>
          <a:p>
            <a:pPr marL="400050" lvl="0" indent="-285750">
              <a:lnSpc>
                <a:spcPct val="114000"/>
              </a:lnSpc>
              <a:buSzPts val="1800"/>
              <a:buFont typeface="Arial" panose="020B0604020202020204" pitchFamily="34" charset="0"/>
              <a:buChar char="•"/>
            </a:pPr>
            <a:endParaRPr lang="en-US" sz="1600" dirty="0">
              <a:latin typeface="Calibri" panose="020F0502020204030204" pitchFamily="34" charset="0"/>
            </a:endParaRPr>
          </a:p>
        </p:txBody>
      </p:sp>
    </p:spTree>
    <p:extLst>
      <p:ext uri="{BB962C8B-B14F-4D97-AF65-F5344CB8AC3E}">
        <p14:creationId xmlns:p14="http://schemas.microsoft.com/office/powerpoint/2010/main" val="3959064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97559" y="592925"/>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Melting &amp; Freezing</a:t>
            </a:r>
          </a:p>
        </p:txBody>
      </p:sp>
      <p:sp>
        <p:nvSpPr>
          <p:cNvPr id="118" name="Google Shape;118;p26"/>
          <p:cNvSpPr txBox="1"/>
          <p:nvPr/>
        </p:nvSpPr>
        <p:spPr>
          <a:xfrm>
            <a:off x="519289" y="2159257"/>
            <a:ext cx="8105422" cy="2492100"/>
          </a:xfrm>
          <a:prstGeom prst="rect">
            <a:avLst/>
          </a:prstGeom>
          <a:noFill/>
          <a:ln>
            <a:noFill/>
          </a:ln>
        </p:spPr>
        <p:txBody>
          <a:bodyPr spcFirstLastPara="1" wrap="square" lIns="91425" tIns="91425" rIns="91425" bIns="91425" anchor="t" anchorCtr="0">
            <a:noAutofit/>
          </a:bodyPr>
          <a:lstStyle/>
          <a:p>
            <a:pPr marL="114300" lvl="0">
              <a:lnSpc>
                <a:spcPct val="114000"/>
              </a:lnSpc>
              <a:buSzPts val="1800"/>
            </a:pPr>
            <a:r>
              <a:rPr lang="en-US" sz="1600" dirty="0">
                <a:latin typeface="Calibri" panose="020F0502020204030204" pitchFamily="34" charset="0"/>
              </a:rPr>
              <a:t>Melting:</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When a solid is heated, the particles gain kinetic energy and vibrate more vigorously.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As a result,  the force of attraction between the particles weaken.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The temperature at which the solid changes to liquid is called melting point.</a:t>
            </a:r>
          </a:p>
          <a:p>
            <a:pPr marL="114300" lvl="0">
              <a:lnSpc>
                <a:spcPct val="114000"/>
              </a:lnSpc>
              <a:buSzPts val="1800"/>
            </a:pPr>
            <a:r>
              <a:rPr lang="en-US" sz="1600" dirty="0">
                <a:latin typeface="Calibri" panose="020F0502020204030204" pitchFamily="34" charset="0"/>
              </a:rPr>
              <a:t>Freezing:</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When a liquid is cooled, the particles lose kinetic energy and the force of attraction between the particles strengthens.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The temperature at which the liquid changes to solid is called freezing point.</a:t>
            </a:r>
          </a:p>
        </p:txBody>
      </p:sp>
    </p:spTree>
    <p:extLst>
      <p:ext uri="{BB962C8B-B14F-4D97-AF65-F5344CB8AC3E}">
        <p14:creationId xmlns:p14="http://schemas.microsoft.com/office/powerpoint/2010/main" val="3425951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97559" y="592925"/>
            <a:ext cx="6305100" cy="767700"/>
          </a:xfrm>
          <a:prstGeom prst="rect">
            <a:avLst/>
          </a:prstGeom>
        </p:spPr>
        <p:txBody>
          <a:bodyPr spcFirstLastPara="1" wrap="square" lIns="91425" tIns="91425" rIns="91425" bIns="91425" anchor="b" anchorCtr="0">
            <a:noAutofit/>
          </a:bodyPr>
          <a:lstStyle/>
          <a:p>
            <a:pPr marL="114300" lvl="0">
              <a:buSzPts val="1800"/>
            </a:pPr>
            <a:r>
              <a:rPr lang="en-MY" dirty="0" err="1">
                <a:latin typeface="Calibri" panose="020F0502020204030204" pitchFamily="34" charset="0"/>
              </a:rPr>
              <a:t>Vapourisation</a:t>
            </a:r>
            <a:endParaRPr lang="en-MY" dirty="0">
              <a:latin typeface="Calibri" panose="020F0502020204030204" pitchFamily="34" charset="0"/>
            </a:endParaRPr>
          </a:p>
        </p:txBody>
      </p:sp>
      <p:sp>
        <p:nvSpPr>
          <p:cNvPr id="118" name="Google Shape;118;p26"/>
          <p:cNvSpPr txBox="1"/>
          <p:nvPr/>
        </p:nvSpPr>
        <p:spPr>
          <a:xfrm>
            <a:off x="519289" y="2159257"/>
            <a:ext cx="8105422"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When a liquid is heated, the particles gain kinetic energy and vibrate more vigorously.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As a result, the force of attraction between the particles weakens.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Particles at the surface of liquid escape in the form of vapor. This is called as evaporation and occurs at a temperature lower than boiling point.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When the temperature is further increased to boiling point, the liquid boils and the force of attraction between particles throughout the liquid weakens.</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 Now, the particles spread out randomly changing to gaseous state.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The change from liquid state to gaseous state is called as </a:t>
            </a:r>
            <a:r>
              <a:rPr lang="en-US" sz="1600" dirty="0" err="1">
                <a:latin typeface="Calibri" panose="020F0502020204030204" pitchFamily="34" charset="0"/>
              </a:rPr>
              <a:t>vapourisation</a:t>
            </a:r>
            <a:r>
              <a:rPr lang="en-US" sz="1600" dirty="0">
                <a:latin typeface="Calibri" panose="020F0502020204030204" pitchFamily="34" charset="0"/>
              </a:rPr>
              <a:t>. </a:t>
            </a:r>
          </a:p>
        </p:txBody>
      </p:sp>
    </p:spTree>
    <p:extLst>
      <p:ext uri="{BB962C8B-B14F-4D97-AF65-F5344CB8AC3E}">
        <p14:creationId xmlns:p14="http://schemas.microsoft.com/office/powerpoint/2010/main" val="4293575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97559" y="592925"/>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Condensation</a:t>
            </a:r>
          </a:p>
        </p:txBody>
      </p:sp>
      <p:sp>
        <p:nvSpPr>
          <p:cNvPr id="118" name="Google Shape;118;p26"/>
          <p:cNvSpPr txBox="1"/>
          <p:nvPr/>
        </p:nvSpPr>
        <p:spPr>
          <a:xfrm>
            <a:off x="519289" y="2159257"/>
            <a:ext cx="8105422"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When a </a:t>
            </a:r>
            <a:r>
              <a:rPr lang="en-US" sz="1600" dirty="0" err="1">
                <a:latin typeface="Calibri" panose="020F0502020204030204" pitchFamily="34" charset="0"/>
              </a:rPr>
              <a:t>vapour</a:t>
            </a:r>
            <a:r>
              <a:rPr lang="en-US" sz="1600" dirty="0">
                <a:latin typeface="Calibri" panose="020F0502020204030204" pitchFamily="34" charset="0"/>
              </a:rPr>
              <a:t> is cooled, the particles lose kinetic energy and the force of attraction between the particles strengthens.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At a certain temperature, the </a:t>
            </a:r>
            <a:r>
              <a:rPr lang="en-US" sz="1600" dirty="0" err="1">
                <a:latin typeface="Calibri" panose="020F0502020204030204" pitchFamily="34" charset="0"/>
              </a:rPr>
              <a:t>vapour</a:t>
            </a:r>
            <a:r>
              <a:rPr lang="en-US" sz="1600" dirty="0">
                <a:latin typeface="Calibri" panose="020F0502020204030204" pitchFamily="34" charset="0"/>
              </a:rPr>
              <a:t> changes to liquid state. This process is called as condensation. 	</a:t>
            </a:r>
          </a:p>
        </p:txBody>
      </p:sp>
    </p:spTree>
    <p:extLst>
      <p:ext uri="{BB962C8B-B14F-4D97-AF65-F5344CB8AC3E}">
        <p14:creationId xmlns:p14="http://schemas.microsoft.com/office/powerpoint/2010/main" val="355312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97559" y="592925"/>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Vapour pressure</a:t>
            </a:r>
          </a:p>
        </p:txBody>
      </p:sp>
      <p:sp>
        <p:nvSpPr>
          <p:cNvPr id="118" name="Google Shape;118;p26"/>
          <p:cNvSpPr txBox="1"/>
          <p:nvPr/>
        </p:nvSpPr>
        <p:spPr>
          <a:xfrm>
            <a:off x="519289" y="2159257"/>
            <a:ext cx="8105422"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When a liquid is heated in a closed container, the particles escape from the surface in the form of </a:t>
            </a:r>
            <a:r>
              <a:rPr lang="en-US" sz="1600" dirty="0" err="1">
                <a:latin typeface="Calibri" panose="020F0502020204030204" pitchFamily="34" charset="0"/>
              </a:rPr>
              <a:t>vapour</a:t>
            </a:r>
            <a:r>
              <a:rPr lang="en-US" sz="1600" dirty="0">
                <a:latin typeface="Calibri" panose="020F0502020204030204" pitchFamily="34" charset="0"/>
              </a:rPr>
              <a:t> initially.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When more and more particles in </a:t>
            </a:r>
            <a:r>
              <a:rPr lang="en-US" sz="1600" dirty="0" err="1">
                <a:latin typeface="Calibri" panose="020F0502020204030204" pitchFamily="34" charset="0"/>
              </a:rPr>
              <a:t>vapour</a:t>
            </a:r>
            <a:r>
              <a:rPr lang="en-US" sz="1600" dirty="0">
                <a:latin typeface="Calibri" panose="020F0502020204030204" pitchFamily="34" charset="0"/>
              </a:rPr>
              <a:t> state come together, the particles with lower kinetic energy come together to condense and change to liquid state.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At equilibrium, the water molecules change to </a:t>
            </a:r>
            <a:r>
              <a:rPr lang="en-US" sz="1600" dirty="0" err="1">
                <a:latin typeface="Calibri" panose="020F0502020204030204" pitchFamily="34" charset="0"/>
              </a:rPr>
              <a:t>vapour</a:t>
            </a:r>
            <a:r>
              <a:rPr lang="en-US" sz="1600" dirty="0">
                <a:latin typeface="Calibri" panose="020F0502020204030204" pitchFamily="34" charset="0"/>
              </a:rPr>
              <a:t> at the same rate at which it returns to liquid state.</a:t>
            </a:r>
          </a:p>
          <a:p>
            <a:pPr marL="114300" lvl="0" algn="ctr">
              <a:lnSpc>
                <a:spcPct val="114000"/>
              </a:lnSpc>
              <a:buSzPts val="1800"/>
            </a:pPr>
            <a:r>
              <a:rPr lang="en-US" sz="1600" dirty="0">
                <a:latin typeface="Calibri" panose="020F0502020204030204" pitchFamily="34" charset="0"/>
              </a:rPr>
              <a:t>water molecules (liquid state) ⇋ water molecules (</a:t>
            </a:r>
            <a:r>
              <a:rPr lang="en-US" sz="1600" dirty="0" err="1">
                <a:latin typeface="Calibri" panose="020F0502020204030204" pitchFamily="34" charset="0"/>
              </a:rPr>
              <a:t>vapour</a:t>
            </a:r>
            <a:r>
              <a:rPr lang="en-US" sz="1600" dirty="0">
                <a:latin typeface="Calibri" panose="020F0502020204030204" pitchFamily="34" charset="0"/>
              </a:rPr>
              <a:t> state)</a:t>
            </a:r>
          </a:p>
          <a:p>
            <a:pPr marL="114300" lvl="0">
              <a:lnSpc>
                <a:spcPct val="114000"/>
              </a:lnSpc>
              <a:buSzPts val="1800"/>
            </a:pPr>
            <a:endParaRPr lang="en-US" sz="1600" dirty="0">
              <a:latin typeface="Calibri" panose="020F0502020204030204" pitchFamily="34" charset="0"/>
            </a:endParaRPr>
          </a:p>
        </p:txBody>
      </p:sp>
    </p:spTree>
    <p:extLst>
      <p:ext uri="{BB962C8B-B14F-4D97-AF65-F5344CB8AC3E}">
        <p14:creationId xmlns:p14="http://schemas.microsoft.com/office/powerpoint/2010/main" val="13770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97559" y="592925"/>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Vapour pressure</a:t>
            </a:r>
          </a:p>
        </p:txBody>
      </p:sp>
      <p:sp>
        <p:nvSpPr>
          <p:cNvPr id="118" name="Google Shape;118;p26"/>
          <p:cNvSpPr txBox="1"/>
          <p:nvPr/>
        </p:nvSpPr>
        <p:spPr>
          <a:xfrm>
            <a:off x="519289" y="2159257"/>
            <a:ext cx="8105422"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The </a:t>
            </a:r>
            <a:r>
              <a:rPr lang="en-US" sz="1600" dirty="0" err="1">
                <a:latin typeface="Calibri" panose="020F0502020204030204" pitchFamily="34" charset="0"/>
              </a:rPr>
              <a:t>vapour</a:t>
            </a:r>
            <a:r>
              <a:rPr lang="en-US" sz="1600" dirty="0">
                <a:latin typeface="Calibri" panose="020F0502020204030204" pitchFamily="34" charset="0"/>
              </a:rPr>
              <a:t> particles hit the walls of the container and the pressure exerted by </a:t>
            </a:r>
            <a:r>
              <a:rPr lang="en-US" sz="1600" dirty="0" err="1">
                <a:latin typeface="Calibri" panose="020F0502020204030204" pitchFamily="34" charset="0"/>
              </a:rPr>
              <a:t>vapour</a:t>
            </a:r>
            <a:r>
              <a:rPr lang="en-US" sz="1600" dirty="0">
                <a:latin typeface="Calibri" panose="020F0502020204030204" pitchFamily="34" charset="0"/>
              </a:rPr>
              <a:t> at this equilibrium is called </a:t>
            </a:r>
            <a:r>
              <a:rPr lang="en-US" sz="1600" dirty="0" err="1">
                <a:latin typeface="Calibri" panose="020F0502020204030204" pitchFamily="34" charset="0"/>
              </a:rPr>
              <a:t>vapour</a:t>
            </a:r>
            <a:r>
              <a:rPr lang="en-US" sz="1600" dirty="0">
                <a:latin typeface="Calibri" panose="020F0502020204030204" pitchFamily="34" charset="0"/>
              </a:rPr>
              <a:t> pressure. </a:t>
            </a:r>
          </a:p>
          <a:p>
            <a:pPr marL="400050" lvl="0" indent="-285750">
              <a:lnSpc>
                <a:spcPct val="114000"/>
              </a:lnSpc>
              <a:buSzPts val="1800"/>
              <a:buFont typeface="Arial" panose="020B0604020202020204" pitchFamily="34" charset="0"/>
              <a:buChar char="•"/>
            </a:pPr>
            <a:r>
              <a:rPr lang="en-US" sz="1600" dirty="0" err="1">
                <a:latin typeface="Calibri" panose="020F0502020204030204" pitchFamily="34" charset="0"/>
              </a:rPr>
              <a:t>Vapour</a:t>
            </a:r>
            <a:r>
              <a:rPr lang="en-US" sz="1600" dirty="0">
                <a:latin typeface="Calibri" panose="020F0502020204030204" pitchFamily="34" charset="0"/>
              </a:rPr>
              <a:t> pressure increases with temperature because with temperature, the kinetic energy of particles increases, and they hit the walls of the container more vigorously.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 An alternate definition for boiling point is stated with respect to </a:t>
            </a:r>
            <a:r>
              <a:rPr lang="en-US" sz="1600" dirty="0" err="1">
                <a:latin typeface="Calibri" panose="020F0502020204030204" pitchFamily="34" charset="0"/>
              </a:rPr>
              <a:t>vapour</a:t>
            </a:r>
            <a:r>
              <a:rPr lang="en-US" sz="1600" dirty="0">
                <a:latin typeface="Calibri" panose="020F0502020204030204" pitchFamily="34" charset="0"/>
              </a:rPr>
              <a:t> pressure. </a:t>
            </a:r>
            <a:r>
              <a:rPr lang="en-US" sz="1600" b="1" dirty="0">
                <a:latin typeface="Calibri" panose="020F0502020204030204" pitchFamily="34" charset="0"/>
              </a:rPr>
              <a:t>The temperature at which the </a:t>
            </a:r>
            <a:r>
              <a:rPr lang="en-US" sz="1600" b="1" dirty="0" err="1">
                <a:latin typeface="Calibri" panose="020F0502020204030204" pitchFamily="34" charset="0"/>
              </a:rPr>
              <a:t>vapour</a:t>
            </a:r>
            <a:r>
              <a:rPr lang="en-US" sz="1600" b="1" dirty="0">
                <a:latin typeface="Calibri" panose="020F0502020204030204" pitchFamily="34" charset="0"/>
              </a:rPr>
              <a:t> pressure is equal to atmospheric pressure is called boiling point. </a:t>
            </a:r>
          </a:p>
          <a:p>
            <a:pPr marL="114300" lvl="0">
              <a:lnSpc>
                <a:spcPct val="114000"/>
              </a:lnSpc>
              <a:buSzPts val="1800"/>
            </a:pPr>
            <a:endParaRPr lang="en-US" sz="1600" dirty="0">
              <a:latin typeface="Calibri" panose="020F0502020204030204" pitchFamily="34" charset="0"/>
            </a:endParaRPr>
          </a:p>
        </p:txBody>
      </p:sp>
    </p:spTree>
    <p:extLst>
      <p:ext uri="{BB962C8B-B14F-4D97-AF65-F5344CB8AC3E}">
        <p14:creationId xmlns:p14="http://schemas.microsoft.com/office/powerpoint/2010/main" val="1902328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97559" y="592925"/>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Solid state</a:t>
            </a:r>
          </a:p>
        </p:txBody>
      </p:sp>
      <p:sp>
        <p:nvSpPr>
          <p:cNvPr id="118" name="Google Shape;118;p26"/>
          <p:cNvSpPr txBox="1"/>
          <p:nvPr/>
        </p:nvSpPr>
        <p:spPr>
          <a:xfrm>
            <a:off x="519289" y="2159257"/>
            <a:ext cx="8105422"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Particles in solids vibrate at their fixed position and are tightly packed in a lattice structure. Different types of lattice structures are given below:</a:t>
            </a:r>
          </a:p>
          <a:p>
            <a:pPr marL="892175" lvl="0" indent="-342900">
              <a:lnSpc>
                <a:spcPct val="114000"/>
              </a:lnSpc>
              <a:buSzPts val="1800"/>
              <a:buFont typeface="+mj-lt"/>
              <a:buAutoNum type="alphaLcParenR"/>
            </a:pPr>
            <a:r>
              <a:rPr lang="en-US" sz="1600" dirty="0">
                <a:latin typeface="Calibri" panose="020F0502020204030204" pitchFamily="34" charset="0"/>
              </a:rPr>
              <a:t>Ionic lattice</a:t>
            </a:r>
          </a:p>
          <a:p>
            <a:pPr marL="892175" lvl="0" indent="-342900">
              <a:lnSpc>
                <a:spcPct val="114000"/>
              </a:lnSpc>
              <a:buSzPts val="1800"/>
              <a:buFont typeface="+mj-lt"/>
              <a:buAutoNum type="alphaLcParenR"/>
            </a:pPr>
            <a:r>
              <a:rPr lang="en-US" sz="1600" dirty="0">
                <a:latin typeface="Calibri" panose="020F0502020204030204" pitchFamily="34" charset="0"/>
              </a:rPr>
              <a:t>Metallic lattice</a:t>
            </a:r>
          </a:p>
          <a:p>
            <a:pPr marL="892175" lvl="0" indent="-342900">
              <a:lnSpc>
                <a:spcPct val="114000"/>
              </a:lnSpc>
              <a:buSzPts val="1800"/>
              <a:buFont typeface="+mj-lt"/>
              <a:buAutoNum type="alphaLcParenR"/>
            </a:pPr>
            <a:r>
              <a:rPr lang="en-US" sz="1600" dirty="0">
                <a:latin typeface="Calibri" panose="020F0502020204030204" pitchFamily="34" charset="0"/>
              </a:rPr>
              <a:t>Simple molecular lattices</a:t>
            </a:r>
          </a:p>
          <a:p>
            <a:pPr marL="892175" lvl="0" indent="-342900">
              <a:lnSpc>
                <a:spcPct val="114000"/>
              </a:lnSpc>
              <a:buSzPts val="1800"/>
              <a:buFont typeface="+mj-lt"/>
              <a:buAutoNum type="alphaLcParenR"/>
            </a:pPr>
            <a:r>
              <a:rPr lang="en-US" sz="1600" dirty="0">
                <a:latin typeface="Calibri" panose="020F0502020204030204" pitchFamily="34" charset="0"/>
              </a:rPr>
              <a:t>Giant molecular structures</a:t>
            </a:r>
          </a:p>
        </p:txBody>
      </p:sp>
    </p:spTree>
    <p:extLst>
      <p:ext uri="{BB962C8B-B14F-4D97-AF65-F5344CB8AC3E}">
        <p14:creationId xmlns:p14="http://schemas.microsoft.com/office/powerpoint/2010/main" val="691212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378788" y="318150"/>
            <a:ext cx="3837001"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Ionic lattice</a:t>
            </a:r>
            <a:endParaRPr sz="3200" dirty="0">
              <a:solidFill>
                <a:srgbClr val="000000"/>
              </a:solidFill>
              <a:latin typeface="Calibri" panose="020F0502020204030204" pitchFamily="34" charset="0"/>
            </a:endParaRPr>
          </a:p>
        </p:txBody>
      </p:sp>
      <p:sp>
        <p:nvSpPr>
          <p:cNvPr id="124" name="Google Shape;124;p27"/>
          <p:cNvSpPr txBox="1">
            <a:spLocks noGrp="1"/>
          </p:cNvSpPr>
          <p:nvPr>
            <p:ph type="body" idx="2"/>
          </p:nvPr>
        </p:nvSpPr>
        <p:spPr>
          <a:xfrm>
            <a:off x="4928211" y="1130250"/>
            <a:ext cx="3837000" cy="2809572"/>
          </a:xfrm>
          <a:prstGeom prst="rect">
            <a:avLst/>
          </a:prstGeom>
        </p:spPr>
        <p:txBody>
          <a:bodyPr spcFirstLastPara="1" wrap="square" lIns="91425" tIns="91425" rIns="91425" bIns="91425" anchor="t" anchorCtr="0">
            <a:noAutofit/>
          </a:bodyPr>
          <a:lstStyle/>
          <a:p>
            <a:pPr lvl="0" algn="just"/>
            <a:r>
              <a:rPr lang="en-US" sz="1600" dirty="0">
                <a:latin typeface="Calibri" panose="020F0502020204030204" pitchFamily="34" charset="0"/>
              </a:rPr>
              <a:t>Three dimensional structures of ionic compounds that exist in the form of alternate positive and negative ions is called ionic lattice. </a:t>
            </a:r>
          </a:p>
          <a:p>
            <a:pPr marL="0" lvl="0" indent="0" algn="just">
              <a:lnSpc>
                <a:spcPct val="114000"/>
              </a:lnSpc>
              <a:spcBef>
                <a:spcPts val="600"/>
              </a:spcBef>
              <a:buClr>
                <a:srgbClr val="434343"/>
              </a:buClr>
              <a:buSzPts val="1600"/>
              <a:buNone/>
            </a:pPr>
            <a:endParaRPr lang="ar-AE" sz="1400" dirty="0">
              <a:solidFill>
                <a:srgbClr val="000000"/>
              </a:solidFill>
              <a:latin typeface="Arial"/>
              <a:ea typeface="Roboto Condensed"/>
              <a:sym typeface="Roboto Condensed"/>
            </a:endParaRPr>
          </a:p>
          <a:p>
            <a:pPr marL="114300" lvl="0" indent="0" algn="just">
              <a:buNone/>
            </a:pPr>
            <a:endParaRPr lang="en-US" sz="1600" dirty="0">
              <a:latin typeface="Calibri" panose="020F0502020204030204" pitchFamily="34" charset="0"/>
            </a:endParaRPr>
          </a:p>
          <a:p>
            <a:pPr marL="0" lvl="0" indent="0" algn="l" rtl="0">
              <a:spcBef>
                <a:spcPts val="1600"/>
              </a:spcBef>
              <a:spcAft>
                <a:spcPts val="1600"/>
              </a:spcAft>
              <a:buNone/>
            </a:pPr>
            <a:endParaRPr lang="en-MY" sz="1600" dirty="0">
              <a:latin typeface="Calibri" panose="020F0502020204030204" pitchFamily="34" charset="0"/>
            </a:endParaRPr>
          </a:p>
          <a:p>
            <a:pPr marL="0" lvl="0" indent="0" algn="l" rtl="0">
              <a:spcBef>
                <a:spcPts val="1600"/>
              </a:spcBef>
              <a:spcAft>
                <a:spcPts val="1600"/>
              </a:spcAft>
              <a:buNone/>
            </a:pPr>
            <a:endParaRPr sz="1600" dirty="0">
              <a:latin typeface="Calibri" panose="020F0502020204030204" pitchFamily="34" charset="0"/>
            </a:endParaRPr>
          </a:p>
        </p:txBody>
      </p:sp>
      <p:sp>
        <p:nvSpPr>
          <p:cNvPr id="126" name="Google Shape;126;p27"/>
          <p:cNvSpPr txBox="1"/>
          <p:nvPr/>
        </p:nvSpPr>
        <p:spPr>
          <a:xfrm>
            <a:off x="2810933" y="4546950"/>
            <a:ext cx="1523892" cy="278400"/>
          </a:xfrm>
          <a:prstGeom prst="rect">
            <a:avLst/>
          </a:prstGeom>
          <a:noFill/>
          <a:ln>
            <a:noFill/>
          </a:ln>
        </p:spPr>
        <p:txBody>
          <a:bodyPr spcFirstLastPara="1" wrap="square" lIns="91425" tIns="91425" rIns="91425" bIns="91425" anchor="t" anchorCtr="0">
            <a:noAutofit/>
          </a:bodyPr>
          <a:lstStyle/>
          <a:p>
            <a:pPr lvl="0"/>
            <a:r>
              <a:rPr lang="en-US" sz="1100" dirty="0">
                <a:solidFill>
                  <a:srgbClr val="666666"/>
                </a:solidFill>
              </a:rPr>
              <a:t>Giant ionic lattice</a:t>
            </a:r>
            <a:endParaRPr sz="1100" dirty="0">
              <a:solidFill>
                <a:srgbClr val="666666"/>
              </a:solidFill>
            </a:endParaRPr>
          </a:p>
        </p:txBody>
      </p:sp>
      <p:pic>
        <p:nvPicPr>
          <p:cNvPr id="6" name="Google Shape;46;p5">
            <a:extLst>
              <a:ext uri="{FF2B5EF4-FFF2-40B4-BE49-F238E27FC236}">
                <a16:creationId xmlns:a16="http://schemas.microsoft.com/office/drawing/2014/main" id="{5A60BCD4-F3D4-4B81-8436-2E8B83513231}"/>
              </a:ext>
            </a:extLst>
          </p:cNvPr>
          <p:cNvPicPr preferRelativeResize="0"/>
          <p:nvPr/>
        </p:nvPicPr>
        <p:blipFill rotWithShape="1">
          <a:blip r:embed="rId3">
            <a:alphaModFix/>
          </a:blip>
          <a:srcRect/>
          <a:stretch/>
        </p:blipFill>
        <p:spPr>
          <a:xfrm>
            <a:off x="1290843" y="1926677"/>
            <a:ext cx="2187438" cy="1481813"/>
          </a:xfrm>
          <a:prstGeom prst="rect">
            <a:avLst/>
          </a:prstGeom>
          <a:noFill/>
          <a:ln>
            <a:noFill/>
          </a:ln>
        </p:spPr>
      </p:pic>
    </p:spTree>
    <p:extLst>
      <p:ext uri="{BB962C8B-B14F-4D97-AF65-F5344CB8AC3E}">
        <p14:creationId xmlns:p14="http://schemas.microsoft.com/office/powerpoint/2010/main" val="2886670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97559" y="592925"/>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Ionic lattice: properties</a:t>
            </a:r>
          </a:p>
        </p:txBody>
      </p:sp>
      <p:sp>
        <p:nvSpPr>
          <p:cNvPr id="118" name="Google Shape;118;p26"/>
          <p:cNvSpPr txBox="1"/>
          <p:nvPr/>
        </p:nvSpPr>
        <p:spPr>
          <a:xfrm>
            <a:off x="434622" y="2058475"/>
            <a:ext cx="8274755"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Hard: Due to the strong electrostatic force of attraction between oppositely charged ions, it is hard to break these forces by scratching the surface.</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Brittle: Force applied along the layers displaces the ions. Due to this displacement, like charges come near to each other and the force of repulsion between like charges disrupts the bonding.</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High melting and boiling points: The melting and boiling points increases with charge density. The melting point of MgO is higher than that of NaCl. The ionic bond of MgO is stronger than NaCl because Mg</a:t>
            </a:r>
            <a:r>
              <a:rPr lang="en-US" sz="1600" baseline="30000" dirty="0">
                <a:latin typeface="Calibri" panose="020F0502020204030204" pitchFamily="34" charset="0"/>
              </a:rPr>
              <a:t>2+</a:t>
            </a:r>
            <a:r>
              <a:rPr lang="en-US" sz="1600" dirty="0">
                <a:latin typeface="Calibri" panose="020F0502020204030204" pitchFamily="34" charset="0"/>
              </a:rPr>
              <a:t> and O</a:t>
            </a:r>
            <a:r>
              <a:rPr lang="en-US" sz="1600" baseline="30000" dirty="0">
                <a:latin typeface="Calibri" panose="020F0502020204030204" pitchFamily="34" charset="0"/>
              </a:rPr>
              <a:t>2-</a:t>
            </a:r>
            <a:r>
              <a:rPr lang="en-US" sz="1600" dirty="0">
                <a:latin typeface="Calibri" panose="020F0502020204030204" pitchFamily="34" charset="0"/>
              </a:rPr>
              <a:t> has greater charge when compared to Na</a:t>
            </a:r>
            <a:r>
              <a:rPr lang="en-US" sz="1600" baseline="30000" dirty="0">
                <a:latin typeface="Calibri" panose="020F0502020204030204" pitchFamily="34" charset="0"/>
              </a:rPr>
              <a:t>+</a:t>
            </a:r>
            <a:r>
              <a:rPr lang="en-US" sz="1600" dirty="0">
                <a:latin typeface="Calibri" panose="020F0502020204030204" pitchFamily="34" charset="0"/>
              </a:rPr>
              <a:t> and Cl</a:t>
            </a:r>
            <a:r>
              <a:rPr lang="en-US" sz="1600" baseline="30000" dirty="0">
                <a:latin typeface="Calibri" panose="020F0502020204030204" pitchFamily="34" charset="0"/>
              </a:rPr>
              <a:t>-</a:t>
            </a:r>
            <a:r>
              <a:rPr lang="en-US" sz="1600" dirty="0">
                <a:latin typeface="Calibri" panose="020F0502020204030204" pitchFamily="34" charset="0"/>
              </a:rPr>
              <a:t>.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Soluble in water</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Conduct electricity in molten state or in solution</a:t>
            </a:r>
          </a:p>
        </p:txBody>
      </p:sp>
    </p:spTree>
    <p:extLst>
      <p:ext uri="{BB962C8B-B14F-4D97-AF65-F5344CB8AC3E}">
        <p14:creationId xmlns:p14="http://schemas.microsoft.com/office/powerpoint/2010/main" val="691049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378788" y="318150"/>
            <a:ext cx="3837001"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Metallic lattice</a:t>
            </a:r>
            <a:endParaRPr sz="3200" dirty="0">
              <a:solidFill>
                <a:srgbClr val="000000"/>
              </a:solidFill>
              <a:latin typeface="Calibri" panose="020F0502020204030204" pitchFamily="34" charset="0"/>
            </a:endParaRPr>
          </a:p>
        </p:txBody>
      </p:sp>
      <p:sp>
        <p:nvSpPr>
          <p:cNvPr id="124" name="Google Shape;124;p27"/>
          <p:cNvSpPr txBox="1">
            <a:spLocks noGrp="1"/>
          </p:cNvSpPr>
          <p:nvPr>
            <p:ph type="body" idx="2"/>
          </p:nvPr>
        </p:nvSpPr>
        <p:spPr>
          <a:xfrm>
            <a:off x="4928211" y="1021068"/>
            <a:ext cx="3837000" cy="2809572"/>
          </a:xfrm>
          <a:prstGeom prst="rect">
            <a:avLst/>
          </a:prstGeom>
        </p:spPr>
        <p:txBody>
          <a:bodyPr spcFirstLastPara="1" wrap="square" lIns="91425" tIns="91425" rIns="91425" bIns="91425" anchor="t" anchorCtr="0">
            <a:noAutofit/>
          </a:bodyPr>
          <a:lstStyle/>
          <a:p>
            <a:pPr lvl="0"/>
            <a:r>
              <a:rPr lang="en-US" sz="1600" dirty="0">
                <a:latin typeface="Calibri" panose="020F0502020204030204" pitchFamily="34" charset="0"/>
              </a:rPr>
              <a:t>Metals are good conductors of electricity and non-metals are poor conductors of electricity. </a:t>
            </a:r>
          </a:p>
          <a:p>
            <a:pPr lvl="0"/>
            <a:r>
              <a:rPr lang="en-US" sz="1600" dirty="0">
                <a:latin typeface="Calibri" panose="020F0502020204030204" pitchFamily="34" charset="0"/>
              </a:rPr>
              <a:t>Metals are bonded in giant lattice structure held together by strong electrostatic force of attraction between positive ions and free electrons. </a:t>
            </a:r>
          </a:p>
          <a:p>
            <a:pPr lvl="0"/>
            <a:r>
              <a:rPr lang="en-US" sz="1600" dirty="0">
                <a:latin typeface="Calibri" panose="020F0502020204030204" pitchFamily="34" charset="0"/>
              </a:rPr>
              <a:t>Free electrons are the valence electrons of the atoms. </a:t>
            </a:r>
            <a:endParaRPr lang="ar-AE" sz="1400" dirty="0">
              <a:solidFill>
                <a:srgbClr val="000000"/>
              </a:solidFill>
              <a:latin typeface="Arial"/>
              <a:ea typeface="Roboto Condensed"/>
              <a:sym typeface="Roboto Condensed"/>
            </a:endParaRPr>
          </a:p>
          <a:p>
            <a:pPr marL="114300" lvl="0" indent="0">
              <a:buNone/>
            </a:pPr>
            <a:endParaRPr lang="en-US" sz="1600" dirty="0">
              <a:latin typeface="Calibri" panose="020F0502020204030204" pitchFamily="34" charset="0"/>
            </a:endParaRPr>
          </a:p>
          <a:p>
            <a:pPr marL="0" lvl="0" indent="0" rtl="0">
              <a:spcBef>
                <a:spcPts val="1600"/>
              </a:spcBef>
              <a:spcAft>
                <a:spcPts val="1600"/>
              </a:spcAft>
              <a:buNone/>
            </a:pPr>
            <a:endParaRPr lang="en-MY" sz="1600" dirty="0">
              <a:latin typeface="Calibri" panose="020F0502020204030204" pitchFamily="34" charset="0"/>
            </a:endParaRPr>
          </a:p>
          <a:p>
            <a:pPr marL="0" lvl="0" indent="0" rtl="0">
              <a:spcBef>
                <a:spcPts val="1600"/>
              </a:spcBef>
              <a:spcAft>
                <a:spcPts val="1600"/>
              </a:spcAft>
              <a:buNone/>
            </a:pPr>
            <a:endParaRPr sz="1600" dirty="0">
              <a:latin typeface="Calibri" panose="020F0502020204030204" pitchFamily="34" charset="0"/>
            </a:endParaRPr>
          </a:p>
        </p:txBody>
      </p:sp>
      <p:sp>
        <p:nvSpPr>
          <p:cNvPr id="126" name="Google Shape;126;p27"/>
          <p:cNvSpPr txBox="1"/>
          <p:nvPr/>
        </p:nvSpPr>
        <p:spPr>
          <a:xfrm>
            <a:off x="2810933" y="4546950"/>
            <a:ext cx="1523892" cy="278400"/>
          </a:xfrm>
          <a:prstGeom prst="rect">
            <a:avLst/>
          </a:prstGeom>
          <a:noFill/>
          <a:ln>
            <a:noFill/>
          </a:ln>
        </p:spPr>
        <p:txBody>
          <a:bodyPr spcFirstLastPara="1" wrap="square" lIns="91425" tIns="91425" rIns="91425" bIns="91425" anchor="t" anchorCtr="0">
            <a:noAutofit/>
          </a:bodyPr>
          <a:lstStyle/>
          <a:p>
            <a:pPr lvl="0"/>
            <a:r>
              <a:rPr lang="en-US" sz="1100" dirty="0">
                <a:solidFill>
                  <a:srgbClr val="666666"/>
                </a:solidFill>
              </a:rPr>
              <a:t>Metallic lattice</a:t>
            </a:r>
            <a:endParaRPr sz="1100" dirty="0">
              <a:solidFill>
                <a:srgbClr val="666666"/>
              </a:solidFill>
            </a:endParaRPr>
          </a:p>
        </p:txBody>
      </p:sp>
      <p:pic>
        <p:nvPicPr>
          <p:cNvPr id="7" name="Picture 6">
            <a:extLst>
              <a:ext uri="{FF2B5EF4-FFF2-40B4-BE49-F238E27FC236}">
                <a16:creationId xmlns:a16="http://schemas.microsoft.com/office/drawing/2014/main" id="{7654FC4F-0D12-48A0-B1F1-3821533A5494}"/>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434958" y="2217043"/>
            <a:ext cx="1724660" cy="1167130"/>
          </a:xfrm>
          <a:prstGeom prst="rect">
            <a:avLst/>
          </a:prstGeom>
        </p:spPr>
      </p:pic>
    </p:spTree>
    <p:extLst>
      <p:ext uri="{BB962C8B-B14F-4D97-AF65-F5344CB8AC3E}">
        <p14:creationId xmlns:p14="http://schemas.microsoft.com/office/powerpoint/2010/main" val="187760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97559" y="660658"/>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Metallic lattice: strength of metallic bonding</a:t>
            </a:r>
          </a:p>
        </p:txBody>
      </p:sp>
      <p:sp>
        <p:nvSpPr>
          <p:cNvPr id="118" name="Google Shape;118;p26"/>
          <p:cNvSpPr txBox="1"/>
          <p:nvPr/>
        </p:nvSpPr>
        <p:spPr>
          <a:xfrm>
            <a:off x="434622" y="2318120"/>
            <a:ext cx="7580489"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The strength of metallic bonding depends on number of factors such as:</a:t>
            </a:r>
          </a:p>
          <a:p>
            <a:pPr marL="801688" lvl="0" indent="-342900">
              <a:lnSpc>
                <a:spcPct val="114000"/>
              </a:lnSpc>
              <a:buSzPts val="1800"/>
              <a:buFont typeface="+mj-lt"/>
              <a:buAutoNum type="alphaLcParenR"/>
            </a:pPr>
            <a:r>
              <a:rPr lang="en-US" sz="1600" dirty="0">
                <a:latin typeface="Calibri" panose="020F0502020204030204" pitchFamily="34" charset="0"/>
              </a:rPr>
              <a:t>Number of protons: The more the protons, stronger the force of attraction and stronger is the bond.</a:t>
            </a:r>
          </a:p>
          <a:p>
            <a:pPr marL="801688" lvl="0" indent="-342900">
              <a:lnSpc>
                <a:spcPct val="114000"/>
              </a:lnSpc>
              <a:buSzPts val="1800"/>
              <a:buFont typeface="+mj-lt"/>
              <a:buAutoNum type="alphaLcParenR"/>
            </a:pPr>
            <a:r>
              <a:rPr lang="en-US" sz="1600" dirty="0">
                <a:latin typeface="Calibri" panose="020F0502020204030204" pitchFamily="34" charset="0"/>
              </a:rPr>
              <a:t>Number of free electrons: The more the number of free electrons, the stronger the bond.</a:t>
            </a:r>
          </a:p>
          <a:p>
            <a:pPr marL="801688" lvl="0" indent="-342900">
              <a:lnSpc>
                <a:spcPct val="114000"/>
              </a:lnSpc>
              <a:buSzPts val="1800"/>
              <a:buFont typeface="+mj-lt"/>
              <a:buAutoNum type="alphaLcParenR"/>
            </a:pPr>
            <a:r>
              <a:rPr lang="en-US" sz="1600" dirty="0">
                <a:latin typeface="Calibri" panose="020F0502020204030204" pitchFamily="34" charset="0"/>
              </a:rPr>
              <a:t>Size of ion: The smaller the ion, the stronger the bond.</a:t>
            </a:r>
          </a:p>
        </p:txBody>
      </p:sp>
    </p:spTree>
    <p:extLst>
      <p:ext uri="{BB962C8B-B14F-4D97-AF65-F5344CB8AC3E}">
        <p14:creationId xmlns:p14="http://schemas.microsoft.com/office/powerpoint/2010/main" val="39375319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97559" y="592925"/>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Metallic lattice: properties</a:t>
            </a:r>
          </a:p>
        </p:txBody>
      </p:sp>
      <p:sp>
        <p:nvSpPr>
          <p:cNvPr id="118" name="Google Shape;118;p26"/>
          <p:cNvSpPr txBox="1"/>
          <p:nvPr/>
        </p:nvSpPr>
        <p:spPr>
          <a:xfrm>
            <a:off x="434622" y="2318120"/>
            <a:ext cx="7580489"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When a force is applied, the layers slide over each other. As they slide, they form new bonds at a different lattice position.</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Some of the properties of metals are:</a:t>
            </a:r>
          </a:p>
          <a:p>
            <a:pPr marL="722313" lvl="0" indent="-342900">
              <a:lnSpc>
                <a:spcPct val="114000"/>
              </a:lnSpc>
              <a:buSzPts val="1800"/>
              <a:buFont typeface="+mj-lt"/>
              <a:buAutoNum type="alphaLcParenR"/>
            </a:pPr>
            <a:r>
              <a:rPr lang="en-US" sz="1600" dirty="0">
                <a:latin typeface="Calibri" panose="020F0502020204030204" pitchFamily="34" charset="0"/>
              </a:rPr>
              <a:t>Hard: Due to strong electrostatic force of attraction between metal ions and free electrons</a:t>
            </a:r>
          </a:p>
          <a:p>
            <a:pPr marL="722313" lvl="0" indent="-342900">
              <a:lnSpc>
                <a:spcPct val="114000"/>
              </a:lnSpc>
              <a:buSzPts val="1800"/>
              <a:buFont typeface="+mj-lt"/>
              <a:buAutoNum type="alphaLcParenR"/>
            </a:pPr>
            <a:r>
              <a:rPr lang="en-US" sz="1600" dirty="0">
                <a:latin typeface="Calibri" panose="020F0502020204030204" pitchFamily="34" charset="0"/>
              </a:rPr>
              <a:t>Malleable: Metals can be hammered to different shapes</a:t>
            </a:r>
          </a:p>
          <a:p>
            <a:pPr marL="722313" lvl="0" indent="-342900">
              <a:lnSpc>
                <a:spcPct val="114000"/>
              </a:lnSpc>
              <a:buSzPts val="1800"/>
              <a:buFont typeface="+mj-lt"/>
              <a:buAutoNum type="alphaLcParenR"/>
            </a:pPr>
            <a:r>
              <a:rPr lang="en-US" sz="1600" dirty="0">
                <a:latin typeface="Calibri" panose="020F0502020204030204" pitchFamily="34" charset="0"/>
              </a:rPr>
              <a:t>Ductile: Metals can be drawn in the form of wires</a:t>
            </a:r>
          </a:p>
          <a:p>
            <a:pPr marL="722313" lvl="0" indent="-342900">
              <a:lnSpc>
                <a:spcPct val="114000"/>
              </a:lnSpc>
              <a:buSzPts val="1800"/>
              <a:buFont typeface="+mj-lt"/>
              <a:buAutoNum type="alphaLcParenR"/>
            </a:pPr>
            <a:r>
              <a:rPr lang="en-US" sz="1600" dirty="0">
                <a:latin typeface="Calibri" panose="020F0502020204030204" pitchFamily="34" charset="0"/>
              </a:rPr>
              <a:t>High tensile strength</a:t>
            </a:r>
          </a:p>
          <a:p>
            <a:pPr marL="722313" lvl="0" indent="-342900">
              <a:lnSpc>
                <a:spcPct val="114000"/>
              </a:lnSpc>
              <a:buSzPts val="1800"/>
              <a:buFont typeface="+mj-lt"/>
              <a:buAutoNum type="alphaLcParenR"/>
            </a:pPr>
            <a:r>
              <a:rPr lang="en-US" sz="1600" dirty="0">
                <a:latin typeface="Calibri" panose="020F0502020204030204" pitchFamily="34" charset="0"/>
              </a:rPr>
              <a:t>Good conductors of electricity</a:t>
            </a:r>
          </a:p>
          <a:p>
            <a:pPr marL="114300" lvl="0">
              <a:lnSpc>
                <a:spcPct val="114000"/>
              </a:lnSpc>
              <a:buSzPts val="1800"/>
            </a:pPr>
            <a:endParaRPr lang="en-US" sz="1600" dirty="0">
              <a:latin typeface="Calibri" panose="020F0502020204030204" pitchFamily="34" charset="0"/>
            </a:endParaRPr>
          </a:p>
        </p:txBody>
      </p:sp>
    </p:spTree>
    <p:extLst>
      <p:ext uri="{BB962C8B-B14F-4D97-AF65-F5344CB8AC3E}">
        <p14:creationId xmlns:p14="http://schemas.microsoft.com/office/powerpoint/2010/main" val="2252309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97559" y="592925"/>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Metallic lattice: Alloys</a:t>
            </a:r>
          </a:p>
        </p:txBody>
      </p:sp>
      <p:sp>
        <p:nvSpPr>
          <p:cNvPr id="118" name="Google Shape;118;p26"/>
          <p:cNvSpPr txBox="1"/>
          <p:nvPr/>
        </p:nvSpPr>
        <p:spPr>
          <a:xfrm>
            <a:off x="355600" y="2193942"/>
            <a:ext cx="8223956"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Alloy is a mixture of two or more metals or a metal and a non-metal.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For example: Brass is an alloy of 70 % of copper and 30 % of zinc.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Due to the presence of zinc ions, that are larger than copper ions, the layers of brass do not slide over each other as easily as in the case of copper.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The lattice structure of brass is not easily disturbed. Thus, brass is stronger than copper but malleable.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Bronze is an alloy of copper and tin.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Aluminum has excellent thermal and electrical conductivity but light weight. To enhance its strength, it is mixed with other metals such as copper, manganese, etc. to form alloys.</a:t>
            </a:r>
          </a:p>
          <a:p>
            <a:pPr marL="114300" lvl="0">
              <a:lnSpc>
                <a:spcPct val="114000"/>
              </a:lnSpc>
              <a:buSzPts val="1800"/>
            </a:pPr>
            <a:endParaRPr lang="en-US" sz="1600" dirty="0">
              <a:latin typeface="Calibri" panose="020F0502020204030204" pitchFamily="34" charset="0"/>
            </a:endParaRPr>
          </a:p>
        </p:txBody>
      </p:sp>
    </p:spTree>
    <p:extLst>
      <p:ext uri="{BB962C8B-B14F-4D97-AF65-F5344CB8AC3E}">
        <p14:creationId xmlns:p14="http://schemas.microsoft.com/office/powerpoint/2010/main" val="2568128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378788" y="318150"/>
            <a:ext cx="3837001"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Simple molecular lattices</a:t>
            </a:r>
            <a:endParaRPr sz="3200" dirty="0">
              <a:solidFill>
                <a:srgbClr val="000000"/>
              </a:solidFill>
              <a:latin typeface="Calibri" panose="020F0502020204030204" pitchFamily="34" charset="0"/>
            </a:endParaRPr>
          </a:p>
        </p:txBody>
      </p:sp>
      <p:sp>
        <p:nvSpPr>
          <p:cNvPr id="124" name="Google Shape;124;p27"/>
          <p:cNvSpPr txBox="1">
            <a:spLocks noGrp="1"/>
          </p:cNvSpPr>
          <p:nvPr>
            <p:ph type="body" idx="2"/>
          </p:nvPr>
        </p:nvSpPr>
        <p:spPr>
          <a:xfrm>
            <a:off x="4928211" y="1021068"/>
            <a:ext cx="3837000" cy="2809572"/>
          </a:xfrm>
          <a:prstGeom prst="rect">
            <a:avLst/>
          </a:prstGeom>
        </p:spPr>
        <p:txBody>
          <a:bodyPr spcFirstLastPara="1" wrap="square" lIns="91425" tIns="91425" rIns="91425" bIns="91425" anchor="t" anchorCtr="0">
            <a:noAutofit/>
          </a:bodyPr>
          <a:lstStyle/>
          <a:p>
            <a:pPr lvl="0"/>
            <a:r>
              <a:rPr lang="en-US" sz="1600" dirty="0">
                <a:latin typeface="Calibri" panose="020F0502020204030204" pitchFamily="34" charset="0"/>
              </a:rPr>
              <a:t>The structure of crystals of iodine where the iodine molecules are held by strong instantaneous dipole forces in shown in the diagram.</a:t>
            </a:r>
          </a:p>
          <a:p>
            <a:pPr lvl="0"/>
            <a:r>
              <a:rPr lang="en-US" sz="1600" dirty="0">
                <a:latin typeface="Calibri" panose="020F0502020204030204" pitchFamily="34" charset="0"/>
              </a:rPr>
              <a:t>In solid argon, the molecules are held together by weak instantaneous dipole forces. </a:t>
            </a:r>
          </a:p>
          <a:p>
            <a:pPr lvl="0"/>
            <a:r>
              <a:rPr lang="en-US" sz="1600" dirty="0">
                <a:latin typeface="Calibri" panose="020F0502020204030204" pitchFamily="34" charset="0"/>
              </a:rPr>
              <a:t>In solid hydrogen chloride, strong dipole-dipole forces exist. </a:t>
            </a:r>
          </a:p>
          <a:p>
            <a:pPr lvl="0"/>
            <a:endParaRPr lang="en-US" sz="1600" dirty="0">
              <a:latin typeface="Calibri" panose="020F0502020204030204" pitchFamily="34" charset="0"/>
            </a:endParaRPr>
          </a:p>
          <a:p>
            <a:pPr lvl="0"/>
            <a:endParaRPr lang="en-US" sz="1600" dirty="0">
              <a:latin typeface="Calibri" panose="020F0502020204030204" pitchFamily="34" charset="0"/>
            </a:endParaRPr>
          </a:p>
          <a:p>
            <a:pPr marL="0" lvl="0" indent="0" rtl="0">
              <a:spcBef>
                <a:spcPts val="1600"/>
              </a:spcBef>
              <a:spcAft>
                <a:spcPts val="1600"/>
              </a:spcAft>
              <a:buNone/>
            </a:pPr>
            <a:endParaRPr lang="en-MY" sz="1600" dirty="0">
              <a:latin typeface="Calibri" panose="020F0502020204030204" pitchFamily="34" charset="0"/>
            </a:endParaRPr>
          </a:p>
          <a:p>
            <a:pPr marL="0" lvl="0" indent="0" rtl="0">
              <a:spcBef>
                <a:spcPts val="1600"/>
              </a:spcBef>
              <a:spcAft>
                <a:spcPts val="1600"/>
              </a:spcAft>
              <a:buNone/>
            </a:pPr>
            <a:endParaRPr lang="en-MY" sz="1600" dirty="0">
              <a:latin typeface="Calibri" panose="020F0502020204030204" pitchFamily="34" charset="0"/>
            </a:endParaRPr>
          </a:p>
          <a:p>
            <a:pPr marL="0" lvl="0" indent="0" rtl="0">
              <a:spcBef>
                <a:spcPts val="1600"/>
              </a:spcBef>
              <a:spcAft>
                <a:spcPts val="1600"/>
              </a:spcAft>
              <a:buNone/>
            </a:pPr>
            <a:endParaRPr sz="1600" dirty="0">
              <a:latin typeface="Calibri" panose="020F0502020204030204" pitchFamily="34" charset="0"/>
            </a:endParaRPr>
          </a:p>
        </p:txBody>
      </p:sp>
      <p:sp>
        <p:nvSpPr>
          <p:cNvPr id="126" name="Google Shape;126;p27"/>
          <p:cNvSpPr txBox="1"/>
          <p:nvPr/>
        </p:nvSpPr>
        <p:spPr>
          <a:xfrm>
            <a:off x="2810933" y="4546950"/>
            <a:ext cx="1523892" cy="278400"/>
          </a:xfrm>
          <a:prstGeom prst="rect">
            <a:avLst/>
          </a:prstGeom>
          <a:noFill/>
          <a:ln>
            <a:noFill/>
          </a:ln>
        </p:spPr>
        <p:txBody>
          <a:bodyPr spcFirstLastPara="1" wrap="square" lIns="91425" tIns="91425" rIns="91425" bIns="91425" anchor="t" anchorCtr="0">
            <a:noAutofit/>
          </a:bodyPr>
          <a:lstStyle/>
          <a:p>
            <a:pPr lvl="0"/>
            <a:r>
              <a:rPr lang="en-US" sz="1100" dirty="0">
                <a:solidFill>
                  <a:srgbClr val="666666"/>
                </a:solidFill>
              </a:rPr>
              <a:t>Simple molecular lattice</a:t>
            </a:r>
            <a:endParaRPr sz="1100" dirty="0">
              <a:solidFill>
                <a:srgbClr val="666666"/>
              </a:solidFill>
            </a:endParaRPr>
          </a:p>
        </p:txBody>
      </p:sp>
      <p:pic>
        <p:nvPicPr>
          <p:cNvPr id="6" name="Picture 5">
            <a:extLst>
              <a:ext uri="{FF2B5EF4-FFF2-40B4-BE49-F238E27FC236}">
                <a16:creationId xmlns:a16="http://schemas.microsoft.com/office/drawing/2014/main" id="{D05922FC-983B-4EFF-96A4-FB5D6C8D3E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649" y="1896342"/>
            <a:ext cx="3029310" cy="1927309"/>
          </a:xfrm>
          <a:prstGeom prst="rect">
            <a:avLst/>
          </a:prstGeom>
        </p:spPr>
      </p:pic>
    </p:spTree>
    <p:extLst>
      <p:ext uri="{BB962C8B-B14F-4D97-AF65-F5344CB8AC3E}">
        <p14:creationId xmlns:p14="http://schemas.microsoft.com/office/powerpoint/2010/main" val="3651929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378788" y="318150"/>
            <a:ext cx="3837001"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Simple molecular lattices</a:t>
            </a:r>
            <a:endParaRPr sz="3200" dirty="0">
              <a:solidFill>
                <a:srgbClr val="000000"/>
              </a:solidFill>
              <a:latin typeface="Calibri" panose="020F0502020204030204" pitchFamily="34" charset="0"/>
            </a:endParaRPr>
          </a:p>
        </p:txBody>
      </p:sp>
      <p:sp>
        <p:nvSpPr>
          <p:cNvPr id="124" name="Google Shape;124;p27"/>
          <p:cNvSpPr txBox="1">
            <a:spLocks noGrp="1"/>
          </p:cNvSpPr>
          <p:nvPr>
            <p:ph type="body" idx="2"/>
          </p:nvPr>
        </p:nvSpPr>
        <p:spPr>
          <a:xfrm>
            <a:off x="4804033" y="582196"/>
            <a:ext cx="4125478" cy="2809572"/>
          </a:xfrm>
          <a:prstGeom prst="rect">
            <a:avLst/>
          </a:prstGeom>
        </p:spPr>
        <p:txBody>
          <a:bodyPr spcFirstLastPara="1" wrap="square" lIns="91425" tIns="91425" rIns="91425" bIns="91425" anchor="t" anchorCtr="0">
            <a:noAutofit/>
          </a:bodyPr>
          <a:lstStyle/>
          <a:p>
            <a:pPr lvl="0"/>
            <a:r>
              <a:rPr lang="en-US" sz="1600" dirty="0">
                <a:latin typeface="Calibri" panose="020F0502020204030204" pitchFamily="34" charset="0"/>
              </a:rPr>
              <a:t>Ice also forms crystalline lattice structure. </a:t>
            </a:r>
          </a:p>
          <a:p>
            <a:pPr lvl="0"/>
            <a:r>
              <a:rPr lang="en-US" sz="1600" dirty="0">
                <a:latin typeface="Calibri" panose="020F0502020204030204" pitchFamily="34" charset="0"/>
              </a:rPr>
              <a:t>The properties of ice and water are anomalous due to the presence of hydrogen bonding. </a:t>
            </a:r>
          </a:p>
          <a:p>
            <a:pPr lvl="0"/>
            <a:r>
              <a:rPr lang="en-US" sz="1600" dirty="0">
                <a:latin typeface="Calibri" panose="020F0502020204030204" pitchFamily="34" charset="0"/>
              </a:rPr>
              <a:t>For example: ice is less dense than water and they have relatively high melting points and boiling points compared to other hydrides of group 16. </a:t>
            </a:r>
          </a:p>
          <a:p>
            <a:pPr lvl="0"/>
            <a:r>
              <a:rPr lang="en-US" sz="1600" dirty="0">
                <a:latin typeface="Calibri" panose="020F0502020204030204" pitchFamily="34" charset="0"/>
              </a:rPr>
              <a:t>Strong hydrogen bonding exists  in Sucrose (C</a:t>
            </a:r>
            <a:r>
              <a:rPr lang="en-US" sz="1600" baseline="-25000" dirty="0">
                <a:latin typeface="Calibri" panose="020F0502020204030204" pitchFamily="34" charset="0"/>
              </a:rPr>
              <a:t>12</a:t>
            </a:r>
            <a:r>
              <a:rPr lang="en-US" sz="1600" dirty="0">
                <a:latin typeface="Calibri" panose="020F0502020204030204" pitchFamily="34" charset="0"/>
              </a:rPr>
              <a:t>H</a:t>
            </a:r>
            <a:r>
              <a:rPr lang="en-US" sz="1600" baseline="-25000" dirty="0">
                <a:latin typeface="Calibri" panose="020F0502020204030204" pitchFamily="34" charset="0"/>
              </a:rPr>
              <a:t>22</a:t>
            </a:r>
            <a:r>
              <a:rPr lang="en-US" sz="1600" dirty="0">
                <a:latin typeface="Calibri" panose="020F0502020204030204" pitchFamily="34" charset="0"/>
              </a:rPr>
              <a:t>O</a:t>
            </a:r>
            <a:r>
              <a:rPr lang="en-US" sz="1600" baseline="-25000" dirty="0">
                <a:latin typeface="Calibri" panose="020F0502020204030204" pitchFamily="34" charset="0"/>
              </a:rPr>
              <a:t>11</a:t>
            </a:r>
            <a:r>
              <a:rPr lang="en-US" sz="1600" dirty="0">
                <a:latin typeface="Calibri" panose="020F0502020204030204" pitchFamily="34" charset="0"/>
              </a:rPr>
              <a:t>).</a:t>
            </a:r>
          </a:p>
          <a:p>
            <a:pPr lvl="0"/>
            <a:r>
              <a:rPr lang="en-US" sz="1600" dirty="0">
                <a:latin typeface="Calibri" panose="020F0502020204030204" pitchFamily="34" charset="0"/>
              </a:rPr>
              <a:t>Based on the strength of the intermolecular forces, the increasing order of melting points is argon &lt; hydrogen chloride  &lt; water &lt; iodine &lt; sucrose.</a:t>
            </a:r>
          </a:p>
          <a:p>
            <a:pPr lvl="0"/>
            <a:endParaRPr lang="en-US" sz="1600" dirty="0">
              <a:latin typeface="Calibri" panose="020F0502020204030204" pitchFamily="34" charset="0"/>
            </a:endParaRPr>
          </a:p>
          <a:p>
            <a:pPr lvl="0"/>
            <a:endParaRPr lang="en-US" sz="1600" dirty="0">
              <a:latin typeface="Calibri" panose="020F0502020204030204" pitchFamily="34" charset="0"/>
            </a:endParaRPr>
          </a:p>
          <a:p>
            <a:pPr marL="0" lvl="0" indent="0" rtl="0">
              <a:spcBef>
                <a:spcPts val="1600"/>
              </a:spcBef>
              <a:spcAft>
                <a:spcPts val="1600"/>
              </a:spcAft>
              <a:buNone/>
            </a:pPr>
            <a:endParaRPr lang="en-MY" sz="1600" dirty="0">
              <a:latin typeface="Calibri" panose="020F0502020204030204" pitchFamily="34" charset="0"/>
            </a:endParaRPr>
          </a:p>
          <a:p>
            <a:pPr marL="0" lvl="0" indent="0" rtl="0">
              <a:spcBef>
                <a:spcPts val="1600"/>
              </a:spcBef>
              <a:spcAft>
                <a:spcPts val="1600"/>
              </a:spcAft>
              <a:buNone/>
            </a:pPr>
            <a:endParaRPr lang="en-MY" sz="1600" dirty="0">
              <a:latin typeface="Calibri" panose="020F0502020204030204" pitchFamily="34" charset="0"/>
            </a:endParaRPr>
          </a:p>
          <a:p>
            <a:pPr marL="0" lvl="0" indent="0" rtl="0">
              <a:spcBef>
                <a:spcPts val="1600"/>
              </a:spcBef>
              <a:spcAft>
                <a:spcPts val="1600"/>
              </a:spcAft>
              <a:buNone/>
            </a:pPr>
            <a:endParaRPr sz="1600" dirty="0">
              <a:latin typeface="Calibri" panose="020F0502020204030204" pitchFamily="34" charset="0"/>
            </a:endParaRPr>
          </a:p>
        </p:txBody>
      </p:sp>
      <p:sp>
        <p:nvSpPr>
          <p:cNvPr id="126" name="Google Shape;126;p27"/>
          <p:cNvSpPr txBox="1"/>
          <p:nvPr/>
        </p:nvSpPr>
        <p:spPr>
          <a:xfrm>
            <a:off x="2810933" y="4546950"/>
            <a:ext cx="1523892" cy="278400"/>
          </a:xfrm>
          <a:prstGeom prst="rect">
            <a:avLst/>
          </a:prstGeom>
          <a:noFill/>
          <a:ln>
            <a:noFill/>
          </a:ln>
        </p:spPr>
        <p:txBody>
          <a:bodyPr spcFirstLastPara="1" wrap="square" lIns="91425" tIns="91425" rIns="91425" bIns="91425" anchor="t" anchorCtr="0">
            <a:noAutofit/>
          </a:bodyPr>
          <a:lstStyle/>
          <a:p>
            <a:pPr lvl="0"/>
            <a:r>
              <a:rPr lang="en-US" sz="1100" dirty="0">
                <a:solidFill>
                  <a:srgbClr val="666666"/>
                </a:solidFill>
              </a:rPr>
              <a:t>Water molecule</a:t>
            </a:r>
            <a:endParaRPr sz="1100" dirty="0">
              <a:solidFill>
                <a:srgbClr val="666666"/>
              </a:solidFill>
            </a:endParaRPr>
          </a:p>
        </p:txBody>
      </p:sp>
      <p:pic>
        <p:nvPicPr>
          <p:cNvPr id="7" name="Picture 6">
            <a:extLst>
              <a:ext uri="{FF2B5EF4-FFF2-40B4-BE49-F238E27FC236}">
                <a16:creationId xmlns:a16="http://schemas.microsoft.com/office/drawing/2014/main" id="{C4E7D926-CE93-4176-899B-14F38F12A88C}"/>
              </a:ext>
            </a:extLst>
          </p:cNvPr>
          <p:cNvPicPr/>
          <p:nvPr/>
        </p:nvPicPr>
        <p:blipFill rotWithShape="1">
          <a:blip r:embed="rId3">
            <a:extLst>
              <a:ext uri="{28A0092B-C50C-407E-A947-70E740481C1C}">
                <a14:useLocalDpi xmlns:a14="http://schemas.microsoft.com/office/drawing/2010/main" val="0"/>
              </a:ext>
            </a:extLst>
          </a:blip>
          <a:srcRect b="2275"/>
          <a:stretch/>
        </p:blipFill>
        <p:spPr bwMode="auto">
          <a:xfrm>
            <a:off x="1624610" y="1986982"/>
            <a:ext cx="1623695" cy="167386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697037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378788" y="318150"/>
            <a:ext cx="3837001"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Giant molecular structures</a:t>
            </a:r>
            <a:endParaRPr sz="3200" dirty="0">
              <a:solidFill>
                <a:srgbClr val="000000"/>
              </a:solidFill>
              <a:latin typeface="Calibri" panose="020F0502020204030204" pitchFamily="34" charset="0"/>
            </a:endParaRPr>
          </a:p>
        </p:txBody>
      </p:sp>
      <p:sp>
        <p:nvSpPr>
          <p:cNvPr id="124" name="Google Shape;124;p27"/>
          <p:cNvSpPr txBox="1">
            <a:spLocks noGrp="1"/>
          </p:cNvSpPr>
          <p:nvPr>
            <p:ph type="body" idx="2"/>
          </p:nvPr>
        </p:nvSpPr>
        <p:spPr>
          <a:xfrm>
            <a:off x="4662311" y="611661"/>
            <a:ext cx="4170634" cy="2809572"/>
          </a:xfrm>
          <a:prstGeom prst="rect">
            <a:avLst/>
          </a:prstGeom>
        </p:spPr>
        <p:txBody>
          <a:bodyPr spcFirstLastPara="1" wrap="square" lIns="91425" tIns="91425" rIns="91425" bIns="91425" anchor="t" anchorCtr="0">
            <a:noAutofit/>
          </a:bodyPr>
          <a:lstStyle/>
          <a:p>
            <a:pPr lvl="0"/>
            <a:r>
              <a:rPr lang="en-US" sz="1600" dirty="0">
                <a:latin typeface="Calibri" panose="020F0502020204030204" pitchFamily="34" charset="0"/>
              </a:rPr>
              <a:t>Three dimensional structures of covalent bonds is called giant molecular structures or giant covalent structures. </a:t>
            </a:r>
          </a:p>
          <a:p>
            <a:pPr lvl="0"/>
            <a:r>
              <a:rPr lang="en-US" sz="1600" dirty="0">
                <a:latin typeface="Calibri" panose="020F0502020204030204" pitchFamily="34" charset="0"/>
              </a:rPr>
              <a:t>Carbon has four valence electrons. It is available in the form of diamond and graphite. </a:t>
            </a:r>
          </a:p>
          <a:p>
            <a:pPr lvl="0"/>
            <a:r>
              <a:rPr lang="en-US" sz="1600" dirty="0">
                <a:latin typeface="Calibri" panose="020F0502020204030204" pitchFamily="34" charset="0"/>
              </a:rPr>
              <a:t>Diamond is arranged in tetrahedral structure with four covalent bonds per atom. </a:t>
            </a:r>
          </a:p>
          <a:p>
            <a:pPr lvl="0"/>
            <a:r>
              <a:rPr lang="en-US" sz="1600" dirty="0">
                <a:latin typeface="Calibri" panose="020F0502020204030204" pitchFamily="34" charset="0"/>
              </a:rPr>
              <a:t>Graphite has planar arrangement of carbon atoms in layer. It has 3 covalent bonds per atom in each layer. </a:t>
            </a:r>
          </a:p>
          <a:p>
            <a:pPr marL="0" lvl="0" indent="0" rtl="0">
              <a:spcBef>
                <a:spcPts val="1600"/>
              </a:spcBef>
              <a:spcAft>
                <a:spcPts val="1600"/>
              </a:spcAft>
              <a:buNone/>
            </a:pPr>
            <a:endParaRPr lang="en-MY" sz="1600" dirty="0">
              <a:latin typeface="Calibri" panose="020F0502020204030204" pitchFamily="34" charset="0"/>
            </a:endParaRPr>
          </a:p>
          <a:p>
            <a:pPr marL="0" lvl="0" indent="0" rtl="0">
              <a:spcBef>
                <a:spcPts val="1600"/>
              </a:spcBef>
              <a:spcAft>
                <a:spcPts val="1600"/>
              </a:spcAft>
              <a:buNone/>
            </a:pPr>
            <a:endParaRPr lang="en-MY" sz="1600" dirty="0">
              <a:latin typeface="Calibri" panose="020F0502020204030204" pitchFamily="34" charset="0"/>
            </a:endParaRPr>
          </a:p>
          <a:p>
            <a:pPr marL="0" lvl="0" indent="0" rtl="0">
              <a:spcBef>
                <a:spcPts val="1600"/>
              </a:spcBef>
              <a:spcAft>
                <a:spcPts val="1600"/>
              </a:spcAft>
              <a:buNone/>
            </a:pPr>
            <a:endParaRPr sz="1600" dirty="0">
              <a:latin typeface="Calibri" panose="020F0502020204030204" pitchFamily="34" charset="0"/>
            </a:endParaRPr>
          </a:p>
        </p:txBody>
      </p:sp>
      <p:grpSp>
        <p:nvGrpSpPr>
          <p:cNvPr id="5" name="Group 4">
            <a:extLst>
              <a:ext uri="{FF2B5EF4-FFF2-40B4-BE49-F238E27FC236}">
                <a16:creationId xmlns:a16="http://schemas.microsoft.com/office/drawing/2014/main" id="{7372A17C-25F0-42D2-B7FF-0A1DF162A30F}"/>
              </a:ext>
            </a:extLst>
          </p:cNvPr>
          <p:cNvGrpSpPr/>
          <p:nvPr/>
        </p:nvGrpSpPr>
        <p:grpSpPr>
          <a:xfrm>
            <a:off x="101599" y="1557867"/>
            <a:ext cx="4639734" cy="2973972"/>
            <a:chOff x="158044" y="1557867"/>
            <a:chExt cx="4639734" cy="2973972"/>
          </a:xfrm>
        </p:grpSpPr>
        <p:sp>
          <p:nvSpPr>
            <p:cNvPr id="4" name="Rectangle 3">
              <a:extLst>
                <a:ext uri="{FF2B5EF4-FFF2-40B4-BE49-F238E27FC236}">
                  <a16:creationId xmlns:a16="http://schemas.microsoft.com/office/drawing/2014/main" id="{32E878C5-5B7A-4584-8478-191AEE72DC3E}"/>
                </a:ext>
              </a:extLst>
            </p:cNvPr>
            <p:cNvSpPr/>
            <p:nvPr/>
          </p:nvSpPr>
          <p:spPr>
            <a:xfrm>
              <a:off x="158044" y="1557867"/>
              <a:ext cx="4628445" cy="2973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DDA248F9-F99B-47C4-83C9-A4045E3F1BAF}"/>
                </a:ext>
              </a:extLst>
            </p:cNvPr>
            <p:cNvPicPr>
              <a:picLocks noChangeAspect="1"/>
            </p:cNvPicPr>
            <p:nvPr/>
          </p:nvPicPr>
          <p:blipFill>
            <a:blip r:embed="rId3"/>
            <a:stretch>
              <a:fillRect/>
            </a:stretch>
          </p:blipFill>
          <p:spPr>
            <a:xfrm>
              <a:off x="173690" y="1582979"/>
              <a:ext cx="4624088" cy="2948860"/>
            </a:xfrm>
            <a:prstGeom prst="rect">
              <a:avLst/>
            </a:prstGeom>
          </p:spPr>
        </p:pic>
      </p:grpSp>
    </p:spTree>
    <p:extLst>
      <p:ext uri="{BB962C8B-B14F-4D97-AF65-F5344CB8AC3E}">
        <p14:creationId xmlns:p14="http://schemas.microsoft.com/office/powerpoint/2010/main" val="972850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97559" y="660659"/>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Giant molecular structures: Properties</a:t>
            </a:r>
          </a:p>
        </p:txBody>
      </p:sp>
      <p:sp>
        <p:nvSpPr>
          <p:cNvPr id="118" name="Google Shape;118;p26"/>
          <p:cNvSpPr txBox="1"/>
          <p:nvPr/>
        </p:nvSpPr>
        <p:spPr>
          <a:xfrm>
            <a:off x="460022" y="2114920"/>
            <a:ext cx="8223956" cy="2492100"/>
          </a:xfrm>
          <a:prstGeom prst="rect">
            <a:avLst/>
          </a:prstGeom>
          <a:noFill/>
          <a:ln>
            <a:noFill/>
          </a:ln>
        </p:spPr>
        <p:txBody>
          <a:bodyPr spcFirstLastPara="1" wrap="square" lIns="91425" tIns="91425" rIns="91425" bIns="91425" anchor="t" anchorCtr="0">
            <a:noAutofit/>
          </a:bodyPr>
          <a:lstStyle/>
          <a:p>
            <a:pPr marL="114300" lvl="0">
              <a:lnSpc>
                <a:spcPct val="114000"/>
              </a:lnSpc>
              <a:buSzPts val="1800"/>
            </a:pPr>
            <a:r>
              <a:rPr lang="en-US" sz="1600" dirty="0">
                <a:latin typeface="Calibri" panose="020F0502020204030204" pitchFamily="34" charset="0"/>
              </a:rPr>
              <a:t>Diamond:</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Hardness: Difficult to break the three-dimensional network</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High melting and boiling points: Due to the presence of strong covalent bonds.</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Poor conductor of electricity: No free electrons.</a:t>
            </a:r>
          </a:p>
          <a:p>
            <a:pPr marL="114300" lvl="0">
              <a:lnSpc>
                <a:spcPct val="114000"/>
              </a:lnSpc>
              <a:buSzPts val="1800"/>
            </a:pPr>
            <a:r>
              <a:rPr lang="en-US" sz="1600" dirty="0">
                <a:latin typeface="Calibri" panose="020F0502020204030204" pitchFamily="34" charset="0"/>
              </a:rPr>
              <a:t>Graphite:</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Softness: The layers of graphite can slide over each other.</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High melting and boiling points: Due to the presence of strong covalent bonds.</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Conducts electricity.</a:t>
            </a:r>
          </a:p>
          <a:p>
            <a:pPr marL="114300" lvl="0">
              <a:lnSpc>
                <a:spcPct val="114000"/>
              </a:lnSpc>
              <a:buSzPts val="1800"/>
            </a:pPr>
            <a:endParaRPr lang="en-US" sz="1600" dirty="0">
              <a:latin typeface="Calibri" panose="020F0502020204030204" pitchFamily="34" charset="0"/>
            </a:endParaRPr>
          </a:p>
        </p:txBody>
      </p:sp>
    </p:spTree>
    <p:extLst>
      <p:ext uri="{BB962C8B-B14F-4D97-AF65-F5344CB8AC3E}">
        <p14:creationId xmlns:p14="http://schemas.microsoft.com/office/powerpoint/2010/main" val="323106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97559" y="660659"/>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Giant molecular structures: Graphene</a:t>
            </a:r>
          </a:p>
        </p:txBody>
      </p:sp>
      <p:sp>
        <p:nvSpPr>
          <p:cNvPr id="118" name="Google Shape;118;p26"/>
          <p:cNvSpPr txBox="1"/>
          <p:nvPr/>
        </p:nvSpPr>
        <p:spPr>
          <a:xfrm>
            <a:off x="355600" y="2193942"/>
            <a:ext cx="4927600"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A single layer of graphite that is isolated is called as graphene. The structure of graphene is not rigid and may be distorted. </a:t>
            </a:r>
          </a:p>
          <a:p>
            <a:pPr marL="114300" lvl="0">
              <a:lnSpc>
                <a:spcPct val="114000"/>
              </a:lnSpc>
              <a:buSzPts val="1800"/>
            </a:pPr>
            <a:r>
              <a:rPr lang="en-US" sz="1600" dirty="0">
                <a:latin typeface="Calibri" panose="020F0502020204030204" pitchFamily="34" charset="0"/>
              </a:rPr>
              <a:t>Properties:</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Strong</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Highly reactive than any other forms of carbon</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Good conductor of electricity and heat</a:t>
            </a:r>
          </a:p>
          <a:p>
            <a:pPr marL="114300" lvl="0">
              <a:lnSpc>
                <a:spcPct val="114000"/>
              </a:lnSpc>
              <a:buSzPts val="1800"/>
            </a:pPr>
            <a:endParaRPr lang="en-US" sz="1600" dirty="0">
              <a:latin typeface="Calibri" panose="020F0502020204030204" pitchFamily="34" charset="0"/>
            </a:endParaRPr>
          </a:p>
          <a:p>
            <a:pPr marL="114300" lvl="0">
              <a:lnSpc>
                <a:spcPct val="114000"/>
              </a:lnSpc>
              <a:buSzPts val="1800"/>
            </a:pPr>
            <a:r>
              <a:rPr lang="en-US" sz="1600" dirty="0">
                <a:latin typeface="Calibri" panose="020F0502020204030204" pitchFamily="34" charset="0"/>
              </a:rPr>
              <a:t>It is used in electrical circuits and in solar cells, transistors and touchscreens.</a:t>
            </a:r>
          </a:p>
          <a:p>
            <a:pPr marL="114300" lvl="0">
              <a:lnSpc>
                <a:spcPct val="114000"/>
              </a:lnSpc>
              <a:buSzPts val="1800"/>
            </a:pPr>
            <a:endParaRPr lang="en-US" sz="1600" dirty="0">
              <a:latin typeface="Calibri" panose="020F0502020204030204" pitchFamily="34" charset="0"/>
            </a:endParaRPr>
          </a:p>
        </p:txBody>
      </p:sp>
      <p:grpSp>
        <p:nvGrpSpPr>
          <p:cNvPr id="5" name="Group 4">
            <a:extLst>
              <a:ext uri="{FF2B5EF4-FFF2-40B4-BE49-F238E27FC236}">
                <a16:creationId xmlns:a16="http://schemas.microsoft.com/office/drawing/2014/main" id="{766E8974-6A13-4311-AA1B-B98286C1BCCF}"/>
              </a:ext>
            </a:extLst>
          </p:cNvPr>
          <p:cNvGrpSpPr/>
          <p:nvPr/>
        </p:nvGrpSpPr>
        <p:grpSpPr>
          <a:xfrm>
            <a:off x="5435600" y="2729794"/>
            <a:ext cx="3352800" cy="2153722"/>
            <a:chOff x="5226756" y="2532320"/>
            <a:chExt cx="3352800" cy="2153722"/>
          </a:xfrm>
        </p:grpSpPr>
        <p:sp>
          <p:nvSpPr>
            <p:cNvPr id="3" name="Rectangle 2">
              <a:extLst>
                <a:ext uri="{FF2B5EF4-FFF2-40B4-BE49-F238E27FC236}">
                  <a16:creationId xmlns:a16="http://schemas.microsoft.com/office/drawing/2014/main" id="{334EE342-DFB6-49C5-BE42-5982FFF0D37E}"/>
                </a:ext>
              </a:extLst>
            </p:cNvPr>
            <p:cNvSpPr/>
            <p:nvPr/>
          </p:nvSpPr>
          <p:spPr>
            <a:xfrm>
              <a:off x="5226756" y="2532320"/>
              <a:ext cx="3352800" cy="2153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a:extLst>
                <a:ext uri="{FF2B5EF4-FFF2-40B4-BE49-F238E27FC236}">
                  <a16:creationId xmlns:a16="http://schemas.microsoft.com/office/drawing/2014/main" id="{15D13C13-F540-4391-82BA-F6EDA414E340}"/>
                </a:ext>
              </a:extLst>
            </p:cNvPr>
            <p:cNvPicPr>
              <a:picLocks noChangeAspect="1"/>
            </p:cNvPicPr>
            <p:nvPr/>
          </p:nvPicPr>
          <p:blipFill>
            <a:blip r:embed="rId3"/>
            <a:stretch>
              <a:fillRect/>
            </a:stretch>
          </p:blipFill>
          <p:spPr>
            <a:xfrm>
              <a:off x="5237396" y="2532320"/>
              <a:ext cx="3342160" cy="2153722"/>
            </a:xfrm>
            <a:prstGeom prst="rect">
              <a:avLst/>
            </a:prstGeom>
          </p:spPr>
        </p:pic>
      </p:grpSp>
    </p:spTree>
    <p:extLst>
      <p:ext uri="{BB962C8B-B14F-4D97-AF65-F5344CB8AC3E}">
        <p14:creationId xmlns:p14="http://schemas.microsoft.com/office/powerpoint/2010/main" val="21358364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378788" y="318150"/>
            <a:ext cx="3837001"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Giant molecular structures</a:t>
            </a:r>
            <a:endParaRPr sz="3200" dirty="0">
              <a:solidFill>
                <a:srgbClr val="000000"/>
              </a:solidFill>
              <a:latin typeface="Calibri" panose="020F0502020204030204" pitchFamily="34" charset="0"/>
            </a:endParaRPr>
          </a:p>
        </p:txBody>
      </p:sp>
      <p:sp>
        <p:nvSpPr>
          <p:cNvPr id="124" name="Google Shape;124;p27"/>
          <p:cNvSpPr txBox="1">
            <a:spLocks noGrp="1"/>
          </p:cNvSpPr>
          <p:nvPr>
            <p:ph type="body" idx="2"/>
          </p:nvPr>
        </p:nvSpPr>
        <p:spPr>
          <a:xfrm>
            <a:off x="4797778" y="1319850"/>
            <a:ext cx="4170634" cy="2809572"/>
          </a:xfrm>
          <a:prstGeom prst="rect">
            <a:avLst/>
          </a:prstGeom>
        </p:spPr>
        <p:txBody>
          <a:bodyPr spcFirstLastPara="1" wrap="square" lIns="91425" tIns="91425" rIns="91425" bIns="91425" anchor="t" anchorCtr="0">
            <a:noAutofit/>
          </a:bodyPr>
          <a:lstStyle/>
          <a:p>
            <a:pPr lvl="0"/>
            <a:r>
              <a:rPr lang="en-US" sz="1600" dirty="0">
                <a:latin typeface="Calibri" panose="020F0502020204030204" pitchFamily="34" charset="0"/>
              </a:rPr>
              <a:t>Silicon (IV) oxide also has a structure similar to that of diamond. </a:t>
            </a:r>
          </a:p>
          <a:p>
            <a:pPr lvl="0"/>
            <a:r>
              <a:rPr lang="en-US" sz="1600" dirty="0">
                <a:latin typeface="Calibri" panose="020F0502020204030204" pitchFamily="34" charset="0"/>
              </a:rPr>
              <a:t>It is found in mineral quartz. </a:t>
            </a:r>
          </a:p>
          <a:p>
            <a:pPr lvl="0"/>
            <a:r>
              <a:rPr lang="en-US" sz="1600" dirty="0">
                <a:latin typeface="Calibri" panose="020F0502020204030204" pitchFamily="34" charset="0"/>
              </a:rPr>
              <a:t>Its properties are similar to that of diamond. </a:t>
            </a:r>
          </a:p>
          <a:p>
            <a:pPr marL="0" lvl="0" indent="0" rtl="0">
              <a:spcBef>
                <a:spcPts val="1600"/>
              </a:spcBef>
              <a:spcAft>
                <a:spcPts val="1600"/>
              </a:spcAft>
              <a:buNone/>
            </a:pPr>
            <a:endParaRPr lang="en-MY" sz="1600" dirty="0">
              <a:latin typeface="Calibri" panose="020F0502020204030204" pitchFamily="34" charset="0"/>
            </a:endParaRPr>
          </a:p>
          <a:p>
            <a:pPr marL="0" lvl="0" indent="0" rtl="0">
              <a:spcBef>
                <a:spcPts val="1600"/>
              </a:spcBef>
              <a:spcAft>
                <a:spcPts val="1600"/>
              </a:spcAft>
              <a:buNone/>
            </a:pPr>
            <a:endParaRPr lang="en-MY" sz="1600" dirty="0">
              <a:latin typeface="Calibri" panose="020F0502020204030204" pitchFamily="34" charset="0"/>
            </a:endParaRPr>
          </a:p>
          <a:p>
            <a:pPr marL="0" lvl="0" indent="0" rtl="0">
              <a:spcBef>
                <a:spcPts val="1600"/>
              </a:spcBef>
              <a:spcAft>
                <a:spcPts val="1600"/>
              </a:spcAft>
              <a:buNone/>
            </a:pPr>
            <a:endParaRPr sz="1600" dirty="0">
              <a:latin typeface="Calibri" panose="020F0502020204030204" pitchFamily="34" charset="0"/>
            </a:endParaRPr>
          </a:p>
        </p:txBody>
      </p:sp>
      <p:sp>
        <p:nvSpPr>
          <p:cNvPr id="126" name="Google Shape;126;p27"/>
          <p:cNvSpPr txBox="1"/>
          <p:nvPr/>
        </p:nvSpPr>
        <p:spPr>
          <a:xfrm>
            <a:off x="2810933" y="4546950"/>
            <a:ext cx="1523892" cy="278400"/>
          </a:xfrm>
          <a:prstGeom prst="rect">
            <a:avLst/>
          </a:prstGeom>
          <a:noFill/>
          <a:ln>
            <a:noFill/>
          </a:ln>
        </p:spPr>
        <p:txBody>
          <a:bodyPr spcFirstLastPara="1" wrap="square" lIns="91425" tIns="91425" rIns="91425" bIns="91425" anchor="t" anchorCtr="0">
            <a:noAutofit/>
          </a:bodyPr>
          <a:lstStyle/>
          <a:p>
            <a:pPr lvl="0"/>
            <a:r>
              <a:rPr lang="en-US" sz="1100" dirty="0">
                <a:solidFill>
                  <a:srgbClr val="666666"/>
                </a:solidFill>
              </a:rPr>
              <a:t>Structure of Silicon (IV) oxide </a:t>
            </a:r>
            <a:endParaRPr sz="1100" dirty="0">
              <a:solidFill>
                <a:srgbClr val="666666"/>
              </a:solidFill>
            </a:endParaRPr>
          </a:p>
        </p:txBody>
      </p:sp>
      <p:pic>
        <p:nvPicPr>
          <p:cNvPr id="6" name="Picture 5">
            <a:extLst>
              <a:ext uri="{FF2B5EF4-FFF2-40B4-BE49-F238E27FC236}">
                <a16:creationId xmlns:a16="http://schemas.microsoft.com/office/drawing/2014/main" id="{88740F67-9A9F-408F-9F01-771C658A0139}"/>
              </a:ext>
            </a:extLst>
          </p:cNvPr>
          <p:cNvPicPr>
            <a:picLocks noChangeAspect="1"/>
          </p:cNvPicPr>
          <p:nvPr/>
        </p:nvPicPr>
        <p:blipFill>
          <a:blip r:embed="rId3"/>
          <a:stretch>
            <a:fillRect/>
          </a:stretch>
        </p:blipFill>
        <p:spPr>
          <a:xfrm>
            <a:off x="1051788" y="1858868"/>
            <a:ext cx="2882229" cy="2386411"/>
          </a:xfrm>
          <a:prstGeom prst="rect">
            <a:avLst/>
          </a:prstGeom>
        </p:spPr>
      </p:pic>
    </p:spTree>
    <p:extLst>
      <p:ext uri="{BB962C8B-B14F-4D97-AF65-F5344CB8AC3E}">
        <p14:creationId xmlns:p14="http://schemas.microsoft.com/office/powerpoint/2010/main" val="1653757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797559" y="660659"/>
            <a:ext cx="6305100" cy="767700"/>
          </a:xfrm>
          <a:prstGeom prst="rect">
            <a:avLst/>
          </a:prstGeom>
        </p:spPr>
        <p:txBody>
          <a:bodyPr spcFirstLastPara="1" wrap="square" lIns="91425" tIns="91425" rIns="91425" bIns="91425" anchor="b" anchorCtr="0">
            <a:noAutofit/>
          </a:bodyPr>
          <a:lstStyle/>
          <a:p>
            <a:pPr marL="114300" lvl="0">
              <a:buSzPts val="1800"/>
            </a:pPr>
            <a:r>
              <a:rPr lang="en-MY" dirty="0">
                <a:latin typeface="Calibri" panose="020F0502020204030204" pitchFamily="34" charset="0"/>
              </a:rPr>
              <a:t>Giant molecular structures: Buckminsterfullerene</a:t>
            </a:r>
          </a:p>
        </p:txBody>
      </p:sp>
      <p:sp>
        <p:nvSpPr>
          <p:cNvPr id="118" name="Google Shape;118;p26"/>
          <p:cNvSpPr txBox="1"/>
          <p:nvPr/>
        </p:nvSpPr>
        <p:spPr>
          <a:xfrm>
            <a:off x="355600" y="2193942"/>
            <a:ext cx="8223956" cy="2492100"/>
          </a:xfrm>
          <a:prstGeom prst="rect">
            <a:avLst/>
          </a:prstGeom>
          <a:noFill/>
          <a:ln>
            <a:noFill/>
          </a:ln>
        </p:spPr>
        <p:txBody>
          <a:bodyPr spcFirstLastPara="1" wrap="square" lIns="91425" tIns="91425" rIns="91425" bIns="91425" anchor="t" anchorCtr="0">
            <a:noAutofit/>
          </a:bodyPr>
          <a:lstStyle/>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Allotropes of carbon arranged in the form of hollow spheres or tubes are called fullerenes.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It contains rings of carbon arranged in the form of hexagons with some rings in the form of pentagons.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Buckminsterfullerene (C</a:t>
            </a:r>
            <a:r>
              <a:rPr lang="en-US" sz="1600" baseline="-25000" dirty="0">
                <a:latin typeface="Calibri" panose="020F0502020204030204" pitchFamily="34" charset="0"/>
              </a:rPr>
              <a:t>60</a:t>
            </a:r>
            <a:r>
              <a:rPr lang="en-US" sz="1600" dirty="0">
                <a:latin typeface="Calibri" panose="020F0502020204030204" pitchFamily="34" charset="0"/>
              </a:rPr>
              <a:t>) is the first fullerene discovered by scientists, which exists in the shape of football. </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The carbons atoms are arranged in the form of 20 hexagons and 12 pentagons.</a:t>
            </a:r>
          </a:p>
          <a:p>
            <a:pPr marL="400050" lvl="0" indent="-285750">
              <a:lnSpc>
                <a:spcPct val="114000"/>
              </a:lnSpc>
              <a:buSzPts val="1800"/>
              <a:buFont typeface="Arial" panose="020B0604020202020204" pitchFamily="34" charset="0"/>
              <a:buChar char="•"/>
            </a:pPr>
            <a:r>
              <a:rPr lang="en-US" sz="1600" dirty="0">
                <a:latin typeface="Calibri" panose="020F0502020204030204" pitchFamily="34" charset="0"/>
              </a:rPr>
              <a:t>Although some electrons, in C</a:t>
            </a:r>
            <a:r>
              <a:rPr lang="en-US" sz="1600" baseline="-25000" dirty="0">
                <a:latin typeface="Calibri" panose="020F0502020204030204" pitchFamily="34" charset="0"/>
              </a:rPr>
              <a:t>60</a:t>
            </a:r>
            <a:r>
              <a:rPr lang="en-US" sz="1600" dirty="0">
                <a:latin typeface="Calibri" panose="020F0502020204030204" pitchFamily="34" charset="0"/>
              </a:rPr>
              <a:t> are </a:t>
            </a:r>
            <a:r>
              <a:rPr lang="en-US" sz="1600" dirty="0" err="1">
                <a:latin typeface="Calibri" panose="020F0502020204030204" pitchFamily="34" charset="0"/>
              </a:rPr>
              <a:t>delocalised</a:t>
            </a:r>
            <a:r>
              <a:rPr lang="en-US" sz="1600" dirty="0">
                <a:latin typeface="Calibri" panose="020F0502020204030204" pitchFamily="34" charset="0"/>
              </a:rPr>
              <a:t> as in graphite, the extent of </a:t>
            </a:r>
            <a:r>
              <a:rPr lang="en-US" sz="1600" dirty="0" err="1">
                <a:latin typeface="Calibri" panose="020F0502020204030204" pitchFamily="34" charset="0"/>
              </a:rPr>
              <a:t>delocalisation</a:t>
            </a:r>
            <a:r>
              <a:rPr lang="en-US" sz="1600" dirty="0">
                <a:latin typeface="Calibri" panose="020F0502020204030204" pitchFamily="34" charset="0"/>
              </a:rPr>
              <a:t> is lesser in C</a:t>
            </a:r>
            <a:r>
              <a:rPr lang="en-US" sz="1600" baseline="-25000" dirty="0">
                <a:latin typeface="Calibri" panose="020F0502020204030204" pitchFamily="34" charset="0"/>
              </a:rPr>
              <a:t>60</a:t>
            </a:r>
            <a:r>
              <a:rPr lang="en-US" sz="1600" dirty="0">
                <a:latin typeface="Calibri" panose="020F0502020204030204" pitchFamily="34" charset="0"/>
              </a:rPr>
              <a:t>. </a:t>
            </a:r>
          </a:p>
        </p:txBody>
      </p:sp>
    </p:spTree>
    <p:extLst>
      <p:ext uri="{BB962C8B-B14F-4D97-AF65-F5344CB8AC3E}">
        <p14:creationId xmlns:p14="http://schemas.microsoft.com/office/powerpoint/2010/main" val="5147949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378788" y="318150"/>
            <a:ext cx="3837001"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Giant molecular structures</a:t>
            </a:r>
            <a:endParaRPr sz="3200" dirty="0">
              <a:solidFill>
                <a:srgbClr val="000000"/>
              </a:solidFill>
              <a:latin typeface="Calibri" panose="020F0502020204030204" pitchFamily="34" charset="0"/>
            </a:endParaRPr>
          </a:p>
        </p:txBody>
      </p:sp>
      <p:sp>
        <p:nvSpPr>
          <p:cNvPr id="124" name="Google Shape;124;p27"/>
          <p:cNvSpPr txBox="1">
            <a:spLocks noGrp="1"/>
          </p:cNvSpPr>
          <p:nvPr>
            <p:ph type="body" idx="2"/>
          </p:nvPr>
        </p:nvSpPr>
        <p:spPr>
          <a:xfrm>
            <a:off x="4662311" y="318150"/>
            <a:ext cx="4170634" cy="2809572"/>
          </a:xfrm>
          <a:prstGeom prst="rect">
            <a:avLst/>
          </a:prstGeom>
        </p:spPr>
        <p:txBody>
          <a:bodyPr spcFirstLastPara="1" wrap="square" lIns="91425" tIns="91425" rIns="91425" bIns="91425" anchor="t" anchorCtr="0">
            <a:noAutofit/>
          </a:bodyPr>
          <a:lstStyle/>
          <a:p>
            <a:pPr marL="114300" lvl="0" indent="0">
              <a:buNone/>
            </a:pPr>
            <a:r>
              <a:rPr lang="en-US" sz="1600" dirty="0">
                <a:latin typeface="Calibri" panose="020F0502020204030204" pitchFamily="34" charset="0"/>
              </a:rPr>
              <a:t>Properties:</a:t>
            </a:r>
          </a:p>
          <a:p>
            <a:pPr lvl="0"/>
            <a:r>
              <a:rPr lang="en-US" sz="1600" dirty="0">
                <a:latin typeface="Calibri" panose="020F0502020204030204" pitchFamily="34" charset="0"/>
              </a:rPr>
              <a:t>Low sublimation point: because of weak van der </a:t>
            </a:r>
            <a:r>
              <a:rPr lang="en-US" sz="1600" dirty="0" err="1">
                <a:latin typeface="Calibri" panose="020F0502020204030204" pitchFamily="34" charset="0"/>
              </a:rPr>
              <a:t>waals</a:t>
            </a:r>
            <a:r>
              <a:rPr lang="en-US" sz="1600" dirty="0">
                <a:latin typeface="Calibri" panose="020F0502020204030204" pitchFamily="34" charset="0"/>
              </a:rPr>
              <a:t>’ forces between each C60 molecule.</a:t>
            </a:r>
          </a:p>
          <a:p>
            <a:pPr lvl="0"/>
            <a:r>
              <a:rPr lang="en-US" sz="1600" dirty="0">
                <a:latin typeface="Calibri" panose="020F0502020204030204" pitchFamily="34" charset="0"/>
              </a:rPr>
              <a:t>Soft: weak intermolecular forces</a:t>
            </a:r>
          </a:p>
          <a:p>
            <a:pPr lvl="0"/>
            <a:r>
              <a:rPr lang="en-US" sz="1600" dirty="0">
                <a:latin typeface="Calibri" panose="020F0502020204030204" pitchFamily="34" charset="0"/>
              </a:rPr>
              <a:t>Poor conductor of electricity: no free electrons</a:t>
            </a:r>
          </a:p>
          <a:p>
            <a:pPr lvl="0"/>
            <a:r>
              <a:rPr lang="en-US" sz="1600" dirty="0">
                <a:latin typeface="Calibri" panose="020F0502020204030204" pitchFamily="34" charset="0"/>
              </a:rPr>
              <a:t>Soluble in solvents such as carbon </a:t>
            </a:r>
            <a:r>
              <a:rPr lang="en-US" sz="1600" dirty="0" err="1">
                <a:latin typeface="Calibri" panose="020F0502020204030204" pitchFamily="34" charset="0"/>
              </a:rPr>
              <a:t>disulphide</a:t>
            </a:r>
            <a:r>
              <a:rPr lang="en-US" sz="1600" dirty="0">
                <a:latin typeface="Calibri" panose="020F0502020204030204" pitchFamily="34" charset="0"/>
              </a:rPr>
              <a:t> and methylbenzene</a:t>
            </a:r>
          </a:p>
          <a:p>
            <a:pPr lvl="0"/>
            <a:r>
              <a:rPr lang="en-US" sz="1600" dirty="0">
                <a:latin typeface="Calibri" panose="020F0502020204030204" pitchFamily="34" charset="0"/>
              </a:rPr>
              <a:t>Reactive compared to graphite and diamond: high electron density in certain parts of molecules allows it to react with hydrogen, fluorine, chlorine, etc.</a:t>
            </a:r>
          </a:p>
          <a:p>
            <a:pPr marL="114300" lvl="0" indent="0">
              <a:buNone/>
            </a:pPr>
            <a:r>
              <a:rPr lang="en-US" sz="1600" dirty="0">
                <a:latin typeface="Calibri" panose="020F0502020204030204" pitchFamily="34" charset="0"/>
              </a:rPr>
              <a:t>Fullerenes are used in medical purposes. Molecules of drugs are carried by the cage of C</a:t>
            </a:r>
            <a:r>
              <a:rPr lang="en-US" sz="1600" baseline="-25000" dirty="0">
                <a:latin typeface="Calibri" panose="020F0502020204030204" pitchFamily="34" charset="0"/>
              </a:rPr>
              <a:t>60</a:t>
            </a:r>
            <a:r>
              <a:rPr lang="en-US" sz="1600" dirty="0">
                <a:latin typeface="Calibri" panose="020F0502020204030204" pitchFamily="34" charset="0"/>
              </a:rPr>
              <a:t> to specific organs. </a:t>
            </a:r>
          </a:p>
          <a:p>
            <a:pPr marL="114300" lvl="0" indent="0">
              <a:buNone/>
            </a:pPr>
            <a:endParaRPr lang="en-US" sz="1600" dirty="0">
              <a:latin typeface="Calibri" panose="020F0502020204030204" pitchFamily="34" charset="0"/>
            </a:endParaRPr>
          </a:p>
          <a:p>
            <a:pPr marL="0" lvl="0" indent="0" rtl="0">
              <a:spcBef>
                <a:spcPts val="1600"/>
              </a:spcBef>
              <a:spcAft>
                <a:spcPts val="1600"/>
              </a:spcAft>
              <a:buNone/>
            </a:pPr>
            <a:endParaRPr lang="en-MY" sz="1600" dirty="0">
              <a:latin typeface="Calibri" panose="020F0502020204030204" pitchFamily="34" charset="0"/>
            </a:endParaRPr>
          </a:p>
          <a:p>
            <a:pPr marL="0" lvl="0" indent="0" rtl="0">
              <a:spcBef>
                <a:spcPts val="1600"/>
              </a:spcBef>
              <a:spcAft>
                <a:spcPts val="1600"/>
              </a:spcAft>
              <a:buNone/>
            </a:pPr>
            <a:endParaRPr lang="en-MY" sz="1600" dirty="0">
              <a:latin typeface="Calibri" panose="020F0502020204030204" pitchFamily="34" charset="0"/>
            </a:endParaRPr>
          </a:p>
          <a:p>
            <a:pPr marL="0" lvl="0" indent="0" rtl="0">
              <a:spcBef>
                <a:spcPts val="1600"/>
              </a:spcBef>
              <a:spcAft>
                <a:spcPts val="1600"/>
              </a:spcAft>
              <a:buNone/>
            </a:pPr>
            <a:endParaRPr sz="1600" dirty="0">
              <a:latin typeface="Calibri" panose="020F0502020204030204" pitchFamily="34" charset="0"/>
            </a:endParaRPr>
          </a:p>
        </p:txBody>
      </p:sp>
      <p:sp>
        <p:nvSpPr>
          <p:cNvPr id="126" name="Google Shape;126;p27"/>
          <p:cNvSpPr txBox="1"/>
          <p:nvPr/>
        </p:nvSpPr>
        <p:spPr>
          <a:xfrm>
            <a:off x="1309512" y="4546950"/>
            <a:ext cx="3025314" cy="278400"/>
          </a:xfrm>
          <a:prstGeom prst="rect">
            <a:avLst/>
          </a:prstGeom>
          <a:noFill/>
          <a:ln>
            <a:noFill/>
          </a:ln>
        </p:spPr>
        <p:txBody>
          <a:bodyPr spcFirstLastPara="1" wrap="square" lIns="91425" tIns="91425" rIns="91425" bIns="91425" anchor="t" anchorCtr="0">
            <a:noAutofit/>
          </a:bodyPr>
          <a:lstStyle/>
          <a:p>
            <a:pPr lvl="0" algn="ctr">
              <a:lnSpc>
                <a:spcPct val="107000"/>
              </a:lnSpc>
            </a:pPr>
            <a:r>
              <a:rPr lang="en-US" sz="1100" dirty="0"/>
              <a:t>Shape of buckminsterfullerene (C</a:t>
            </a:r>
            <a:r>
              <a:rPr lang="en-US" sz="1100" baseline="-25000" dirty="0"/>
              <a:t>60</a:t>
            </a:r>
            <a:r>
              <a:rPr lang="en-US" sz="1100" dirty="0"/>
              <a:t>)</a:t>
            </a:r>
          </a:p>
        </p:txBody>
      </p:sp>
      <p:pic>
        <p:nvPicPr>
          <p:cNvPr id="2" name="Picture 1">
            <a:extLst>
              <a:ext uri="{FF2B5EF4-FFF2-40B4-BE49-F238E27FC236}">
                <a16:creationId xmlns:a16="http://schemas.microsoft.com/office/drawing/2014/main" id="{40AD0B0C-C854-4A99-95AB-0099828C4E0F}"/>
              </a:ext>
            </a:extLst>
          </p:cNvPr>
          <p:cNvPicPr>
            <a:picLocks noChangeAspect="1"/>
          </p:cNvPicPr>
          <p:nvPr/>
        </p:nvPicPr>
        <p:blipFill>
          <a:blip r:embed="rId3"/>
          <a:stretch>
            <a:fillRect/>
          </a:stretch>
        </p:blipFill>
        <p:spPr>
          <a:xfrm>
            <a:off x="1163460" y="1643006"/>
            <a:ext cx="2799340" cy="2580787"/>
          </a:xfrm>
          <a:prstGeom prst="rect">
            <a:avLst/>
          </a:prstGeom>
        </p:spPr>
      </p:pic>
    </p:spTree>
    <p:extLst>
      <p:ext uri="{BB962C8B-B14F-4D97-AF65-F5344CB8AC3E}">
        <p14:creationId xmlns:p14="http://schemas.microsoft.com/office/powerpoint/2010/main" val="16926203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378788" y="318150"/>
            <a:ext cx="3837001"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Giant molecular structures</a:t>
            </a:r>
            <a:endParaRPr sz="3200" dirty="0">
              <a:solidFill>
                <a:srgbClr val="000000"/>
              </a:solidFill>
              <a:latin typeface="Calibri" panose="020F0502020204030204" pitchFamily="34" charset="0"/>
            </a:endParaRPr>
          </a:p>
        </p:txBody>
      </p:sp>
      <p:sp>
        <p:nvSpPr>
          <p:cNvPr id="124" name="Google Shape;124;p27"/>
          <p:cNvSpPr txBox="1">
            <a:spLocks noGrp="1"/>
          </p:cNvSpPr>
          <p:nvPr>
            <p:ph type="body" idx="2"/>
          </p:nvPr>
        </p:nvSpPr>
        <p:spPr>
          <a:xfrm>
            <a:off x="4594578" y="146840"/>
            <a:ext cx="4391378" cy="2809572"/>
          </a:xfrm>
          <a:prstGeom prst="rect">
            <a:avLst/>
          </a:prstGeom>
        </p:spPr>
        <p:txBody>
          <a:bodyPr spcFirstLastPara="1" wrap="square" lIns="91425" tIns="91425" rIns="91425" bIns="91425" anchor="t" anchorCtr="0">
            <a:noAutofit/>
          </a:bodyPr>
          <a:lstStyle/>
          <a:p>
            <a:pPr lvl="0">
              <a:buFont typeface="Arial" panose="020B0604020202020204" pitchFamily="34" charset="0"/>
              <a:buChar char="•"/>
            </a:pPr>
            <a:r>
              <a:rPr lang="en-US" sz="1600" dirty="0">
                <a:latin typeface="Calibri" panose="020F0502020204030204" pitchFamily="34" charset="0"/>
              </a:rPr>
              <a:t>Individual particles in fullerenes may have one of their dimension in size of 0.1 nm to 100 nm. These particles are called as nanoparticles. </a:t>
            </a:r>
          </a:p>
          <a:p>
            <a:pPr lvl="0">
              <a:buFont typeface="Arial" panose="020B0604020202020204" pitchFamily="34" charset="0"/>
              <a:buChar char="•"/>
            </a:pPr>
            <a:r>
              <a:rPr lang="en-US" sz="1600" dirty="0">
                <a:latin typeface="Calibri" panose="020F0502020204030204" pitchFamily="34" charset="0"/>
              </a:rPr>
              <a:t>The carbon atoms are arranged in hexagonal shape. The length of the cylinder is million times greater than its diameter. </a:t>
            </a:r>
          </a:p>
          <a:p>
            <a:pPr lvl="0">
              <a:buFont typeface="Arial" panose="020B0604020202020204" pitchFamily="34" charset="0"/>
              <a:buChar char="•"/>
            </a:pPr>
            <a:r>
              <a:rPr lang="en-US" sz="1600" dirty="0">
                <a:latin typeface="Calibri" panose="020F0502020204030204" pitchFamily="34" charset="0"/>
              </a:rPr>
              <a:t>Nanotubes are structures wherein single layer of graphite is bent in the form of a cylinder. Its properties are:</a:t>
            </a:r>
          </a:p>
          <a:p>
            <a:pPr marL="801688" lvl="0">
              <a:buFont typeface="+mj-lt"/>
              <a:buAutoNum type="alphaLcParenR"/>
            </a:pPr>
            <a:r>
              <a:rPr lang="en-US" sz="1600" dirty="0">
                <a:latin typeface="Calibri" panose="020F0502020204030204" pitchFamily="34" charset="0"/>
              </a:rPr>
              <a:t>High electrical conductivity</a:t>
            </a:r>
          </a:p>
          <a:p>
            <a:pPr marL="801688" lvl="0">
              <a:buFont typeface="+mj-lt"/>
              <a:buAutoNum type="alphaLcParenR"/>
            </a:pPr>
            <a:r>
              <a:rPr lang="en-US" sz="1600" dirty="0">
                <a:latin typeface="Calibri" panose="020F0502020204030204" pitchFamily="34" charset="0"/>
              </a:rPr>
              <a:t>High tensile strength</a:t>
            </a:r>
          </a:p>
          <a:p>
            <a:pPr marL="801688" lvl="0">
              <a:buFont typeface="+mj-lt"/>
              <a:buAutoNum type="alphaLcParenR"/>
            </a:pPr>
            <a:r>
              <a:rPr lang="en-US" sz="1600" dirty="0">
                <a:latin typeface="Calibri" panose="020F0502020204030204" pitchFamily="34" charset="0"/>
              </a:rPr>
              <a:t>High melting points</a:t>
            </a:r>
          </a:p>
          <a:p>
            <a:pPr marL="450850" lvl="0" indent="-285750">
              <a:buFont typeface="Arial" panose="020B0604020202020204" pitchFamily="34" charset="0"/>
              <a:buChar char="•"/>
            </a:pPr>
            <a:r>
              <a:rPr lang="en-US" sz="1600" dirty="0">
                <a:latin typeface="Calibri" panose="020F0502020204030204" pitchFamily="34" charset="0"/>
              </a:rPr>
              <a:t>Nanotubes are used as electrical conductors in tiny electrical circuits. Also, used in treatment of cancer. Nanotubes are also combined with clothing to improve strength. </a:t>
            </a:r>
          </a:p>
          <a:p>
            <a:pPr marL="0" lvl="0" indent="0" rtl="0">
              <a:spcBef>
                <a:spcPts val="1600"/>
              </a:spcBef>
              <a:spcAft>
                <a:spcPts val="1600"/>
              </a:spcAft>
              <a:buNone/>
            </a:pPr>
            <a:endParaRPr lang="en-MY" sz="1600" dirty="0">
              <a:latin typeface="Calibri" panose="020F0502020204030204" pitchFamily="34" charset="0"/>
            </a:endParaRPr>
          </a:p>
          <a:p>
            <a:pPr marL="0" lvl="0" indent="0" rtl="0">
              <a:spcBef>
                <a:spcPts val="1600"/>
              </a:spcBef>
              <a:spcAft>
                <a:spcPts val="1600"/>
              </a:spcAft>
              <a:buNone/>
            </a:pPr>
            <a:endParaRPr lang="en-MY" sz="1600" dirty="0">
              <a:latin typeface="Calibri" panose="020F0502020204030204" pitchFamily="34" charset="0"/>
            </a:endParaRPr>
          </a:p>
          <a:p>
            <a:pPr marL="0" lvl="0" indent="0" rtl="0">
              <a:spcBef>
                <a:spcPts val="1600"/>
              </a:spcBef>
              <a:spcAft>
                <a:spcPts val="1600"/>
              </a:spcAft>
              <a:buNone/>
            </a:pPr>
            <a:endParaRPr sz="1600" dirty="0">
              <a:latin typeface="Calibri" panose="020F0502020204030204" pitchFamily="34" charset="0"/>
            </a:endParaRPr>
          </a:p>
        </p:txBody>
      </p:sp>
      <p:sp>
        <p:nvSpPr>
          <p:cNvPr id="126" name="Google Shape;126;p27"/>
          <p:cNvSpPr txBox="1"/>
          <p:nvPr/>
        </p:nvSpPr>
        <p:spPr>
          <a:xfrm>
            <a:off x="1309512" y="4546950"/>
            <a:ext cx="3025314" cy="278400"/>
          </a:xfrm>
          <a:prstGeom prst="rect">
            <a:avLst/>
          </a:prstGeom>
          <a:noFill/>
          <a:ln>
            <a:noFill/>
          </a:ln>
        </p:spPr>
        <p:txBody>
          <a:bodyPr spcFirstLastPara="1" wrap="square" lIns="91425" tIns="91425" rIns="91425" bIns="91425" anchor="t" anchorCtr="0">
            <a:noAutofit/>
          </a:bodyPr>
          <a:lstStyle/>
          <a:p>
            <a:pPr lvl="0" algn="ctr">
              <a:lnSpc>
                <a:spcPct val="107000"/>
              </a:lnSpc>
            </a:pPr>
            <a:r>
              <a:rPr lang="en-US" sz="1100" dirty="0"/>
              <a:t>Part of structure of carbon nanotube</a:t>
            </a:r>
          </a:p>
        </p:txBody>
      </p:sp>
      <p:grpSp>
        <p:nvGrpSpPr>
          <p:cNvPr id="4" name="Group 3">
            <a:extLst>
              <a:ext uri="{FF2B5EF4-FFF2-40B4-BE49-F238E27FC236}">
                <a16:creationId xmlns:a16="http://schemas.microsoft.com/office/drawing/2014/main" id="{03C1E5B7-19DD-49A3-8A31-ECED8ABA0AE0}"/>
              </a:ext>
            </a:extLst>
          </p:cNvPr>
          <p:cNvGrpSpPr/>
          <p:nvPr/>
        </p:nvGrpSpPr>
        <p:grpSpPr>
          <a:xfrm>
            <a:off x="1027289" y="1551626"/>
            <a:ext cx="2923822" cy="2763548"/>
            <a:chOff x="1128889" y="1551626"/>
            <a:chExt cx="2923822" cy="2763548"/>
          </a:xfrm>
        </p:grpSpPr>
        <p:sp>
          <p:nvSpPr>
            <p:cNvPr id="3" name="Rectangle 2">
              <a:extLst>
                <a:ext uri="{FF2B5EF4-FFF2-40B4-BE49-F238E27FC236}">
                  <a16:creationId xmlns:a16="http://schemas.microsoft.com/office/drawing/2014/main" id="{DD6B28F4-8383-45B4-8E31-2C384480F058}"/>
                </a:ext>
              </a:extLst>
            </p:cNvPr>
            <p:cNvSpPr/>
            <p:nvPr/>
          </p:nvSpPr>
          <p:spPr>
            <a:xfrm>
              <a:off x="1128889" y="1551626"/>
              <a:ext cx="2923822" cy="27635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a:extLst>
                <a:ext uri="{FF2B5EF4-FFF2-40B4-BE49-F238E27FC236}">
                  <a16:creationId xmlns:a16="http://schemas.microsoft.com/office/drawing/2014/main" id="{695B0DFA-F681-458D-93D0-5350DA78034E}"/>
                </a:ext>
              </a:extLst>
            </p:cNvPr>
            <p:cNvPicPr>
              <a:picLocks noChangeAspect="1"/>
            </p:cNvPicPr>
            <p:nvPr/>
          </p:nvPicPr>
          <p:blipFill>
            <a:blip r:embed="rId3"/>
            <a:stretch>
              <a:fillRect/>
            </a:stretch>
          </p:blipFill>
          <p:spPr>
            <a:xfrm>
              <a:off x="1131662" y="1551626"/>
              <a:ext cx="2918274" cy="2763548"/>
            </a:xfrm>
            <a:prstGeom prst="rect">
              <a:avLst/>
            </a:prstGeom>
          </p:spPr>
        </p:pic>
      </p:grpSp>
    </p:spTree>
    <p:extLst>
      <p:ext uri="{BB962C8B-B14F-4D97-AF65-F5344CB8AC3E}">
        <p14:creationId xmlns:p14="http://schemas.microsoft.com/office/powerpoint/2010/main" val="79339521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TotalTime>
  <Words>2397</Words>
  <Application>Microsoft Office PowerPoint</Application>
  <PresentationFormat>On-screen Show (16:9)</PresentationFormat>
  <Paragraphs>233</Paragraphs>
  <Slides>33</Slides>
  <Notes>32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33</vt:i4>
      </vt:variant>
    </vt:vector>
  </HeadingPairs>
  <TitlesOfParts>
    <vt:vector size="39" baseType="lpstr">
      <vt:lpstr>Calibri</vt:lpstr>
      <vt:lpstr>Arial</vt:lpstr>
      <vt:lpstr>Cambria Math</vt:lpstr>
      <vt:lpstr>Roboto</vt:lpstr>
      <vt:lpstr>Simple Light</vt:lpstr>
      <vt:lpstr>Material</vt:lpstr>
      <vt:lpstr>States of matter</vt:lpstr>
      <vt:lpstr>Introduction</vt:lpstr>
      <vt:lpstr>Gaseous state</vt:lpstr>
      <vt:lpstr>Gaseous state</vt:lpstr>
      <vt:lpstr>Gaseous state</vt:lpstr>
      <vt:lpstr>Gaseous state</vt:lpstr>
      <vt:lpstr>Gaseous state</vt:lpstr>
      <vt:lpstr>Gaseous state</vt:lpstr>
      <vt:lpstr>Gaseous state</vt:lpstr>
      <vt:lpstr>Gaseous state</vt:lpstr>
      <vt:lpstr>Activities</vt:lpstr>
      <vt:lpstr>Liquid state</vt:lpstr>
      <vt:lpstr>Melting &amp; Freezing</vt:lpstr>
      <vt:lpstr>Vapourisation</vt:lpstr>
      <vt:lpstr>Condensation</vt:lpstr>
      <vt:lpstr>Vapour pressure</vt:lpstr>
      <vt:lpstr>Vapour pressure</vt:lpstr>
      <vt:lpstr>Solid state</vt:lpstr>
      <vt:lpstr>Ionic lattice</vt:lpstr>
      <vt:lpstr>Ionic lattice: properties</vt:lpstr>
      <vt:lpstr>Metallic lattice</vt:lpstr>
      <vt:lpstr>Metallic lattice: strength of metallic bonding</vt:lpstr>
      <vt:lpstr>Metallic lattice: properties</vt:lpstr>
      <vt:lpstr>Metallic lattice: Alloys</vt:lpstr>
      <vt:lpstr>Simple molecular lattices</vt:lpstr>
      <vt:lpstr>Simple molecular lattices</vt:lpstr>
      <vt:lpstr>Giant molecular structures</vt:lpstr>
      <vt:lpstr>Giant molecular structures: Properties</vt:lpstr>
      <vt:lpstr>Giant molecular structures: Graphene</vt:lpstr>
      <vt:lpstr>Giant molecular structures</vt:lpstr>
      <vt:lpstr>Giant molecular structures: Buckminsterfullerene</vt:lpstr>
      <vt:lpstr>Giant molecular structures</vt:lpstr>
      <vt:lpstr>Giant molecular structures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cp:lastModifiedBy>dare falodun</cp:lastModifiedBy>
  <cp:revision>39</cp:revision>
  <dcterms:modified xsi:type="dcterms:W3CDTF">2023-01-16T13:32:34Z</dcterms:modified>
</cp:coreProperties>
</file>