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52"/>
  </p:notesMasterIdLst>
  <p:sldIdLst>
    <p:sldId id="256" r:id="rId2"/>
    <p:sldId id="257" r:id="rId3"/>
    <p:sldId id="271" r:id="rId4"/>
    <p:sldId id="272" r:id="rId5"/>
    <p:sldId id="268" r:id="rId6"/>
    <p:sldId id="320" r:id="rId7"/>
    <p:sldId id="321" r:id="rId8"/>
    <p:sldId id="322" r:id="rId9"/>
    <p:sldId id="312" r:id="rId10"/>
    <p:sldId id="259" r:id="rId11"/>
    <p:sldId id="323" r:id="rId12"/>
    <p:sldId id="286" r:id="rId13"/>
    <p:sldId id="262" r:id="rId14"/>
    <p:sldId id="287" r:id="rId15"/>
    <p:sldId id="313" r:id="rId16"/>
    <p:sldId id="288" r:id="rId17"/>
    <p:sldId id="324" r:id="rId18"/>
    <p:sldId id="319" r:id="rId19"/>
    <p:sldId id="274" r:id="rId20"/>
    <p:sldId id="269" r:id="rId21"/>
    <p:sldId id="289" r:id="rId22"/>
    <p:sldId id="290" r:id="rId23"/>
    <p:sldId id="270" r:id="rId24"/>
    <p:sldId id="291" r:id="rId25"/>
    <p:sldId id="292" r:id="rId26"/>
    <p:sldId id="298" r:id="rId27"/>
    <p:sldId id="317" r:id="rId28"/>
    <p:sldId id="293" r:id="rId29"/>
    <p:sldId id="318" r:id="rId30"/>
    <p:sldId id="294" r:id="rId31"/>
    <p:sldId id="273" r:id="rId32"/>
    <p:sldId id="295" r:id="rId33"/>
    <p:sldId id="311" r:id="rId34"/>
    <p:sldId id="325" r:id="rId35"/>
    <p:sldId id="326" r:id="rId36"/>
    <p:sldId id="314" r:id="rId37"/>
    <p:sldId id="315" r:id="rId38"/>
    <p:sldId id="301" r:id="rId39"/>
    <p:sldId id="302" r:id="rId40"/>
    <p:sldId id="316" r:id="rId41"/>
    <p:sldId id="275" r:id="rId42"/>
    <p:sldId id="303" r:id="rId43"/>
    <p:sldId id="327" r:id="rId44"/>
    <p:sldId id="279" r:id="rId45"/>
    <p:sldId id="328" r:id="rId46"/>
    <p:sldId id="280" r:id="rId47"/>
    <p:sldId id="282" r:id="rId48"/>
    <p:sldId id="304" r:id="rId49"/>
    <p:sldId id="305" r:id="rId50"/>
    <p:sldId id="306" r:id="rId51"/>
  </p:sldIdLst>
  <p:sldSz cx="9144000" cy="5143500" type="screen16x9"/>
  <p:notesSz cx="6858000" cy="9144000"/>
  <p:embeddedFontLst>
    <p:embeddedFont>
      <p:font typeface="Calibri" panose="020F0502020204030204" pitchFamily="34" charset="0"/>
      <p:regular r:id="rId53"/>
      <p:bold r:id="rId54"/>
      <p:italic r:id="rId55"/>
      <p:boldItalic r:id="rId56"/>
    </p:embeddedFont>
    <p:embeddedFont>
      <p:font typeface="Roboto" panose="02000000000000000000" pitchFamily="2"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7AE60"/>
    <a:srgbClr val="46ED9C"/>
    <a:srgbClr val="84F3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8" y="59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3.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2.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1.fntdata"/><Relationship Id="rId58"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5.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60"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4.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7044428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94e51d7b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94e51d7b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91960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019648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34092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39020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7566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73937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69932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11730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4607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55239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3729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6113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8882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87190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0239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01769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29437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2770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7780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83948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189874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81181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3955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30773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4541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3278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444997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65506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2100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76204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123491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65680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50591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8112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17549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2738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62461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402940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32666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0028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38497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253686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7737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88450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4e51d7be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94e51d7be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05213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97075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44746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131163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970338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94e51d7be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94e51d7be_2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57044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6" name="Google Shape;56;p14"/>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7" name="Google Shape;57;p14"/>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58" name="Google Shape;58;p14"/>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59" name="Google Shape;59;p1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lstStyle>
            <a:lvl1pPr lvl="0" rtl="0">
              <a:spcBef>
                <a:spcPts val="0"/>
              </a:spcBef>
              <a:spcAft>
                <a:spcPts val="0"/>
              </a:spcAft>
              <a:buSzPts val="4200"/>
              <a:buNone/>
              <a:defRPr sz="4200"/>
            </a:lvl1pPr>
            <a:lvl2pPr lvl="1" rtl="0">
              <a:spcBef>
                <a:spcPts val="0"/>
              </a:spcBef>
              <a:spcAft>
                <a:spcPts val="0"/>
              </a:spcAft>
              <a:buSzPts val="4200"/>
              <a:buNone/>
              <a:defRPr sz="4200"/>
            </a:lvl2pPr>
            <a:lvl3pPr lvl="2" rtl="0">
              <a:spcBef>
                <a:spcPts val="0"/>
              </a:spcBef>
              <a:spcAft>
                <a:spcPts val="0"/>
              </a:spcAft>
              <a:buSzPts val="4200"/>
              <a:buNone/>
              <a:defRPr sz="4200"/>
            </a:lvl3pPr>
            <a:lvl4pPr lvl="3" rtl="0">
              <a:spcBef>
                <a:spcPts val="0"/>
              </a:spcBef>
              <a:spcAft>
                <a:spcPts val="0"/>
              </a:spcAft>
              <a:buSzPts val="4200"/>
              <a:buNone/>
              <a:defRPr sz="4200"/>
            </a:lvl4pPr>
            <a:lvl5pPr lvl="4" rtl="0">
              <a:spcBef>
                <a:spcPts val="0"/>
              </a:spcBef>
              <a:spcAft>
                <a:spcPts val="0"/>
              </a:spcAft>
              <a:buSzPts val="4200"/>
              <a:buNone/>
              <a:defRPr sz="4200"/>
            </a:lvl5pPr>
            <a:lvl6pPr lvl="5" rtl="0">
              <a:spcBef>
                <a:spcPts val="0"/>
              </a:spcBef>
              <a:spcAft>
                <a:spcPts val="0"/>
              </a:spcAft>
              <a:buSzPts val="4200"/>
              <a:buNone/>
              <a:defRPr sz="4200"/>
            </a:lvl6pPr>
            <a:lvl7pPr lvl="6" rtl="0">
              <a:spcBef>
                <a:spcPts val="0"/>
              </a:spcBef>
              <a:spcAft>
                <a:spcPts val="0"/>
              </a:spcAft>
              <a:buSzPts val="4200"/>
              <a:buNone/>
              <a:defRPr sz="4200"/>
            </a:lvl7pPr>
            <a:lvl8pPr lvl="7" rtl="0">
              <a:spcBef>
                <a:spcPts val="0"/>
              </a:spcBef>
              <a:spcAft>
                <a:spcPts val="0"/>
              </a:spcAft>
              <a:buSzPts val="4200"/>
              <a:buNone/>
              <a:defRPr sz="4200"/>
            </a:lvl8pPr>
            <a:lvl9pPr lvl="8" rtl="0">
              <a:spcBef>
                <a:spcPts val="0"/>
              </a:spcBef>
              <a:spcAft>
                <a:spcPts val="0"/>
              </a:spcAft>
              <a:buSzPts val="4200"/>
              <a:buNone/>
              <a:defRPr sz="4200"/>
            </a:lvl9pPr>
          </a:lstStyle>
          <a:p>
            <a:endParaRPr/>
          </a:p>
        </p:txBody>
      </p:sp>
      <p:sp>
        <p:nvSpPr>
          <p:cNvPr id="62" name="Google Shape;62;p1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16"/>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6" name="Google Shape;66;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67" name="Google Shape;67;p1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lstStyle>
            <a:lvl1pPr marL="457200" lvl="0" indent="-342900" rtl="0">
              <a:spcBef>
                <a:spcPts val="0"/>
              </a:spcBef>
              <a:spcAft>
                <a:spcPts val="0"/>
              </a:spcAft>
              <a:buSzPts val="1800"/>
              <a:buChar char="●"/>
              <a:defRPr/>
            </a:lvl1pPr>
            <a:lvl2pPr marL="914400" lvl="1" indent="-317500" rtl="0">
              <a:spcBef>
                <a:spcPts val="1600"/>
              </a:spcBef>
              <a:spcAft>
                <a:spcPts val="0"/>
              </a:spcAft>
              <a:buSzPts val="1400"/>
              <a:buChar char="○"/>
              <a:defRPr/>
            </a:lvl2pPr>
            <a:lvl3pPr marL="1371600" lvl="2" indent="-317500" rtl="0">
              <a:spcBef>
                <a:spcPts val="1600"/>
              </a:spcBef>
              <a:spcAft>
                <a:spcPts val="0"/>
              </a:spcAft>
              <a:buSzPts val="1400"/>
              <a:buChar char="■"/>
              <a:defRPr/>
            </a:lvl3pPr>
            <a:lvl4pPr marL="1828800" lvl="3" indent="-317500" rtl="0">
              <a:spcBef>
                <a:spcPts val="1600"/>
              </a:spcBef>
              <a:spcAft>
                <a:spcPts val="0"/>
              </a:spcAft>
              <a:buSzPts val="1400"/>
              <a:buChar char="●"/>
              <a:defRPr/>
            </a:lvl4pPr>
            <a:lvl5pPr marL="2286000" lvl="4" indent="-317500" rtl="0">
              <a:spcBef>
                <a:spcPts val="1600"/>
              </a:spcBef>
              <a:spcAft>
                <a:spcPts val="0"/>
              </a:spcAft>
              <a:buSzPts val="1400"/>
              <a:buChar char="○"/>
              <a:defRPr/>
            </a:lvl5pPr>
            <a:lvl6pPr marL="2743200" lvl="5" indent="-317500" rtl="0">
              <a:spcBef>
                <a:spcPts val="1600"/>
              </a:spcBef>
              <a:spcAft>
                <a:spcPts val="0"/>
              </a:spcAft>
              <a:buSzPts val="1400"/>
              <a:buChar char="■"/>
              <a:defRPr/>
            </a:lvl6pPr>
            <a:lvl7pPr marL="3200400" lvl="6" indent="-317500" rtl="0">
              <a:spcBef>
                <a:spcPts val="1600"/>
              </a:spcBef>
              <a:spcAft>
                <a:spcPts val="0"/>
              </a:spcAft>
              <a:buSzPts val="1400"/>
              <a:buChar char="●"/>
              <a:defRPr/>
            </a:lvl7pPr>
            <a:lvl8pPr marL="3657600" lvl="7" indent="-317500" rtl="0">
              <a:spcBef>
                <a:spcPts val="1600"/>
              </a:spcBef>
              <a:spcAft>
                <a:spcPts val="0"/>
              </a:spcAft>
              <a:buSzPts val="1400"/>
              <a:buChar char="○"/>
              <a:defRPr/>
            </a:lvl8pPr>
            <a:lvl9pPr marL="4114800" lvl="8" indent="-317500" rtl="0">
              <a:spcBef>
                <a:spcPts val="1600"/>
              </a:spcBef>
              <a:spcAft>
                <a:spcPts val="1600"/>
              </a:spcAft>
              <a:buSzPts val="1400"/>
              <a:buChar char="■"/>
              <a:defRPr/>
            </a:lvl9pPr>
          </a:lstStyle>
          <a:p>
            <a:endParaRPr/>
          </a:p>
        </p:txBody>
      </p:sp>
      <p:sp>
        <p:nvSpPr>
          <p:cNvPr id="68" name="Google Shape;68;p1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9"/>
        <p:cNvGrpSpPr/>
        <p:nvPr/>
      </p:nvGrpSpPr>
      <p:grpSpPr>
        <a:xfrm>
          <a:off x="0" y="0"/>
          <a:ext cx="0" cy="0"/>
          <a:chOff x="0" y="0"/>
          <a:chExt cx="0" cy="0"/>
        </a:xfrm>
      </p:grpSpPr>
      <p:sp>
        <p:nvSpPr>
          <p:cNvPr id="70" name="Google Shape;70;p17"/>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1" name="Google Shape;71;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2" name="Google Shape;72;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3" name="Google Shape;73;p17"/>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4" name="Google Shape;74;p17"/>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75" name="Google Shape;75;p1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18"/>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8" name="Google Shape;78;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9" name="Google Shape;79;p18"/>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80" name="Google Shape;80;p1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lstStyle>
            <a:lvl1pPr lvl="0" rtl="0">
              <a:spcBef>
                <a:spcPts val="0"/>
              </a:spcBef>
              <a:spcAft>
                <a:spcPts val="0"/>
              </a:spcAft>
              <a:buSzPts val="6000"/>
              <a:buNone/>
              <a:defRPr sz="60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endParaRPr/>
          </a:p>
        </p:txBody>
      </p:sp>
      <p:sp>
        <p:nvSpPr>
          <p:cNvPr id="89" name="Google Shape;89;p2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7"/>
        <p:cNvGrpSpPr/>
        <p:nvPr/>
      </p:nvGrpSpPr>
      <p:grpSpPr>
        <a:xfrm>
          <a:off x="0" y="0"/>
          <a:ext cx="0" cy="0"/>
          <a:chOff x="0" y="0"/>
          <a:chExt cx="0" cy="0"/>
        </a:xfrm>
      </p:grpSpPr>
      <p:sp>
        <p:nvSpPr>
          <p:cNvPr id="98" name="Google Shape;98;p22"/>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9" name="Google Shape;99;p2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00" name="Google Shape;100;p22"/>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lstStyle>
            <a:lvl1pPr marL="457200" lvl="0" indent="-228600" rtl="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101" name="Google Shape;101;p2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2"/>
        <p:cNvGrpSpPr/>
        <p:nvPr/>
      </p:nvGrpSpPr>
      <p:grpSpPr>
        <a:xfrm>
          <a:off x="0" y="0"/>
          <a:ext cx="0" cy="0"/>
          <a:chOff x="0" y="0"/>
          <a:chExt cx="0" cy="0"/>
        </a:xfrm>
      </p:grpSpPr>
      <p:sp>
        <p:nvSpPr>
          <p:cNvPr id="103" name="Google Shape;103;p23"/>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12000"/>
              <a:buNone/>
              <a:defRPr sz="12000">
                <a:solidFill>
                  <a:schemeClr val="dk2"/>
                </a:solidFill>
              </a:defRPr>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104" name="Google Shape;104;p23"/>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lstStyle>
            <a:lvl1pPr marL="457200" lvl="0" indent="-342900" algn="ctr" rtl="0">
              <a:spcBef>
                <a:spcPts val="0"/>
              </a:spcBef>
              <a:spcAft>
                <a:spcPts val="0"/>
              </a:spcAft>
              <a:buSzPts val="1800"/>
              <a:buChar char="●"/>
              <a:defRPr/>
            </a:lvl1pPr>
            <a:lvl2pPr marL="914400" lvl="1" indent="-317500" algn="ctr" rtl="0">
              <a:spcBef>
                <a:spcPts val="1600"/>
              </a:spcBef>
              <a:spcAft>
                <a:spcPts val="0"/>
              </a:spcAft>
              <a:buSzPts val="1400"/>
              <a:buChar char="○"/>
              <a:defRPr/>
            </a:lvl2pPr>
            <a:lvl3pPr marL="1371600" lvl="2" indent="-317500" algn="ctr" rtl="0">
              <a:spcBef>
                <a:spcPts val="1600"/>
              </a:spcBef>
              <a:spcAft>
                <a:spcPts val="0"/>
              </a:spcAft>
              <a:buSzPts val="1400"/>
              <a:buChar char="■"/>
              <a:defRPr/>
            </a:lvl3pPr>
            <a:lvl4pPr marL="1828800" lvl="3" indent="-317500" algn="ctr" rtl="0">
              <a:spcBef>
                <a:spcPts val="1600"/>
              </a:spcBef>
              <a:spcAft>
                <a:spcPts val="0"/>
              </a:spcAft>
              <a:buSzPts val="1400"/>
              <a:buChar char="●"/>
              <a:defRPr/>
            </a:lvl4pPr>
            <a:lvl5pPr marL="2286000" lvl="4" indent="-317500" algn="ctr" rtl="0">
              <a:spcBef>
                <a:spcPts val="1600"/>
              </a:spcBef>
              <a:spcAft>
                <a:spcPts val="0"/>
              </a:spcAft>
              <a:buSzPts val="1400"/>
              <a:buChar char="○"/>
              <a:defRPr/>
            </a:lvl5pPr>
            <a:lvl6pPr marL="2743200" lvl="5" indent="-317500" algn="ctr" rtl="0">
              <a:spcBef>
                <a:spcPts val="1600"/>
              </a:spcBef>
              <a:spcAft>
                <a:spcPts val="0"/>
              </a:spcAft>
              <a:buSzPts val="1400"/>
              <a:buChar char="■"/>
              <a:defRPr/>
            </a:lvl6pPr>
            <a:lvl7pPr marL="3200400" lvl="6" indent="-317500" algn="ctr" rtl="0">
              <a:spcBef>
                <a:spcPts val="1600"/>
              </a:spcBef>
              <a:spcAft>
                <a:spcPts val="0"/>
              </a:spcAft>
              <a:buSzPts val="1400"/>
              <a:buChar char="●"/>
              <a:defRPr/>
            </a:lvl7pPr>
            <a:lvl8pPr marL="3657600" lvl="7" indent="-317500" algn="ctr" rtl="0">
              <a:spcBef>
                <a:spcPts val="1600"/>
              </a:spcBef>
              <a:spcAft>
                <a:spcPts val="0"/>
              </a:spcAft>
              <a:buSzPts val="1400"/>
              <a:buChar char="○"/>
              <a:defRPr/>
            </a:lvl8pPr>
            <a:lvl9pPr marL="4114800" lvl="8" indent="-317500" algn="ctr" rtl="0">
              <a:spcBef>
                <a:spcPts val="1600"/>
              </a:spcBef>
              <a:spcAft>
                <a:spcPts val="1600"/>
              </a:spcAft>
              <a:buSzPts val="1400"/>
              <a:buChar char="■"/>
              <a:defRPr/>
            </a:lvl9pPr>
          </a:lstStyle>
          <a:p>
            <a:endParaRPr/>
          </a:p>
        </p:txBody>
      </p:sp>
      <p:sp>
        <p:nvSpPr>
          <p:cNvPr id="105" name="Google Shape;105;p2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6"/>
        <p:cNvGrpSpPr/>
        <p:nvPr/>
      </p:nvGrpSpPr>
      <p:grpSpPr>
        <a:xfrm>
          <a:off x="0" y="0"/>
          <a:ext cx="0" cy="0"/>
          <a:chOff x="0" y="0"/>
          <a:chExt cx="0" cy="0"/>
        </a:xfrm>
      </p:grpSpPr>
      <p:sp>
        <p:nvSpPr>
          <p:cNvPr id="107" name="Google Shape;107;p2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90"/>
        <p:cNvGrpSpPr/>
        <p:nvPr/>
      </p:nvGrpSpPr>
      <p:grpSpPr>
        <a:xfrm>
          <a:off x="0" y="0"/>
          <a:ext cx="0" cy="0"/>
          <a:chOff x="0" y="0"/>
          <a:chExt cx="0" cy="0"/>
        </a:xfrm>
      </p:grpSpPr>
      <p:sp>
        <p:nvSpPr>
          <p:cNvPr id="91" name="Google Shape;91;p21"/>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2" name="Google Shape;92;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3" name="Google Shape;93;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lstStyle>
            <a:lvl1pPr lvl="0" algn="ctr" rtl="0">
              <a:spcBef>
                <a:spcPts val="0"/>
              </a:spcBef>
              <a:spcAft>
                <a:spcPts val="0"/>
              </a:spcAft>
              <a:buClr>
                <a:schemeClr val="dk2"/>
              </a:buClr>
              <a:buSzPts val="4200"/>
              <a:buNone/>
              <a:defRPr sz="4200">
                <a:solidFill>
                  <a:schemeClr val="dk2"/>
                </a:solidFill>
              </a:defRPr>
            </a:lvl1pPr>
            <a:lvl2pPr lvl="1" algn="ctr" rtl="0">
              <a:spcBef>
                <a:spcPts val="0"/>
              </a:spcBef>
              <a:spcAft>
                <a:spcPts val="0"/>
              </a:spcAft>
              <a:buClr>
                <a:schemeClr val="dk2"/>
              </a:buClr>
              <a:buSzPts val="4200"/>
              <a:buNone/>
              <a:defRPr sz="4200">
                <a:solidFill>
                  <a:schemeClr val="dk2"/>
                </a:solidFill>
              </a:defRPr>
            </a:lvl2pPr>
            <a:lvl3pPr lvl="2" algn="ctr" rtl="0">
              <a:spcBef>
                <a:spcPts val="0"/>
              </a:spcBef>
              <a:spcAft>
                <a:spcPts val="0"/>
              </a:spcAft>
              <a:buClr>
                <a:schemeClr val="dk2"/>
              </a:buClr>
              <a:buSzPts val="4200"/>
              <a:buNone/>
              <a:defRPr sz="4200">
                <a:solidFill>
                  <a:schemeClr val="dk2"/>
                </a:solidFill>
              </a:defRPr>
            </a:lvl3pPr>
            <a:lvl4pPr lvl="3" algn="ctr" rtl="0">
              <a:spcBef>
                <a:spcPts val="0"/>
              </a:spcBef>
              <a:spcAft>
                <a:spcPts val="0"/>
              </a:spcAft>
              <a:buClr>
                <a:schemeClr val="dk2"/>
              </a:buClr>
              <a:buSzPts val="4200"/>
              <a:buNone/>
              <a:defRPr sz="4200">
                <a:solidFill>
                  <a:schemeClr val="dk2"/>
                </a:solidFill>
              </a:defRPr>
            </a:lvl4pPr>
            <a:lvl5pPr lvl="4" algn="ctr" rtl="0">
              <a:spcBef>
                <a:spcPts val="0"/>
              </a:spcBef>
              <a:spcAft>
                <a:spcPts val="0"/>
              </a:spcAft>
              <a:buClr>
                <a:schemeClr val="dk2"/>
              </a:buClr>
              <a:buSzPts val="4200"/>
              <a:buNone/>
              <a:defRPr sz="4200">
                <a:solidFill>
                  <a:schemeClr val="dk2"/>
                </a:solidFill>
              </a:defRPr>
            </a:lvl5pPr>
            <a:lvl6pPr lvl="5" algn="ctr" rtl="0">
              <a:spcBef>
                <a:spcPts val="0"/>
              </a:spcBef>
              <a:spcAft>
                <a:spcPts val="0"/>
              </a:spcAft>
              <a:buClr>
                <a:schemeClr val="dk2"/>
              </a:buClr>
              <a:buSzPts val="4200"/>
              <a:buNone/>
              <a:defRPr sz="4200">
                <a:solidFill>
                  <a:schemeClr val="dk2"/>
                </a:solidFill>
              </a:defRPr>
            </a:lvl6pPr>
            <a:lvl7pPr lvl="6" algn="ctr" rtl="0">
              <a:spcBef>
                <a:spcPts val="0"/>
              </a:spcBef>
              <a:spcAft>
                <a:spcPts val="0"/>
              </a:spcAft>
              <a:buClr>
                <a:schemeClr val="dk2"/>
              </a:buClr>
              <a:buSzPts val="4200"/>
              <a:buNone/>
              <a:defRPr sz="4200">
                <a:solidFill>
                  <a:schemeClr val="dk2"/>
                </a:solidFill>
              </a:defRPr>
            </a:lvl7pPr>
            <a:lvl8pPr lvl="7" algn="ctr" rtl="0">
              <a:spcBef>
                <a:spcPts val="0"/>
              </a:spcBef>
              <a:spcAft>
                <a:spcPts val="0"/>
              </a:spcAft>
              <a:buClr>
                <a:schemeClr val="dk2"/>
              </a:buClr>
              <a:buSzPts val="4200"/>
              <a:buNone/>
              <a:defRPr sz="4200">
                <a:solidFill>
                  <a:schemeClr val="dk2"/>
                </a:solidFill>
              </a:defRPr>
            </a:lvl8pPr>
            <a:lvl9pPr lvl="8" algn="ctr" rtl="0">
              <a:spcBef>
                <a:spcPts val="0"/>
              </a:spcBef>
              <a:spcAft>
                <a:spcPts val="0"/>
              </a:spcAft>
              <a:buClr>
                <a:schemeClr val="dk2"/>
              </a:buClr>
              <a:buSzPts val="4200"/>
              <a:buNone/>
              <a:defRPr sz="4200">
                <a:solidFill>
                  <a:schemeClr val="dk2"/>
                </a:solidFill>
              </a:defRPr>
            </a:lvl9pPr>
          </a:lstStyle>
          <a:p>
            <a:endParaRPr/>
          </a:p>
        </p:txBody>
      </p:sp>
      <p:sp>
        <p:nvSpPr>
          <p:cNvPr id="94" name="Google Shape;94;p21"/>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95" name="Google Shape;95;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1600"/>
              </a:spcBef>
              <a:spcAft>
                <a:spcPts val="0"/>
              </a:spcAft>
              <a:buClr>
                <a:schemeClr val="lt1"/>
              </a:buClr>
              <a:buSzPts val="1400"/>
              <a:buChar char="○"/>
              <a:defRPr>
                <a:solidFill>
                  <a:schemeClr val="lt1"/>
                </a:solidFill>
              </a:defRPr>
            </a:lvl2pPr>
            <a:lvl3pPr marL="1371600" lvl="2" indent="-317500" rtl="0">
              <a:spcBef>
                <a:spcPts val="1600"/>
              </a:spcBef>
              <a:spcAft>
                <a:spcPts val="0"/>
              </a:spcAft>
              <a:buClr>
                <a:schemeClr val="lt1"/>
              </a:buClr>
              <a:buSzPts val="1400"/>
              <a:buChar char="■"/>
              <a:defRPr>
                <a:solidFill>
                  <a:schemeClr val="lt1"/>
                </a:solidFill>
              </a:defRPr>
            </a:lvl3pPr>
            <a:lvl4pPr marL="1828800" lvl="3" indent="-317500" rtl="0">
              <a:spcBef>
                <a:spcPts val="1600"/>
              </a:spcBef>
              <a:spcAft>
                <a:spcPts val="0"/>
              </a:spcAft>
              <a:buClr>
                <a:schemeClr val="lt1"/>
              </a:buClr>
              <a:buSzPts val="1400"/>
              <a:buChar char="●"/>
              <a:defRPr>
                <a:solidFill>
                  <a:schemeClr val="lt1"/>
                </a:solidFill>
              </a:defRPr>
            </a:lvl4pPr>
            <a:lvl5pPr marL="2286000" lvl="4" indent="-317500" rtl="0">
              <a:spcBef>
                <a:spcPts val="1600"/>
              </a:spcBef>
              <a:spcAft>
                <a:spcPts val="0"/>
              </a:spcAft>
              <a:buClr>
                <a:schemeClr val="lt1"/>
              </a:buClr>
              <a:buSzPts val="1400"/>
              <a:buChar char="○"/>
              <a:defRPr>
                <a:solidFill>
                  <a:schemeClr val="lt1"/>
                </a:solidFill>
              </a:defRPr>
            </a:lvl5pPr>
            <a:lvl6pPr marL="2743200" lvl="5" indent="-317500" rtl="0">
              <a:spcBef>
                <a:spcPts val="1600"/>
              </a:spcBef>
              <a:spcAft>
                <a:spcPts val="0"/>
              </a:spcAft>
              <a:buClr>
                <a:schemeClr val="lt1"/>
              </a:buClr>
              <a:buSzPts val="1400"/>
              <a:buChar char="■"/>
              <a:defRPr>
                <a:solidFill>
                  <a:schemeClr val="lt1"/>
                </a:solidFill>
              </a:defRPr>
            </a:lvl6pPr>
            <a:lvl7pPr marL="3200400" lvl="6" indent="-317500" rtl="0">
              <a:spcBef>
                <a:spcPts val="1600"/>
              </a:spcBef>
              <a:spcAft>
                <a:spcPts val="0"/>
              </a:spcAft>
              <a:buClr>
                <a:schemeClr val="lt1"/>
              </a:buClr>
              <a:buSzPts val="1400"/>
              <a:buChar char="●"/>
              <a:defRPr>
                <a:solidFill>
                  <a:schemeClr val="lt1"/>
                </a:solidFill>
              </a:defRPr>
            </a:lvl7pPr>
            <a:lvl8pPr marL="3657600" lvl="7" indent="-317500" rtl="0">
              <a:spcBef>
                <a:spcPts val="1600"/>
              </a:spcBef>
              <a:spcAft>
                <a:spcPts val="0"/>
              </a:spcAft>
              <a:buClr>
                <a:schemeClr val="lt1"/>
              </a:buClr>
              <a:buSzPts val="1400"/>
              <a:buChar char="○"/>
              <a:defRPr>
                <a:solidFill>
                  <a:schemeClr val="lt1"/>
                </a:solidFill>
              </a:defRPr>
            </a:lvl8pPr>
            <a:lvl9pPr marL="4114800" lvl="8" indent="-317500" rtl="0">
              <a:spcBef>
                <a:spcPts val="1600"/>
              </a:spcBef>
              <a:spcAft>
                <a:spcPts val="1600"/>
              </a:spcAft>
              <a:buClr>
                <a:schemeClr val="lt1"/>
              </a:buClr>
              <a:buSzPts val="1400"/>
              <a:buChar char="■"/>
              <a:defRPr>
                <a:solidFill>
                  <a:schemeClr val="lt1"/>
                </a:solidFill>
              </a:defRPr>
            </a:lvl9pPr>
          </a:lstStyle>
          <a:p>
            <a:endParaRPr/>
          </a:p>
        </p:txBody>
      </p:sp>
      <p:sp>
        <p:nvSpPr>
          <p:cNvPr id="96" name="Google Shape;96;p2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dirty="0"/>
          </a:p>
        </p:txBody>
      </p:sp>
    </p:spTree>
    <p:extLst>
      <p:ext uri="{BB962C8B-B14F-4D97-AF65-F5344CB8AC3E}">
        <p14:creationId xmlns:p14="http://schemas.microsoft.com/office/powerpoint/2010/main" val="261046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rgbClr val="27AE6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lstStyle>
            <a:lvl1pPr lvl="0"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rt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lstStyle>
            <a:lvl1pPr marL="457200" lvl="0" indent="-342900" rtl="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rtl="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rtl="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lt2"/>
                </a:solidFill>
                <a:latin typeface="Roboto"/>
                <a:ea typeface="Roboto"/>
                <a:cs typeface="Roboto"/>
                <a:sym typeface="Roboto"/>
              </a:defRPr>
            </a:lvl1pPr>
            <a:lvl2pPr lvl="1" algn="r" rtl="0">
              <a:buNone/>
              <a:defRPr sz="1000">
                <a:solidFill>
                  <a:schemeClr val="lt2"/>
                </a:solidFill>
                <a:latin typeface="Roboto"/>
                <a:ea typeface="Roboto"/>
                <a:cs typeface="Roboto"/>
                <a:sym typeface="Roboto"/>
              </a:defRPr>
            </a:lvl2pPr>
            <a:lvl3pPr lvl="2" algn="r" rtl="0">
              <a:buNone/>
              <a:defRPr sz="1000">
                <a:solidFill>
                  <a:schemeClr val="lt2"/>
                </a:solidFill>
                <a:latin typeface="Roboto"/>
                <a:ea typeface="Roboto"/>
                <a:cs typeface="Roboto"/>
                <a:sym typeface="Roboto"/>
              </a:defRPr>
            </a:lvl3pPr>
            <a:lvl4pPr lvl="3" algn="r" rtl="0">
              <a:buNone/>
              <a:defRPr sz="1000">
                <a:solidFill>
                  <a:schemeClr val="lt2"/>
                </a:solidFill>
                <a:latin typeface="Roboto"/>
                <a:ea typeface="Roboto"/>
                <a:cs typeface="Roboto"/>
                <a:sym typeface="Roboto"/>
              </a:defRPr>
            </a:lvl4pPr>
            <a:lvl5pPr lvl="4" algn="r" rtl="0">
              <a:buNone/>
              <a:defRPr sz="1000">
                <a:solidFill>
                  <a:schemeClr val="lt2"/>
                </a:solidFill>
                <a:latin typeface="Roboto"/>
                <a:ea typeface="Roboto"/>
                <a:cs typeface="Roboto"/>
                <a:sym typeface="Roboto"/>
              </a:defRPr>
            </a:lvl5pPr>
            <a:lvl6pPr lvl="5" algn="r" rtl="0">
              <a:buNone/>
              <a:defRPr sz="1000">
                <a:solidFill>
                  <a:schemeClr val="lt2"/>
                </a:solidFill>
                <a:latin typeface="Roboto"/>
                <a:ea typeface="Roboto"/>
                <a:cs typeface="Roboto"/>
                <a:sym typeface="Roboto"/>
              </a:defRPr>
            </a:lvl6pPr>
            <a:lvl7pPr lvl="6" algn="r" rtl="0">
              <a:buNone/>
              <a:defRPr sz="1000">
                <a:solidFill>
                  <a:schemeClr val="lt2"/>
                </a:solidFill>
                <a:latin typeface="Roboto"/>
                <a:ea typeface="Roboto"/>
                <a:cs typeface="Roboto"/>
                <a:sym typeface="Roboto"/>
              </a:defRPr>
            </a:lvl7pPr>
            <a:lvl8pPr lvl="7" algn="r" rtl="0">
              <a:buNone/>
              <a:defRPr sz="1000">
                <a:solidFill>
                  <a:schemeClr val="lt2"/>
                </a:solidFill>
                <a:latin typeface="Roboto"/>
                <a:ea typeface="Roboto"/>
                <a:cs typeface="Roboto"/>
                <a:sym typeface="Roboto"/>
              </a:defRPr>
            </a:lvl8pPr>
            <a:lvl9pPr lvl="8" algn="r" rtl="0">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dirty="0"/>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5" r:id="rId6"/>
    <p:sldLayoutId id="2147483667" r:id="rId7"/>
    <p:sldLayoutId id="2147483668" r:id="rId8"/>
    <p:sldLayoutId id="2147483669"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23.jp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9.xml"/><Relationship Id="rId1" Type="http://schemas.openxmlformats.org/officeDocument/2006/relationships/slideLayout" Target="../slideLayouts/slideLayout10.xml"/><Relationship Id="rId4" Type="http://schemas.openxmlformats.org/officeDocument/2006/relationships/image" Target="../media/image31.jp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42.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47.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48.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49.xml"/><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5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5"/>
          <p:cNvSpPr txBox="1">
            <a:spLocks noGrp="1"/>
          </p:cNvSpPr>
          <p:nvPr>
            <p:ph type="ctrTitle"/>
          </p:nvPr>
        </p:nvSpPr>
        <p:spPr>
          <a:xfrm>
            <a:off x="460950" y="1169700"/>
            <a:ext cx="8222100" cy="933600"/>
          </a:xfrm>
          <a:prstGeom prst="rect">
            <a:avLst/>
          </a:prstGeom>
        </p:spPr>
        <p:txBody>
          <a:bodyPr spcFirstLastPara="1" wrap="square" lIns="91425" tIns="91425" rIns="91425" bIns="91425" anchor="b" anchorCtr="0">
            <a:noAutofit/>
          </a:bodyPr>
          <a:lstStyle/>
          <a:p>
            <a:pPr lvl="0"/>
            <a:r>
              <a:rPr lang="en-MY" dirty="0">
                <a:latin typeface="Calibri" panose="020F0502020204030204" pitchFamily="34" charset="0"/>
              </a:rPr>
              <a:t>Chemical bonding</a:t>
            </a:r>
          </a:p>
        </p:txBody>
      </p:sp>
      <p:sp>
        <p:nvSpPr>
          <p:cNvPr id="3"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114300" lvl="0">
              <a:buClr>
                <a:schemeClr val="bg1"/>
              </a:buClr>
              <a:buSzPts val="1800"/>
            </a:pPr>
            <a:r>
              <a:rPr lang="en-US" sz="1800" dirty="0">
                <a:solidFill>
                  <a:schemeClr val="bg1"/>
                </a:solidFill>
                <a:latin typeface="Calibri" panose="020F0502020204030204" pitchFamily="34" charset="0"/>
              </a:rPr>
              <a:t>3.1 Electronegativity and bonding</a:t>
            </a:r>
          </a:p>
          <a:p>
            <a:pPr marL="114300" lvl="0">
              <a:buClr>
                <a:schemeClr val="bg1"/>
              </a:buClr>
              <a:buSzPts val="1800"/>
            </a:pPr>
            <a:r>
              <a:rPr lang="en-US" sz="1800" dirty="0">
                <a:solidFill>
                  <a:schemeClr val="bg1"/>
                </a:solidFill>
                <a:latin typeface="Calibri" panose="020F0502020204030204" pitchFamily="34" charset="0"/>
              </a:rPr>
              <a:t>3.2 Ionic bonding</a:t>
            </a:r>
          </a:p>
          <a:p>
            <a:pPr marL="114300" lvl="0">
              <a:buClr>
                <a:schemeClr val="bg1"/>
              </a:buClr>
              <a:buSzPts val="1800"/>
            </a:pPr>
            <a:r>
              <a:rPr lang="en-US" sz="1800" dirty="0">
                <a:solidFill>
                  <a:schemeClr val="bg1"/>
                </a:solidFill>
                <a:latin typeface="Calibri" panose="020F0502020204030204" pitchFamily="34" charset="0"/>
              </a:rPr>
              <a:t>3.3 Metallic bonding</a:t>
            </a:r>
          </a:p>
          <a:p>
            <a:pPr marL="114300" lvl="0">
              <a:buClr>
                <a:schemeClr val="bg1"/>
              </a:buClr>
              <a:buSzPts val="1800"/>
            </a:pPr>
            <a:r>
              <a:rPr lang="en-US" sz="1800" dirty="0">
                <a:solidFill>
                  <a:schemeClr val="bg1"/>
                </a:solidFill>
                <a:latin typeface="Calibri" panose="020F0502020204030204" pitchFamily="34" charset="0"/>
              </a:rPr>
              <a:t>3.4 Covalent bonding and coordinate (dative covalent) bonding </a:t>
            </a:r>
          </a:p>
          <a:p>
            <a:pPr marL="114300" lvl="0">
              <a:buClr>
                <a:schemeClr val="bg1"/>
              </a:buClr>
              <a:buSzPts val="1800"/>
            </a:pPr>
            <a:r>
              <a:rPr lang="en-US" sz="1800" dirty="0">
                <a:solidFill>
                  <a:schemeClr val="bg1"/>
                </a:solidFill>
                <a:latin typeface="Calibri" panose="020F0502020204030204" pitchFamily="34" charset="0"/>
              </a:rPr>
              <a:t>3.5 Shapes of molecules</a:t>
            </a:r>
          </a:p>
          <a:p>
            <a:pPr marL="114300" lvl="0">
              <a:buClr>
                <a:schemeClr val="bg1"/>
              </a:buClr>
              <a:buSzPts val="1800"/>
            </a:pPr>
            <a:r>
              <a:rPr lang="en-US" sz="1800" dirty="0">
                <a:solidFill>
                  <a:schemeClr val="bg1"/>
                </a:solidFill>
                <a:latin typeface="Calibri" panose="020F0502020204030204" pitchFamily="34" charset="0"/>
              </a:rPr>
              <a:t>3.6 Intermolecular forces, electronegativity and bond properties</a:t>
            </a:r>
          </a:p>
          <a:p>
            <a:pPr marL="114300" lvl="0">
              <a:buClr>
                <a:schemeClr val="bg1"/>
              </a:buClr>
              <a:buSzPts val="1800"/>
            </a:pPr>
            <a:r>
              <a:rPr lang="en-US" sz="1800" dirty="0">
                <a:solidFill>
                  <a:schemeClr val="bg1"/>
                </a:solidFill>
                <a:latin typeface="Calibri" panose="020F0502020204030204" pitchFamily="34" charset="0"/>
              </a:rPr>
              <a:t>3.7 Dot and cross diagrams</a:t>
            </a:r>
          </a:p>
          <a:p>
            <a:pPr marL="114300" lvl="0">
              <a:buSzPts val="1800"/>
            </a:pPr>
            <a:endParaRPr lang="en-IN" sz="2000" dirty="0">
              <a:latin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latin typeface="Calibri" panose="020F0502020204030204" pitchFamily="34" charset="0"/>
              </a:rPr>
              <a:t>Introduction</a:t>
            </a:r>
            <a:endParaRPr dirty="0">
              <a:latin typeface="Calibri" panose="020F0502020204030204" pitchFamily="34" charset="0"/>
            </a:endParaRPr>
          </a:p>
        </p:txBody>
      </p:sp>
      <p:sp>
        <p:nvSpPr>
          <p:cNvPr id="118" name="Google Shape;118;p26"/>
          <p:cNvSpPr txBox="1"/>
          <p:nvPr/>
        </p:nvSpPr>
        <p:spPr>
          <a:xfrm>
            <a:off x="702600" y="18250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spcBef>
                <a:spcPts val="1000"/>
              </a:spcBef>
              <a:buSzPts val="1800"/>
              <a:buFont typeface="Arial" panose="020B0604020202020204" pitchFamily="34" charset="0"/>
              <a:buChar char="•"/>
            </a:pPr>
            <a:r>
              <a:rPr lang="en-US" sz="1600" dirty="0">
                <a:latin typeface="Calibri" panose="020F0502020204030204" pitchFamily="34" charset="0"/>
              </a:rPr>
              <a:t>Atoms are held together in compounds by chemical bonds. </a:t>
            </a:r>
          </a:p>
          <a:p>
            <a:pPr marL="457200" lvl="0" indent="-342900" algn="just">
              <a:spcBef>
                <a:spcPts val="1000"/>
              </a:spcBef>
              <a:buSzPts val="1800"/>
              <a:buFont typeface="Arial" panose="020B0604020202020204" pitchFamily="34" charset="0"/>
              <a:buChar char="•"/>
            </a:pPr>
            <a:r>
              <a:rPr lang="en-US" sz="1600" dirty="0">
                <a:latin typeface="Calibri" panose="020F0502020204030204" pitchFamily="34" charset="0"/>
              </a:rPr>
              <a:t>Ionic bonding is due to the electrostatic attraction between positive and negative ion. </a:t>
            </a:r>
          </a:p>
          <a:p>
            <a:pPr marL="457200" lvl="0" indent="-342900" algn="just">
              <a:spcBef>
                <a:spcPts val="1000"/>
              </a:spcBef>
              <a:buSzPts val="1800"/>
              <a:buFont typeface="Arial" panose="020B0604020202020204" pitchFamily="34" charset="0"/>
              <a:buChar char="•"/>
            </a:pPr>
            <a:r>
              <a:rPr lang="en-US" sz="1600" dirty="0">
                <a:latin typeface="Calibri" panose="020F0502020204030204" pitchFamily="34" charset="0"/>
              </a:rPr>
              <a:t>Covalent bonding is due to electron sharing between the atoms of a molecule. Ionic crystals are in a lattice structure. </a:t>
            </a:r>
          </a:p>
          <a:p>
            <a:pPr marL="457200" lvl="0" indent="-342900" algn="just">
              <a:spcBef>
                <a:spcPts val="1000"/>
              </a:spcBef>
              <a:buSzPts val="1800"/>
              <a:buFont typeface="Arial" panose="020B0604020202020204" pitchFamily="34" charset="0"/>
              <a:buChar char="•"/>
            </a:pPr>
            <a:r>
              <a:rPr lang="en-US" sz="1600" dirty="0">
                <a:latin typeface="Calibri" panose="020F0502020204030204" pitchFamily="34" charset="0"/>
              </a:rPr>
              <a:t>In this topic, ionic bonding, covalent bonding, shapes of molecules, electronegativity and intermolecular forces are explained in detail.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Ionic bonding</a:t>
            </a:r>
            <a:endParaRPr lang="en-MY" dirty="0">
              <a:latin typeface="Calibri" panose="020F0502020204030204" pitchFamily="34" charset="0"/>
            </a:endParaRPr>
          </a:p>
        </p:txBody>
      </p:sp>
      <p:sp>
        <p:nvSpPr>
          <p:cNvPr id="118" name="Google Shape;118;p26"/>
          <p:cNvSpPr txBox="1"/>
          <p:nvPr/>
        </p:nvSpPr>
        <p:spPr>
          <a:xfrm>
            <a:off x="326571" y="1843168"/>
            <a:ext cx="8271329"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rPr>
              <a:t>Ions are formed when atoms lose or gain electrons. </a:t>
            </a:r>
          </a:p>
          <a:p>
            <a:pPr marL="400050" lvl="0"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rPr>
              <a:t>Metals lose electrons from its outermost shell to form positive ions. </a:t>
            </a:r>
          </a:p>
          <a:p>
            <a:pPr marL="400050" lvl="0"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rPr>
              <a:t>Non-metals gain electrons to form negative ions. </a:t>
            </a:r>
          </a:p>
          <a:p>
            <a:pPr marL="400050" lvl="0"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rPr>
              <a:t>The electrostatic charge on the ion depends on the number of electrons gained or lost. </a:t>
            </a:r>
          </a:p>
          <a:p>
            <a:pPr marL="400050" lvl="0" indent="-285750" algn="just">
              <a:lnSpc>
                <a:spcPct val="114000"/>
              </a:lnSpc>
              <a:spcBef>
                <a:spcPts val="600"/>
              </a:spcBef>
              <a:buSzPts val="1800"/>
              <a:buFont typeface="Arial" panose="020B0604020202020204" pitchFamily="34" charset="0"/>
              <a:buChar char="•"/>
            </a:pPr>
            <a:r>
              <a:rPr lang="en-IN" sz="1600" dirty="0">
                <a:latin typeface="Calibri" panose="020F0502020204030204" pitchFamily="34" charset="0"/>
              </a:rPr>
              <a:t>When metals and non-metals combine, the electrons in the outermost shell of metal are transferred to the non-metal and both enter a stable configuration (of noble gases). </a:t>
            </a:r>
            <a:endParaRPr lang="en-MY" sz="1600" dirty="0">
              <a:latin typeface="Calibri" panose="020F0502020204030204" pitchFamily="34" charset="0"/>
            </a:endParaRPr>
          </a:p>
        </p:txBody>
      </p:sp>
    </p:spTree>
    <p:extLst>
      <p:ext uri="{BB962C8B-B14F-4D97-AF65-F5344CB8AC3E}">
        <p14:creationId xmlns:p14="http://schemas.microsoft.com/office/powerpoint/2010/main" val="1591943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Ionic bonding</a:t>
            </a:r>
          </a:p>
        </p:txBody>
      </p:sp>
      <p:sp>
        <p:nvSpPr>
          <p:cNvPr id="124" name="Google Shape;124;p27"/>
          <p:cNvSpPr txBox="1">
            <a:spLocks noGrp="1"/>
          </p:cNvSpPr>
          <p:nvPr>
            <p:ph type="body" idx="2"/>
          </p:nvPr>
        </p:nvSpPr>
        <p:spPr>
          <a:xfrm>
            <a:off x="4572000" y="317800"/>
            <a:ext cx="4368800" cy="3695100"/>
          </a:xfrm>
          <a:prstGeom prst="rect">
            <a:avLst/>
          </a:prstGeom>
        </p:spPr>
        <p:txBody>
          <a:bodyPr spcFirstLastPara="1" wrap="square" lIns="91425" tIns="91425" rIns="91425" bIns="91425" anchor="t" anchorCtr="0">
            <a:noAutofit/>
          </a:bodyPr>
          <a:lstStyle/>
          <a:p>
            <a:pPr lvl="0" algn="just">
              <a:spcBef>
                <a:spcPts val="600"/>
              </a:spcBef>
              <a:buFont typeface="Arial" panose="020B0604020202020204" pitchFamily="34" charset="0"/>
              <a:buChar char="•"/>
            </a:pPr>
            <a:r>
              <a:rPr lang="en-IN" sz="1400" dirty="0">
                <a:latin typeface="Calibri" panose="020F0502020204030204" pitchFamily="34" charset="0"/>
              </a:rPr>
              <a:t>Electron configuration of Li (Atomic number=3): 2, 1</a:t>
            </a:r>
          </a:p>
          <a:p>
            <a:pPr lvl="0" algn="just">
              <a:spcBef>
                <a:spcPts val="600"/>
              </a:spcBef>
              <a:buFont typeface="Arial" panose="020B0604020202020204" pitchFamily="34" charset="0"/>
              <a:buChar char="•"/>
            </a:pPr>
            <a:r>
              <a:rPr lang="en-IN" sz="1400" dirty="0">
                <a:latin typeface="Calibri" panose="020F0502020204030204" pitchFamily="34" charset="0"/>
              </a:rPr>
              <a:t>Electron configuration of Cl (Atomic number=17): 2, 8, 7 </a:t>
            </a:r>
          </a:p>
          <a:p>
            <a:pPr lvl="0" algn="just">
              <a:spcBef>
                <a:spcPts val="600"/>
              </a:spcBef>
              <a:buFont typeface="Arial" panose="020B0604020202020204" pitchFamily="34" charset="0"/>
              <a:buChar char="•"/>
            </a:pPr>
            <a:r>
              <a:rPr lang="en-IN" sz="1400" dirty="0">
                <a:latin typeface="Calibri" panose="020F0502020204030204" pitchFamily="34" charset="0"/>
              </a:rPr>
              <a:t>Lithium loses one electron in its outermost shell and Chlorine gains one electron to form a stable configuration.</a:t>
            </a:r>
          </a:p>
          <a:p>
            <a:pPr lvl="0" algn="just">
              <a:spcBef>
                <a:spcPts val="600"/>
              </a:spcBef>
              <a:buFont typeface="Arial" panose="020B0604020202020204" pitchFamily="34" charset="0"/>
              <a:buChar char="•"/>
            </a:pPr>
            <a:r>
              <a:rPr lang="en-IN" sz="1400" dirty="0">
                <a:latin typeface="Calibri" panose="020F0502020204030204" pitchFamily="34" charset="0"/>
              </a:rPr>
              <a:t>Electron configuration of Li</a:t>
            </a:r>
            <a:r>
              <a:rPr lang="en-IN" sz="1400" baseline="30000" dirty="0">
                <a:latin typeface="Calibri" panose="020F0502020204030204" pitchFamily="34" charset="0"/>
              </a:rPr>
              <a:t>+</a:t>
            </a:r>
            <a:r>
              <a:rPr lang="en-IN" sz="1400" dirty="0">
                <a:latin typeface="Calibri" panose="020F0502020204030204" pitchFamily="34" charset="0"/>
              </a:rPr>
              <a:t>: 2 </a:t>
            </a:r>
          </a:p>
          <a:p>
            <a:pPr lvl="0" algn="just">
              <a:spcBef>
                <a:spcPts val="600"/>
              </a:spcBef>
              <a:buFont typeface="Arial" panose="020B0604020202020204" pitchFamily="34" charset="0"/>
              <a:buChar char="•"/>
            </a:pPr>
            <a:r>
              <a:rPr lang="en-IN" sz="1400" dirty="0">
                <a:latin typeface="Calibri" panose="020F0502020204030204" pitchFamily="34" charset="0"/>
              </a:rPr>
              <a:t>Electron configuration of Cl</a:t>
            </a:r>
            <a:r>
              <a:rPr lang="en-IN" sz="1400" baseline="30000" dirty="0">
                <a:latin typeface="Calibri" panose="020F0502020204030204" pitchFamily="34" charset="0"/>
              </a:rPr>
              <a:t>-</a:t>
            </a:r>
            <a:r>
              <a:rPr lang="en-IN" sz="1400" dirty="0">
                <a:latin typeface="Calibri" panose="020F0502020204030204" pitchFamily="34" charset="0"/>
              </a:rPr>
              <a:t>: 2, 8, 8 </a:t>
            </a:r>
          </a:p>
          <a:p>
            <a:pPr lvl="0" algn="just">
              <a:spcBef>
                <a:spcPts val="600"/>
              </a:spcBef>
              <a:buFont typeface="Arial" panose="020B0604020202020204" pitchFamily="34" charset="0"/>
              <a:buChar char="•"/>
            </a:pPr>
            <a:r>
              <a:rPr lang="en-IN" sz="1400" dirty="0">
                <a:latin typeface="Calibri" panose="020F0502020204030204" pitchFamily="34" charset="0"/>
              </a:rPr>
              <a:t>The ions in ionic compounds are arranged in a regular pattern called lattice structure. </a:t>
            </a:r>
          </a:p>
          <a:p>
            <a:pPr lvl="0" algn="just">
              <a:spcBef>
                <a:spcPts val="600"/>
              </a:spcBef>
              <a:buFont typeface="Arial" panose="020B0604020202020204" pitchFamily="34" charset="0"/>
              <a:buChar char="•"/>
            </a:pPr>
            <a:r>
              <a:rPr lang="en-IN" sz="1400" dirty="0">
                <a:latin typeface="Calibri" panose="020F0502020204030204" pitchFamily="34" charset="0"/>
              </a:rPr>
              <a:t>The electrostatic force of attraction between positive and negative ions holds the atoms together and thus form crystals. </a:t>
            </a:r>
          </a:p>
          <a:p>
            <a:pPr lvl="0" algn="just">
              <a:spcBef>
                <a:spcPts val="600"/>
              </a:spcBef>
              <a:buFont typeface="Arial" panose="020B0604020202020204" pitchFamily="34" charset="0"/>
              <a:buChar char="•"/>
            </a:pPr>
            <a:r>
              <a:rPr lang="en-IN" sz="1400" dirty="0">
                <a:latin typeface="Calibri" panose="020F0502020204030204" pitchFamily="34" charset="0"/>
              </a:rPr>
              <a:t>This force of attraction is very strong and hence, ionic bonds are strong.</a:t>
            </a:r>
          </a:p>
        </p:txBody>
      </p:sp>
      <p:pic>
        <p:nvPicPr>
          <p:cNvPr id="6" name="Picture 5">
            <a:extLst>
              <a:ext uri="{FF2B5EF4-FFF2-40B4-BE49-F238E27FC236}">
                <a16:creationId xmlns:a16="http://schemas.microsoft.com/office/drawing/2014/main" id="{5BBE7545-19F9-4E0B-A5FA-135D8D9B604D}"/>
              </a:ext>
            </a:extLst>
          </p:cNvPr>
          <p:cNvPicPr/>
          <p:nvPr/>
        </p:nvPicPr>
        <p:blipFill>
          <a:blip r:embed="rId3">
            <a:extLst>
              <a:ext uri="{28A0092B-C50C-407E-A947-70E740481C1C}">
                <a14:useLocalDpi xmlns:a14="http://schemas.microsoft.com/office/drawing/2010/main" val="0"/>
              </a:ext>
            </a:extLst>
          </a:blip>
          <a:stretch>
            <a:fillRect/>
          </a:stretch>
        </p:blipFill>
        <p:spPr>
          <a:xfrm>
            <a:off x="1097647" y="1382095"/>
            <a:ext cx="2803525" cy="3037205"/>
          </a:xfrm>
          <a:prstGeom prst="rect">
            <a:avLst/>
          </a:prstGeom>
        </p:spPr>
      </p:pic>
    </p:spTree>
    <p:extLst>
      <p:ext uri="{BB962C8B-B14F-4D97-AF65-F5344CB8AC3E}">
        <p14:creationId xmlns:p14="http://schemas.microsoft.com/office/powerpoint/2010/main" val="687866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116300" y="198850"/>
            <a:ext cx="44557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Ionic Crystals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572000" y="571383"/>
            <a:ext cx="4312356" cy="301468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rPr>
              <a:t>Ionic bonding is the strong electrostatic force of attraction between oppositely charged ions in a lattice structure as shown in figure. </a:t>
            </a:r>
          </a:p>
          <a:p>
            <a:pPr lvl="0">
              <a:buFont typeface="Arial" panose="020B0604020202020204" pitchFamily="34" charset="0"/>
              <a:buChar char="•"/>
            </a:pPr>
            <a:r>
              <a:rPr lang="en-IN" sz="1600" dirty="0">
                <a:latin typeface="Calibri" panose="020F0502020204030204" pitchFamily="34" charset="0"/>
              </a:rPr>
              <a:t>The strength of metallic bonding depends on: </a:t>
            </a:r>
          </a:p>
          <a:p>
            <a:pPr marL="801688" lvl="0">
              <a:buFont typeface="Arial" panose="020B0604020202020204" pitchFamily="34" charset="0"/>
              <a:buChar char="•"/>
            </a:pPr>
            <a:r>
              <a:rPr lang="en-IN" sz="1600" dirty="0">
                <a:latin typeface="Calibri" panose="020F0502020204030204" pitchFamily="34" charset="0"/>
              </a:rPr>
              <a:t>Size of ions</a:t>
            </a:r>
          </a:p>
          <a:p>
            <a:pPr marL="801688" lvl="0">
              <a:buFont typeface="Arial" panose="020B0604020202020204" pitchFamily="34" charset="0"/>
              <a:buChar char="•"/>
            </a:pPr>
            <a:r>
              <a:rPr lang="en-IN" sz="1600" dirty="0">
                <a:latin typeface="Calibri" panose="020F0502020204030204" pitchFamily="34" charset="0"/>
              </a:rPr>
              <a:t>Charge of ions</a:t>
            </a:r>
          </a:p>
          <a:p>
            <a:pPr marL="452438" lvl="0" indent="0" algn="just">
              <a:lnSpc>
                <a:spcPct val="113000"/>
              </a:lnSpc>
              <a:spcBef>
                <a:spcPts val="600"/>
              </a:spcBef>
              <a:buClr>
                <a:srgbClr val="434343"/>
              </a:buClr>
              <a:buSzPts val="1600"/>
              <a:buNone/>
            </a:pPr>
            <a:r>
              <a:rPr lang="en-IN" sz="1600" dirty="0">
                <a:solidFill>
                  <a:schemeClr val="bg1"/>
                </a:solidFill>
                <a:latin typeface="Calibri" panose="020F0502020204030204" pitchFamily="34" charset="0"/>
                <a:ea typeface="Roboto Condensed"/>
                <a:cs typeface="Calibri" panose="020F0502020204030204" pitchFamily="34" charset="0"/>
                <a:sym typeface="Roboto Condensed"/>
              </a:rPr>
              <a:t>Smaller ions have stronger ionic bonding. For example: </a:t>
            </a:r>
            <a:r>
              <a:rPr lang="en-IN" sz="1600" dirty="0" err="1">
                <a:solidFill>
                  <a:schemeClr val="bg1"/>
                </a:solidFill>
                <a:latin typeface="Calibri" panose="020F0502020204030204" pitchFamily="34" charset="0"/>
                <a:ea typeface="Roboto Condensed"/>
                <a:cs typeface="Calibri" panose="020F0502020204030204" pitchFamily="34" charset="0"/>
                <a:sym typeface="Roboto Condensed"/>
              </a:rPr>
              <a:t>KCl</a:t>
            </a:r>
            <a:r>
              <a:rPr lang="en-IN" sz="1600" dirty="0">
                <a:solidFill>
                  <a:schemeClr val="bg1"/>
                </a:solidFill>
                <a:latin typeface="Calibri" panose="020F0502020204030204" pitchFamily="34" charset="0"/>
                <a:ea typeface="Roboto Condensed"/>
                <a:cs typeface="Calibri" panose="020F0502020204030204" pitchFamily="34" charset="0"/>
                <a:sym typeface="Roboto Condensed"/>
              </a:rPr>
              <a:t> has a low melting point than </a:t>
            </a:r>
            <a:r>
              <a:rPr lang="en-IN" sz="1600" dirty="0" err="1">
                <a:solidFill>
                  <a:schemeClr val="bg1"/>
                </a:solidFill>
                <a:latin typeface="Calibri" panose="020F0502020204030204" pitchFamily="34" charset="0"/>
                <a:ea typeface="Roboto Condensed"/>
                <a:cs typeface="Calibri" panose="020F0502020204030204" pitchFamily="34" charset="0"/>
                <a:sym typeface="Roboto Condensed"/>
              </a:rPr>
              <a:t>NaCl</a:t>
            </a:r>
            <a:r>
              <a:rPr lang="en-IN" sz="1600" dirty="0">
                <a:solidFill>
                  <a:schemeClr val="bg1"/>
                </a:solidFill>
                <a:latin typeface="Calibri" panose="020F0502020204030204" pitchFamily="34" charset="0"/>
                <a:ea typeface="Roboto Condensed"/>
                <a:cs typeface="Calibri" panose="020F0502020204030204" pitchFamily="34" charset="0"/>
                <a:sym typeface="Roboto Condensed"/>
              </a:rPr>
              <a:t>, as the ionic radius of Potassium ion is larger than that of Sodium ion. Hence, </a:t>
            </a:r>
            <a:r>
              <a:rPr lang="en-IN" sz="1600" dirty="0" err="1">
                <a:solidFill>
                  <a:schemeClr val="bg1"/>
                </a:solidFill>
                <a:latin typeface="Calibri" panose="020F0502020204030204" pitchFamily="34" charset="0"/>
                <a:ea typeface="Roboto Condensed"/>
                <a:cs typeface="Calibri" panose="020F0502020204030204" pitchFamily="34" charset="0"/>
                <a:sym typeface="Roboto Condensed"/>
              </a:rPr>
              <a:t>KCl</a:t>
            </a:r>
            <a:r>
              <a:rPr lang="en-IN" sz="1600" dirty="0">
                <a:solidFill>
                  <a:schemeClr val="bg1"/>
                </a:solidFill>
                <a:latin typeface="Calibri" panose="020F0502020204030204" pitchFamily="34" charset="0"/>
                <a:ea typeface="Roboto Condensed"/>
                <a:cs typeface="Calibri" panose="020F0502020204030204" pitchFamily="34" charset="0"/>
                <a:sym typeface="Roboto Condensed"/>
              </a:rPr>
              <a:t> is larger in size than </a:t>
            </a:r>
            <a:r>
              <a:rPr lang="en-IN" sz="1600" dirty="0" err="1">
                <a:solidFill>
                  <a:schemeClr val="bg1"/>
                </a:solidFill>
                <a:latin typeface="Calibri" panose="020F0502020204030204" pitchFamily="34" charset="0"/>
                <a:ea typeface="Roboto Condensed"/>
                <a:cs typeface="Calibri" panose="020F0502020204030204" pitchFamily="34" charset="0"/>
                <a:sym typeface="Roboto Condensed"/>
              </a:rPr>
              <a:t>NaCl</a:t>
            </a:r>
            <a:r>
              <a:rPr lang="en-IN" sz="1600" dirty="0">
                <a:solidFill>
                  <a:schemeClr val="bg1"/>
                </a:solidFill>
                <a:latin typeface="Calibri" panose="020F0502020204030204" pitchFamily="34" charset="0"/>
                <a:ea typeface="Roboto Condensed"/>
                <a:cs typeface="Calibri" panose="020F0502020204030204" pitchFamily="34" charset="0"/>
                <a:sym typeface="Roboto Condensed"/>
              </a:rPr>
              <a:t>. Thus, it has weaker ionic bonding, and less melting point than NaCl.</a:t>
            </a:r>
            <a:endParaRPr lang="en-IN"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Giant ionic lattice</a:t>
            </a:r>
            <a:endParaRPr sz="1100" dirty="0">
              <a:solidFill>
                <a:srgbClr val="66666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048" y="1884959"/>
            <a:ext cx="2645664" cy="1792224"/>
          </a:xfrm>
          <a:prstGeom prst="rect">
            <a:avLst/>
          </a:prstGeom>
        </p:spPr>
      </p:pic>
    </p:spTree>
    <p:extLst>
      <p:ext uri="{BB962C8B-B14F-4D97-AF65-F5344CB8AC3E}">
        <p14:creationId xmlns:p14="http://schemas.microsoft.com/office/powerpoint/2010/main" val="18791139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116300" y="198850"/>
            <a:ext cx="44557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Ionic Crystals</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572000" y="198850"/>
            <a:ext cx="4385122" cy="301468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rPr>
              <a:t>Charge of ions</a:t>
            </a:r>
          </a:p>
          <a:p>
            <a:pPr marL="452438" indent="0">
              <a:buNone/>
            </a:pPr>
            <a:r>
              <a:rPr lang="en-IN" sz="1600" dirty="0">
                <a:solidFill>
                  <a:schemeClr val="bg1"/>
                </a:solidFill>
                <a:latin typeface="Calibri" panose="020F0502020204030204" pitchFamily="34" charset="0"/>
                <a:cs typeface="Calibri" panose="020F0502020204030204" pitchFamily="34" charset="0"/>
              </a:rPr>
              <a:t>Higher the charge of the ions, stronger will the force of attraction and hence, stronger the ionic bonding. The ionic bond of </a:t>
            </a:r>
            <a:r>
              <a:rPr lang="en-IN" sz="1600" dirty="0" err="1">
                <a:solidFill>
                  <a:schemeClr val="bg1"/>
                </a:solidFill>
                <a:latin typeface="Calibri" panose="020F0502020204030204" pitchFamily="34" charset="0"/>
                <a:cs typeface="Calibri" panose="020F0502020204030204" pitchFamily="34" charset="0"/>
              </a:rPr>
              <a:t>MgO</a:t>
            </a:r>
            <a:r>
              <a:rPr lang="en-IN" sz="1600" dirty="0">
                <a:solidFill>
                  <a:schemeClr val="bg1"/>
                </a:solidFill>
                <a:latin typeface="Calibri" panose="020F0502020204030204" pitchFamily="34" charset="0"/>
                <a:cs typeface="Calibri" panose="020F0502020204030204" pitchFamily="34" charset="0"/>
              </a:rPr>
              <a:t> is stronger than </a:t>
            </a:r>
            <a:r>
              <a:rPr lang="en-IN" sz="1600" dirty="0" err="1">
                <a:solidFill>
                  <a:schemeClr val="bg1"/>
                </a:solidFill>
                <a:latin typeface="Calibri" panose="020F0502020204030204" pitchFamily="34" charset="0"/>
                <a:cs typeface="Calibri" panose="020F0502020204030204" pitchFamily="34" charset="0"/>
              </a:rPr>
              <a:t>NaCl</a:t>
            </a:r>
            <a:r>
              <a:rPr lang="en-IN" sz="1600" dirty="0">
                <a:solidFill>
                  <a:schemeClr val="bg1"/>
                </a:solidFill>
                <a:latin typeface="Calibri" panose="020F0502020204030204" pitchFamily="34" charset="0"/>
                <a:cs typeface="Calibri" panose="020F0502020204030204" pitchFamily="34" charset="0"/>
              </a:rPr>
              <a:t> because Mg</a:t>
            </a:r>
            <a:r>
              <a:rPr lang="en-IN" sz="1600" baseline="30000" dirty="0">
                <a:solidFill>
                  <a:schemeClr val="bg1"/>
                </a:solidFill>
                <a:latin typeface="Calibri" panose="020F0502020204030204" pitchFamily="34" charset="0"/>
                <a:cs typeface="Calibri" panose="020F0502020204030204" pitchFamily="34" charset="0"/>
              </a:rPr>
              <a:t>2+ </a:t>
            </a:r>
            <a:r>
              <a:rPr lang="en-IN" sz="1600" dirty="0">
                <a:solidFill>
                  <a:schemeClr val="bg1"/>
                </a:solidFill>
                <a:latin typeface="Calibri" panose="020F0502020204030204" pitchFamily="34" charset="0"/>
                <a:cs typeface="Calibri" panose="020F0502020204030204" pitchFamily="34" charset="0"/>
              </a:rPr>
              <a:t>and O</a:t>
            </a:r>
            <a:r>
              <a:rPr lang="en-IN" sz="1600" baseline="30000" dirty="0">
                <a:solidFill>
                  <a:schemeClr val="bg1"/>
                </a:solidFill>
                <a:latin typeface="Calibri" panose="020F0502020204030204" pitchFamily="34" charset="0"/>
                <a:cs typeface="Calibri" panose="020F0502020204030204" pitchFamily="34" charset="0"/>
              </a:rPr>
              <a:t>2-</a:t>
            </a:r>
            <a:r>
              <a:rPr lang="en-IN" sz="1600" dirty="0">
                <a:solidFill>
                  <a:schemeClr val="bg1"/>
                </a:solidFill>
                <a:latin typeface="Calibri" panose="020F0502020204030204" pitchFamily="34" charset="0"/>
                <a:cs typeface="Calibri" panose="020F0502020204030204" pitchFamily="34" charset="0"/>
              </a:rPr>
              <a:t> are larger in charge when compared to Na</a:t>
            </a:r>
            <a:r>
              <a:rPr lang="en-IN" sz="1600" baseline="30000" dirty="0">
                <a:solidFill>
                  <a:schemeClr val="bg1"/>
                </a:solidFill>
                <a:latin typeface="Calibri" panose="020F0502020204030204" pitchFamily="34" charset="0"/>
                <a:cs typeface="Calibri" panose="020F0502020204030204" pitchFamily="34" charset="0"/>
              </a:rPr>
              <a:t>+</a:t>
            </a:r>
            <a:r>
              <a:rPr lang="en-IN" sz="1600" dirty="0">
                <a:solidFill>
                  <a:schemeClr val="bg1"/>
                </a:solidFill>
                <a:latin typeface="Calibri" panose="020F0502020204030204" pitchFamily="34" charset="0"/>
                <a:cs typeface="Calibri" panose="020F0502020204030204" pitchFamily="34" charset="0"/>
              </a:rPr>
              <a:t> and Cl</a:t>
            </a:r>
            <a:r>
              <a:rPr lang="en-IN" sz="1600" baseline="30000" dirty="0">
                <a:solidFill>
                  <a:schemeClr val="bg1"/>
                </a:solidFill>
                <a:latin typeface="Calibri" panose="020F0502020204030204" pitchFamily="34" charset="0"/>
                <a:cs typeface="Calibri" panose="020F0502020204030204" pitchFamily="34" charset="0"/>
              </a:rPr>
              <a:t>-</a:t>
            </a:r>
            <a:r>
              <a:rPr lang="en-IN" sz="1600" dirty="0">
                <a:solidFill>
                  <a:schemeClr val="bg1"/>
                </a:solidFill>
                <a:latin typeface="Calibri" panose="020F0502020204030204" pitchFamily="34" charset="0"/>
                <a:cs typeface="Calibri" panose="020F0502020204030204" pitchFamily="34" charset="0"/>
              </a:rPr>
              <a:t>. As a result, the melting points of </a:t>
            </a:r>
            <a:r>
              <a:rPr lang="en-IN" sz="1600" dirty="0" err="1">
                <a:solidFill>
                  <a:schemeClr val="bg1"/>
                </a:solidFill>
                <a:latin typeface="Calibri" panose="020F0502020204030204" pitchFamily="34" charset="0"/>
                <a:cs typeface="Calibri" panose="020F0502020204030204" pitchFamily="34" charset="0"/>
              </a:rPr>
              <a:t>MgO</a:t>
            </a:r>
            <a:r>
              <a:rPr lang="en-IN" sz="1600" dirty="0">
                <a:solidFill>
                  <a:schemeClr val="bg1"/>
                </a:solidFill>
                <a:latin typeface="Calibri" panose="020F0502020204030204" pitchFamily="34" charset="0"/>
                <a:cs typeface="Calibri" panose="020F0502020204030204" pitchFamily="34" charset="0"/>
              </a:rPr>
              <a:t> is higher than that of </a:t>
            </a:r>
            <a:r>
              <a:rPr lang="en-IN" sz="1600" dirty="0" err="1">
                <a:solidFill>
                  <a:schemeClr val="bg1"/>
                </a:solidFill>
                <a:latin typeface="Calibri" panose="020F0502020204030204" pitchFamily="34" charset="0"/>
                <a:cs typeface="Calibri" panose="020F0502020204030204" pitchFamily="34" charset="0"/>
              </a:rPr>
              <a:t>NaCl</a:t>
            </a:r>
            <a:r>
              <a:rPr lang="en-IN" sz="1600" dirty="0">
                <a:solidFill>
                  <a:schemeClr val="bg1"/>
                </a:solidFill>
                <a:latin typeface="Calibri" panose="020F0502020204030204" pitchFamily="34" charset="0"/>
                <a:cs typeface="Calibri" panose="020F0502020204030204" pitchFamily="34" charset="0"/>
              </a:rPr>
              <a:t>.</a:t>
            </a:r>
          </a:p>
          <a:p>
            <a:pPr lvl="0">
              <a:buFont typeface="Arial" panose="020B0604020202020204" pitchFamily="34" charset="0"/>
              <a:buChar char="•"/>
            </a:pPr>
            <a:endParaRPr lang="en-IN" sz="1600" dirty="0">
              <a:latin typeface="Calibri" panose="020F0502020204030204" pitchFamily="34" charset="0"/>
            </a:endParaRPr>
          </a:p>
          <a:p>
            <a:pPr lvl="0">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Giant ionic lattice</a:t>
            </a:r>
            <a:endParaRPr sz="1100" dirty="0">
              <a:solidFill>
                <a:srgbClr val="66666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048" y="1884959"/>
            <a:ext cx="2645664" cy="1792224"/>
          </a:xfrm>
          <a:prstGeom prst="rect">
            <a:avLst/>
          </a:prstGeom>
        </p:spPr>
      </p:pic>
    </p:spTree>
    <p:extLst>
      <p:ext uri="{BB962C8B-B14F-4D97-AF65-F5344CB8AC3E}">
        <p14:creationId xmlns:p14="http://schemas.microsoft.com/office/powerpoint/2010/main" val="3619564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Strength of metallic bonding</a:t>
            </a:r>
            <a:endParaRPr lang="en-MY" dirty="0">
              <a:latin typeface="Calibri" panose="020F0502020204030204" pitchFamily="34" charset="0"/>
            </a:endParaRPr>
          </a:p>
        </p:txBody>
      </p:sp>
      <p:sp>
        <p:nvSpPr>
          <p:cNvPr id="118" name="Google Shape;118;p26"/>
          <p:cNvSpPr txBox="1"/>
          <p:nvPr/>
        </p:nvSpPr>
        <p:spPr>
          <a:xfrm>
            <a:off x="326571" y="1843168"/>
            <a:ext cx="6254851"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Metals are bonded in giant lattice structure held together strong electrostatic force of attraction between positive ions and free electrons. </a:t>
            </a:r>
          </a:p>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The strength of metallic bonding depends on:</a:t>
            </a:r>
          </a:p>
          <a:p>
            <a:pPr marL="722313" lvl="2"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Number of protons: The more the protons, stronger the force of attraction and stronger is the bond.</a:t>
            </a:r>
          </a:p>
          <a:p>
            <a:pPr marL="722313" lvl="2"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Number of free electrons : The more the number of free electrons, the stronger the bond.</a:t>
            </a:r>
          </a:p>
          <a:p>
            <a:pPr marL="722313" lvl="2"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Size of ion: The smaller the ion, the stronger the bond.</a:t>
            </a:r>
          </a:p>
        </p:txBody>
      </p:sp>
      <p:pic>
        <p:nvPicPr>
          <p:cNvPr id="4" name="Picture 3">
            <a:extLst>
              <a:ext uri="{FF2B5EF4-FFF2-40B4-BE49-F238E27FC236}">
                <a16:creationId xmlns:a16="http://schemas.microsoft.com/office/drawing/2014/main" id="{429AE510-8B30-48BD-BCF0-C93186DE90DF}"/>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6991865" y="2744541"/>
            <a:ext cx="1724660" cy="1167130"/>
          </a:xfrm>
          <a:prstGeom prst="rect">
            <a:avLst/>
          </a:prstGeom>
        </p:spPr>
      </p:pic>
    </p:spTree>
    <p:extLst>
      <p:ext uri="{BB962C8B-B14F-4D97-AF65-F5344CB8AC3E}">
        <p14:creationId xmlns:p14="http://schemas.microsoft.com/office/powerpoint/2010/main" val="3820230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448975" cy="767700"/>
          </a:xfrm>
          <a:prstGeom prst="rect">
            <a:avLst/>
          </a:prstGeom>
        </p:spPr>
        <p:txBody>
          <a:bodyPr spcFirstLastPara="1" wrap="square" lIns="91425" tIns="91425" rIns="91425" bIns="91425" anchor="b" anchorCtr="0">
            <a:noAutofit/>
          </a:bodyPr>
          <a:lstStyle/>
          <a:p>
            <a:pPr marL="114300" lvl="0">
              <a:buSzPts val="1800"/>
            </a:pPr>
            <a:r>
              <a:rPr lang="en-IN" dirty="0">
                <a:latin typeface="Calibri" panose="020F0502020204030204" pitchFamily="34" charset="0"/>
              </a:rPr>
              <a:t>Strength of metallic bonding</a:t>
            </a:r>
            <a:endParaRPr lang="en-MY" dirty="0">
              <a:latin typeface="Calibri" panose="020F0502020204030204" pitchFamily="34" charset="0"/>
            </a:endParaRPr>
          </a:p>
        </p:txBody>
      </p:sp>
      <p:sp>
        <p:nvSpPr>
          <p:cNvPr id="118" name="Google Shape;118;p26"/>
          <p:cNvSpPr txBox="1"/>
          <p:nvPr/>
        </p:nvSpPr>
        <p:spPr>
          <a:xfrm>
            <a:off x="326571" y="1843168"/>
            <a:ext cx="8151385" cy="2492100"/>
          </a:xfrm>
          <a:prstGeom prst="rect">
            <a:avLst/>
          </a:prstGeom>
          <a:noFill/>
          <a:ln>
            <a:noFill/>
          </a:ln>
        </p:spPr>
        <p:txBody>
          <a:bodyPr spcFirstLastPara="1" wrap="square" lIns="91425" tIns="91425" rIns="91425" bIns="91425" anchor="t" anchorCtr="0">
            <a:noAutofit/>
          </a:bodyPr>
          <a:lstStyle/>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When potential difference is applied to both the ends of the metals, the free electrons move away from the negative terminal due to repulsion.</a:t>
            </a:r>
          </a:p>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Electrical conductivity increases with number of free electrons.</a:t>
            </a:r>
          </a:p>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Sodium, magnesium and </a:t>
            </a:r>
            <a:r>
              <a:rPr lang="en-US" sz="1600" dirty="0" err="1">
                <a:latin typeface="Calibri" panose="020F0502020204030204" pitchFamily="34" charset="0"/>
              </a:rPr>
              <a:t>aluminium</a:t>
            </a:r>
            <a:r>
              <a:rPr lang="en-US" sz="1600" dirty="0">
                <a:latin typeface="Calibri" panose="020F0502020204030204" pitchFamily="34" charset="0"/>
              </a:rPr>
              <a:t> have one, two and three free electrons respectively. Hence, the electrical conductivity increases from sodium to </a:t>
            </a:r>
            <a:r>
              <a:rPr lang="en-US" sz="1600" dirty="0" err="1">
                <a:latin typeface="Calibri" panose="020F0502020204030204" pitchFamily="34" charset="0"/>
              </a:rPr>
              <a:t>aluminium</a:t>
            </a:r>
            <a:r>
              <a:rPr lang="en-US" sz="1600" dirty="0">
                <a:latin typeface="Calibri" panose="020F0502020204030204" pitchFamily="34" charset="0"/>
              </a:rPr>
              <a:t>. </a:t>
            </a:r>
          </a:p>
          <a:p>
            <a:pPr marL="400050" lvl="0" indent="-285750" algn="just">
              <a:lnSpc>
                <a:spcPct val="114000"/>
              </a:lnSpc>
              <a:spcBef>
                <a:spcPts val="600"/>
              </a:spcBef>
              <a:buSzPts val="1800"/>
              <a:buFont typeface="Arial" panose="020B0604020202020204" pitchFamily="34" charset="0"/>
              <a:buChar char="•"/>
            </a:pPr>
            <a:r>
              <a:rPr lang="en-US" sz="1600" dirty="0">
                <a:latin typeface="Calibri" panose="020F0502020204030204" pitchFamily="34" charset="0"/>
              </a:rPr>
              <a:t>The electrical conductivities of period 3 elements are:</a:t>
            </a:r>
          </a:p>
          <a:p>
            <a:pPr marL="400050" lvl="0" indent="-285750" algn="just">
              <a:lnSpc>
                <a:spcPct val="114000"/>
              </a:lnSpc>
              <a:spcBef>
                <a:spcPts val="600"/>
              </a:spcBef>
              <a:buSzPts val="1800"/>
              <a:buFont typeface="Arial" panose="020B0604020202020204" pitchFamily="34" charset="0"/>
              <a:buChar char="•"/>
            </a:pPr>
            <a:endParaRPr lang="en-US" sz="1600" dirty="0">
              <a:latin typeface="Calibri" panose="020F0502020204030204" pitchFamily="34" charset="0"/>
            </a:endParaRPr>
          </a:p>
          <a:p>
            <a:pPr marL="400050" lvl="0" indent="-285750" algn="just">
              <a:lnSpc>
                <a:spcPct val="114000"/>
              </a:lnSpc>
              <a:spcBef>
                <a:spcPts val="600"/>
              </a:spcBef>
              <a:buSzPts val="1800"/>
              <a:buFont typeface="Arial" panose="020B0604020202020204" pitchFamily="34" charset="0"/>
              <a:buChar char="•"/>
            </a:pPr>
            <a:endParaRPr lang="en-US" sz="1600" dirty="0">
              <a:latin typeface="Calibri" panose="020F0502020204030204" pitchFamily="34" charset="0"/>
            </a:endParaRPr>
          </a:p>
        </p:txBody>
      </p:sp>
      <p:graphicFrame>
        <p:nvGraphicFramePr>
          <p:cNvPr id="5" name="Table 4">
            <a:extLst>
              <a:ext uri="{FF2B5EF4-FFF2-40B4-BE49-F238E27FC236}">
                <a16:creationId xmlns:a16="http://schemas.microsoft.com/office/drawing/2014/main" id="{E69C2124-8F5B-4BDA-AB3A-B6B98076D004}"/>
              </a:ext>
            </a:extLst>
          </p:cNvPr>
          <p:cNvGraphicFramePr>
            <a:graphicFrameLocks noGrp="1"/>
          </p:cNvGraphicFramePr>
          <p:nvPr>
            <p:extLst>
              <p:ext uri="{D42A27DB-BD31-4B8C-83A1-F6EECF244321}">
                <p14:modId xmlns:p14="http://schemas.microsoft.com/office/powerpoint/2010/main" val="2324449204"/>
              </p:ext>
            </p:extLst>
          </p:nvPr>
        </p:nvGraphicFramePr>
        <p:xfrm>
          <a:off x="1903511" y="3979806"/>
          <a:ext cx="5508000" cy="960733"/>
        </p:xfrm>
        <a:graphic>
          <a:graphicData uri="http://schemas.openxmlformats.org/drawingml/2006/table">
            <a:tbl>
              <a:tblPr firstRow="1" firstCol="1" bandRow="1"/>
              <a:tblGrid>
                <a:gridCol w="1764000">
                  <a:extLst>
                    <a:ext uri="{9D8B030D-6E8A-4147-A177-3AD203B41FA5}">
                      <a16:colId xmlns:a16="http://schemas.microsoft.com/office/drawing/2014/main" val="1329767879"/>
                    </a:ext>
                  </a:extLst>
                </a:gridCol>
                <a:gridCol w="468000">
                  <a:extLst>
                    <a:ext uri="{9D8B030D-6E8A-4147-A177-3AD203B41FA5}">
                      <a16:colId xmlns:a16="http://schemas.microsoft.com/office/drawing/2014/main" val="1917203551"/>
                    </a:ext>
                  </a:extLst>
                </a:gridCol>
                <a:gridCol w="468000">
                  <a:extLst>
                    <a:ext uri="{9D8B030D-6E8A-4147-A177-3AD203B41FA5}">
                      <a16:colId xmlns:a16="http://schemas.microsoft.com/office/drawing/2014/main" val="533864061"/>
                    </a:ext>
                  </a:extLst>
                </a:gridCol>
                <a:gridCol w="468000">
                  <a:extLst>
                    <a:ext uri="{9D8B030D-6E8A-4147-A177-3AD203B41FA5}">
                      <a16:colId xmlns:a16="http://schemas.microsoft.com/office/drawing/2014/main" val="1177707552"/>
                    </a:ext>
                  </a:extLst>
                </a:gridCol>
                <a:gridCol w="468000">
                  <a:extLst>
                    <a:ext uri="{9D8B030D-6E8A-4147-A177-3AD203B41FA5}">
                      <a16:colId xmlns:a16="http://schemas.microsoft.com/office/drawing/2014/main" val="3586192925"/>
                    </a:ext>
                  </a:extLst>
                </a:gridCol>
                <a:gridCol w="468000">
                  <a:extLst>
                    <a:ext uri="{9D8B030D-6E8A-4147-A177-3AD203B41FA5}">
                      <a16:colId xmlns:a16="http://schemas.microsoft.com/office/drawing/2014/main" val="1391319126"/>
                    </a:ext>
                  </a:extLst>
                </a:gridCol>
                <a:gridCol w="468000">
                  <a:extLst>
                    <a:ext uri="{9D8B030D-6E8A-4147-A177-3AD203B41FA5}">
                      <a16:colId xmlns:a16="http://schemas.microsoft.com/office/drawing/2014/main" val="3248207999"/>
                    </a:ext>
                  </a:extLst>
                </a:gridCol>
                <a:gridCol w="468000">
                  <a:extLst>
                    <a:ext uri="{9D8B030D-6E8A-4147-A177-3AD203B41FA5}">
                      <a16:colId xmlns:a16="http://schemas.microsoft.com/office/drawing/2014/main" val="2545616341"/>
                    </a:ext>
                  </a:extLst>
                </a:gridCol>
                <a:gridCol w="468000">
                  <a:extLst>
                    <a:ext uri="{9D8B030D-6E8A-4147-A177-3AD203B41FA5}">
                      <a16:colId xmlns:a16="http://schemas.microsoft.com/office/drawing/2014/main" val="3392811568"/>
                    </a:ext>
                  </a:extLst>
                </a:gridCol>
              </a:tblGrid>
              <a:tr h="384733">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7000"/>
                        </a:lnSpc>
                        <a:spcAft>
                          <a:spcPts val="0"/>
                        </a:spcAft>
                        <a:tabLst/>
                      </a:pPr>
                      <a:r>
                        <a:rPr lang="en-IN" sz="1600" b="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Element</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7000"/>
                        </a:lnSpc>
                        <a:spcAft>
                          <a:spcPts val="0"/>
                        </a:spcAft>
                      </a:pPr>
                      <a:r>
                        <a:rPr lang="en-IN" sz="1600" b="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Na</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Mg</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Al</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Si</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P</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S</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Cl</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err="1">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Ar</a:t>
                      </a:r>
                      <a:endPar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92495219"/>
                  </a:ext>
                </a:extLst>
              </a:tr>
              <a:tr h="57600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Relative Electrical conductivity (Al=1)</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0.55</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0.61</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1.00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0.10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0</a:t>
                      </a:r>
                    </a:p>
                  </a:txBody>
                  <a:tcPr marL="41779" marR="417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413052"/>
                  </a:ext>
                </a:extLst>
              </a:tr>
            </a:tbl>
          </a:graphicData>
        </a:graphic>
      </p:graphicFrame>
    </p:spTree>
    <p:extLst>
      <p:ext uri="{BB962C8B-B14F-4D97-AF65-F5344CB8AC3E}">
        <p14:creationId xmlns:p14="http://schemas.microsoft.com/office/powerpoint/2010/main" val="3879414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r>
              <a:rPr lang="en-IN">
                <a:latin typeface="Calibri" panose="020F0502020204030204" pitchFamily="34" charset="0"/>
              </a:rPr>
              <a:t>Melting point and boiling point</a:t>
            </a:r>
            <a:endParaRPr lang="en-IN"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buSzPts val="1800"/>
              <a:buFont typeface="Arial" panose="020B0604020202020204" pitchFamily="34" charset="0"/>
              <a:buChar char="•"/>
            </a:pPr>
            <a:r>
              <a:rPr lang="en-IN" sz="1600" dirty="0">
                <a:latin typeface="Calibri" panose="020F0502020204030204" pitchFamily="34" charset="0"/>
              </a:rPr>
              <a:t>The melting point and boiling point increases from Na to Si due to increase in strength of metallic bonding.</a:t>
            </a:r>
          </a:p>
          <a:p>
            <a:pPr marL="457200" lvl="0" indent="-342900" algn="just">
              <a:buSzPts val="1800"/>
              <a:buFont typeface="Arial" panose="020B0604020202020204" pitchFamily="34" charset="0"/>
              <a:buChar char="•"/>
            </a:pPr>
            <a:r>
              <a:rPr lang="en-IN" sz="1600" dirty="0">
                <a:latin typeface="Calibri" panose="020F0502020204030204" pitchFamily="34" charset="0"/>
              </a:rPr>
              <a:t>The strong force of attraction between metal ion and delocalised electrons requires high energy to break. The melting point increases with the increase in number of charges.</a:t>
            </a:r>
          </a:p>
          <a:p>
            <a:pPr marL="457200" lvl="0" indent="-342900" algn="just">
              <a:buSzPts val="1800"/>
              <a:buFont typeface="Arial" panose="020B0604020202020204" pitchFamily="34" charset="0"/>
              <a:buChar char="•"/>
            </a:pPr>
            <a:r>
              <a:rPr lang="en-IN" sz="1600" dirty="0">
                <a:latin typeface="Calibri" panose="020F0502020204030204" pitchFamily="34" charset="0"/>
              </a:rPr>
              <a:t>The melting points of elements in period 3 are:</a:t>
            </a:r>
          </a:p>
          <a:p>
            <a:pPr marL="400050" lvl="0" indent="-285750" algn="just">
              <a:buSzPts val="1800"/>
              <a:buFont typeface="Arial" panose="020B0604020202020204" pitchFamily="34" charset="0"/>
              <a:buChar char="•"/>
            </a:pPr>
            <a:endParaRPr lang="en-IN" sz="1600" dirty="0">
              <a:latin typeface="Calibri" panose="020F0502020204030204" pitchFamily="34" charset="0"/>
            </a:endParaRPr>
          </a:p>
          <a:p>
            <a:pPr marL="457200" lvl="0" indent="-342900">
              <a:buSzPts val="1800"/>
              <a:buFont typeface="Arial" panose="020B0604020202020204" pitchFamily="34" charset="0"/>
              <a:buChar char="•"/>
            </a:pPr>
            <a:endParaRPr lang="en-IN" sz="1600" baseline="-25000" dirty="0">
              <a:latin typeface="Calibri" panose="020F0502020204030204" pitchFamily="34" charset="0"/>
            </a:endParaRPr>
          </a:p>
          <a:p>
            <a:pPr marL="457200" lvl="0" indent="-342900">
              <a:buSzPts val="1800"/>
              <a:buFont typeface="Arial" panose="020B0604020202020204" pitchFamily="34" charset="0"/>
              <a:buChar char="•"/>
            </a:pPr>
            <a:endParaRPr sz="1600" baseline="-25000" dirty="0">
              <a:latin typeface="Calibri" panose="020F0502020204030204" pitchFamily="34" charset="0"/>
            </a:endParaRPr>
          </a:p>
          <a:p>
            <a:pPr marL="285750" lvl="0" indent="-285750" algn="l" rtl="0">
              <a:spcBef>
                <a:spcPts val="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spcBef>
                <a:spcPts val="0"/>
              </a:spcBef>
              <a:spcAft>
                <a:spcPts val="0"/>
              </a:spcAft>
              <a:buFont typeface="Arial" panose="020B0604020202020204" pitchFamily="34" charset="0"/>
              <a:buChar char="•"/>
            </a:pPr>
            <a:endParaRPr sz="1600" dirty="0">
              <a:latin typeface="Calibri" panose="020F0502020204030204" pitchFamily="34" charset="0"/>
            </a:endParaRPr>
          </a:p>
        </p:txBody>
      </p:sp>
      <p:graphicFrame>
        <p:nvGraphicFramePr>
          <p:cNvPr id="4" name="Table 3">
            <a:extLst>
              <a:ext uri="{FF2B5EF4-FFF2-40B4-BE49-F238E27FC236}">
                <a16:creationId xmlns:a16="http://schemas.microsoft.com/office/drawing/2014/main" id="{20032F7A-BDA8-4406-87FD-6C6DD84EC5FB}"/>
              </a:ext>
            </a:extLst>
          </p:cNvPr>
          <p:cNvGraphicFramePr>
            <a:graphicFrameLocks noGrp="1"/>
          </p:cNvGraphicFramePr>
          <p:nvPr>
            <p:extLst>
              <p:ext uri="{D42A27DB-BD31-4B8C-83A1-F6EECF244321}">
                <p14:modId xmlns:p14="http://schemas.microsoft.com/office/powerpoint/2010/main" val="467710672"/>
              </p:ext>
            </p:extLst>
          </p:nvPr>
        </p:nvGraphicFramePr>
        <p:xfrm>
          <a:off x="1110600" y="3882089"/>
          <a:ext cx="7203897" cy="870776"/>
        </p:xfrm>
        <a:graphic>
          <a:graphicData uri="http://schemas.openxmlformats.org/drawingml/2006/table">
            <a:tbl>
              <a:tblPr firstRow="1" firstCol="1" bandRow="1"/>
              <a:tblGrid>
                <a:gridCol w="944078">
                  <a:extLst>
                    <a:ext uri="{9D8B030D-6E8A-4147-A177-3AD203B41FA5}">
                      <a16:colId xmlns:a16="http://schemas.microsoft.com/office/drawing/2014/main" val="4114382573"/>
                    </a:ext>
                  </a:extLst>
                </a:gridCol>
                <a:gridCol w="656788">
                  <a:extLst>
                    <a:ext uri="{9D8B030D-6E8A-4147-A177-3AD203B41FA5}">
                      <a16:colId xmlns:a16="http://schemas.microsoft.com/office/drawing/2014/main" val="3965663912"/>
                    </a:ext>
                  </a:extLst>
                </a:gridCol>
                <a:gridCol w="800433">
                  <a:extLst>
                    <a:ext uri="{9D8B030D-6E8A-4147-A177-3AD203B41FA5}">
                      <a16:colId xmlns:a16="http://schemas.microsoft.com/office/drawing/2014/main" val="935153891"/>
                    </a:ext>
                  </a:extLst>
                </a:gridCol>
                <a:gridCol w="800433">
                  <a:extLst>
                    <a:ext uri="{9D8B030D-6E8A-4147-A177-3AD203B41FA5}">
                      <a16:colId xmlns:a16="http://schemas.microsoft.com/office/drawing/2014/main" val="2289651895"/>
                    </a:ext>
                  </a:extLst>
                </a:gridCol>
                <a:gridCol w="800433">
                  <a:extLst>
                    <a:ext uri="{9D8B030D-6E8A-4147-A177-3AD203B41FA5}">
                      <a16:colId xmlns:a16="http://schemas.microsoft.com/office/drawing/2014/main" val="3862559972"/>
                    </a:ext>
                  </a:extLst>
                </a:gridCol>
                <a:gridCol w="800433">
                  <a:extLst>
                    <a:ext uri="{9D8B030D-6E8A-4147-A177-3AD203B41FA5}">
                      <a16:colId xmlns:a16="http://schemas.microsoft.com/office/drawing/2014/main" val="3481251680"/>
                    </a:ext>
                  </a:extLst>
                </a:gridCol>
                <a:gridCol w="800433">
                  <a:extLst>
                    <a:ext uri="{9D8B030D-6E8A-4147-A177-3AD203B41FA5}">
                      <a16:colId xmlns:a16="http://schemas.microsoft.com/office/drawing/2014/main" val="2331178395"/>
                    </a:ext>
                  </a:extLst>
                </a:gridCol>
                <a:gridCol w="800433">
                  <a:extLst>
                    <a:ext uri="{9D8B030D-6E8A-4147-A177-3AD203B41FA5}">
                      <a16:colId xmlns:a16="http://schemas.microsoft.com/office/drawing/2014/main" val="3665899291"/>
                    </a:ext>
                  </a:extLst>
                </a:gridCol>
                <a:gridCol w="800433">
                  <a:extLst>
                    <a:ext uri="{9D8B030D-6E8A-4147-A177-3AD203B41FA5}">
                      <a16:colId xmlns:a16="http://schemas.microsoft.com/office/drawing/2014/main" val="4143627387"/>
                    </a:ext>
                  </a:extLst>
                </a:gridCol>
              </a:tblGrid>
              <a:tr h="282877">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indent="0" algn="ctr">
                        <a:lnSpc>
                          <a:spcPct val="107000"/>
                        </a:lnSpc>
                        <a:spcAft>
                          <a:spcPts val="0"/>
                        </a:spcAft>
                        <a:tabLst/>
                      </a:pPr>
                      <a:r>
                        <a:rPr lang="en-IN" sz="1600" b="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Element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Na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Mg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Al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Si</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P</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S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Cl</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err="1">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rPr>
                        <a:t>Ar</a:t>
                      </a:r>
                      <a:endParaRPr lang="en-IN" sz="1600" b="0" i="0" u="none" strike="noStrike" cap="none" dirty="0">
                        <a:solidFill>
                          <a:schemeClr val="bg1"/>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027762813"/>
                  </a:ext>
                </a:extLst>
              </a:tr>
              <a:tr h="587899">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07000"/>
                        </a:lnSpc>
                        <a:spcAft>
                          <a:spcPts val="0"/>
                        </a:spcAft>
                      </a:pPr>
                      <a:r>
                        <a:rPr lang="en-IN" sz="1600" b="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Melting point (K)</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371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923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932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1683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317</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392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172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8900" marR="0" indent="0" algn="ctr" rtl="0">
                        <a:lnSpc>
                          <a:spcPct val="107000"/>
                        </a:lnSpc>
                        <a:spcBef>
                          <a:spcPts val="0"/>
                        </a:spcBef>
                        <a:spcAft>
                          <a:spcPts val="0"/>
                        </a:spcAft>
                        <a:buClr>
                          <a:srgbClr val="000000"/>
                        </a:buClr>
                        <a:buFont typeface="Arial"/>
                        <a:tabLst/>
                      </a:pPr>
                      <a:r>
                        <a:rPr lang="en-IN" sz="16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rPr>
                        <a:t>84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1081340"/>
                  </a:ext>
                </a:extLst>
              </a:tr>
            </a:tbl>
          </a:graphicData>
        </a:graphic>
      </p:graphicFrame>
    </p:spTree>
    <p:extLst>
      <p:ext uri="{BB962C8B-B14F-4D97-AF65-F5344CB8AC3E}">
        <p14:creationId xmlns:p14="http://schemas.microsoft.com/office/powerpoint/2010/main" val="2198270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Covalent bonding</a:t>
            </a:r>
            <a:endParaRPr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Covalent bonds are formed when non-metals combine to form compounds.</a:t>
            </a:r>
          </a:p>
          <a:p>
            <a:pPr marL="45720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In covalent bonds, two or more atoms are held together by the force of attraction between nuclei of atoms (positively charged) and one or more pair of shared electrons (negatively charged).</a:t>
            </a:r>
          </a:p>
          <a:p>
            <a:pPr marL="457200" lvl="0" indent="-342900" algn="l" rtl="0">
              <a:lnSpc>
                <a:spcPct val="113000"/>
              </a:lnSpc>
              <a:spcBef>
                <a:spcPts val="600"/>
              </a:spcBef>
              <a:spcAft>
                <a:spcPts val="0"/>
              </a:spcAft>
              <a:buSzPts val="1800"/>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spTree>
    <p:extLst>
      <p:ext uri="{BB962C8B-B14F-4D97-AF65-F5344CB8AC3E}">
        <p14:creationId xmlns:p14="http://schemas.microsoft.com/office/powerpoint/2010/main" val="961485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Single covalent bonding</a:t>
            </a:r>
          </a:p>
        </p:txBody>
      </p:sp>
      <p:sp>
        <p:nvSpPr>
          <p:cNvPr id="118" name="Google Shape;118;p26"/>
          <p:cNvSpPr txBox="1"/>
          <p:nvPr/>
        </p:nvSpPr>
        <p:spPr>
          <a:xfrm>
            <a:off x="702600" y="1791158"/>
            <a:ext cx="7330800" cy="2492100"/>
          </a:xfrm>
          <a:prstGeom prst="rect">
            <a:avLst/>
          </a:prstGeom>
          <a:noFill/>
          <a:ln>
            <a:noFill/>
          </a:ln>
        </p:spPr>
        <p:txBody>
          <a:bodyPr spcFirstLastPara="1" wrap="square" lIns="91425" tIns="91425" rIns="91425" bIns="91425" anchor="t" anchorCtr="0">
            <a:noAutofit/>
          </a:bodyPr>
          <a:lstStyle/>
          <a:p>
            <a:pPr marL="45720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Covalent bonds with a pair of shared electrons is called as single covalent bonding.</a:t>
            </a:r>
          </a:p>
          <a:p>
            <a:pPr marL="45720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 Chlorine is a non-metal with 7 electrons in its outermost shell. It needs one more electron to reach the stable configuration.</a:t>
            </a:r>
          </a:p>
          <a:p>
            <a:pPr marL="45720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 Hence, two chlorine atoms combine to form a molecule where two electrons are shared. </a:t>
            </a:r>
          </a:p>
          <a:p>
            <a:pPr marL="457200" indent="-342900" algn="just">
              <a:lnSpc>
                <a:spcPct val="113000"/>
              </a:lnSpc>
              <a:spcBef>
                <a:spcPts val="600"/>
              </a:spcBef>
              <a:buSzPts val="1800"/>
              <a:buFont typeface="Arial" panose="020B0604020202020204" pitchFamily="34" charset="0"/>
              <a:buChar char="•"/>
            </a:pPr>
            <a:endParaRPr lang="en-US" sz="1600" dirty="0">
              <a:latin typeface="Calibri" panose="020F0502020204030204" pitchFamily="34" charset="0"/>
            </a:endParaRPr>
          </a:p>
        </p:txBody>
      </p:sp>
      <p:pic>
        <p:nvPicPr>
          <p:cNvPr id="4" name="Picture 3">
            <a:extLst>
              <a:ext uri="{FF2B5EF4-FFF2-40B4-BE49-F238E27FC236}">
                <a16:creationId xmlns:a16="http://schemas.microsoft.com/office/drawing/2014/main" id="{1D833967-86E5-4AA5-A896-B606DC6A10BA}"/>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2670063" y="3539990"/>
            <a:ext cx="4205605" cy="1486535"/>
          </a:xfrm>
          <a:prstGeom prst="rect">
            <a:avLst/>
          </a:prstGeom>
        </p:spPr>
      </p:pic>
    </p:spTree>
    <p:extLst>
      <p:ext uri="{BB962C8B-B14F-4D97-AF65-F5344CB8AC3E}">
        <p14:creationId xmlns:p14="http://schemas.microsoft.com/office/powerpoint/2010/main" val="190985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Multiple covalent bonding</a:t>
            </a:r>
          </a:p>
        </p:txBody>
      </p:sp>
      <p:sp>
        <p:nvSpPr>
          <p:cNvPr id="124" name="Google Shape;124;p27"/>
          <p:cNvSpPr txBox="1">
            <a:spLocks noGrp="1"/>
          </p:cNvSpPr>
          <p:nvPr>
            <p:ph type="body" idx="2"/>
          </p:nvPr>
        </p:nvSpPr>
        <p:spPr>
          <a:xfrm>
            <a:off x="4674300" y="294542"/>
            <a:ext cx="4212368"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IN" sz="1400" dirty="0">
                <a:latin typeface="Calibri" panose="020F0502020204030204" pitchFamily="34" charset="0"/>
              </a:rPr>
              <a:t>Some atoms share two pair of electrons during the formation of covalent bonds, such type of bonds are called as double covalent bonds. </a:t>
            </a:r>
          </a:p>
          <a:p>
            <a:pPr lvl="0" algn="just">
              <a:buFont typeface="Arial" panose="020B0604020202020204" pitchFamily="34" charset="0"/>
              <a:buChar char="•"/>
            </a:pPr>
            <a:r>
              <a:rPr lang="en-IN" sz="1400" dirty="0">
                <a:latin typeface="Calibri" panose="020F0502020204030204" pitchFamily="34" charset="0"/>
              </a:rPr>
              <a:t>For example: oxygen has 6 electrons in its outermost shell and needs two more to reach the stable configuration. </a:t>
            </a:r>
          </a:p>
          <a:p>
            <a:pPr lvl="0" algn="just">
              <a:buFont typeface="Arial" panose="020B0604020202020204" pitchFamily="34" charset="0"/>
              <a:buChar char="•"/>
            </a:pPr>
            <a:r>
              <a:rPr lang="en-IN" sz="1400" dirty="0">
                <a:latin typeface="Calibri" panose="020F0502020204030204" pitchFamily="34" charset="0"/>
              </a:rPr>
              <a:t>Hence, two oxygen atoms combine to form oxygen molecule where two pair of electrons are shared. </a:t>
            </a:r>
          </a:p>
          <a:p>
            <a:pPr lvl="0" algn="just">
              <a:buFont typeface="Arial" panose="020B0604020202020204" pitchFamily="34" charset="0"/>
              <a:buChar char="•"/>
            </a:pPr>
            <a:r>
              <a:rPr lang="en-IN" sz="1400" dirty="0">
                <a:latin typeface="Calibri" panose="020F0502020204030204" pitchFamily="34" charset="0"/>
              </a:rPr>
              <a:t>The outer pair of electrons that are not used in bonding are called as lone pair of electrons.</a:t>
            </a:r>
          </a:p>
          <a:p>
            <a:pPr lvl="0" algn="just">
              <a:buFont typeface="Arial" panose="020B0604020202020204" pitchFamily="34" charset="0"/>
              <a:buChar char="•"/>
            </a:pPr>
            <a:r>
              <a:rPr lang="en-IN" sz="1400" dirty="0">
                <a:latin typeface="Calibri" panose="020F0502020204030204" pitchFamily="34" charset="0"/>
              </a:rPr>
              <a:t>Some atoms combine to form molecules with three pair of shared electrons called as triple covalent bonds. For example: nitrogen has 5 electrons in its outermost shell and needs three more to reach the stable configuration. Hence, two nitrogen atoms combine to form nitrogen molecule where three pair of electrons are shared.</a:t>
            </a:r>
          </a:p>
          <a:p>
            <a:pPr marL="285750" lvl="0" indent="-285750" algn="l" rtl="0">
              <a:spcBef>
                <a:spcPts val="1600"/>
              </a:spcBef>
              <a:spcAft>
                <a:spcPts val="1600"/>
              </a:spcAft>
              <a:buFont typeface="Arial" panose="020B0604020202020204" pitchFamily="34" charset="0"/>
              <a:buChar char="•"/>
            </a:pPr>
            <a:endParaRPr sz="1400" dirty="0">
              <a:latin typeface="Calibri" panose="020F0502020204030204" pitchFamily="34" charset="0"/>
            </a:endParaRPr>
          </a:p>
        </p:txBody>
      </p:sp>
      <p:sp>
        <p:nvSpPr>
          <p:cNvPr id="126" name="Google Shape;126;p27"/>
          <p:cNvSpPr txBox="1"/>
          <p:nvPr/>
        </p:nvSpPr>
        <p:spPr>
          <a:xfrm>
            <a:off x="1319271" y="2849693"/>
            <a:ext cx="2049757" cy="278400"/>
          </a:xfrm>
          <a:prstGeom prst="rect">
            <a:avLst/>
          </a:prstGeom>
          <a:noFill/>
          <a:ln>
            <a:noFill/>
          </a:ln>
        </p:spPr>
        <p:txBody>
          <a:bodyPr spcFirstLastPara="1" wrap="square" lIns="91425" tIns="91425" rIns="91425" bIns="91425" anchor="t" anchorCtr="0">
            <a:noAutofit/>
          </a:bodyPr>
          <a:lstStyle/>
          <a:p>
            <a:pPr lvl="0"/>
            <a:r>
              <a:rPr lang="en-IN" sz="1100" dirty="0"/>
              <a:t>Double covalent bonding</a:t>
            </a:r>
            <a:endParaRPr sz="1100" dirty="0"/>
          </a:p>
        </p:txBody>
      </p:sp>
      <p:pic>
        <p:nvPicPr>
          <p:cNvPr id="6" name="Picture 5">
            <a:extLst>
              <a:ext uri="{FF2B5EF4-FFF2-40B4-BE49-F238E27FC236}">
                <a16:creationId xmlns:a16="http://schemas.microsoft.com/office/drawing/2014/main" id="{24BBC85D-0239-485D-ACF0-2856BDE52A2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24167" y="1386253"/>
            <a:ext cx="4269740" cy="1500505"/>
          </a:xfrm>
          <a:prstGeom prst="rect">
            <a:avLst/>
          </a:prstGeom>
        </p:spPr>
      </p:pic>
      <p:pic>
        <p:nvPicPr>
          <p:cNvPr id="7" name="Picture 6">
            <a:extLst>
              <a:ext uri="{FF2B5EF4-FFF2-40B4-BE49-F238E27FC236}">
                <a16:creationId xmlns:a16="http://schemas.microsoft.com/office/drawing/2014/main" id="{9F589DB0-FBEF-46E7-AB39-095D681D53E0}"/>
              </a:ext>
            </a:extLst>
          </p:cNvPr>
          <p:cNvPicPr/>
          <p:nvPr/>
        </p:nvPicPr>
        <p:blipFill>
          <a:blip r:embed="rId4" cstate="print">
            <a:extLst>
              <a:ext uri="{28A0092B-C50C-407E-A947-70E740481C1C}">
                <a14:useLocalDpi xmlns:a14="http://schemas.microsoft.com/office/drawing/2010/main" val="0"/>
              </a:ext>
            </a:extLst>
          </a:blip>
          <a:stretch>
            <a:fillRect/>
          </a:stretch>
        </p:blipFill>
        <p:spPr>
          <a:xfrm>
            <a:off x="192576" y="3357383"/>
            <a:ext cx="4222115" cy="1464945"/>
          </a:xfrm>
          <a:prstGeom prst="rect">
            <a:avLst/>
          </a:prstGeom>
        </p:spPr>
      </p:pic>
      <p:sp>
        <p:nvSpPr>
          <p:cNvPr id="8" name="Google Shape;126;p27">
            <a:extLst>
              <a:ext uri="{FF2B5EF4-FFF2-40B4-BE49-F238E27FC236}">
                <a16:creationId xmlns:a16="http://schemas.microsoft.com/office/drawing/2014/main" id="{EF786641-7E21-4BA0-AD8F-0622CE0B3432}"/>
              </a:ext>
            </a:extLst>
          </p:cNvPr>
          <p:cNvSpPr txBox="1"/>
          <p:nvPr/>
        </p:nvSpPr>
        <p:spPr>
          <a:xfrm>
            <a:off x="1449094" y="4759267"/>
            <a:ext cx="2049757" cy="278400"/>
          </a:xfrm>
          <a:prstGeom prst="rect">
            <a:avLst/>
          </a:prstGeom>
          <a:noFill/>
          <a:ln>
            <a:noFill/>
          </a:ln>
        </p:spPr>
        <p:txBody>
          <a:bodyPr spcFirstLastPara="1" wrap="square" lIns="91425" tIns="91425" rIns="91425" bIns="91425" anchor="t" anchorCtr="0">
            <a:noAutofit/>
          </a:bodyPr>
          <a:lstStyle/>
          <a:p>
            <a:pPr lvl="0"/>
            <a:r>
              <a:rPr lang="en-IN" sz="1100" dirty="0"/>
              <a:t>Triple covalent bonding</a:t>
            </a:r>
            <a:endParaRPr sz="1100" dirty="0"/>
          </a:p>
        </p:txBody>
      </p:sp>
    </p:spTree>
    <p:extLst>
      <p:ext uri="{BB962C8B-B14F-4D97-AF65-F5344CB8AC3E}">
        <p14:creationId xmlns:p14="http://schemas.microsoft.com/office/powerpoint/2010/main" val="1042567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Dative covalent bonding</a:t>
            </a:r>
            <a:endParaRPr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Dative covalent bonding is formed when one atom provides the shared pair of electrons in a molecule. </a:t>
            </a:r>
          </a:p>
          <a:p>
            <a:pPr marL="457200" lvl="0" indent="-342900">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There are two conditions for the dative covalent bond to be formed:</a:t>
            </a:r>
          </a:p>
          <a:p>
            <a:pPr marL="722313" lvl="0" indent="-285750">
              <a:lnSpc>
                <a:spcPct val="113000"/>
              </a:lnSpc>
              <a:spcBef>
                <a:spcPts val="600"/>
              </a:spcBef>
              <a:buSzPts val="1800"/>
              <a:buFont typeface="Wingdings" panose="05000000000000000000" pitchFamily="2" charset="2"/>
              <a:buChar char="ü"/>
            </a:pPr>
            <a:r>
              <a:rPr lang="en-IN" sz="1600" dirty="0">
                <a:latin typeface="Calibri" panose="020F0502020204030204" pitchFamily="34" charset="0"/>
              </a:rPr>
              <a:t>An atom with a lone pair of electron.</a:t>
            </a:r>
          </a:p>
          <a:p>
            <a:pPr marL="722313" lvl="0" indent="-285750">
              <a:lnSpc>
                <a:spcPct val="113000"/>
              </a:lnSpc>
              <a:spcBef>
                <a:spcPts val="600"/>
              </a:spcBef>
              <a:buSzPts val="1800"/>
              <a:buFont typeface="Wingdings" panose="05000000000000000000" pitchFamily="2" charset="2"/>
              <a:buChar char="ü"/>
            </a:pPr>
            <a:r>
              <a:rPr lang="en-IN" sz="1600" dirty="0">
                <a:latin typeface="Calibri" panose="020F0502020204030204" pitchFamily="34" charset="0"/>
              </a:rPr>
              <a:t>Another atom that is electron-deficient that is, with an empty orbital to accept the lone pair of electron</a:t>
            </a:r>
            <a:endParaRPr sz="1600" dirty="0">
              <a:latin typeface="Calibri" panose="020F0502020204030204" pitchFamily="34" charset="0"/>
            </a:endParaRPr>
          </a:p>
          <a:p>
            <a:pPr marL="0" lvl="0" indent="0" algn="l" rtl="0">
              <a:lnSpc>
                <a:spcPct val="113000"/>
              </a:lnSpc>
              <a:spcBef>
                <a:spcPts val="600"/>
              </a:spcBef>
              <a:spcAft>
                <a:spcPts val="0"/>
              </a:spcAft>
              <a:buNone/>
            </a:pPr>
            <a:endParaRPr sz="1600" dirty="0">
              <a:latin typeface="Calibri" panose="020F0502020204030204" pitchFamily="34" charset="0"/>
            </a:endParaRPr>
          </a:p>
          <a:p>
            <a:pPr marL="0" lvl="0" indent="0" algn="l" rtl="0">
              <a:lnSpc>
                <a:spcPct val="113000"/>
              </a:lnSpc>
              <a:spcBef>
                <a:spcPts val="600"/>
              </a:spcBef>
              <a:spcAft>
                <a:spcPts val="0"/>
              </a:spcAft>
              <a:buNone/>
            </a:pPr>
            <a:endParaRPr sz="1600" dirty="0">
              <a:latin typeface="Calibri" panose="020F0502020204030204" pitchFamily="34" charset="0"/>
            </a:endParaRPr>
          </a:p>
        </p:txBody>
      </p:sp>
    </p:spTree>
    <p:extLst>
      <p:ext uri="{BB962C8B-B14F-4D97-AF65-F5344CB8AC3E}">
        <p14:creationId xmlns:p14="http://schemas.microsoft.com/office/powerpoint/2010/main" val="2295042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Dative covalent bonding</a:t>
            </a:r>
          </a:p>
        </p:txBody>
      </p:sp>
      <p:sp>
        <p:nvSpPr>
          <p:cNvPr id="124" name="Google Shape;124;p27"/>
          <p:cNvSpPr txBox="1">
            <a:spLocks noGrp="1"/>
          </p:cNvSpPr>
          <p:nvPr>
            <p:ph type="body" idx="2"/>
          </p:nvPr>
        </p:nvSpPr>
        <p:spPr>
          <a:xfrm>
            <a:off x="4809177" y="534903"/>
            <a:ext cx="3999687" cy="4073694"/>
          </a:xfrm>
          <a:prstGeom prst="rect">
            <a:avLst/>
          </a:prstGeom>
        </p:spPr>
        <p:txBody>
          <a:bodyPr spcFirstLastPara="1" wrap="square" lIns="91425" tIns="91425" rIns="91425" bIns="91425" anchor="t" anchorCtr="0">
            <a:noAutofit/>
          </a:bodyPr>
          <a:lstStyle/>
          <a:p>
            <a:pPr algn="just">
              <a:buFont typeface="Arial" panose="020B0604020202020204" pitchFamily="34" charset="0"/>
              <a:buChar char="•"/>
            </a:pPr>
            <a:r>
              <a:rPr lang="en-IN" sz="1600" dirty="0">
                <a:latin typeface="Calibri" panose="020F0502020204030204" pitchFamily="34" charset="0"/>
              </a:rPr>
              <a:t>Ammonium ion NH</a:t>
            </a:r>
            <a:r>
              <a:rPr lang="en-IN" sz="1600" baseline="-25000" dirty="0">
                <a:latin typeface="Calibri" panose="020F0502020204030204" pitchFamily="34" charset="0"/>
              </a:rPr>
              <a:t>4</a:t>
            </a:r>
            <a:r>
              <a:rPr lang="en-IN" sz="1600" baseline="30000" dirty="0">
                <a:latin typeface="Calibri" panose="020F0502020204030204" pitchFamily="34" charset="0"/>
              </a:rPr>
              <a:t>+</a:t>
            </a:r>
            <a:r>
              <a:rPr lang="en-IN" sz="1600" dirty="0">
                <a:latin typeface="Calibri" panose="020F0502020204030204" pitchFamily="34" charset="0"/>
              </a:rPr>
              <a:t> is formed when ammonia NH</a:t>
            </a:r>
            <a:r>
              <a:rPr lang="en-IN" sz="1600" baseline="-25000" dirty="0">
                <a:latin typeface="Calibri" panose="020F0502020204030204" pitchFamily="34" charset="0"/>
              </a:rPr>
              <a:t>3</a:t>
            </a:r>
            <a:r>
              <a:rPr lang="en-IN" sz="1600" dirty="0">
                <a:latin typeface="Calibri" panose="020F0502020204030204" pitchFamily="34" charset="0"/>
              </a:rPr>
              <a:t> combines with hydrogen ion H</a:t>
            </a:r>
            <a:r>
              <a:rPr lang="en-IN" sz="1600" baseline="30000" dirty="0">
                <a:latin typeface="Calibri" panose="020F0502020204030204" pitchFamily="34" charset="0"/>
              </a:rPr>
              <a:t>+</a:t>
            </a:r>
            <a:r>
              <a:rPr lang="en-IN" sz="1600" dirty="0">
                <a:latin typeface="Calibri" panose="020F0502020204030204" pitchFamily="34" charset="0"/>
              </a:rPr>
              <a:t>. </a:t>
            </a:r>
          </a:p>
          <a:p>
            <a:pPr algn="just">
              <a:buFont typeface="Arial" panose="020B0604020202020204" pitchFamily="34" charset="0"/>
              <a:buChar char="•"/>
            </a:pPr>
            <a:r>
              <a:rPr lang="en-IN" sz="1600" dirty="0">
                <a:latin typeface="Calibri" panose="020F0502020204030204" pitchFamily="34" charset="0"/>
              </a:rPr>
              <a:t>The hydrogen ion is electron-deficient. Ammonia has a lone pair of electron that is shared by ammonia and hydrogen to form a dative covalent bond.</a:t>
            </a:r>
          </a:p>
          <a:p>
            <a:pPr algn="just">
              <a:buFont typeface="Arial" panose="020B0604020202020204" pitchFamily="34" charset="0"/>
              <a:buChar char="•"/>
            </a:pPr>
            <a:r>
              <a:rPr lang="en-IN" sz="1600" dirty="0">
                <a:latin typeface="Calibri" panose="020F0502020204030204" pitchFamily="34" charset="0"/>
              </a:rPr>
              <a:t>The arrow mark in ammonium ion represents the sharing of lone pair of electrons. The head always points away from the lone pair that forms the bond.</a:t>
            </a:r>
          </a:p>
          <a:p>
            <a:pPr lvl="0" algn="jus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Dative covalent bonding</a:t>
            </a:r>
            <a:endParaRPr sz="1100" dirty="0">
              <a:solidFill>
                <a:srgbClr val="666666"/>
              </a:solidFill>
            </a:endParaRPr>
          </a:p>
        </p:txBody>
      </p:sp>
      <p:pic>
        <p:nvPicPr>
          <p:cNvPr id="6" name="Picture 5">
            <a:extLst>
              <a:ext uri="{FF2B5EF4-FFF2-40B4-BE49-F238E27FC236}">
                <a16:creationId xmlns:a16="http://schemas.microsoft.com/office/drawing/2014/main" id="{2C6C2A00-369C-413A-8644-BDC0CA147B6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35136" y="1628101"/>
            <a:ext cx="4055110" cy="2292985"/>
          </a:xfrm>
          <a:prstGeom prst="rect">
            <a:avLst/>
          </a:prstGeom>
        </p:spPr>
      </p:pic>
    </p:spTree>
    <p:extLst>
      <p:ext uri="{BB962C8B-B14F-4D97-AF65-F5344CB8AC3E}">
        <p14:creationId xmlns:p14="http://schemas.microsoft.com/office/powerpoint/2010/main" val="2981538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Bond energy</a:t>
            </a:r>
          </a:p>
        </p:txBody>
      </p:sp>
      <p:sp>
        <p:nvSpPr>
          <p:cNvPr id="124" name="Google Shape;124;p27"/>
          <p:cNvSpPr txBox="1">
            <a:spLocks noGrp="1"/>
          </p:cNvSpPr>
          <p:nvPr>
            <p:ph type="body" idx="2"/>
          </p:nvPr>
        </p:nvSpPr>
        <p:spPr>
          <a:xfrm>
            <a:off x="4928210" y="362956"/>
            <a:ext cx="4021201"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IN" sz="1600" dirty="0">
                <a:latin typeface="Calibri" panose="020F0502020204030204" pitchFamily="34" charset="0"/>
              </a:rPr>
              <a:t>Generally, double bonds are shorter and stronger than single bonds because the force of attraction between the nucleus and electrons is higher in cases of double bonds.</a:t>
            </a:r>
          </a:p>
          <a:p>
            <a:pPr lvl="0" algn="just">
              <a:buFont typeface="Arial" panose="020B0604020202020204" pitchFamily="34" charset="0"/>
              <a:buChar char="•"/>
            </a:pPr>
            <a:r>
              <a:rPr lang="en-IN" sz="1600" dirty="0">
                <a:latin typeface="Calibri" panose="020F0502020204030204" pitchFamily="34" charset="0"/>
              </a:rPr>
              <a:t>Bond energies determine the reactivity of an element.</a:t>
            </a:r>
          </a:p>
          <a:p>
            <a:pPr lvl="0" algn="just">
              <a:buFont typeface="Arial" panose="020B0604020202020204" pitchFamily="34" charset="0"/>
              <a:buChar char="•"/>
            </a:pPr>
            <a:r>
              <a:rPr lang="en-IN" sz="1600" dirty="0">
                <a:latin typeface="Calibri" panose="020F0502020204030204" pitchFamily="34" charset="0"/>
              </a:rPr>
              <a:t>Double-bonded carbon atoms are harder to break when compared to single bonded carbon atoms.</a:t>
            </a:r>
          </a:p>
          <a:p>
            <a:pPr algn="just">
              <a:buFont typeface="Arial" panose="020B0604020202020204" pitchFamily="34" charset="0"/>
              <a:buChar char="•"/>
            </a:pPr>
            <a:r>
              <a:rPr lang="en-IN" sz="1600" dirty="0">
                <a:latin typeface="Calibri" panose="020F0502020204030204" pitchFamily="34" charset="0"/>
              </a:rPr>
              <a:t>Nitrogen is unreactive as it requires </a:t>
            </a:r>
            <a:br>
              <a:rPr lang="en-IN" sz="1600" dirty="0">
                <a:latin typeface="Calibri" panose="020F0502020204030204" pitchFamily="34" charset="0"/>
              </a:rPr>
            </a:br>
            <a:r>
              <a:rPr lang="en-IN" sz="1600" dirty="0">
                <a:latin typeface="Calibri" panose="020F0502020204030204" pitchFamily="34" charset="0"/>
              </a:rPr>
              <a:t>945 kJ/mol to break the bond. </a:t>
            </a: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100" dirty="0">
                <a:solidFill>
                  <a:srgbClr val="666666"/>
                </a:solidFill>
              </a:rPr>
              <a:t>Bond energies</a:t>
            </a:r>
            <a:endParaRPr sz="1100" dirty="0">
              <a:solidFill>
                <a:srgbClr val="666666"/>
              </a:solidFill>
            </a:endParaRPr>
          </a:p>
        </p:txBody>
      </p:sp>
      <p:graphicFrame>
        <p:nvGraphicFramePr>
          <p:cNvPr id="6" name="Table 5">
            <a:extLst>
              <a:ext uri="{FF2B5EF4-FFF2-40B4-BE49-F238E27FC236}">
                <a16:creationId xmlns:a16="http://schemas.microsoft.com/office/drawing/2014/main" id="{5A729618-5FB5-4611-8964-0AB7416A9A7E}"/>
              </a:ext>
            </a:extLst>
          </p:cNvPr>
          <p:cNvGraphicFramePr>
            <a:graphicFrameLocks noGrp="1"/>
          </p:cNvGraphicFramePr>
          <p:nvPr/>
        </p:nvGraphicFramePr>
        <p:xfrm>
          <a:off x="194588" y="1775649"/>
          <a:ext cx="4287837" cy="1592202"/>
        </p:xfrm>
        <a:graphic>
          <a:graphicData uri="http://schemas.openxmlformats.org/drawingml/2006/table">
            <a:tbl>
              <a:tblPr firstRow="1" firstCol="1" bandRow="1"/>
              <a:tblGrid>
                <a:gridCol w="1429279">
                  <a:extLst>
                    <a:ext uri="{9D8B030D-6E8A-4147-A177-3AD203B41FA5}">
                      <a16:colId xmlns:a16="http://schemas.microsoft.com/office/drawing/2014/main" val="2313390790"/>
                    </a:ext>
                  </a:extLst>
                </a:gridCol>
                <a:gridCol w="1429279">
                  <a:extLst>
                    <a:ext uri="{9D8B030D-6E8A-4147-A177-3AD203B41FA5}">
                      <a16:colId xmlns:a16="http://schemas.microsoft.com/office/drawing/2014/main" val="2051242217"/>
                    </a:ext>
                  </a:extLst>
                </a:gridCol>
                <a:gridCol w="1429279">
                  <a:extLst>
                    <a:ext uri="{9D8B030D-6E8A-4147-A177-3AD203B41FA5}">
                      <a16:colId xmlns:a16="http://schemas.microsoft.com/office/drawing/2014/main" val="390178843"/>
                    </a:ext>
                  </a:extLst>
                </a:gridCol>
              </a:tblGrid>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Bond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85725"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Bond energy (kJ/mol)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Bond length (nm)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2075960452"/>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350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0.154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1489816"/>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610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0.134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3431745"/>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C-O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360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0.143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7616948"/>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C=O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740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0.116</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9748308"/>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NΞN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a:solidFill>
                            <a:schemeClr val="bg2"/>
                          </a:solidFill>
                          <a:effectLst/>
                          <a:latin typeface="+mn-lt"/>
                          <a:ea typeface="Calibri" panose="020F0502020204030204" pitchFamily="34" charset="0"/>
                          <a:cs typeface="Times New Roman" panose="02020603050405020304" pitchFamily="18" charset="0"/>
                          <a:sym typeface="Arial"/>
                        </a:rPr>
                        <a:t>945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chemeClr val="bg2"/>
                          </a:solidFill>
                          <a:effectLst/>
                          <a:latin typeface="+mn-lt"/>
                          <a:ea typeface="Calibri" panose="020F0502020204030204" pitchFamily="34" charset="0"/>
                          <a:cs typeface="Times New Roman" panose="02020603050405020304" pitchFamily="18" charset="0"/>
                          <a:sym typeface="Arial"/>
                        </a:rPr>
                        <a:t>0.11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7840692"/>
                  </a:ext>
                </a:extLst>
              </a:tr>
            </a:tbl>
          </a:graphicData>
        </a:graphic>
      </p:graphicFrame>
    </p:spTree>
    <p:extLst>
      <p:ext uri="{BB962C8B-B14F-4D97-AF65-F5344CB8AC3E}">
        <p14:creationId xmlns:p14="http://schemas.microsoft.com/office/powerpoint/2010/main" val="2547209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2019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Electronegativity and bond polarity</a:t>
            </a:r>
          </a:p>
        </p:txBody>
      </p:sp>
      <p:sp>
        <p:nvSpPr>
          <p:cNvPr id="118" name="Google Shape;118;p26"/>
          <p:cNvSpPr txBox="1"/>
          <p:nvPr/>
        </p:nvSpPr>
        <p:spPr>
          <a:xfrm>
            <a:off x="804200" y="1813736"/>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Electro-negatively is the property of a particular atom bonded covalently, to attract the bonding pair of electrons towards itself. The pattern of electronegativity from group 1 to 17 are:</a:t>
            </a:r>
          </a:p>
          <a:p>
            <a:pPr marL="631825" lvl="0" indent="-285750" algn="just">
              <a:lnSpc>
                <a:spcPct val="113000"/>
              </a:lnSpc>
              <a:spcBef>
                <a:spcPts val="600"/>
              </a:spcBef>
              <a:buSzPts val="1800"/>
              <a:buFont typeface="Wingdings" panose="05000000000000000000" pitchFamily="2" charset="2"/>
              <a:buChar char="ü"/>
            </a:pPr>
            <a:r>
              <a:rPr lang="en-IN" sz="1600" dirty="0">
                <a:latin typeface="Calibri" panose="020F0502020204030204" pitchFamily="34" charset="0"/>
              </a:rPr>
              <a:t>Increases across the period from left to right</a:t>
            </a:r>
          </a:p>
          <a:p>
            <a:pPr marL="631825" lvl="0" indent="-285750" algn="just">
              <a:lnSpc>
                <a:spcPct val="113000"/>
              </a:lnSpc>
              <a:spcBef>
                <a:spcPts val="600"/>
              </a:spcBef>
              <a:buSzPts val="1800"/>
              <a:buFont typeface="Wingdings" panose="05000000000000000000" pitchFamily="2" charset="2"/>
              <a:buChar char="ü"/>
            </a:pPr>
            <a:r>
              <a:rPr lang="en-IN" sz="1600" dirty="0">
                <a:latin typeface="Calibri" panose="020F0502020204030204" pitchFamily="34" charset="0"/>
              </a:rPr>
              <a:t>Increases up each group</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Using above conditions, fluorine is the most electronegative element.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If atoms in a molecule have equal electronegativity, the pair of electrons are shared equally, and these bonds are called as non-polar bonds. For example: O</a:t>
            </a:r>
            <a:r>
              <a:rPr lang="en-IN" sz="1600" baseline="-25000" dirty="0">
                <a:latin typeface="Calibri" panose="020F0502020204030204" pitchFamily="34" charset="0"/>
              </a:rPr>
              <a:t>2</a:t>
            </a:r>
            <a:r>
              <a:rPr lang="en-IN" sz="1600" dirty="0">
                <a:latin typeface="Calibri" panose="020F0502020204030204" pitchFamily="34" charset="0"/>
              </a:rPr>
              <a:t>, N</a:t>
            </a:r>
            <a:r>
              <a:rPr lang="en-IN" sz="1600" baseline="-25000" dirty="0">
                <a:latin typeface="Calibri" panose="020F0502020204030204" pitchFamily="34" charset="0"/>
              </a:rPr>
              <a:t>2</a:t>
            </a:r>
            <a:r>
              <a:rPr lang="en-IN" sz="1600" dirty="0">
                <a:latin typeface="Calibri" panose="020F0502020204030204" pitchFamily="34" charset="0"/>
              </a:rPr>
              <a:t>, Cl</a:t>
            </a:r>
            <a:r>
              <a:rPr lang="en-IN" sz="1600" baseline="-25000" dirty="0">
                <a:latin typeface="Calibri" panose="020F0502020204030204" pitchFamily="34" charset="0"/>
              </a:rPr>
              <a:t>2</a:t>
            </a:r>
            <a:r>
              <a:rPr lang="en-IN" sz="1600" dirty="0">
                <a:latin typeface="Calibri" panose="020F0502020204030204" pitchFamily="34" charset="0"/>
              </a:rPr>
              <a:t>, etc</a:t>
            </a:r>
          </a:p>
          <a:p>
            <a:pPr lvl="0" algn="l" rtl="0">
              <a:lnSpc>
                <a:spcPct val="113000"/>
              </a:lnSpc>
              <a:spcBef>
                <a:spcPts val="600"/>
              </a:spcBef>
              <a:spcAft>
                <a:spcPts val="0"/>
              </a:spcAft>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spTree>
    <p:extLst>
      <p:ext uri="{BB962C8B-B14F-4D97-AF65-F5344CB8AC3E}">
        <p14:creationId xmlns:p14="http://schemas.microsoft.com/office/powerpoint/2010/main" val="9803965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2019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Electronegativity and bond polarity</a:t>
            </a:r>
          </a:p>
        </p:txBody>
      </p:sp>
      <p:sp>
        <p:nvSpPr>
          <p:cNvPr id="118" name="Google Shape;118;p26"/>
          <p:cNvSpPr txBox="1"/>
          <p:nvPr/>
        </p:nvSpPr>
        <p:spPr>
          <a:xfrm>
            <a:off x="668733" y="1739428"/>
            <a:ext cx="6680333"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When the bond is formed between two atoms of different electronegativity, the shared pair of electrons are attracted towards the more electronegative atom and hence, these bonds are called as polar or dipole.</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electron distribution in this type of molecules is asymmetric. </a:t>
            </a: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The covalent bond between Hydrogen and fluorine in HF is polar. </a:t>
            </a: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The shared pair of electrons is attracted more towards fluorine because of its higher electronegative value. </a:t>
            </a: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Fluorine gets a slight negative charge.</a:t>
            </a:r>
            <a:endParaRPr sz="1600" dirty="0">
              <a:latin typeface="Calibri" panose="020F0502020204030204" pitchFamily="34" charset="0"/>
            </a:endParaRPr>
          </a:p>
        </p:txBody>
      </p:sp>
      <p:pic>
        <p:nvPicPr>
          <p:cNvPr id="4" name="Picture 3">
            <a:extLst>
              <a:ext uri="{FF2B5EF4-FFF2-40B4-BE49-F238E27FC236}">
                <a16:creationId xmlns:a16="http://schemas.microsoft.com/office/drawing/2014/main" id="{54B6F62B-DC3F-429F-A6F0-6CE99C2E7033}"/>
              </a:ext>
            </a:extLst>
          </p:cNvPr>
          <p:cNvPicPr/>
          <p:nvPr/>
        </p:nvPicPr>
        <p:blipFill>
          <a:blip r:embed="rId3">
            <a:extLst>
              <a:ext uri="{28A0092B-C50C-407E-A947-70E740481C1C}">
                <a14:useLocalDpi xmlns:a14="http://schemas.microsoft.com/office/drawing/2010/main" val="0"/>
              </a:ext>
            </a:extLst>
          </a:blip>
          <a:stretch>
            <a:fillRect/>
          </a:stretch>
        </p:blipFill>
        <p:spPr>
          <a:xfrm>
            <a:off x="7484533" y="2985478"/>
            <a:ext cx="1456690" cy="1084580"/>
          </a:xfrm>
          <a:prstGeom prst="rect">
            <a:avLst/>
          </a:prstGeom>
        </p:spPr>
      </p:pic>
      <p:sp>
        <p:nvSpPr>
          <p:cNvPr id="5" name="Google Shape;118;p26">
            <a:extLst>
              <a:ext uri="{FF2B5EF4-FFF2-40B4-BE49-F238E27FC236}">
                <a16:creationId xmlns:a16="http://schemas.microsoft.com/office/drawing/2014/main" id="{0F0D83C4-D89C-47D8-800B-8DA95AD8F85E}"/>
              </a:ext>
            </a:extLst>
          </p:cNvPr>
          <p:cNvSpPr txBox="1"/>
          <p:nvPr/>
        </p:nvSpPr>
        <p:spPr>
          <a:xfrm>
            <a:off x="668733" y="4231528"/>
            <a:ext cx="8938111" cy="911972"/>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endParaRPr lang="en-US" sz="1600" dirty="0">
              <a:latin typeface="Calibri" panose="020F0502020204030204" pitchFamily="34" charset="0"/>
            </a:endParaRP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 The direction of dipole generally points the partially negatively charged.</a:t>
            </a:r>
          </a:p>
          <a:p>
            <a:pPr marL="457200" lvl="0" indent="-342900" algn="just">
              <a:lnSpc>
                <a:spcPct val="113000"/>
              </a:lnSpc>
              <a:spcBef>
                <a:spcPts val="600"/>
              </a:spcBef>
              <a:buSzPts val="1800"/>
              <a:buFont typeface="Arial" panose="020B0604020202020204" pitchFamily="34" charset="0"/>
              <a:buChar char="•"/>
            </a:pPr>
            <a:endParaRPr lang="en-IN" sz="1600" dirty="0">
              <a:latin typeface="Calibri" panose="020F0502020204030204" pitchFamily="34" charset="0"/>
            </a:endParaRPr>
          </a:p>
          <a:p>
            <a:pPr marL="457200" lvl="0" indent="-342900" algn="just">
              <a:lnSpc>
                <a:spcPct val="113000"/>
              </a:lnSpc>
              <a:spcBef>
                <a:spcPts val="600"/>
              </a:spcBef>
              <a:buSzPts val="1800"/>
              <a:buFont typeface="Arial" panose="020B0604020202020204" pitchFamily="34" charset="0"/>
              <a:buChar char="•"/>
            </a:pPr>
            <a:endParaRPr lang="en-IN"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spTree>
    <p:extLst>
      <p:ext uri="{BB962C8B-B14F-4D97-AF65-F5344CB8AC3E}">
        <p14:creationId xmlns:p14="http://schemas.microsoft.com/office/powerpoint/2010/main" val="3724664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67885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Electronegativity and bond polarity</a:t>
            </a:r>
          </a:p>
        </p:txBody>
      </p:sp>
      <p:sp>
        <p:nvSpPr>
          <p:cNvPr id="118" name="Google Shape;118;p26"/>
          <p:cNvSpPr txBox="1"/>
          <p:nvPr/>
        </p:nvSpPr>
        <p:spPr>
          <a:xfrm>
            <a:off x="804199" y="2058475"/>
            <a:ext cx="7696334" cy="2492100"/>
          </a:xfrm>
          <a:prstGeom prst="rect">
            <a:avLst/>
          </a:prstGeom>
          <a:noFill/>
          <a:ln>
            <a:noFill/>
          </a:ln>
        </p:spPr>
        <p:txBody>
          <a:bodyPr spcFirstLastPara="1" wrap="square" lIns="91425" tIns="91425" rIns="91425" bIns="91425" anchor="t" anchorCtr="0">
            <a:noAutofit/>
          </a:bodyPr>
          <a:lstStyle/>
          <a:p>
            <a:pPr marL="45720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Electronegativity values are measured using Pauling scale (1 to 4). Elements of similar electronegativity values form purely covalent bonds and when the difference of electronegativity between two elements is more than 1.7, the elements form ionic bonds. </a:t>
            </a:r>
          </a:p>
          <a:p>
            <a:pPr marL="45720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When the difference of electronegativity values is between 0.3 and 1.7, the elements form polar covalent bonds. For example: HF.</a:t>
            </a:r>
          </a:p>
          <a:p>
            <a:pPr marL="0" lvl="0" indent="0" algn="l" rtl="0">
              <a:spcBef>
                <a:spcPts val="0"/>
              </a:spcBef>
              <a:spcAft>
                <a:spcPts val="0"/>
              </a:spcAft>
              <a:buNone/>
            </a:pPr>
            <a:endParaRPr dirty="0">
              <a:latin typeface="Calibri" panose="020F0502020204030204" pitchFamily="34" charset="0"/>
            </a:endParaRPr>
          </a:p>
        </p:txBody>
      </p:sp>
    </p:spTree>
    <p:extLst>
      <p:ext uri="{BB962C8B-B14F-4D97-AF65-F5344CB8AC3E}">
        <p14:creationId xmlns:p14="http://schemas.microsoft.com/office/powerpoint/2010/main" val="4098324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67885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Electronegativity and bond polarity</a:t>
            </a:r>
          </a:p>
        </p:txBody>
      </p:sp>
      <p:sp>
        <p:nvSpPr>
          <p:cNvPr id="118" name="Google Shape;118;p26"/>
          <p:cNvSpPr txBox="1"/>
          <p:nvPr/>
        </p:nvSpPr>
        <p:spPr>
          <a:xfrm>
            <a:off x="804200" y="1813736"/>
            <a:ext cx="41742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shape of the molecules also affects the polarity.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Symmetric molecules such as carbon dioxide cannot be polar because the individual dipoles cancel out.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CCl</a:t>
            </a:r>
            <a:r>
              <a:rPr lang="en-IN" sz="1600" baseline="-25000" dirty="0">
                <a:latin typeface="Calibri" panose="020F0502020204030204" pitchFamily="34" charset="0"/>
              </a:rPr>
              <a:t>4</a:t>
            </a:r>
            <a:r>
              <a:rPr lang="en-IN" sz="1600" dirty="0">
                <a:latin typeface="Calibri" panose="020F0502020204030204" pitchFamily="34" charset="0"/>
              </a:rPr>
              <a:t> with a tetrahedral structure is another example of non-polar molecule.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CHCl</a:t>
            </a:r>
            <a:r>
              <a:rPr lang="en-IN" sz="1600" baseline="-25000" dirty="0">
                <a:latin typeface="Calibri" panose="020F0502020204030204" pitchFamily="34" charset="0"/>
              </a:rPr>
              <a:t>3</a:t>
            </a:r>
            <a:r>
              <a:rPr lang="en-IN" sz="1600" dirty="0">
                <a:latin typeface="Calibri" panose="020F0502020204030204" pitchFamily="34" charset="0"/>
              </a:rPr>
              <a:t> with a tetrahedral structure is an example of polar molecule. The dipoles do not cancel out in CHCl</a:t>
            </a:r>
            <a:r>
              <a:rPr lang="en-IN" sz="1600" baseline="-25000" dirty="0">
                <a:latin typeface="Calibri" panose="020F0502020204030204" pitchFamily="34" charset="0"/>
              </a:rPr>
              <a:t>3</a:t>
            </a:r>
            <a:r>
              <a:rPr lang="en-IN" sz="1600" dirty="0">
                <a:latin typeface="Calibri" panose="020F0502020204030204" pitchFamily="34" charset="0"/>
              </a:rPr>
              <a:t>.</a:t>
            </a:r>
          </a:p>
          <a:p>
            <a:pPr marL="457200" lvl="0" indent="-342900" algn="just">
              <a:lnSpc>
                <a:spcPct val="113000"/>
              </a:lnSpc>
              <a:spcBef>
                <a:spcPts val="600"/>
              </a:spcBef>
              <a:buSzPts val="1800"/>
              <a:buChar char="●"/>
            </a:pPr>
            <a:endParaRPr lang="en-IN" sz="1600" dirty="0">
              <a:latin typeface="Calibri" panose="020F0502020204030204" pitchFamily="34" charset="0"/>
            </a:endParaRPr>
          </a:p>
          <a:p>
            <a:pPr marL="0" lvl="0" indent="0" algn="l" rtl="0">
              <a:lnSpc>
                <a:spcPct val="113000"/>
              </a:lnSpc>
              <a:spcBef>
                <a:spcPts val="600"/>
              </a:spcBef>
              <a:spcAft>
                <a:spcPts val="0"/>
              </a:spcAft>
              <a:buNone/>
            </a:pPr>
            <a:endParaRPr sz="1600" dirty="0">
              <a:latin typeface="Calibri" panose="020F0502020204030204" pitchFamily="34" charset="0"/>
            </a:endParaRPr>
          </a:p>
          <a:p>
            <a:pPr marL="0" lvl="0" indent="0" algn="l" rtl="0">
              <a:lnSpc>
                <a:spcPct val="113000"/>
              </a:lnSpc>
              <a:spcBef>
                <a:spcPts val="600"/>
              </a:spcBef>
              <a:spcAft>
                <a:spcPts val="0"/>
              </a:spcAft>
              <a:buNone/>
            </a:pPr>
            <a:endParaRPr sz="1600" dirty="0">
              <a:latin typeface="Calibri" panose="020F0502020204030204" pitchFamily="34" charset="0"/>
            </a:endParaRPr>
          </a:p>
          <a:p>
            <a:pPr marL="0" lvl="0" indent="0" algn="l" rtl="0">
              <a:lnSpc>
                <a:spcPct val="113000"/>
              </a:lnSpc>
              <a:spcBef>
                <a:spcPts val="600"/>
              </a:spcBef>
              <a:spcAft>
                <a:spcPts val="0"/>
              </a:spcAft>
              <a:buNone/>
            </a:pPr>
            <a:endParaRPr sz="1600" dirty="0">
              <a:latin typeface="Calibri" panose="020F0502020204030204" pitchFamily="34" charset="0"/>
            </a:endParaRPr>
          </a:p>
        </p:txBody>
      </p:sp>
      <p:pic>
        <p:nvPicPr>
          <p:cNvPr id="2" name="Picture 1">
            <a:extLst>
              <a:ext uri="{FF2B5EF4-FFF2-40B4-BE49-F238E27FC236}">
                <a16:creationId xmlns:a16="http://schemas.microsoft.com/office/drawing/2014/main" id="{74DF0B96-559A-45FC-AD6E-692D13AD1770}"/>
              </a:ext>
            </a:extLst>
          </p:cNvPr>
          <p:cNvPicPr>
            <a:picLocks noChangeAspect="1"/>
          </p:cNvPicPr>
          <p:nvPr/>
        </p:nvPicPr>
        <p:blipFill>
          <a:blip r:embed="rId3"/>
          <a:stretch>
            <a:fillRect/>
          </a:stretch>
        </p:blipFill>
        <p:spPr>
          <a:xfrm>
            <a:off x="5118585" y="2157386"/>
            <a:ext cx="3413126" cy="1804800"/>
          </a:xfrm>
          <a:prstGeom prst="rect">
            <a:avLst/>
          </a:prstGeom>
        </p:spPr>
      </p:pic>
    </p:spTree>
    <p:extLst>
      <p:ext uri="{BB962C8B-B14F-4D97-AF65-F5344CB8AC3E}">
        <p14:creationId xmlns:p14="http://schemas.microsoft.com/office/powerpoint/2010/main" val="3355617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1003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sp>
        <p:nvSpPr>
          <p:cNvPr id="118" name="Google Shape;118;p26"/>
          <p:cNvSpPr txBox="1"/>
          <p:nvPr/>
        </p:nvSpPr>
        <p:spPr>
          <a:xfrm>
            <a:off x="702600" y="2028225"/>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shape and bond angles of a covalently bonded molecule depends on the number of pairs around each atom and the nature of the pairs such as lone pairs or bonding pairs. </a:t>
            </a:r>
          </a:p>
          <a:p>
            <a:pPr marL="457200" lvl="0" indent="-342900">
              <a:lnSpc>
                <a:spcPct val="113000"/>
              </a:lnSpc>
              <a:spcBef>
                <a:spcPts val="600"/>
              </a:spcBef>
              <a:buSzPts val="1800"/>
              <a:buFont typeface="Arial" panose="020B0604020202020204" pitchFamily="34" charset="0"/>
              <a:buChar char="•"/>
            </a:pPr>
            <a:endParaRPr lang="en-IN" sz="1600" dirty="0">
              <a:latin typeface="Calibri" panose="020F0502020204030204" pitchFamily="34" charset="0"/>
            </a:endParaRP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force of repulsion depends on the nature of the pair of electrons. The order of forces of repulsion is: </a:t>
            </a:r>
          </a:p>
          <a:p>
            <a:pPr marL="114300" lvl="0" algn="ctr">
              <a:lnSpc>
                <a:spcPct val="113000"/>
              </a:lnSpc>
              <a:spcBef>
                <a:spcPts val="600"/>
              </a:spcBef>
              <a:buSzPts val="1800"/>
            </a:pPr>
            <a:r>
              <a:rPr lang="en-IN" sz="1600" dirty="0">
                <a:latin typeface="Calibri" panose="020F0502020204030204" pitchFamily="34" charset="0"/>
              </a:rPr>
              <a:t>lone pair-lone pair&gt; lone pair-bond pair&gt; bond-pair-bond pair.</a:t>
            </a: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spTree>
    <p:extLst>
      <p:ext uri="{BB962C8B-B14F-4D97-AF65-F5344CB8AC3E}">
        <p14:creationId xmlns:p14="http://schemas.microsoft.com/office/powerpoint/2010/main" val="584007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Shape of methane molecule</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IN" sz="1600" dirty="0">
                <a:latin typeface="Calibri" panose="020F0502020204030204" pitchFamily="34" charset="0"/>
              </a:rPr>
              <a:t>In methane, the forces of repulsions are equal for the four pair of electrons. </a:t>
            </a:r>
          </a:p>
          <a:p>
            <a:pPr lvl="0" algn="just">
              <a:buFont typeface="Arial" panose="020B0604020202020204" pitchFamily="34" charset="0"/>
              <a:buChar char="•"/>
            </a:pPr>
            <a:endParaRPr lang="en-IN" sz="1600" dirty="0">
              <a:latin typeface="Calibri" panose="020F0502020204030204" pitchFamily="34" charset="0"/>
            </a:endParaRPr>
          </a:p>
          <a:p>
            <a:pPr lvl="0" algn="just">
              <a:buFont typeface="Arial" panose="020B0604020202020204" pitchFamily="34" charset="0"/>
              <a:buChar char="•"/>
            </a:pPr>
            <a:r>
              <a:rPr lang="en-IN" sz="1600" dirty="0">
                <a:latin typeface="Calibri" panose="020F0502020204030204" pitchFamily="34" charset="0"/>
              </a:rPr>
              <a:t>Hence, the shape of the molecule is tetrahedron with H-C-H bond angle of 109.5⁰. </a:t>
            </a:r>
          </a:p>
          <a:p>
            <a:pPr marL="285750" lvl="0" indent="-285750" algn="l" rtl="0">
              <a:spcBef>
                <a:spcPts val="1600"/>
              </a:spcBef>
              <a:spcAft>
                <a:spcPts val="1600"/>
              </a:spcAf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100" dirty="0">
                <a:solidFill>
                  <a:srgbClr val="666666"/>
                </a:solidFill>
              </a:rPr>
              <a:t>Structure of methane</a:t>
            </a:r>
            <a:endParaRPr sz="1100" dirty="0">
              <a:solidFill>
                <a:srgbClr val="666666"/>
              </a:solidFill>
            </a:endParaRPr>
          </a:p>
        </p:txBody>
      </p:sp>
      <p:pic>
        <p:nvPicPr>
          <p:cNvPr id="6" name="Picture 5">
            <a:extLst>
              <a:ext uri="{FF2B5EF4-FFF2-40B4-BE49-F238E27FC236}">
                <a16:creationId xmlns:a16="http://schemas.microsoft.com/office/drawing/2014/main" id="{B8E8DDD1-8855-48EC-BC29-479B8173BBAC}"/>
              </a:ext>
            </a:extLst>
          </p:cNvPr>
          <p:cNvPicPr/>
          <p:nvPr/>
        </p:nvPicPr>
        <p:blipFill>
          <a:blip r:embed="rId3">
            <a:extLst>
              <a:ext uri="{28A0092B-C50C-407E-A947-70E740481C1C}">
                <a14:useLocalDpi xmlns:a14="http://schemas.microsoft.com/office/drawing/2010/main" val="0"/>
              </a:ext>
            </a:extLst>
          </a:blip>
          <a:stretch>
            <a:fillRect/>
          </a:stretch>
        </p:blipFill>
        <p:spPr>
          <a:xfrm>
            <a:off x="205700" y="1561795"/>
            <a:ext cx="4276725" cy="2251075"/>
          </a:xfrm>
          <a:prstGeom prst="rect">
            <a:avLst/>
          </a:prstGeom>
        </p:spPr>
      </p:pic>
    </p:spTree>
    <p:extLst>
      <p:ext uri="{BB962C8B-B14F-4D97-AF65-F5344CB8AC3E}">
        <p14:creationId xmlns:p14="http://schemas.microsoft.com/office/powerpoint/2010/main" val="150624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Shape of water molecule</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algn="just">
              <a:buFont typeface="Arial" panose="020B0604020202020204" pitchFamily="34" charset="0"/>
              <a:buChar char="•"/>
            </a:pPr>
            <a:r>
              <a:rPr lang="en-IN" sz="1600" dirty="0">
                <a:latin typeface="Calibri" panose="020F0502020204030204" pitchFamily="34" charset="0"/>
              </a:rPr>
              <a:t>In water, the forces of repulsion are not equal between the four pair of electrons and hence, the tetrahedral shape as in methane is distorted. </a:t>
            </a:r>
          </a:p>
          <a:p>
            <a:pPr lvl="0" algn="just">
              <a:buFont typeface="Arial" panose="020B0604020202020204" pitchFamily="34" charset="0"/>
              <a:buChar char="•"/>
            </a:pPr>
            <a:endParaRPr lang="en-IN" sz="1600" dirty="0">
              <a:latin typeface="Calibri" panose="020F0502020204030204" pitchFamily="34" charset="0"/>
            </a:endParaRPr>
          </a:p>
          <a:p>
            <a:pPr lvl="0" algn="just">
              <a:buFont typeface="Arial" panose="020B0604020202020204" pitchFamily="34" charset="0"/>
              <a:buChar char="•"/>
            </a:pPr>
            <a:r>
              <a:rPr lang="en-IN" sz="1600" dirty="0">
                <a:latin typeface="Calibri" panose="020F0502020204030204" pitchFamily="34" charset="0"/>
              </a:rPr>
              <a:t>In water the bond pairs are pushed much closer because of two lone pair of electrons and forms a linear V-shape with H-O-H angle of 104.5⁰.</a:t>
            </a:r>
          </a:p>
          <a:p>
            <a:pPr marL="285750" lvl="0" indent="-285750" algn="l" rtl="0">
              <a:spcBef>
                <a:spcPts val="1600"/>
              </a:spcBef>
              <a:spcAft>
                <a:spcPts val="1600"/>
              </a:spcAf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Structure of water molecule</a:t>
            </a:r>
            <a:endParaRPr sz="1100" dirty="0">
              <a:solidFill>
                <a:srgbClr val="666666"/>
              </a:solidFill>
            </a:endParaRPr>
          </a:p>
        </p:txBody>
      </p:sp>
      <p:pic>
        <p:nvPicPr>
          <p:cNvPr id="6" name="Picture 5">
            <a:extLst>
              <a:ext uri="{FF2B5EF4-FFF2-40B4-BE49-F238E27FC236}">
                <a16:creationId xmlns:a16="http://schemas.microsoft.com/office/drawing/2014/main" id="{172686E3-A9AC-4635-9E2F-AD504E2C5CDC}"/>
              </a:ext>
            </a:extLst>
          </p:cNvPr>
          <p:cNvPicPr/>
          <p:nvPr/>
        </p:nvPicPr>
        <p:blipFill>
          <a:blip r:embed="rId3">
            <a:extLst>
              <a:ext uri="{28A0092B-C50C-407E-A947-70E740481C1C}">
                <a14:useLocalDpi xmlns:a14="http://schemas.microsoft.com/office/drawing/2010/main" val="0"/>
              </a:ext>
            </a:extLst>
          </a:blip>
          <a:stretch>
            <a:fillRect/>
          </a:stretch>
        </p:blipFill>
        <p:spPr>
          <a:xfrm>
            <a:off x="180935" y="1852670"/>
            <a:ext cx="4301490" cy="2042160"/>
          </a:xfrm>
          <a:prstGeom prst="rect">
            <a:avLst/>
          </a:prstGeom>
        </p:spPr>
      </p:pic>
    </p:spTree>
    <p:extLst>
      <p:ext uri="{BB962C8B-B14F-4D97-AF65-F5344CB8AC3E}">
        <p14:creationId xmlns:p14="http://schemas.microsoft.com/office/powerpoint/2010/main" val="13063287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53694"/>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Shape of ammonia molecule</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804034" y="654544"/>
            <a:ext cx="3837000"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IN" sz="1600" dirty="0">
                <a:latin typeface="Calibri" panose="020F0502020204030204" pitchFamily="34" charset="0"/>
              </a:rPr>
              <a:t>Ammonia has a triangular pyramidal shape.</a:t>
            </a:r>
          </a:p>
          <a:p>
            <a:pPr algn="just">
              <a:buFont typeface="Arial" panose="020B0604020202020204" pitchFamily="34" charset="0"/>
              <a:buChar char="•"/>
            </a:pPr>
            <a:r>
              <a:rPr lang="en-IN" sz="1600" dirty="0">
                <a:latin typeface="Calibri" panose="020F0502020204030204" pitchFamily="34" charset="0"/>
              </a:rPr>
              <a:t>In ammonia, the forces of repulsion are not equal between the four pair of electrons and hence, the tetrahedral shape as in methane is distorted. </a:t>
            </a:r>
          </a:p>
          <a:p>
            <a:pPr lvl="0" algn="just">
              <a:buFont typeface="Arial" panose="020B0604020202020204" pitchFamily="34" charset="0"/>
              <a:buChar char="•"/>
            </a:pPr>
            <a:r>
              <a:rPr lang="en-IN" sz="1600" dirty="0">
                <a:latin typeface="Calibri" panose="020F0502020204030204" pitchFamily="34" charset="0"/>
              </a:rPr>
              <a:t> The lone pair-bond pair repulsion is greater than the bond pair-bond pair repulsion and hence, the bonding pairs come closer together making H-N-H bond angle of 107⁰. </a:t>
            </a: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100" dirty="0">
                <a:solidFill>
                  <a:srgbClr val="666666"/>
                </a:solidFill>
              </a:rPr>
              <a:t>Structure of ammonia</a:t>
            </a:r>
            <a:endParaRPr sz="1100" dirty="0">
              <a:solidFill>
                <a:srgbClr val="666666"/>
              </a:solidFill>
            </a:endParaRPr>
          </a:p>
        </p:txBody>
      </p:sp>
      <p:pic>
        <p:nvPicPr>
          <p:cNvPr id="5" name="Picture 4">
            <a:extLst>
              <a:ext uri="{FF2B5EF4-FFF2-40B4-BE49-F238E27FC236}">
                <a16:creationId xmlns:a16="http://schemas.microsoft.com/office/drawing/2014/main" id="{52ED7728-22CA-4F83-9A09-E07879D723C4}"/>
              </a:ext>
            </a:extLst>
          </p:cNvPr>
          <p:cNvPicPr>
            <a:picLocks noChangeAspect="1"/>
          </p:cNvPicPr>
          <p:nvPr/>
        </p:nvPicPr>
        <p:blipFill>
          <a:blip r:embed="rId3"/>
          <a:stretch>
            <a:fillRect/>
          </a:stretch>
        </p:blipFill>
        <p:spPr>
          <a:xfrm>
            <a:off x="176605" y="1845983"/>
            <a:ext cx="4158220" cy="2140922"/>
          </a:xfrm>
          <a:prstGeom prst="rect">
            <a:avLst/>
          </a:prstGeom>
        </p:spPr>
      </p:pic>
    </p:spTree>
    <p:extLst>
      <p:ext uri="{BB962C8B-B14F-4D97-AF65-F5344CB8AC3E}">
        <p14:creationId xmlns:p14="http://schemas.microsoft.com/office/powerpoint/2010/main" val="3142489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53694"/>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Shape of ammonium ion</a:t>
            </a:r>
            <a:endParaRPr sz="3200" dirty="0">
              <a:solidFill>
                <a:srgbClr val="000000"/>
              </a:solidFill>
              <a:latin typeface="Calibri" panose="020F0502020204030204" pitchFamily="34" charset="0"/>
            </a:endParaRPr>
          </a:p>
        </p:txBody>
      </p:sp>
      <p:sp>
        <p:nvSpPr>
          <p:cNvPr id="124" name="Google Shape;124;p27"/>
          <p:cNvSpPr txBox="1">
            <a:spLocks noGrp="1"/>
          </p:cNvSpPr>
          <p:nvPr>
            <p:ph type="body" idx="2"/>
          </p:nvPr>
        </p:nvSpPr>
        <p:spPr>
          <a:xfrm>
            <a:off x="4892169" y="1448400"/>
            <a:ext cx="3837000" cy="1129547"/>
          </a:xfrm>
          <a:prstGeom prst="rect">
            <a:avLst/>
          </a:prstGeom>
        </p:spPr>
        <p:txBody>
          <a:bodyPr spcFirstLastPara="1" wrap="square" lIns="91425" tIns="91425" rIns="91425" bIns="91425" anchor="t" anchorCtr="0">
            <a:noAutofit/>
          </a:bodyPr>
          <a:lstStyle/>
          <a:p>
            <a:pPr lvl="0" algn="just">
              <a:spcBef>
                <a:spcPts val="600"/>
              </a:spcBef>
              <a:buFont typeface="Arial" panose="020B0604020202020204" pitchFamily="34" charset="0"/>
              <a:buChar char="•"/>
            </a:pPr>
            <a:r>
              <a:rPr lang="en-IN" sz="1600" dirty="0">
                <a:latin typeface="Calibri" panose="020F0502020204030204" pitchFamily="34" charset="0"/>
              </a:rPr>
              <a:t>In ammonium ion, NH</a:t>
            </a:r>
            <a:r>
              <a:rPr lang="en-IN" sz="1600" baseline="-25000" dirty="0">
                <a:latin typeface="Calibri" panose="020F0502020204030204" pitchFamily="34" charset="0"/>
              </a:rPr>
              <a:t>4</a:t>
            </a:r>
            <a:r>
              <a:rPr lang="en-IN" sz="1600" baseline="30000" dirty="0">
                <a:latin typeface="Calibri" panose="020F0502020204030204" pitchFamily="34" charset="0"/>
              </a:rPr>
              <a:t>+</a:t>
            </a:r>
            <a:r>
              <a:rPr lang="en-IN" sz="1600" dirty="0">
                <a:latin typeface="Calibri" panose="020F0502020204030204" pitchFamily="34" charset="0"/>
              </a:rPr>
              <a:t>, the dative bond acts as a covalent bond and the shape is tetrahedral. </a:t>
            </a:r>
          </a:p>
          <a:p>
            <a:pPr lvl="0" algn="just">
              <a:spcBef>
                <a:spcPts val="600"/>
              </a:spcBef>
              <a:buFont typeface="Arial" panose="020B0604020202020204" pitchFamily="34" charset="0"/>
              <a:buChar char="•"/>
            </a:pPr>
            <a:r>
              <a:rPr lang="en-US" sz="1600" dirty="0">
                <a:latin typeface="Calibri" panose="020F0502020204030204" pitchFamily="34" charset="0"/>
              </a:rPr>
              <a:t>Four bonding pair of electrons repel equally to from a tetrahedral shape that </a:t>
            </a:r>
            <a:r>
              <a:rPr lang="en-US" sz="1600" dirty="0" err="1">
                <a:latin typeface="Calibri" panose="020F0502020204030204" pitchFamily="34" charset="0"/>
              </a:rPr>
              <a:t>minimises</a:t>
            </a:r>
            <a:r>
              <a:rPr lang="en-US" sz="1600" dirty="0">
                <a:latin typeface="Calibri" panose="020F0502020204030204" pitchFamily="34" charset="0"/>
              </a:rPr>
              <a:t> the repulsions. </a:t>
            </a:r>
          </a:p>
          <a:p>
            <a:pPr lvl="0" algn="just">
              <a:spcBef>
                <a:spcPts val="600"/>
              </a:spcBef>
              <a:buFont typeface="Arial" panose="020B0604020202020204" pitchFamily="34" charset="0"/>
              <a:buChar char="•"/>
            </a:pPr>
            <a:endParaRPr lang="en-IN" sz="1600" dirty="0">
              <a:latin typeface="Calibri" panose="020F0502020204030204" pitchFamily="34" charset="0"/>
            </a:endParaRPr>
          </a:p>
          <a:p>
            <a:pPr algn="just">
              <a:spcBef>
                <a:spcPts val="600"/>
              </a:spcBef>
              <a:buFont typeface="Arial" panose="020B0604020202020204" pitchFamily="34" charset="0"/>
              <a:buChar char="•"/>
            </a:pPr>
            <a:endParaRPr lang="en-IN"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IN" sz="1100" dirty="0">
                <a:solidFill>
                  <a:srgbClr val="666666"/>
                </a:solidFill>
              </a:rPr>
              <a:t>Structure of ammonium ion</a:t>
            </a:r>
            <a:endParaRPr sz="1100" dirty="0">
              <a:solidFill>
                <a:srgbClr val="666666"/>
              </a:solidFill>
            </a:endParaRPr>
          </a:p>
        </p:txBody>
      </p:sp>
      <p:pic>
        <p:nvPicPr>
          <p:cNvPr id="4" name="Picture 3" descr="A close up of a logo&#10;&#10;Description automatically generated">
            <a:extLst>
              <a:ext uri="{FF2B5EF4-FFF2-40B4-BE49-F238E27FC236}">
                <a16:creationId xmlns:a16="http://schemas.microsoft.com/office/drawing/2014/main" id="{E9FF709A-04B6-4784-8827-0455D0047669}"/>
              </a:ext>
            </a:extLst>
          </p:cNvPr>
          <p:cNvPicPr>
            <a:picLocks noChangeAspect="1"/>
          </p:cNvPicPr>
          <p:nvPr/>
        </p:nvPicPr>
        <p:blipFill>
          <a:blip r:embed="rId3"/>
          <a:stretch>
            <a:fillRect/>
          </a:stretch>
        </p:blipFill>
        <p:spPr>
          <a:xfrm>
            <a:off x="1244600" y="1394228"/>
            <a:ext cx="2590800" cy="2913888"/>
          </a:xfrm>
          <a:prstGeom prst="rect">
            <a:avLst/>
          </a:prstGeom>
        </p:spPr>
      </p:pic>
    </p:spTree>
    <p:extLst>
      <p:ext uri="{BB962C8B-B14F-4D97-AF65-F5344CB8AC3E}">
        <p14:creationId xmlns:p14="http://schemas.microsoft.com/office/powerpoint/2010/main" val="2217723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Al</a:t>
            </a:r>
            <a:r>
              <a:rPr lang="en-IN" baseline="-25000" dirty="0">
                <a:latin typeface="Calibri" panose="020F0502020204030204" pitchFamily="34" charset="0"/>
              </a:rPr>
              <a:t>2</a:t>
            </a:r>
            <a:r>
              <a:rPr lang="en-IN" dirty="0">
                <a:latin typeface="Calibri" panose="020F0502020204030204" pitchFamily="34" charset="0"/>
              </a:rPr>
              <a:t>Cl</a:t>
            </a:r>
            <a:r>
              <a:rPr lang="en-IN" baseline="-25000" dirty="0">
                <a:latin typeface="Calibri" panose="020F0502020204030204" pitchFamily="34" charset="0"/>
              </a:rPr>
              <a:t>6</a:t>
            </a:r>
            <a:endParaRPr baseline="-25000" dirty="0">
              <a:latin typeface="Calibri" panose="020F0502020204030204" pitchFamily="34" charset="0"/>
            </a:endParaRPr>
          </a:p>
        </p:txBody>
      </p:sp>
      <p:sp>
        <p:nvSpPr>
          <p:cNvPr id="3" name="TextBox 2"/>
          <p:cNvSpPr txBox="1"/>
          <p:nvPr/>
        </p:nvSpPr>
        <p:spPr>
          <a:xfrm>
            <a:off x="738961" y="2236299"/>
            <a:ext cx="7249338" cy="1985159"/>
          </a:xfrm>
          <a:prstGeom prst="rect">
            <a:avLst/>
          </a:prstGeom>
          <a:noFill/>
        </p:spPr>
        <p:txBody>
          <a:bodyPr wrap="square" rtlCol="0">
            <a:spAutoFit/>
          </a:bodyPr>
          <a:lstStyle/>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AlCl</a:t>
            </a:r>
            <a:r>
              <a:rPr lang="en-US" sz="1600" baseline="-25000" dirty="0">
                <a:latin typeface="Calibri" panose="020F0502020204030204" pitchFamily="34" charset="0"/>
                <a:ea typeface="Roboto"/>
                <a:sym typeface="Roboto"/>
              </a:rPr>
              <a:t>3</a:t>
            </a:r>
            <a:r>
              <a:rPr lang="en-US" sz="1600" dirty="0">
                <a:latin typeface="Calibri" panose="020F0502020204030204" pitchFamily="34" charset="0"/>
                <a:ea typeface="Roboto"/>
                <a:sym typeface="Roboto"/>
              </a:rPr>
              <a:t> is an electron deficient molecule. At high temperatures, it exists in this molecular form.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At lower temperatures, two AlCl</a:t>
            </a:r>
            <a:r>
              <a:rPr lang="en-US" sz="1600" baseline="-25000" dirty="0">
                <a:latin typeface="Calibri" panose="020F0502020204030204" pitchFamily="34" charset="0"/>
                <a:ea typeface="Roboto"/>
                <a:sym typeface="Roboto"/>
              </a:rPr>
              <a:t>3</a:t>
            </a:r>
            <a:r>
              <a:rPr lang="en-US" sz="1600" dirty="0">
                <a:latin typeface="Calibri" panose="020F0502020204030204" pitchFamily="34" charset="0"/>
                <a:ea typeface="Roboto"/>
                <a:sym typeface="Roboto"/>
              </a:rPr>
              <a:t> molecules combine to form, Al</a:t>
            </a:r>
            <a:r>
              <a:rPr lang="en-US" sz="1600" baseline="-25000" dirty="0">
                <a:latin typeface="Calibri" panose="020F0502020204030204" pitchFamily="34" charset="0"/>
                <a:ea typeface="Roboto"/>
                <a:sym typeface="Roboto"/>
              </a:rPr>
              <a:t>2</a:t>
            </a:r>
            <a:r>
              <a:rPr lang="en-US" sz="1600" dirty="0">
                <a:latin typeface="Calibri" panose="020F0502020204030204" pitchFamily="34" charset="0"/>
                <a:ea typeface="Roboto"/>
                <a:sym typeface="Roboto"/>
              </a:rPr>
              <a:t>Cl</a:t>
            </a:r>
            <a:r>
              <a:rPr lang="en-US" sz="1600" baseline="-25000" dirty="0">
                <a:latin typeface="Calibri" panose="020F0502020204030204" pitchFamily="34" charset="0"/>
                <a:ea typeface="Roboto"/>
                <a:sym typeface="Roboto"/>
              </a:rPr>
              <a:t>6</a:t>
            </a:r>
            <a:r>
              <a:rPr lang="en-US" sz="1600" dirty="0">
                <a:latin typeface="Calibri" panose="020F0502020204030204" pitchFamily="34" charset="0"/>
                <a:ea typeface="Roboto"/>
                <a:sym typeface="Roboto"/>
              </a:rPr>
              <a:t>.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Two lone pair of electrons on two chlorine atoms, forms co-ordinate dative bonds with </a:t>
            </a:r>
            <a:r>
              <a:rPr lang="en-US" sz="1600" dirty="0" err="1">
                <a:latin typeface="Calibri" panose="020F0502020204030204" pitchFamily="34" charset="0"/>
                <a:ea typeface="Roboto"/>
                <a:sym typeface="Roboto"/>
              </a:rPr>
              <a:t>aluminium</a:t>
            </a:r>
            <a:r>
              <a:rPr lang="en-US" sz="1600" dirty="0">
                <a:latin typeface="Calibri" panose="020F0502020204030204" pitchFamily="34" charset="0"/>
                <a:ea typeface="Roboto"/>
                <a:sym typeface="Roboto"/>
              </a:rPr>
              <a:t>.</a:t>
            </a:r>
          </a:p>
          <a:p>
            <a:pPr marL="285750" indent="-285750">
              <a:spcBef>
                <a:spcPts val="600"/>
              </a:spcBef>
              <a:buSzPct val="100000"/>
              <a:buFont typeface="Arial" panose="020B0604020202020204" pitchFamily="34" charset="0"/>
              <a:buChar char="•"/>
            </a:pPr>
            <a:endParaRPr lang="en-IN" sz="1600" dirty="0"/>
          </a:p>
        </p:txBody>
      </p:sp>
    </p:spTree>
    <p:extLst>
      <p:ext uri="{BB962C8B-B14F-4D97-AF65-F5344CB8AC3E}">
        <p14:creationId xmlns:p14="http://schemas.microsoft.com/office/powerpoint/2010/main" val="39183030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Al</a:t>
            </a:r>
            <a:r>
              <a:rPr lang="en-IN" baseline="-25000" dirty="0">
                <a:latin typeface="Calibri" panose="020F0502020204030204" pitchFamily="34" charset="0"/>
              </a:rPr>
              <a:t>2</a:t>
            </a:r>
            <a:r>
              <a:rPr lang="en-IN" dirty="0">
                <a:latin typeface="Calibri" panose="020F0502020204030204" pitchFamily="34" charset="0"/>
              </a:rPr>
              <a:t>Cl</a:t>
            </a:r>
            <a:r>
              <a:rPr lang="en-IN" baseline="-25000" dirty="0">
                <a:latin typeface="Calibri" panose="020F0502020204030204" pitchFamily="34" charset="0"/>
              </a:rPr>
              <a:t>6</a:t>
            </a:r>
            <a:endParaRPr dirty="0">
              <a:latin typeface="Calibri" panose="020F0502020204030204" pitchFamily="34" charset="0"/>
            </a:endParaRPr>
          </a:p>
        </p:txBody>
      </p:sp>
      <p:pic>
        <p:nvPicPr>
          <p:cNvPr id="5" name="Picture 4">
            <a:extLst>
              <a:ext uri="{FF2B5EF4-FFF2-40B4-BE49-F238E27FC236}">
                <a16:creationId xmlns:a16="http://schemas.microsoft.com/office/drawing/2014/main" id="{AD9CE38C-19A6-4460-A735-2B7005CD2FDC}"/>
              </a:ext>
            </a:extLst>
          </p:cNvPr>
          <p:cNvPicPr>
            <a:picLocks noChangeAspect="1"/>
          </p:cNvPicPr>
          <p:nvPr/>
        </p:nvPicPr>
        <p:blipFill>
          <a:blip r:embed="rId3"/>
          <a:stretch>
            <a:fillRect/>
          </a:stretch>
        </p:blipFill>
        <p:spPr>
          <a:xfrm>
            <a:off x="1089359" y="2019300"/>
            <a:ext cx="6683041" cy="2976042"/>
          </a:xfrm>
          <a:prstGeom prst="rect">
            <a:avLst/>
          </a:prstGeom>
        </p:spPr>
      </p:pic>
    </p:spTree>
    <p:extLst>
      <p:ext uri="{BB962C8B-B14F-4D97-AF65-F5344CB8AC3E}">
        <p14:creationId xmlns:p14="http://schemas.microsoft.com/office/powerpoint/2010/main" val="20061096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1" name="Google Shape;123;p27">
            <a:extLst>
              <a:ext uri="{FF2B5EF4-FFF2-40B4-BE49-F238E27FC236}">
                <a16:creationId xmlns:a16="http://schemas.microsoft.com/office/drawing/2014/main" id="{CC8D505F-9317-4E9E-830C-8C73A8AC160B}"/>
              </a:ext>
            </a:extLst>
          </p:cNvPr>
          <p:cNvSpPr txBox="1">
            <a:spLocks noGrp="1"/>
          </p:cNvSpPr>
          <p:nvPr>
            <p:ph type="title"/>
          </p:nvPr>
        </p:nvSpPr>
        <p:spPr>
          <a:prstGeom prst="rect">
            <a:avLst/>
          </a:prstGeom>
        </p:spPr>
        <p:txBody>
          <a:bodyPr spcFirstLastPara="1" wrap="square" lIns="91425" tIns="91425" rIns="91425" bIns="91425" anchor="ctr" anchorCtr="0">
            <a:noAutofit/>
          </a:bodyPr>
          <a:lstStyle/>
          <a:p>
            <a:pPr lvl="0"/>
            <a:r>
              <a:rPr lang="en-IN" sz="3200" dirty="0">
                <a:solidFill>
                  <a:schemeClr val="bg1"/>
                </a:solidFill>
                <a:latin typeface="Calibri" panose="020F0502020204030204" pitchFamily="34" charset="0"/>
              </a:rPr>
              <a:t>Shape of molecules </a:t>
            </a:r>
            <a:endParaRPr sz="3200" dirty="0">
              <a:solidFill>
                <a:schemeClr val="bg1"/>
              </a:solidFill>
              <a:latin typeface="Calibri" panose="020F0502020204030204" pitchFamily="34" charset="0"/>
            </a:endParaRPr>
          </a:p>
        </p:txBody>
      </p:sp>
      <p:graphicFrame>
        <p:nvGraphicFramePr>
          <p:cNvPr id="6" name="Table 5">
            <a:extLst>
              <a:ext uri="{FF2B5EF4-FFF2-40B4-BE49-F238E27FC236}">
                <a16:creationId xmlns:a16="http://schemas.microsoft.com/office/drawing/2014/main" id="{FFAC056F-F3EE-474D-9A78-2D842DDCDCA1}"/>
              </a:ext>
            </a:extLst>
          </p:cNvPr>
          <p:cNvGraphicFramePr>
            <a:graphicFrameLocks noGrp="1"/>
          </p:cNvGraphicFramePr>
          <p:nvPr>
            <p:extLst>
              <p:ext uri="{D42A27DB-BD31-4B8C-83A1-F6EECF244321}">
                <p14:modId xmlns:p14="http://schemas.microsoft.com/office/powerpoint/2010/main" val="230584381"/>
              </p:ext>
            </p:extLst>
          </p:nvPr>
        </p:nvGraphicFramePr>
        <p:xfrm>
          <a:off x="1653607" y="753865"/>
          <a:ext cx="6246892" cy="4299324"/>
        </p:xfrm>
        <a:graphic>
          <a:graphicData uri="http://schemas.openxmlformats.org/drawingml/2006/table">
            <a:tbl>
              <a:tblPr firstRow="1" bandRow="1"/>
              <a:tblGrid>
                <a:gridCol w="1821622">
                  <a:extLst>
                    <a:ext uri="{9D8B030D-6E8A-4147-A177-3AD203B41FA5}">
                      <a16:colId xmlns:a16="http://schemas.microsoft.com/office/drawing/2014/main" val="2008130567"/>
                    </a:ext>
                  </a:extLst>
                </a:gridCol>
                <a:gridCol w="1301824">
                  <a:extLst>
                    <a:ext uri="{9D8B030D-6E8A-4147-A177-3AD203B41FA5}">
                      <a16:colId xmlns:a16="http://schemas.microsoft.com/office/drawing/2014/main" val="3387199006"/>
                    </a:ext>
                  </a:extLst>
                </a:gridCol>
                <a:gridCol w="1276123">
                  <a:extLst>
                    <a:ext uri="{9D8B030D-6E8A-4147-A177-3AD203B41FA5}">
                      <a16:colId xmlns:a16="http://schemas.microsoft.com/office/drawing/2014/main" val="1357762758"/>
                    </a:ext>
                  </a:extLst>
                </a:gridCol>
                <a:gridCol w="1847323">
                  <a:extLst>
                    <a:ext uri="{9D8B030D-6E8A-4147-A177-3AD203B41FA5}">
                      <a16:colId xmlns:a16="http://schemas.microsoft.com/office/drawing/2014/main" val="2981610031"/>
                    </a:ext>
                  </a:extLst>
                </a:gridCol>
              </a:tblGrid>
              <a:tr h="469591">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9pPr>
                    </a:lstStyle>
                    <a:p>
                      <a:pPr algn="ctr"/>
                      <a:r>
                        <a:rPr lang="en-GB" b="0" dirty="0">
                          <a:solidFill>
                            <a:schemeClr val="bg1"/>
                          </a:solidFill>
                        </a:rPr>
                        <a:t>Shape</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9pPr>
                    </a:lstStyle>
                    <a:p>
                      <a:pPr algn="ctr"/>
                      <a:r>
                        <a:rPr lang="en-GB" b="0" dirty="0">
                          <a:solidFill>
                            <a:schemeClr val="bg1"/>
                          </a:solidFill>
                        </a:rPr>
                        <a:t>Num. of bonding pairs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9pPr>
                    </a:lstStyle>
                    <a:p>
                      <a:pPr algn="ctr"/>
                      <a:r>
                        <a:rPr lang="en-GB" b="0" dirty="0">
                          <a:solidFill>
                            <a:schemeClr val="bg1"/>
                          </a:solidFill>
                        </a:rPr>
                        <a:t>Num. of lone pairs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Arial"/>
                          <a:sym typeface="Arial"/>
                        </a:defRPr>
                      </a:lvl9pPr>
                    </a:lstStyle>
                    <a:p>
                      <a:pPr algn="ctr"/>
                      <a:r>
                        <a:rPr lang="en-GB" b="0" dirty="0">
                          <a:solidFill>
                            <a:schemeClr val="bg1"/>
                          </a:solidFill>
                        </a:rPr>
                        <a:t>Examples</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991577345"/>
                  </a:ext>
                </a:extLst>
              </a:tr>
              <a:tr h="243829">
                <a:tc rowSpan="2">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Linear</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BeF</a:t>
                      </a:r>
                      <a:r>
                        <a:rPr lang="en-GB" baseline="-25000"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2115342"/>
                  </a:ext>
                </a:extLst>
              </a:tr>
              <a:tr h="243829">
                <a:tc vMerge="1">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XeF</a:t>
                      </a:r>
                      <a:r>
                        <a:rPr lang="en-GB" baseline="-25000"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2750118"/>
                  </a:ext>
                </a:extLst>
              </a:tr>
              <a:tr h="37646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Trigonal planar</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BF</a:t>
                      </a:r>
                      <a:r>
                        <a:rPr lang="en-GB" baseline="-25000"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16889809"/>
                  </a:ext>
                </a:extLst>
              </a:tr>
              <a:tr h="243829">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Tetrahedral</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CH</a:t>
                      </a:r>
                      <a:r>
                        <a:rPr lang="en-GB" baseline="-25000" dirty="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9931839"/>
                  </a:ext>
                </a:extLst>
              </a:tr>
              <a:tr h="243829">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Pyramidal</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NH</a:t>
                      </a:r>
                      <a:r>
                        <a:rPr lang="en-GB" baseline="-25000"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456300"/>
                  </a:ext>
                </a:extLst>
              </a:tr>
              <a:tr h="243829">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Bent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H</a:t>
                      </a:r>
                      <a:r>
                        <a:rPr lang="en-GB" baseline="-25000" dirty="0">
                          <a:solidFill>
                            <a:srgbClr val="000000"/>
                          </a:solidFill>
                        </a:rPr>
                        <a:t>2</a:t>
                      </a:r>
                      <a:r>
                        <a:rPr lang="en-GB" dirty="0">
                          <a:solidFill>
                            <a:srgbClr val="000000"/>
                          </a:solidFill>
                        </a:rPr>
                        <a:t>O</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5188792"/>
                  </a:ext>
                </a:extLst>
              </a:tr>
              <a:tr h="37646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Trigonal bipyramidal</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PF</a:t>
                      </a:r>
                      <a:r>
                        <a:rPr lang="en-GB" baseline="-25000" dirty="0">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1791441"/>
                  </a:ext>
                </a:extLst>
              </a:tr>
              <a:tr h="414510">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Square-based pyramidal</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ClF</a:t>
                      </a:r>
                      <a:r>
                        <a:rPr lang="en-GB" baseline="-25000" dirty="0">
                          <a:solidFill>
                            <a:srgbClr val="000000"/>
                          </a:solidFill>
                        </a:rPr>
                        <a:t>5</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368157"/>
                  </a:ext>
                </a:extLst>
              </a:tr>
              <a:tr h="243829">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Octahedral</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SF</a:t>
                      </a:r>
                      <a:r>
                        <a:rPr lang="en-GB" baseline="-25000" dirty="0">
                          <a:solidFill>
                            <a:srgbClr val="000000"/>
                          </a:solidFill>
                        </a:rPr>
                        <a:t>6</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7940400"/>
                  </a:ext>
                </a:extLst>
              </a:tr>
              <a:tr h="243829">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T-shaped</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ClF</a:t>
                      </a:r>
                      <a:r>
                        <a:rPr lang="en-GB" baseline="-25000" dirty="0">
                          <a:solidFill>
                            <a:srgbClr val="000000"/>
                          </a:solidFill>
                        </a:rPr>
                        <a:t>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410321"/>
                  </a:ext>
                </a:extLst>
              </a:tr>
              <a:tr h="376468">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Square planar</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Arial"/>
                          <a:sym typeface="Arial"/>
                        </a:defRPr>
                      </a:lvl9pPr>
                    </a:lstStyle>
                    <a:p>
                      <a:pPr algn="ctr"/>
                      <a:r>
                        <a:rPr lang="en-GB" dirty="0">
                          <a:solidFill>
                            <a:srgbClr val="000000"/>
                          </a:solidFill>
                        </a:rPr>
                        <a:t>XeF</a:t>
                      </a:r>
                      <a:r>
                        <a:rPr lang="en-GB" baseline="-25000" dirty="0">
                          <a:solidFill>
                            <a:srgbClr val="000000"/>
                          </a:solidFill>
                        </a:rPr>
                        <a:t>4</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8467527"/>
                  </a:ext>
                </a:extLst>
              </a:tr>
            </a:tbl>
          </a:graphicData>
        </a:graphic>
      </p:graphicFrame>
    </p:spTree>
    <p:extLst>
      <p:ext uri="{BB962C8B-B14F-4D97-AF65-F5344CB8AC3E}">
        <p14:creationId xmlns:p14="http://schemas.microsoft.com/office/powerpoint/2010/main" val="13674930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graphicFrame>
        <p:nvGraphicFramePr>
          <p:cNvPr id="6" name="Table 5">
            <a:extLst>
              <a:ext uri="{FF2B5EF4-FFF2-40B4-BE49-F238E27FC236}">
                <a16:creationId xmlns:a16="http://schemas.microsoft.com/office/drawing/2014/main" id="{E643C8B3-4AE7-46F7-B698-8D0439AA18D6}"/>
              </a:ext>
            </a:extLst>
          </p:cNvPr>
          <p:cNvGraphicFramePr>
            <a:graphicFrameLocks noGrp="1"/>
          </p:cNvGraphicFramePr>
          <p:nvPr>
            <p:extLst>
              <p:ext uri="{D42A27DB-BD31-4B8C-83A1-F6EECF244321}">
                <p14:modId xmlns:p14="http://schemas.microsoft.com/office/powerpoint/2010/main" val="4094306493"/>
              </p:ext>
            </p:extLst>
          </p:nvPr>
        </p:nvGraphicFramePr>
        <p:xfrm>
          <a:off x="1362003" y="1928044"/>
          <a:ext cx="6245600" cy="2977380"/>
        </p:xfrm>
        <a:graphic>
          <a:graphicData uri="http://schemas.openxmlformats.org/drawingml/2006/table">
            <a:tbl>
              <a:tblPr firstRow="1" firstCol="1" bandRow="1"/>
              <a:tblGrid>
                <a:gridCol w="1061210">
                  <a:extLst>
                    <a:ext uri="{9D8B030D-6E8A-4147-A177-3AD203B41FA5}">
                      <a16:colId xmlns:a16="http://schemas.microsoft.com/office/drawing/2014/main" val="1123041254"/>
                    </a:ext>
                  </a:extLst>
                </a:gridCol>
                <a:gridCol w="2917593">
                  <a:extLst>
                    <a:ext uri="{9D8B030D-6E8A-4147-A177-3AD203B41FA5}">
                      <a16:colId xmlns:a16="http://schemas.microsoft.com/office/drawing/2014/main" val="2530458486"/>
                    </a:ext>
                  </a:extLst>
                </a:gridCol>
                <a:gridCol w="1301122">
                  <a:extLst>
                    <a:ext uri="{9D8B030D-6E8A-4147-A177-3AD203B41FA5}">
                      <a16:colId xmlns:a16="http://schemas.microsoft.com/office/drawing/2014/main" val="3357982780"/>
                    </a:ext>
                  </a:extLst>
                </a:gridCol>
                <a:gridCol w="965675">
                  <a:extLst>
                    <a:ext uri="{9D8B030D-6E8A-4147-A177-3AD203B41FA5}">
                      <a16:colId xmlns:a16="http://schemas.microsoft.com/office/drawing/2014/main" val="824850051"/>
                    </a:ext>
                  </a:extLst>
                </a:gridCol>
              </a:tblGrid>
              <a:tr h="5446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Molecular formula</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45720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Electron structure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Shape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Bond angle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59771423"/>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Arial"/>
                          <a:ea typeface="Calibri" panose="020F0502020204030204" pitchFamily="34" charset="0"/>
                          <a:cs typeface="Calibri" panose="020F0502020204030204" pitchFamily="34" charset="0"/>
                          <a:sym typeface="Arial"/>
                        </a:rPr>
                        <a:t>BF</a:t>
                      </a:r>
                      <a:r>
                        <a:rPr lang="en-IN" sz="1400" b="0" i="0" u="none" strike="noStrike" cap="none" baseline="-25000" dirty="0">
                          <a:solidFill>
                            <a:srgbClr val="000000"/>
                          </a:solidFill>
                          <a:effectLst/>
                          <a:latin typeface="Arial"/>
                          <a:ea typeface="Calibri" panose="020F0502020204030204" pitchFamily="34" charset="0"/>
                          <a:cs typeface="Calibri" panose="020F0502020204030204" pitchFamily="34" charset="0"/>
                          <a:sym typeface="Arial"/>
                        </a:rPr>
                        <a:t>3</a:t>
                      </a:r>
                      <a:endParaRPr lang="en-IN" sz="1400" b="0" i="0" u="none" strike="noStrike" cap="none" dirty="0">
                        <a:solidFill>
                          <a:srgbClr val="000000"/>
                        </a:solidFill>
                        <a:effectLst/>
                        <a:latin typeface="Arial"/>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Boron trifluoride</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Trigonal planar</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120⁰</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(F-B-F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096595"/>
                  </a:ext>
                </a:extLst>
              </a:tr>
            </a:tbl>
          </a:graphicData>
        </a:graphic>
      </p:graphicFrame>
      <p:pic>
        <p:nvPicPr>
          <p:cNvPr id="7" name="Picture 6">
            <a:extLst>
              <a:ext uri="{FF2B5EF4-FFF2-40B4-BE49-F238E27FC236}">
                <a16:creationId xmlns:a16="http://schemas.microsoft.com/office/drawing/2014/main" id="{8CEAB386-CEF9-47D5-83EC-E8DC2B44BE74}"/>
              </a:ext>
            </a:extLst>
          </p:cNvPr>
          <p:cNvPicPr/>
          <p:nvPr/>
        </p:nvPicPr>
        <p:blipFill>
          <a:blip r:embed="rId3"/>
          <a:stretch>
            <a:fillRect/>
          </a:stretch>
        </p:blipFill>
        <p:spPr>
          <a:xfrm>
            <a:off x="2818125" y="2521750"/>
            <a:ext cx="2104390" cy="2028825"/>
          </a:xfrm>
          <a:prstGeom prst="rect">
            <a:avLst/>
          </a:prstGeom>
        </p:spPr>
      </p:pic>
      <p:pic>
        <p:nvPicPr>
          <p:cNvPr id="8" name="Picture 7">
            <a:extLst>
              <a:ext uri="{FF2B5EF4-FFF2-40B4-BE49-F238E27FC236}">
                <a16:creationId xmlns:a16="http://schemas.microsoft.com/office/drawing/2014/main" id="{4A729191-E725-4B39-B651-B6CC5655796B}"/>
              </a:ext>
            </a:extLst>
          </p:cNvPr>
          <p:cNvPicPr/>
          <p:nvPr/>
        </p:nvPicPr>
        <p:blipFill>
          <a:blip r:embed="rId4"/>
          <a:stretch>
            <a:fillRect/>
          </a:stretch>
        </p:blipFill>
        <p:spPr>
          <a:xfrm>
            <a:off x="5512497" y="3028468"/>
            <a:ext cx="866140" cy="579755"/>
          </a:xfrm>
          <a:prstGeom prst="rect">
            <a:avLst/>
          </a:prstGeom>
        </p:spPr>
      </p:pic>
    </p:spTree>
    <p:extLst>
      <p:ext uri="{BB962C8B-B14F-4D97-AF65-F5344CB8AC3E}">
        <p14:creationId xmlns:p14="http://schemas.microsoft.com/office/powerpoint/2010/main" val="3256564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graphicFrame>
        <p:nvGraphicFramePr>
          <p:cNvPr id="6" name="Table 5">
            <a:extLst>
              <a:ext uri="{FF2B5EF4-FFF2-40B4-BE49-F238E27FC236}">
                <a16:creationId xmlns:a16="http://schemas.microsoft.com/office/drawing/2014/main" id="{E643C8B3-4AE7-46F7-B698-8D0439AA18D6}"/>
              </a:ext>
            </a:extLst>
          </p:cNvPr>
          <p:cNvGraphicFramePr>
            <a:graphicFrameLocks noGrp="1"/>
          </p:cNvGraphicFramePr>
          <p:nvPr>
            <p:extLst>
              <p:ext uri="{D42A27DB-BD31-4B8C-83A1-F6EECF244321}">
                <p14:modId xmlns:p14="http://schemas.microsoft.com/office/powerpoint/2010/main" val="3626113382"/>
              </p:ext>
            </p:extLst>
          </p:nvPr>
        </p:nvGraphicFramePr>
        <p:xfrm>
          <a:off x="1362002" y="1928044"/>
          <a:ext cx="6928557" cy="2977380"/>
        </p:xfrm>
        <a:graphic>
          <a:graphicData uri="http://schemas.openxmlformats.org/drawingml/2006/table">
            <a:tbl>
              <a:tblPr firstRow="1" firstCol="1" bandRow="1"/>
              <a:tblGrid>
                <a:gridCol w="1019605">
                  <a:extLst>
                    <a:ext uri="{9D8B030D-6E8A-4147-A177-3AD203B41FA5}">
                      <a16:colId xmlns:a16="http://schemas.microsoft.com/office/drawing/2014/main" val="1123041254"/>
                    </a:ext>
                  </a:extLst>
                </a:gridCol>
                <a:gridCol w="2803209">
                  <a:extLst>
                    <a:ext uri="{9D8B030D-6E8A-4147-A177-3AD203B41FA5}">
                      <a16:colId xmlns:a16="http://schemas.microsoft.com/office/drawing/2014/main" val="2530458486"/>
                    </a:ext>
                  </a:extLst>
                </a:gridCol>
                <a:gridCol w="1250111">
                  <a:extLst>
                    <a:ext uri="{9D8B030D-6E8A-4147-A177-3AD203B41FA5}">
                      <a16:colId xmlns:a16="http://schemas.microsoft.com/office/drawing/2014/main" val="3357982780"/>
                    </a:ext>
                  </a:extLst>
                </a:gridCol>
                <a:gridCol w="927816">
                  <a:extLst>
                    <a:ext uri="{9D8B030D-6E8A-4147-A177-3AD203B41FA5}">
                      <a16:colId xmlns:a16="http://schemas.microsoft.com/office/drawing/2014/main" val="824850051"/>
                    </a:ext>
                  </a:extLst>
                </a:gridCol>
                <a:gridCol w="927816">
                  <a:extLst>
                    <a:ext uri="{9D8B030D-6E8A-4147-A177-3AD203B41FA5}">
                      <a16:colId xmlns:a16="http://schemas.microsoft.com/office/drawing/2014/main" val="3580694494"/>
                    </a:ext>
                  </a:extLst>
                </a:gridCol>
              </a:tblGrid>
              <a:tr h="5446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Molecular formula</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45720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Electron structure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Shape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Bond angle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Examples</a:t>
                      </a: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59771423"/>
                  </a:ext>
                </a:extLst>
              </a:tr>
              <a:tr h="0">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Arial"/>
                          <a:ea typeface="Calibri" panose="020F0502020204030204" pitchFamily="34" charset="0"/>
                          <a:cs typeface="Calibri" panose="020F0502020204030204" pitchFamily="34" charset="0"/>
                          <a:sym typeface="Arial"/>
                        </a:rPr>
                        <a:t>BF</a:t>
                      </a:r>
                      <a:r>
                        <a:rPr lang="en-IN" sz="1400" b="0" i="0" u="none" strike="noStrike" cap="none" baseline="-25000" dirty="0">
                          <a:solidFill>
                            <a:srgbClr val="000000"/>
                          </a:solidFill>
                          <a:effectLst/>
                          <a:latin typeface="Arial"/>
                          <a:ea typeface="Calibri" panose="020F0502020204030204" pitchFamily="34" charset="0"/>
                          <a:cs typeface="Calibri" panose="020F0502020204030204" pitchFamily="34" charset="0"/>
                          <a:sym typeface="Arial"/>
                        </a:rPr>
                        <a:t>4</a:t>
                      </a:r>
                      <a:r>
                        <a:rPr lang="en-IN" sz="1400" b="0" i="0" u="none" strike="noStrike" cap="none" baseline="30000" dirty="0">
                          <a:solidFill>
                            <a:srgbClr val="000000"/>
                          </a:solidFill>
                          <a:effectLst/>
                          <a:latin typeface="Arial"/>
                          <a:ea typeface="Calibri" panose="020F0502020204030204" pitchFamily="34" charset="0"/>
                          <a:cs typeface="Calibri" panose="020F0502020204030204" pitchFamily="34" charset="0"/>
                          <a:sym typeface="Arial"/>
                        </a:rPr>
                        <a:t>-</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Boron trifluoride</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Tetrahedral</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120⁰</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(F-B-F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baseline="0" dirty="0">
                          <a:solidFill>
                            <a:srgbClr val="000000"/>
                          </a:solidFill>
                          <a:effectLst/>
                          <a:latin typeface="+mn-lt"/>
                          <a:ea typeface="Calibri" panose="020F0502020204030204" pitchFamily="34" charset="0"/>
                          <a:cs typeface="Calibri" panose="020F0502020204030204" pitchFamily="34" charset="0"/>
                          <a:sym typeface="Arial"/>
                        </a:rPr>
                        <a:t>CH</a:t>
                      </a:r>
                      <a:r>
                        <a:rPr lang="en-IN" sz="1400" b="0" i="0" u="none" strike="noStrike" cap="none" baseline="-25000" dirty="0">
                          <a:solidFill>
                            <a:srgbClr val="000000"/>
                          </a:solidFill>
                          <a:effectLst/>
                          <a:latin typeface="+mn-lt"/>
                          <a:ea typeface="Calibri" panose="020F0502020204030204" pitchFamily="34" charset="0"/>
                          <a:cs typeface="Calibri" panose="020F0502020204030204" pitchFamily="34" charset="0"/>
                          <a:sym typeface="Arial"/>
                        </a:rPr>
                        <a:t>4</a:t>
                      </a:r>
                      <a:r>
                        <a:rPr lang="en-IN" sz="1400" b="0" i="0" u="none" strike="noStrike" cap="none" baseline="0" dirty="0">
                          <a:solidFill>
                            <a:srgbClr val="000000"/>
                          </a:solidFill>
                          <a:effectLst/>
                          <a:latin typeface="+mn-lt"/>
                          <a:ea typeface="Calibri" panose="020F0502020204030204" pitchFamily="34" charset="0"/>
                          <a:cs typeface="Calibri" panose="020F0502020204030204" pitchFamily="34" charset="0"/>
                          <a:sym typeface="Arial"/>
                        </a:rPr>
                        <a:t>, NH</a:t>
                      </a:r>
                      <a:r>
                        <a:rPr lang="en-IN" sz="1400" b="0" i="0" u="none" strike="noStrike" cap="none" baseline="-25000" dirty="0">
                          <a:solidFill>
                            <a:srgbClr val="000000"/>
                          </a:solidFill>
                          <a:effectLst/>
                          <a:latin typeface="+mn-lt"/>
                          <a:ea typeface="Calibri" panose="020F0502020204030204" pitchFamily="34" charset="0"/>
                          <a:cs typeface="Calibri" panose="020F0502020204030204" pitchFamily="34" charset="0"/>
                          <a:sym typeface="Arial"/>
                        </a:rPr>
                        <a:t>4</a:t>
                      </a:r>
                      <a:r>
                        <a:rPr lang="en-IN" sz="1400" b="0" i="0" u="none" strike="noStrike" cap="none" baseline="30000" dirty="0">
                          <a:solidFill>
                            <a:srgbClr val="000000"/>
                          </a:solidFill>
                          <a:effectLst/>
                          <a:latin typeface="+mn-lt"/>
                          <a:ea typeface="Calibri" panose="020F0502020204030204" pitchFamily="34" charset="0"/>
                          <a:cs typeface="Calibri" panose="020F0502020204030204" pitchFamily="34" charset="0"/>
                          <a:sym typeface="Arial"/>
                        </a:rPr>
                        <a:t>+</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096595"/>
                  </a:ext>
                </a:extLst>
              </a:tr>
            </a:tbl>
          </a:graphicData>
        </a:graphic>
      </p:graphicFrame>
      <p:pic>
        <p:nvPicPr>
          <p:cNvPr id="2" name="Picture 1">
            <a:extLst>
              <a:ext uri="{FF2B5EF4-FFF2-40B4-BE49-F238E27FC236}">
                <a16:creationId xmlns:a16="http://schemas.microsoft.com/office/drawing/2014/main" id="{60E7D0BD-3093-4A5D-BE45-F69A4303C144}"/>
              </a:ext>
            </a:extLst>
          </p:cNvPr>
          <p:cNvPicPr>
            <a:picLocks noChangeAspect="1"/>
          </p:cNvPicPr>
          <p:nvPr/>
        </p:nvPicPr>
        <p:blipFill>
          <a:blip r:embed="rId3"/>
          <a:stretch>
            <a:fillRect/>
          </a:stretch>
        </p:blipFill>
        <p:spPr>
          <a:xfrm>
            <a:off x="2713862" y="2795056"/>
            <a:ext cx="1835284" cy="1626334"/>
          </a:xfrm>
          <a:prstGeom prst="rect">
            <a:avLst/>
          </a:prstGeom>
        </p:spPr>
      </p:pic>
      <p:pic>
        <p:nvPicPr>
          <p:cNvPr id="3" name="Picture 2">
            <a:extLst>
              <a:ext uri="{FF2B5EF4-FFF2-40B4-BE49-F238E27FC236}">
                <a16:creationId xmlns:a16="http://schemas.microsoft.com/office/drawing/2014/main" id="{DE3AD69E-DCC4-4CF0-9B39-6EB8D18EF03C}"/>
              </a:ext>
            </a:extLst>
          </p:cNvPr>
          <p:cNvPicPr>
            <a:picLocks noChangeAspect="1"/>
          </p:cNvPicPr>
          <p:nvPr/>
        </p:nvPicPr>
        <p:blipFill>
          <a:blip r:embed="rId4"/>
          <a:stretch>
            <a:fillRect/>
          </a:stretch>
        </p:blipFill>
        <p:spPr>
          <a:xfrm>
            <a:off x="5360472" y="3030713"/>
            <a:ext cx="1059380" cy="1155020"/>
          </a:xfrm>
          <a:prstGeom prst="rect">
            <a:avLst/>
          </a:prstGeom>
        </p:spPr>
      </p:pic>
    </p:spTree>
    <p:extLst>
      <p:ext uri="{BB962C8B-B14F-4D97-AF65-F5344CB8AC3E}">
        <p14:creationId xmlns:p14="http://schemas.microsoft.com/office/powerpoint/2010/main" val="31364093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69155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graphicFrame>
        <p:nvGraphicFramePr>
          <p:cNvPr id="6" name="Table 5">
            <a:extLst>
              <a:ext uri="{FF2B5EF4-FFF2-40B4-BE49-F238E27FC236}">
                <a16:creationId xmlns:a16="http://schemas.microsoft.com/office/drawing/2014/main" id="{E643C8B3-4AE7-46F7-B698-8D0439AA18D6}"/>
              </a:ext>
            </a:extLst>
          </p:cNvPr>
          <p:cNvGraphicFramePr>
            <a:graphicFrameLocks noGrp="1"/>
          </p:cNvGraphicFramePr>
          <p:nvPr>
            <p:extLst>
              <p:ext uri="{D42A27DB-BD31-4B8C-83A1-F6EECF244321}">
                <p14:modId xmlns:p14="http://schemas.microsoft.com/office/powerpoint/2010/main" val="854212089"/>
              </p:ext>
            </p:extLst>
          </p:nvPr>
        </p:nvGraphicFramePr>
        <p:xfrm>
          <a:off x="1362003" y="1928044"/>
          <a:ext cx="6245600" cy="2241288"/>
        </p:xfrm>
        <a:graphic>
          <a:graphicData uri="http://schemas.openxmlformats.org/drawingml/2006/table">
            <a:tbl>
              <a:tblPr firstRow="1" firstCol="1" bandRow="1"/>
              <a:tblGrid>
                <a:gridCol w="919101">
                  <a:extLst>
                    <a:ext uri="{9D8B030D-6E8A-4147-A177-3AD203B41FA5}">
                      <a16:colId xmlns:a16="http://schemas.microsoft.com/office/drawing/2014/main" val="1123041254"/>
                    </a:ext>
                  </a:extLst>
                </a:gridCol>
                <a:gridCol w="2526893">
                  <a:extLst>
                    <a:ext uri="{9D8B030D-6E8A-4147-A177-3AD203B41FA5}">
                      <a16:colId xmlns:a16="http://schemas.microsoft.com/office/drawing/2014/main" val="2530458486"/>
                    </a:ext>
                  </a:extLst>
                </a:gridCol>
                <a:gridCol w="1126886">
                  <a:extLst>
                    <a:ext uri="{9D8B030D-6E8A-4147-A177-3AD203B41FA5}">
                      <a16:colId xmlns:a16="http://schemas.microsoft.com/office/drawing/2014/main" val="3357982780"/>
                    </a:ext>
                  </a:extLst>
                </a:gridCol>
                <a:gridCol w="836360">
                  <a:extLst>
                    <a:ext uri="{9D8B030D-6E8A-4147-A177-3AD203B41FA5}">
                      <a16:colId xmlns:a16="http://schemas.microsoft.com/office/drawing/2014/main" val="824850051"/>
                    </a:ext>
                  </a:extLst>
                </a:gridCol>
                <a:gridCol w="836360">
                  <a:extLst>
                    <a:ext uri="{9D8B030D-6E8A-4147-A177-3AD203B41FA5}">
                      <a16:colId xmlns:a16="http://schemas.microsoft.com/office/drawing/2014/main" val="415786907"/>
                    </a:ext>
                  </a:extLst>
                </a:gridCol>
              </a:tblGrid>
              <a:tr h="5446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Molecular formula</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Electron structure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Shape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Bond angle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Times New Roman" panose="02020603050405020304" pitchFamily="18" charset="0"/>
                        </a:rPr>
                        <a:t>Example</a:t>
                      </a: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59771423"/>
                  </a:ext>
                </a:extLst>
              </a:tr>
              <a:tr h="0">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CO</a:t>
                      </a:r>
                      <a:r>
                        <a:rPr lang="en-IN" sz="1400" b="0" i="0" u="none" strike="noStrike" cap="none" baseline="-25000" dirty="0">
                          <a:solidFill>
                            <a:srgbClr val="000000"/>
                          </a:solidFill>
                          <a:effectLst/>
                          <a:latin typeface="+mn-lt"/>
                          <a:ea typeface="Calibri" panose="020F0502020204030204" pitchFamily="34" charset="0"/>
                          <a:cs typeface="Calibri" panose="020F0502020204030204" pitchFamily="34" charset="0"/>
                          <a:sym typeface="Arial"/>
                        </a:rPr>
                        <a:t>2</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Carbon dioxide</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MY"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Linear</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O=C=O</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180⁰ (O=C=O)</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mn-lt"/>
                          <a:ea typeface="Calibri" panose="020F0502020204030204" pitchFamily="34" charset="0"/>
                          <a:cs typeface="Calibri" panose="020F0502020204030204" pitchFamily="34" charset="0"/>
                          <a:sym typeface="Arial"/>
                        </a:rPr>
                        <a:t>BeCl</a:t>
                      </a:r>
                      <a:r>
                        <a:rPr kumimoji="0" lang="en-IN" sz="1400" b="0" i="0" u="none" strike="noStrike" kern="0" cap="none" spc="0" normalizeH="0" baseline="-25000" noProof="0" dirty="0">
                          <a:ln>
                            <a:noFill/>
                          </a:ln>
                          <a:solidFill>
                            <a:srgbClr val="000000"/>
                          </a:solidFill>
                          <a:effectLst/>
                          <a:uLnTx/>
                          <a:uFillTx/>
                          <a:latin typeface="+mn-lt"/>
                          <a:ea typeface="Calibri" panose="020F0502020204030204" pitchFamily="34" charset="0"/>
                          <a:cs typeface="Calibri" panose="020F0502020204030204" pitchFamily="34" charset="0"/>
                          <a:sym typeface="Arial"/>
                        </a:rPr>
                        <a:t>2</a:t>
                      </a: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096595"/>
                  </a:ext>
                </a:extLst>
              </a:tr>
            </a:tbl>
          </a:graphicData>
        </a:graphic>
      </p:graphicFrame>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8016" y="2766529"/>
            <a:ext cx="2283136" cy="1041431"/>
          </a:xfrm>
          <a:prstGeom prst="rect">
            <a:avLst/>
          </a:prstGeom>
        </p:spPr>
      </p:pic>
    </p:spTree>
    <p:extLst>
      <p:ext uri="{BB962C8B-B14F-4D97-AF65-F5344CB8AC3E}">
        <p14:creationId xmlns:p14="http://schemas.microsoft.com/office/powerpoint/2010/main" val="2612278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68520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graphicFrame>
        <p:nvGraphicFramePr>
          <p:cNvPr id="6" name="Table 5">
            <a:extLst>
              <a:ext uri="{FF2B5EF4-FFF2-40B4-BE49-F238E27FC236}">
                <a16:creationId xmlns:a16="http://schemas.microsoft.com/office/drawing/2014/main" id="{E643C8B3-4AE7-46F7-B698-8D0439AA18D6}"/>
              </a:ext>
            </a:extLst>
          </p:cNvPr>
          <p:cNvGraphicFramePr>
            <a:graphicFrameLocks noGrp="1"/>
          </p:cNvGraphicFramePr>
          <p:nvPr>
            <p:extLst>
              <p:ext uri="{D42A27DB-BD31-4B8C-83A1-F6EECF244321}">
                <p14:modId xmlns:p14="http://schemas.microsoft.com/office/powerpoint/2010/main" val="1491888741"/>
              </p:ext>
            </p:extLst>
          </p:nvPr>
        </p:nvGraphicFramePr>
        <p:xfrm>
          <a:off x="1362003" y="1928044"/>
          <a:ext cx="6245600" cy="2486652"/>
        </p:xfrm>
        <a:graphic>
          <a:graphicData uri="http://schemas.openxmlformats.org/drawingml/2006/table">
            <a:tbl>
              <a:tblPr firstRow="1" firstCol="1" bandRow="1"/>
              <a:tblGrid>
                <a:gridCol w="1061210">
                  <a:extLst>
                    <a:ext uri="{9D8B030D-6E8A-4147-A177-3AD203B41FA5}">
                      <a16:colId xmlns:a16="http://schemas.microsoft.com/office/drawing/2014/main" val="1123041254"/>
                    </a:ext>
                  </a:extLst>
                </a:gridCol>
                <a:gridCol w="2917593">
                  <a:extLst>
                    <a:ext uri="{9D8B030D-6E8A-4147-A177-3AD203B41FA5}">
                      <a16:colId xmlns:a16="http://schemas.microsoft.com/office/drawing/2014/main" val="2530458486"/>
                    </a:ext>
                  </a:extLst>
                </a:gridCol>
                <a:gridCol w="1301122">
                  <a:extLst>
                    <a:ext uri="{9D8B030D-6E8A-4147-A177-3AD203B41FA5}">
                      <a16:colId xmlns:a16="http://schemas.microsoft.com/office/drawing/2014/main" val="3357982780"/>
                    </a:ext>
                  </a:extLst>
                </a:gridCol>
                <a:gridCol w="965675">
                  <a:extLst>
                    <a:ext uri="{9D8B030D-6E8A-4147-A177-3AD203B41FA5}">
                      <a16:colId xmlns:a16="http://schemas.microsoft.com/office/drawing/2014/main" val="824850051"/>
                    </a:ext>
                  </a:extLst>
                </a:gridCol>
              </a:tblGrid>
              <a:tr h="5446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Molecular formula</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Electron structure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Shape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Bond angle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59771423"/>
                  </a:ext>
                </a:extLst>
              </a:tr>
              <a:tr h="0">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SF</a:t>
                      </a:r>
                      <a:r>
                        <a:rPr lang="en-IN" sz="1400" b="0" i="0" u="none" strike="noStrike" cap="none" baseline="-25000" dirty="0">
                          <a:solidFill>
                            <a:srgbClr val="000000"/>
                          </a:solidFill>
                          <a:effectLst/>
                          <a:latin typeface="+mn-lt"/>
                          <a:ea typeface="Calibri" panose="020F0502020204030204" pitchFamily="34" charset="0"/>
                          <a:cs typeface="Calibri" panose="020F0502020204030204" pitchFamily="34" charset="0"/>
                          <a:sym typeface="Arial"/>
                        </a:rPr>
                        <a:t>6</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Sulphur hexafluoride</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octahedral</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90⁰</a:t>
                      </a: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(F-S-F)</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096595"/>
                  </a:ext>
                </a:extLst>
              </a:tr>
            </a:tbl>
          </a:graphicData>
        </a:graphic>
      </p:graphicFrame>
      <p:pic>
        <p:nvPicPr>
          <p:cNvPr id="5" name="Picture 4">
            <a:extLst>
              <a:ext uri="{FF2B5EF4-FFF2-40B4-BE49-F238E27FC236}">
                <a16:creationId xmlns:a16="http://schemas.microsoft.com/office/drawing/2014/main" id="{618AED98-267F-42F6-8903-CEC7B36667D5}"/>
              </a:ext>
            </a:extLst>
          </p:cNvPr>
          <p:cNvPicPr/>
          <p:nvPr/>
        </p:nvPicPr>
        <p:blipFill>
          <a:blip r:embed="rId3"/>
          <a:stretch>
            <a:fillRect/>
          </a:stretch>
        </p:blipFill>
        <p:spPr>
          <a:xfrm>
            <a:off x="3045258" y="2571750"/>
            <a:ext cx="1439545" cy="1528445"/>
          </a:xfrm>
          <a:prstGeom prst="rect">
            <a:avLst/>
          </a:prstGeom>
        </p:spPr>
      </p:pic>
      <p:pic>
        <p:nvPicPr>
          <p:cNvPr id="7" name="Picture 6">
            <a:extLst>
              <a:ext uri="{FF2B5EF4-FFF2-40B4-BE49-F238E27FC236}">
                <a16:creationId xmlns:a16="http://schemas.microsoft.com/office/drawing/2014/main" id="{2CFC9C90-6F5D-4B1F-A750-8FA9665C7C8B}"/>
              </a:ext>
            </a:extLst>
          </p:cNvPr>
          <p:cNvPicPr/>
          <p:nvPr/>
        </p:nvPicPr>
        <p:blipFill>
          <a:blip r:embed="rId4"/>
          <a:stretch>
            <a:fillRect/>
          </a:stretch>
        </p:blipFill>
        <p:spPr>
          <a:xfrm>
            <a:off x="5615993" y="2873103"/>
            <a:ext cx="684530" cy="755015"/>
          </a:xfrm>
          <a:prstGeom prst="rect">
            <a:avLst/>
          </a:prstGeom>
        </p:spPr>
      </p:pic>
    </p:spTree>
    <p:extLst>
      <p:ext uri="{BB962C8B-B14F-4D97-AF65-F5344CB8AC3E}">
        <p14:creationId xmlns:p14="http://schemas.microsoft.com/office/powerpoint/2010/main" val="4011564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68520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Shape of simple molecules and ions</a:t>
            </a:r>
            <a:endParaRPr dirty="0">
              <a:latin typeface="Calibri" panose="020F0502020204030204" pitchFamily="34" charset="0"/>
            </a:endParaRPr>
          </a:p>
        </p:txBody>
      </p:sp>
      <p:graphicFrame>
        <p:nvGraphicFramePr>
          <p:cNvPr id="6" name="Table 5">
            <a:extLst>
              <a:ext uri="{FF2B5EF4-FFF2-40B4-BE49-F238E27FC236}">
                <a16:creationId xmlns:a16="http://schemas.microsoft.com/office/drawing/2014/main" id="{E643C8B3-4AE7-46F7-B698-8D0439AA18D6}"/>
              </a:ext>
            </a:extLst>
          </p:cNvPr>
          <p:cNvGraphicFramePr>
            <a:graphicFrameLocks noGrp="1"/>
          </p:cNvGraphicFramePr>
          <p:nvPr>
            <p:extLst>
              <p:ext uri="{D42A27DB-BD31-4B8C-83A1-F6EECF244321}">
                <p14:modId xmlns:p14="http://schemas.microsoft.com/office/powerpoint/2010/main" val="1301599250"/>
              </p:ext>
            </p:extLst>
          </p:nvPr>
        </p:nvGraphicFramePr>
        <p:xfrm>
          <a:off x="848299" y="1928044"/>
          <a:ext cx="6759304" cy="2486652"/>
        </p:xfrm>
        <a:graphic>
          <a:graphicData uri="http://schemas.openxmlformats.org/drawingml/2006/table">
            <a:tbl>
              <a:tblPr firstRow="1" firstCol="1" bandRow="1"/>
              <a:tblGrid>
                <a:gridCol w="1148495">
                  <a:extLst>
                    <a:ext uri="{9D8B030D-6E8A-4147-A177-3AD203B41FA5}">
                      <a16:colId xmlns:a16="http://schemas.microsoft.com/office/drawing/2014/main" val="1123041254"/>
                    </a:ext>
                  </a:extLst>
                </a:gridCol>
                <a:gridCol w="3157567">
                  <a:extLst>
                    <a:ext uri="{9D8B030D-6E8A-4147-A177-3AD203B41FA5}">
                      <a16:colId xmlns:a16="http://schemas.microsoft.com/office/drawing/2014/main" val="2530458486"/>
                    </a:ext>
                  </a:extLst>
                </a:gridCol>
                <a:gridCol w="1408140">
                  <a:extLst>
                    <a:ext uri="{9D8B030D-6E8A-4147-A177-3AD203B41FA5}">
                      <a16:colId xmlns:a16="http://schemas.microsoft.com/office/drawing/2014/main" val="3357982780"/>
                    </a:ext>
                  </a:extLst>
                </a:gridCol>
                <a:gridCol w="1045102">
                  <a:extLst>
                    <a:ext uri="{9D8B030D-6E8A-4147-A177-3AD203B41FA5}">
                      <a16:colId xmlns:a16="http://schemas.microsoft.com/office/drawing/2014/main" val="824850051"/>
                    </a:ext>
                  </a:extLst>
                </a:gridCol>
              </a:tblGrid>
              <a:tr h="544631">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Molecular formula</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45720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Electron structure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Shape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tx1"/>
                          </a:solidFill>
                          <a:latin typeface="Arial"/>
                          <a:sym typeface="Arial"/>
                        </a:defRPr>
                      </a:lvl9pPr>
                    </a:lstStyle>
                    <a:p>
                      <a:pPr marL="0" indent="0" algn="ctr">
                        <a:lnSpc>
                          <a:spcPct val="115000"/>
                        </a:lnSpc>
                        <a:spcAft>
                          <a:spcPts val="0"/>
                        </a:spcAft>
                      </a:pPr>
                      <a:r>
                        <a:rPr lang="en-IN" sz="1400" b="0" dirty="0">
                          <a:solidFill>
                            <a:schemeClr val="bg1"/>
                          </a:solidFill>
                          <a:effectLst/>
                          <a:latin typeface="+mn-lt"/>
                          <a:ea typeface="Calibri" panose="020F0502020204030204" pitchFamily="34" charset="0"/>
                          <a:cs typeface="Calibri" panose="020F0502020204030204" pitchFamily="34" charset="0"/>
                        </a:rPr>
                        <a:t>Bond angle</a:t>
                      </a:r>
                      <a:endParaRPr lang="en-IN" sz="1400" b="0" dirty="0">
                        <a:solidFill>
                          <a:schemeClr val="bg1"/>
                        </a:solidFill>
                        <a:effectLst/>
                        <a:latin typeface="+mn-lt"/>
                        <a:ea typeface="Calibri" panose="020F0502020204030204" pitchFamily="34" charset="0"/>
                        <a:cs typeface="Times New Roman" panose="02020603050405020304" pitchFamily="18" charset="0"/>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159771423"/>
                  </a:ext>
                </a:extLst>
              </a:tr>
              <a:tr h="0">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PF</a:t>
                      </a:r>
                      <a:r>
                        <a:rPr lang="en-IN" sz="1400" b="0" i="0" u="none" strike="noStrike" cap="none" baseline="-25000" dirty="0">
                          <a:solidFill>
                            <a:srgbClr val="000000"/>
                          </a:solidFill>
                          <a:effectLst/>
                          <a:latin typeface="+mn-lt"/>
                          <a:ea typeface="Calibri" panose="020F0502020204030204" pitchFamily="34" charset="0"/>
                          <a:cs typeface="Calibri" panose="020F0502020204030204" pitchFamily="34" charset="0"/>
                          <a:sym typeface="Arial"/>
                        </a:rPr>
                        <a:t>5</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Phosphorous </a:t>
                      </a:r>
                      <a:r>
                        <a:rPr lang="en-IN" sz="1400" b="0" i="0" u="none" strike="noStrike" cap="none" dirty="0" err="1">
                          <a:solidFill>
                            <a:srgbClr val="000000"/>
                          </a:solidFill>
                          <a:effectLst/>
                          <a:latin typeface="+mn-lt"/>
                          <a:ea typeface="Calibri" panose="020F0502020204030204" pitchFamily="34" charset="0"/>
                          <a:cs typeface="Calibri" panose="020F0502020204030204" pitchFamily="34" charset="0"/>
                          <a:sym typeface="Arial"/>
                        </a:rPr>
                        <a:t>pentafluoride</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txBody>
                  <a:tcPr marL="40922" marR="4092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Trigonal </a:t>
                      </a:r>
                      <a:r>
                        <a:rPr lang="en-IN" sz="1400" b="0" i="0" u="none" strike="noStrike" cap="none" dirty="0" err="1">
                          <a:solidFill>
                            <a:srgbClr val="000000"/>
                          </a:solidFill>
                          <a:effectLst/>
                          <a:latin typeface="+mn-lt"/>
                          <a:ea typeface="Calibri" panose="020F0502020204030204" pitchFamily="34" charset="0"/>
                          <a:cs typeface="Calibri" panose="020F0502020204030204" pitchFamily="34" charset="0"/>
                          <a:sym typeface="Arial"/>
                        </a:rPr>
                        <a:t>bipyramidal</a:t>
                      </a:r>
                      <a:endPar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endParaRPr>
                    </a:p>
                    <a:p>
                      <a:pPr marL="0" marR="0" indent="0" algn="ctr" rtl="0">
                        <a:lnSpc>
                          <a:spcPct val="115000"/>
                        </a:lnSpc>
                        <a:spcBef>
                          <a:spcPts val="0"/>
                        </a:spcBef>
                        <a:spcAft>
                          <a:spcPts val="0"/>
                        </a:spcAft>
                        <a:buClr>
                          <a:srgbClr val="000000"/>
                        </a:buClr>
                        <a:buFont typeface="Arial"/>
                      </a:pPr>
                      <a:r>
                        <a:rPr lang="en-IN" sz="1400" b="0" i="0" u="none" strike="noStrike" cap="none" dirty="0">
                          <a:solidFill>
                            <a:srgbClr val="000000"/>
                          </a:solidFill>
                          <a:effectLst/>
                          <a:latin typeface="+mn-lt"/>
                          <a:ea typeface="Calibri" panose="020F0502020204030204" pitchFamily="34" charset="0"/>
                          <a:cs typeface="Calibri" panose="020F0502020204030204" pitchFamily="34" charset="0"/>
                          <a:sym typeface="Arial"/>
                        </a:rPr>
                        <a:t> </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15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000000"/>
                          </a:solidFill>
                          <a:effectLst/>
                          <a:uLnTx/>
                          <a:uFillTx/>
                          <a:latin typeface="+mn-lt"/>
                          <a:ea typeface="Calibri" panose="020F0502020204030204" pitchFamily="34" charset="0"/>
                          <a:cs typeface="Calibri" panose="020F0502020204030204" pitchFamily="34" charset="0"/>
                          <a:sym typeface="Arial"/>
                        </a:rPr>
                        <a:t>120⁰ and 90⁰</a:t>
                      </a:r>
                    </a:p>
                  </a:txBody>
                  <a:tcPr marL="40922" marR="409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7096595"/>
                  </a:ext>
                </a:extLst>
              </a:tr>
            </a:tbl>
          </a:graphicData>
        </a:graphic>
      </p:graphicFrame>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9816" y="2544799"/>
            <a:ext cx="1796082" cy="1748721"/>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94857" y="3143165"/>
            <a:ext cx="1106671" cy="1150355"/>
          </a:xfrm>
          <a:prstGeom prst="rect">
            <a:avLst/>
          </a:prstGeom>
        </p:spPr>
      </p:pic>
    </p:spTree>
    <p:extLst>
      <p:ext uri="{BB962C8B-B14F-4D97-AF65-F5344CB8AC3E}">
        <p14:creationId xmlns:p14="http://schemas.microsoft.com/office/powerpoint/2010/main" val="3931513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More shapes</a:t>
            </a:r>
            <a:endParaRPr dirty="0">
              <a:latin typeface="Calibri" panose="020F0502020204030204" pitchFamily="34" charset="0"/>
            </a:endParaRPr>
          </a:p>
        </p:txBody>
      </p:sp>
      <p:sp>
        <p:nvSpPr>
          <p:cNvPr id="2" name="Google Shape;118;p26">
            <a:extLst>
              <a:ext uri="{FF2B5EF4-FFF2-40B4-BE49-F238E27FC236}">
                <a16:creationId xmlns:a16="http://schemas.microsoft.com/office/drawing/2014/main" id="{30C9A4C7-4AB1-45F5-8D83-1FEA72A28E4E}"/>
              </a:ext>
            </a:extLst>
          </p:cNvPr>
          <p:cNvSpPr txBox="1"/>
          <p:nvPr/>
        </p:nvSpPr>
        <p:spPr>
          <a:xfrm>
            <a:off x="795261" y="1643185"/>
            <a:ext cx="3776739" cy="2492100"/>
          </a:xfrm>
          <a:prstGeom prst="rect">
            <a:avLst/>
          </a:prstGeom>
          <a:noFill/>
          <a:ln>
            <a:noFill/>
          </a:ln>
        </p:spPr>
        <p:txBody>
          <a:bodyPr spcFirstLastPara="1" wrap="square" lIns="91425" tIns="91425" rIns="91425" bIns="91425" anchor="t" anchorCtr="0">
            <a:noAutofit/>
          </a:bodyPr>
          <a:lstStyle/>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Consider the molecule BrF</a:t>
            </a:r>
            <a:r>
              <a:rPr kumimoji="0" lang="en-MY" sz="1400" b="0" i="0" u="none" strike="noStrike" kern="0" cap="none" spc="0" normalizeH="0" baseline="-25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3</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the outermost configuration in Br is 4s</a:t>
            </a:r>
            <a:r>
              <a:rPr kumimoji="0" lang="en-MY" sz="1400" b="0" i="0" u="none" strike="noStrike" kern="0" cap="none" spc="0" normalizeH="0" baseline="30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2</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4p</a:t>
            </a:r>
            <a:r>
              <a:rPr kumimoji="0" lang="en-MY" sz="1400" b="0" i="0" u="none" strike="noStrike" kern="0" cap="none" spc="0" normalizeH="0" baseline="30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5</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It requires an electron to reach stable state. </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As a result, BrF</a:t>
            </a:r>
            <a:r>
              <a:rPr kumimoji="0" lang="en-MY" sz="1400" b="0" i="0" u="none" strike="noStrike" kern="0" cap="none" spc="0" normalizeH="0" baseline="-25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5</a:t>
            </a:r>
            <a:r>
              <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has 3 bonding pair of electrons and 2 lone pair of electrons. </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5 pair of electrons result in a trigonal bipyramidal shape. </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In this case, due to the repulsion between the lone pair of electrons, the angle 90˚ between the bonding pairs is reduced to 86˚.</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The angle between the lone pair of electrons is 120˚. This shape is called as the T-shape.</a:t>
            </a:r>
            <a:endParaRPr kumimoji="0" lang="en-MY"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endParaRPr>
          </a:p>
        </p:txBody>
      </p:sp>
      <p:pic>
        <p:nvPicPr>
          <p:cNvPr id="4" name="Picture 3">
            <a:extLst>
              <a:ext uri="{FF2B5EF4-FFF2-40B4-BE49-F238E27FC236}">
                <a16:creationId xmlns:a16="http://schemas.microsoft.com/office/drawing/2014/main" id="{7B8770BC-5BC3-4210-BFD4-B243EE6825A7}"/>
              </a:ext>
            </a:extLst>
          </p:cNvPr>
          <p:cNvPicPr>
            <a:picLocks noChangeAspect="1"/>
          </p:cNvPicPr>
          <p:nvPr/>
        </p:nvPicPr>
        <p:blipFill>
          <a:blip r:embed="rId3"/>
          <a:stretch>
            <a:fillRect/>
          </a:stretch>
        </p:blipFill>
        <p:spPr>
          <a:xfrm>
            <a:off x="4687742" y="2194074"/>
            <a:ext cx="3839226" cy="2243762"/>
          </a:xfrm>
          <a:prstGeom prst="rect">
            <a:avLst/>
          </a:prstGeom>
        </p:spPr>
      </p:pic>
    </p:spTree>
    <p:extLst>
      <p:ext uri="{BB962C8B-B14F-4D97-AF65-F5344CB8AC3E}">
        <p14:creationId xmlns:p14="http://schemas.microsoft.com/office/powerpoint/2010/main" val="780501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More shapes</a:t>
            </a:r>
            <a:endParaRPr dirty="0">
              <a:latin typeface="Calibri" panose="020F0502020204030204" pitchFamily="34" charset="0"/>
            </a:endParaRPr>
          </a:p>
        </p:txBody>
      </p:sp>
      <p:sp>
        <p:nvSpPr>
          <p:cNvPr id="2" name="Google Shape;118;p26">
            <a:extLst>
              <a:ext uri="{FF2B5EF4-FFF2-40B4-BE49-F238E27FC236}">
                <a16:creationId xmlns:a16="http://schemas.microsoft.com/office/drawing/2014/main" id="{30C9A4C7-4AB1-45F5-8D83-1FEA72A28E4E}"/>
              </a:ext>
            </a:extLst>
          </p:cNvPr>
          <p:cNvSpPr txBox="1"/>
          <p:nvPr/>
        </p:nvSpPr>
        <p:spPr>
          <a:xfrm>
            <a:off x="795261" y="2069905"/>
            <a:ext cx="3776739" cy="2492100"/>
          </a:xfrm>
          <a:prstGeom prst="rect">
            <a:avLst/>
          </a:prstGeom>
          <a:noFill/>
          <a:ln>
            <a:noFill/>
          </a:ln>
        </p:spPr>
        <p:txBody>
          <a:bodyPr spcFirstLastPara="1" wrap="square" lIns="91425" tIns="91425" rIns="91425" bIns="91425" anchor="t" anchorCtr="0">
            <a:noAutofit/>
          </a:bodyPr>
          <a:lstStyle/>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lang="en-MY" dirty="0">
                <a:latin typeface="+mj-lt"/>
              </a:rPr>
              <a:t>The shape of BrF</a:t>
            </a:r>
            <a:r>
              <a:rPr lang="en-MY" baseline="-25000" dirty="0">
                <a:latin typeface="+mj-lt"/>
              </a:rPr>
              <a:t>2</a:t>
            </a:r>
            <a:r>
              <a:rPr lang="en-MY" baseline="30000" dirty="0">
                <a:latin typeface="+mj-lt"/>
              </a:rPr>
              <a:t>+</a:t>
            </a:r>
            <a:r>
              <a:rPr lang="en-MY" dirty="0">
                <a:latin typeface="+mj-lt"/>
              </a:rPr>
              <a:t> and BrF</a:t>
            </a:r>
            <a:r>
              <a:rPr lang="en-MY" baseline="-25000" dirty="0">
                <a:latin typeface="+mj-lt"/>
              </a:rPr>
              <a:t>4</a:t>
            </a:r>
            <a:r>
              <a:rPr lang="en-MY" baseline="30000" dirty="0">
                <a:latin typeface="+mj-lt"/>
              </a:rPr>
              <a:t>- </a:t>
            </a:r>
            <a:r>
              <a:rPr lang="en-MY" dirty="0">
                <a:latin typeface="+mj-lt"/>
              </a:rPr>
              <a:t>is given below.</a:t>
            </a:r>
          </a:p>
          <a:p>
            <a:pPr marL="285750" indent="-285750" algn="just">
              <a:lnSpc>
                <a:spcPct val="113000"/>
              </a:lnSpc>
              <a:spcBef>
                <a:spcPts val="600"/>
              </a:spcBef>
              <a:buClr>
                <a:srgbClr val="434343"/>
              </a:buClr>
              <a:buSzPts val="1600"/>
              <a:buFont typeface="Arial" panose="020B0604020202020204" pitchFamily="34" charset="0"/>
              <a:buChar char="•"/>
              <a:defRPr/>
            </a:pPr>
            <a:r>
              <a:rPr kumimoji="0" lang="en-US" sz="1400" b="0" i="0" u="none" strike="noStrike" kern="0" cap="none" spc="0" normalizeH="0" baseline="0" noProof="0" dirty="0">
                <a:ln>
                  <a:noFill/>
                </a:ln>
                <a:effectLst/>
                <a:uLnTx/>
                <a:uFillTx/>
                <a:latin typeface="Arial"/>
                <a:ea typeface="Roboto Condensed"/>
                <a:sym typeface="Roboto Condensed"/>
              </a:rPr>
              <a:t>In BrF</a:t>
            </a:r>
            <a:r>
              <a:rPr kumimoji="0" lang="en-US" sz="1400" b="0" i="0" u="none" strike="noStrike" kern="0" cap="none" spc="0" normalizeH="0" baseline="-25000" noProof="0" dirty="0">
                <a:ln>
                  <a:noFill/>
                </a:ln>
                <a:effectLst/>
                <a:uLnTx/>
                <a:uFillTx/>
                <a:latin typeface="Arial"/>
                <a:ea typeface="Roboto Condensed"/>
                <a:sym typeface="Roboto Condensed"/>
              </a:rPr>
              <a:t>2</a:t>
            </a:r>
            <a:r>
              <a:rPr kumimoji="0" lang="en-US" sz="1400" b="0" i="0" u="none" strike="noStrike" kern="0" cap="none" spc="0" normalizeH="0" baseline="30000" noProof="0" dirty="0">
                <a:ln>
                  <a:noFill/>
                </a:ln>
                <a:effectLst/>
                <a:uLnTx/>
                <a:uFillTx/>
                <a:latin typeface="Arial"/>
                <a:ea typeface="Roboto Condensed"/>
                <a:sym typeface="Roboto Condensed"/>
              </a:rPr>
              <a:t>+</a:t>
            </a:r>
            <a:r>
              <a:rPr kumimoji="0" lang="en-US" sz="1400" b="0" i="0" u="none" strike="noStrike" kern="0" cap="none" spc="0" normalizeH="0" baseline="0" noProof="0" dirty="0">
                <a:ln>
                  <a:noFill/>
                </a:ln>
                <a:effectLst/>
                <a:uLnTx/>
                <a:uFillTx/>
                <a:latin typeface="Arial"/>
                <a:ea typeface="Roboto Condensed"/>
                <a:sym typeface="Roboto Condensed"/>
              </a:rPr>
              <a:t>, there are 2 bonding pairs and 2 lone pairs of electrons, forming a tetrahedral shape. </a:t>
            </a:r>
          </a:p>
          <a:p>
            <a:pPr marL="285750" indent="-285750" algn="just">
              <a:lnSpc>
                <a:spcPct val="113000"/>
              </a:lnSpc>
              <a:spcBef>
                <a:spcPts val="600"/>
              </a:spcBef>
              <a:buClr>
                <a:srgbClr val="434343"/>
              </a:buClr>
              <a:buSzPts val="1600"/>
              <a:buFont typeface="Arial" panose="020B0604020202020204" pitchFamily="34" charset="0"/>
              <a:buChar char="•"/>
              <a:defRPr/>
            </a:pPr>
            <a:r>
              <a:rPr kumimoji="0" lang="en-US" sz="1400" b="0" i="0" u="none" strike="noStrike" kern="0" cap="none" spc="0" normalizeH="0" baseline="0" noProof="0" dirty="0">
                <a:ln>
                  <a:noFill/>
                </a:ln>
                <a:effectLst/>
                <a:uLnTx/>
                <a:uFillTx/>
                <a:latin typeface="Arial"/>
                <a:ea typeface="Roboto Condensed"/>
                <a:sym typeface="Roboto Condensed"/>
              </a:rPr>
              <a:t>In BrF</a:t>
            </a:r>
            <a:r>
              <a:rPr kumimoji="0" lang="en-US" sz="1400" b="0" i="0" u="none" strike="noStrike" kern="0" cap="none" spc="0" normalizeH="0" baseline="-25000" noProof="0" dirty="0">
                <a:ln>
                  <a:noFill/>
                </a:ln>
                <a:effectLst/>
                <a:uLnTx/>
                <a:uFillTx/>
                <a:latin typeface="Arial"/>
                <a:ea typeface="Roboto Condensed"/>
                <a:sym typeface="Roboto Condensed"/>
              </a:rPr>
              <a:t>4</a:t>
            </a:r>
            <a:r>
              <a:rPr kumimoji="0" lang="en-US" sz="1400" b="0" i="0" u="none" strike="noStrike" kern="0" cap="none" spc="0" normalizeH="0" baseline="30000" noProof="0" dirty="0">
                <a:ln>
                  <a:noFill/>
                </a:ln>
                <a:effectLst/>
                <a:uLnTx/>
                <a:uFillTx/>
                <a:latin typeface="Arial"/>
                <a:ea typeface="Roboto Condensed"/>
                <a:sym typeface="Roboto Condensed"/>
              </a:rPr>
              <a:t>-</a:t>
            </a:r>
            <a:r>
              <a:rPr kumimoji="0" lang="en-US" sz="1400" b="0" i="0" u="none" strike="noStrike" kern="0" cap="none" spc="0" normalizeH="0" baseline="0" noProof="0" dirty="0">
                <a:ln>
                  <a:noFill/>
                </a:ln>
                <a:effectLst/>
                <a:uLnTx/>
                <a:uFillTx/>
                <a:latin typeface="Arial"/>
                <a:ea typeface="Roboto Condensed"/>
                <a:sym typeface="Roboto Condensed"/>
              </a:rPr>
              <a:t>, there are 4 bonding pairs and 2 lone pair of electrons forming a square planar shape. </a:t>
            </a:r>
          </a:p>
          <a:p>
            <a:pPr marL="285750" indent="-285750" algn="just">
              <a:lnSpc>
                <a:spcPct val="113000"/>
              </a:lnSpc>
              <a:spcBef>
                <a:spcPts val="600"/>
              </a:spcBef>
              <a:buClr>
                <a:srgbClr val="434343"/>
              </a:buClr>
              <a:buSzPts val="1600"/>
              <a:buFont typeface="Arial" panose="020B0604020202020204" pitchFamily="34" charset="0"/>
              <a:buChar char="•"/>
              <a:defRPr/>
            </a:pPr>
            <a:r>
              <a:rPr kumimoji="0" lang="en-US" sz="1400" b="0" i="0" u="none" strike="noStrike" kern="0" cap="none" spc="0" normalizeH="0" baseline="0" noProof="0" dirty="0">
                <a:ln>
                  <a:noFill/>
                </a:ln>
                <a:effectLst/>
                <a:uLnTx/>
                <a:uFillTx/>
                <a:latin typeface="Arial"/>
                <a:ea typeface="Roboto Condensed"/>
                <a:sym typeface="Roboto Condensed"/>
              </a:rPr>
              <a:t>In square planar shape, the bond angle is 90˚.</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endParaRPr kumimoji="0" lang="en-MY" sz="1400" b="0" i="0" u="none" strike="noStrike" kern="0" cap="none" spc="0" normalizeH="0" baseline="0" noProof="0" dirty="0">
              <a:ln>
                <a:noFill/>
              </a:ln>
              <a:effectLst/>
              <a:uLnTx/>
              <a:uFillTx/>
              <a:latin typeface="Calibri" panose="020F0502020204030204" pitchFamily="34" charset="0"/>
              <a:ea typeface="Roboto Condensed"/>
              <a:cs typeface="Calibri" panose="020F0502020204030204" pitchFamily="34" charset="0"/>
              <a:sym typeface="Roboto Condensed"/>
            </a:endParaRPr>
          </a:p>
        </p:txBody>
      </p:sp>
      <p:pic>
        <p:nvPicPr>
          <p:cNvPr id="3" name="Picture 2">
            <a:extLst>
              <a:ext uri="{FF2B5EF4-FFF2-40B4-BE49-F238E27FC236}">
                <a16:creationId xmlns:a16="http://schemas.microsoft.com/office/drawing/2014/main" id="{C2C414B4-7234-4A5F-80F9-A6706B6E9651}"/>
              </a:ext>
            </a:extLst>
          </p:cNvPr>
          <p:cNvPicPr>
            <a:picLocks noChangeAspect="1"/>
          </p:cNvPicPr>
          <p:nvPr/>
        </p:nvPicPr>
        <p:blipFill>
          <a:blip r:embed="rId3"/>
          <a:stretch>
            <a:fillRect/>
          </a:stretch>
        </p:blipFill>
        <p:spPr>
          <a:xfrm>
            <a:off x="4803194" y="2414016"/>
            <a:ext cx="3969638" cy="2029146"/>
          </a:xfrm>
          <a:prstGeom prst="rect">
            <a:avLst/>
          </a:prstGeom>
        </p:spPr>
      </p:pic>
    </p:spTree>
    <p:extLst>
      <p:ext uri="{BB962C8B-B14F-4D97-AF65-F5344CB8AC3E}">
        <p14:creationId xmlns:p14="http://schemas.microsoft.com/office/powerpoint/2010/main" val="3240707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More shapes</a:t>
            </a:r>
            <a:endParaRPr dirty="0">
              <a:latin typeface="Calibri" panose="020F0502020204030204" pitchFamily="34" charset="0"/>
            </a:endParaRPr>
          </a:p>
        </p:txBody>
      </p:sp>
      <p:sp>
        <p:nvSpPr>
          <p:cNvPr id="2" name="Google Shape;118;p26">
            <a:extLst>
              <a:ext uri="{FF2B5EF4-FFF2-40B4-BE49-F238E27FC236}">
                <a16:creationId xmlns:a16="http://schemas.microsoft.com/office/drawing/2014/main" id="{30C9A4C7-4AB1-45F5-8D83-1FEA72A28E4E}"/>
              </a:ext>
            </a:extLst>
          </p:cNvPr>
          <p:cNvSpPr txBox="1"/>
          <p:nvPr/>
        </p:nvSpPr>
        <p:spPr>
          <a:xfrm>
            <a:off x="864142" y="2058475"/>
            <a:ext cx="3391769" cy="2492100"/>
          </a:xfrm>
          <a:prstGeom prst="rect">
            <a:avLst/>
          </a:prstGeom>
          <a:noFill/>
          <a:ln>
            <a:noFill/>
          </a:ln>
        </p:spPr>
        <p:txBody>
          <a:bodyPr spcFirstLastPara="1" wrap="square" lIns="91425" tIns="91425" rIns="91425" bIns="91425" anchor="t" anchorCtr="0">
            <a:noAutofit/>
          </a:bodyPr>
          <a:lstStyle/>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The shape of the XeF</a:t>
            </a:r>
            <a:r>
              <a:rPr kumimoji="0" lang="en-US" sz="1400" b="0" i="0" u="none" strike="noStrike" kern="0" cap="none" spc="0" normalizeH="0" baseline="-25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2</a:t>
            </a: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(3 lone pairs and 2 bonding pairs) is given. </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The bonding angle is 180˚</a:t>
            </a:r>
          </a:p>
        </p:txBody>
      </p:sp>
      <p:pic>
        <p:nvPicPr>
          <p:cNvPr id="4" name="Picture 3">
            <a:extLst>
              <a:ext uri="{FF2B5EF4-FFF2-40B4-BE49-F238E27FC236}">
                <a16:creationId xmlns:a16="http://schemas.microsoft.com/office/drawing/2014/main" id="{A84ED9D7-9231-4978-952E-07211235D986}"/>
              </a:ext>
            </a:extLst>
          </p:cNvPr>
          <p:cNvPicPr>
            <a:picLocks noChangeAspect="1"/>
          </p:cNvPicPr>
          <p:nvPr/>
        </p:nvPicPr>
        <p:blipFill>
          <a:blip r:embed="rId3"/>
          <a:stretch>
            <a:fillRect/>
          </a:stretch>
        </p:blipFill>
        <p:spPr>
          <a:xfrm>
            <a:off x="1865119" y="3197708"/>
            <a:ext cx="1389814" cy="1450854"/>
          </a:xfrm>
          <a:prstGeom prst="rect">
            <a:avLst/>
          </a:prstGeom>
        </p:spPr>
      </p:pic>
      <p:sp>
        <p:nvSpPr>
          <p:cNvPr id="5" name="Google Shape;118;p26">
            <a:extLst>
              <a:ext uri="{FF2B5EF4-FFF2-40B4-BE49-F238E27FC236}">
                <a16:creationId xmlns:a16="http://schemas.microsoft.com/office/drawing/2014/main" id="{4D2EA3DF-2DA3-472D-A84E-CA7C00A34B8F}"/>
              </a:ext>
            </a:extLst>
          </p:cNvPr>
          <p:cNvSpPr txBox="1"/>
          <p:nvPr/>
        </p:nvSpPr>
        <p:spPr>
          <a:xfrm>
            <a:off x="4530577" y="2058475"/>
            <a:ext cx="3391769" cy="2492100"/>
          </a:xfrm>
          <a:prstGeom prst="rect">
            <a:avLst/>
          </a:prstGeom>
          <a:noFill/>
          <a:ln>
            <a:noFill/>
          </a:ln>
        </p:spPr>
        <p:txBody>
          <a:bodyPr spcFirstLastPara="1" wrap="square" lIns="91425" tIns="91425" rIns="91425" bIns="91425" anchor="t" anchorCtr="0">
            <a:noAutofit/>
          </a:bodyPr>
          <a:lstStyle/>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The shape of ClF</a:t>
            </a:r>
            <a:r>
              <a:rPr kumimoji="0" lang="en-US" sz="1400" b="0" i="0" u="none" strike="noStrike" kern="0" cap="none" spc="0" normalizeH="0" baseline="-2500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5</a:t>
            </a: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 square-based pyramidal is given. </a:t>
            </a:r>
          </a:p>
          <a:p>
            <a:pPr marL="285750" marR="0" lvl="0" indent="-285750" algn="just" defTabSz="914400" rtl="0" eaLnBrk="1" fontAlgn="auto" latinLnBrk="0" hangingPunct="1">
              <a:lnSpc>
                <a:spcPct val="113000"/>
              </a:lnSpc>
              <a:spcBef>
                <a:spcPts val="600"/>
              </a:spcBef>
              <a:spcAft>
                <a:spcPts val="0"/>
              </a:spcAft>
              <a:buClr>
                <a:srgbClr val="434343"/>
              </a:buClr>
              <a:buSzPts val="1600"/>
              <a:buFont typeface="Arial" panose="020B0604020202020204" pitchFamily="34" charset="0"/>
              <a:buChar char="•"/>
              <a:tabLst/>
              <a:defRPr/>
            </a:pPr>
            <a:r>
              <a:rPr kumimoji="0" lang="en-US" sz="1400" b="0" i="0" u="none" strike="noStrike" kern="0" cap="none" spc="0" normalizeH="0" baseline="0" noProof="0" dirty="0">
                <a:ln>
                  <a:noFill/>
                </a:ln>
                <a:solidFill>
                  <a:srgbClr val="000000"/>
                </a:solidFill>
                <a:effectLst/>
                <a:uLnTx/>
                <a:uFillTx/>
                <a:latin typeface="Calibri" panose="020F0502020204030204" pitchFamily="34" charset="0"/>
                <a:ea typeface="Roboto Condensed"/>
                <a:cs typeface="Calibri" panose="020F0502020204030204" pitchFamily="34" charset="0"/>
                <a:sym typeface="Roboto Condensed"/>
              </a:rPr>
              <a:t>There are 5 bonding pairs and a lone pair of electrons.</a:t>
            </a:r>
          </a:p>
        </p:txBody>
      </p:sp>
      <p:pic>
        <p:nvPicPr>
          <p:cNvPr id="6" name="Picture 5">
            <a:extLst>
              <a:ext uri="{FF2B5EF4-FFF2-40B4-BE49-F238E27FC236}">
                <a16:creationId xmlns:a16="http://schemas.microsoft.com/office/drawing/2014/main" id="{74FEAC7D-3620-490B-9FE7-8A8A6B472C96}"/>
              </a:ext>
            </a:extLst>
          </p:cNvPr>
          <p:cNvPicPr>
            <a:picLocks noChangeAspect="1"/>
          </p:cNvPicPr>
          <p:nvPr/>
        </p:nvPicPr>
        <p:blipFill>
          <a:blip r:embed="rId4"/>
          <a:stretch>
            <a:fillRect/>
          </a:stretch>
        </p:blipFill>
        <p:spPr>
          <a:xfrm>
            <a:off x="6226461" y="3197708"/>
            <a:ext cx="1568490" cy="1756026"/>
          </a:xfrm>
          <a:prstGeom prst="rect">
            <a:avLst/>
          </a:prstGeom>
        </p:spPr>
      </p:pic>
    </p:spTree>
    <p:extLst>
      <p:ext uri="{BB962C8B-B14F-4D97-AF65-F5344CB8AC3E}">
        <p14:creationId xmlns:p14="http://schemas.microsoft.com/office/powerpoint/2010/main" val="160901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US" sz="3200" dirty="0">
                <a:latin typeface="Calibri" panose="020F0502020204030204" pitchFamily="34" charset="0"/>
                <a:cs typeface="Calibri" panose="020F0502020204030204" pitchFamily="34" charset="0"/>
              </a:rPr>
              <a:t>σ bonds</a:t>
            </a:r>
            <a:endParaRPr lang="en-IN" sz="3200" dirty="0">
              <a:solidFill>
                <a:srgbClr val="000000"/>
              </a:solidFill>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907573" y="678833"/>
            <a:ext cx="3837000"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p-orbitals involved in bonding are slightly modified to include some character of the s-orbital.</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These modified orbitals overlap linearly to form covalent bonds, which are called as σ bonds.  </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These bonds are symmetrical and rotate about the bond axis. </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This is the strongest type of covalent bonds as the orbitals overlap to a greater extent. </a:t>
            </a:r>
          </a:p>
        </p:txBody>
      </p:sp>
      <p:sp>
        <p:nvSpPr>
          <p:cNvPr id="126" name="Google Shape;126;p27"/>
          <p:cNvSpPr txBox="1"/>
          <p:nvPr/>
        </p:nvSpPr>
        <p:spPr>
          <a:xfrm>
            <a:off x="2318658" y="4546950"/>
            <a:ext cx="2016168"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Bonding in organic molecules</a:t>
            </a:r>
            <a:endParaRPr sz="1100" dirty="0">
              <a:solidFill>
                <a:srgbClr val="666666"/>
              </a:solidFill>
            </a:endParaRPr>
          </a:p>
        </p:txBody>
      </p:sp>
      <p:pic>
        <p:nvPicPr>
          <p:cNvPr id="5" name="Picture 4">
            <a:extLst>
              <a:ext uri="{FF2B5EF4-FFF2-40B4-BE49-F238E27FC236}">
                <a16:creationId xmlns:a16="http://schemas.microsoft.com/office/drawing/2014/main" id="{10223A2A-8260-43A3-A5E0-81CEA1FB130A}"/>
              </a:ext>
            </a:extLst>
          </p:cNvPr>
          <p:cNvPicPr>
            <a:picLocks noChangeAspect="1"/>
          </p:cNvPicPr>
          <p:nvPr/>
        </p:nvPicPr>
        <p:blipFill>
          <a:blip r:embed="rId3"/>
          <a:stretch>
            <a:fillRect/>
          </a:stretch>
        </p:blipFill>
        <p:spPr>
          <a:xfrm>
            <a:off x="399427" y="1828800"/>
            <a:ext cx="3859450" cy="2089900"/>
          </a:xfrm>
          <a:prstGeom prst="rect">
            <a:avLst/>
          </a:prstGeom>
        </p:spPr>
      </p:pic>
    </p:spTree>
    <p:extLst>
      <p:ext uri="{BB962C8B-B14F-4D97-AF65-F5344CB8AC3E}">
        <p14:creationId xmlns:p14="http://schemas.microsoft.com/office/powerpoint/2010/main" val="2821472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US" sz="3200" dirty="0">
                <a:latin typeface="Calibri" panose="020F0502020204030204" pitchFamily="34" charset="0"/>
                <a:cs typeface="Calibri" panose="020F0502020204030204" pitchFamily="34" charset="0"/>
              </a:rPr>
              <a:t>σ bond</a:t>
            </a:r>
            <a:endParaRPr lang="en-IN" sz="3200" dirty="0">
              <a:solidFill>
                <a:srgbClr val="000000"/>
              </a:solidFill>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939500" y="532289"/>
            <a:ext cx="3837000" cy="3695100"/>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Ethane is an alkane with molecular formula C</a:t>
            </a:r>
            <a:r>
              <a:rPr lang="en-IN" sz="1600" baseline="-25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H</a:t>
            </a:r>
            <a:r>
              <a:rPr lang="en-IN" sz="1600" baseline="-25000" dirty="0">
                <a:latin typeface="Calibri" panose="020F0502020204030204" pitchFamily="34" charset="0"/>
                <a:cs typeface="Calibri" panose="020F0502020204030204" pitchFamily="34" charset="0"/>
              </a:rPr>
              <a:t>6</a:t>
            </a:r>
            <a:r>
              <a:rPr lang="en-IN" sz="1600" dirty="0">
                <a:latin typeface="Calibri" panose="020F0502020204030204" pitchFamily="34" charset="0"/>
                <a:cs typeface="Calibri" panose="020F0502020204030204" pitchFamily="34" charset="0"/>
              </a:rPr>
              <a:t>. </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It consists of a C—C bond and six C—H bonds.</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All are σ bonds.</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The electron density distribution of ethane molecule is shown in the figure.</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As the electron densities are equal, the H-C-H bond angle is 109.5⁰.</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 A carbon atom and three hydrogen atoms are bonded together to form tetrahedral shape.</a:t>
            </a:r>
          </a:p>
        </p:txBody>
      </p:sp>
      <p:sp>
        <p:nvSpPr>
          <p:cNvPr id="126" name="Google Shape;126;p27"/>
          <p:cNvSpPr txBox="1"/>
          <p:nvPr/>
        </p:nvSpPr>
        <p:spPr>
          <a:xfrm>
            <a:off x="2844800" y="4546950"/>
            <a:ext cx="14900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Bonding in ethane</a:t>
            </a:r>
            <a:endParaRPr sz="1100" dirty="0">
              <a:solidFill>
                <a:srgbClr val="666666"/>
              </a:solidFill>
            </a:endParaRPr>
          </a:p>
        </p:txBody>
      </p:sp>
      <p:pic>
        <p:nvPicPr>
          <p:cNvPr id="4" name="Picture 3">
            <a:extLst>
              <a:ext uri="{FF2B5EF4-FFF2-40B4-BE49-F238E27FC236}">
                <a16:creationId xmlns:a16="http://schemas.microsoft.com/office/drawing/2014/main" id="{71145D51-AF58-4A10-8B53-E53011952076}"/>
              </a:ext>
            </a:extLst>
          </p:cNvPr>
          <p:cNvPicPr>
            <a:picLocks noChangeAspect="1"/>
          </p:cNvPicPr>
          <p:nvPr/>
        </p:nvPicPr>
        <p:blipFill>
          <a:blip r:embed="rId3"/>
          <a:stretch>
            <a:fillRect/>
          </a:stretch>
        </p:blipFill>
        <p:spPr>
          <a:xfrm>
            <a:off x="320102" y="2213927"/>
            <a:ext cx="4116432" cy="1319646"/>
          </a:xfrm>
          <a:prstGeom prst="rect">
            <a:avLst/>
          </a:prstGeom>
        </p:spPr>
      </p:pic>
    </p:spTree>
    <p:extLst>
      <p:ext uri="{BB962C8B-B14F-4D97-AF65-F5344CB8AC3E}">
        <p14:creationId xmlns:p14="http://schemas.microsoft.com/office/powerpoint/2010/main" val="14211395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4" y="592925"/>
            <a:ext cx="7055275" cy="767700"/>
          </a:xfrm>
          <a:prstGeom prst="rect">
            <a:avLst/>
          </a:prstGeom>
        </p:spPr>
        <p:txBody>
          <a:bodyPr spcFirstLastPara="1" wrap="square" lIns="91425" tIns="91425" rIns="91425" bIns="91425" anchor="b" anchorCtr="0">
            <a:noAutofit/>
          </a:bodyPr>
          <a:lstStyle/>
          <a:p>
            <a:pPr lvl="0"/>
            <a:r>
              <a:rPr lang="en-US" dirty="0" err="1">
                <a:latin typeface="Calibri" panose="020F0502020204030204" pitchFamily="34" charset="0"/>
              </a:rPr>
              <a:t>Hybridisation</a:t>
            </a:r>
            <a:endParaRPr dirty="0">
              <a:latin typeface="Calibri" panose="020F0502020204030204" pitchFamily="34" charset="0"/>
            </a:endParaRPr>
          </a:p>
        </p:txBody>
      </p:sp>
      <p:sp>
        <p:nvSpPr>
          <p:cNvPr id="3" name="TextBox 2"/>
          <p:cNvSpPr txBox="1"/>
          <p:nvPr/>
        </p:nvSpPr>
        <p:spPr>
          <a:xfrm>
            <a:off x="738961" y="2236299"/>
            <a:ext cx="7249338" cy="2422202"/>
          </a:xfrm>
          <a:prstGeom prst="rect">
            <a:avLst/>
          </a:prstGeom>
          <a:noFill/>
        </p:spPr>
        <p:txBody>
          <a:bodyPr wrap="square" rtlCol="0">
            <a:spAutoFit/>
          </a:bodyPr>
          <a:lstStyle/>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This process of mixing atomic orbitals is called as </a:t>
            </a:r>
            <a:r>
              <a:rPr lang="en-US" sz="1600" dirty="0" err="1">
                <a:latin typeface="Calibri" panose="020F0502020204030204" pitchFamily="34" charset="0"/>
                <a:ea typeface="Roboto"/>
                <a:sym typeface="Roboto"/>
              </a:rPr>
              <a:t>hybridisation</a:t>
            </a:r>
            <a:r>
              <a:rPr lang="en-US" sz="1600" dirty="0">
                <a:latin typeface="Calibri" panose="020F0502020204030204" pitchFamily="34" charset="0"/>
                <a:ea typeface="Roboto"/>
                <a:sym typeface="Roboto"/>
              </a:rPr>
              <a:t>.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One s-orbital and one p-orbital combine to form </a:t>
            </a:r>
            <a:r>
              <a:rPr lang="en-US" sz="1600" dirty="0" err="1">
                <a:latin typeface="Calibri" panose="020F0502020204030204" pitchFamily="34" charset="0"/>
                <a:ea typeface="Roboto"/>
                <a:sym typeface="Roboto"/>
              </a:rPr>
              <a:t>sp</a:t>
            </a:r>
            <a:r>
              <a:rPr lang="en-US" sz="1600" dirty="0">
                <a:latin typeface="Calibri" panose="020F0502020204030204" pitchFamily="34" charset="0"/>
                <a:ea typeface="Roboto"/>
                <a:sym typeface="Roboto"/>
              </a:rPr>
              <a:t>-hybrids.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Each orbital of </a:t>
            </a:r>
            <a:r>
              <a:rPr lang="en-US" sz="1600" dirty="0" err="1">
                <a:latin typeface="Calibri" panose="020F0502020204030204" pitchFamily="34" charset="0"/>
                <a:ea typeface="Roboto"/>
                <a:sym typeface="Roboto"/>
              </a:rPr>
              <a:t>sp</a:t>
            </a:r>
            <a:r>
              <a:rPr lang="en-US" sz="1600" dirty="0">
                <a:latin typeface="Calibri" panose="020F0502020204030204" pitchFamily="34" charset="0"/>
                <a:ea typeface="Roboto"/>
                <a:sym typeface="Roboto"/>
              </a:rPr>
              <a:t>-hybrid has 50% s-character and 50 % p-character.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Similarly, one s-orbital and two p-orbitals combine to form sp</a:t>
            </a:r>
            <a:r>
              <a:rPr lang="en-US" sz="1600" baseline="30000" dirty="0">
                <a:latin typeface="Calibri" panose="020F0502020204030204" pitchFamily="34" charset="0"/>
                <a:ea typeface="Roboto"/>
                <a:sym typeface="Roboto"/>
              </a:rPr>
              <a:t>2</a:t>
            </a:r>
            <a:r>
              <a:rPr lang="en-US" sz="1600" dirty="0">
                <a:latin typeface="Calibri" panose="020F0502020204030204" pitchFamily="34" charset="0"/>
                <a:ea typeface="Roboto"/>
                <a:sym typeface="Roboto"/>
              </a:rPr>
              <a:t> hybrids. </a:t>
            </a:r>
          </a:p>
          <a:p>
            <a:pPr marL="457200" lvl="0" indent="-342900">
              <a:lnSpc>
                <a:spcPct val="115000"/>
              </a:lnSpc>
              <a:spcBef>
                <a:spcPts val="600"/>
              </a:spcBef>
              <a:buSzPct val="100000"/>
              <a:buFont typeface="Arial" panose="020B0604020202020204" pitchFamily="34" charset="0"/>
              <a:buChar char="•"/>
            </a:pPr>
            <a:r>
              <a:rPr lang="en-US" sz="1600" dirty="0">
                <a:latin typeface="Calibri" panose="020F0502020204030204" pitchFamily="34" charset="0"/>
                <a:ea typeface="Roboto"/>
                <a:sym typeface="Roboto"/>
              </a:rPr>
              <a:t>Similarly, one s-orbital and three p-orbitals combine to form sp</a:t>
            </a:r>
            <a:r>
              <a:rPr lang="en-US" sz="1600" baseline="30000" dirty="0">
                <a:latin typeface="Calibri" panose="020F0502020204030204" pitchFamily="34" charset="0"/>
                <a:ea typeface="Roboto"/>
                <a:sym typeface="Roboto"/>
              </a:rPr>
              <a:t>3</a:t>
            </a:r>
            <a:r>
              <a:rPr lang="en-US" sz="1600" dirty="0">
                <a:latin typeface="Calibri" panose="020F0502020204030204" pitchFamily="34" charset="0"/>
                <a:ea typeface="Roboto"/>
                <a:sym typeface="Roboto"/>
              </a:rPr>
              <a:t> hybrids. In sp</a:t>
            </a:r>
            <a:r>
              <a:rPr lang="en-US" sz="1600" baseline="30000" dirty="0">
                <a:latin typeface="Calibri" panose="020F0502020204030204" pitchFamily="34" charset="0"/>
                <a:ea typeface="Roboto"/>
                <a:sym typeface="Roboto"/>
              </a:rPr>
              <a:t>3</a:t>
            </a:r>
            <a:r>
              <a:rPr lang="en-US" sz="1600" dirty="0">
                <a:latin typeface="Calibri" panose="020F0502020204030204" pitchFamily="34" charset="0"/>
                <a:ea typeface="Roboto"/>
                <a:sym typeface="Roboto"/>
              </a:rPr>
              <a:t> hybrids, each orbital has ¼ s-character and ¼ p-character.</a:t>
            </a:r>
          </a:p>
          <a:p>
            <a:pPr marL="285750" indent="-285750">
              <a:spcBef>
                <a:spcPts val="600"/>
              </a:spcBef>
              <a:buSzPct val="100000"/>
              <a:buFont typeface="Arial" panose="020B0604020202020204" pitchFamily="34" charset="0"/>
              <a:buChar char="•"/>
            </a:pPr>
            <a:endParaRPr lang="en-IN" sz="1600" dirty="0"/>
          </a:p>
        </p:txBody>
      </p:sp>
    </p:spTree>
    <p:extLst>
      <p:ext uri="{BB962C8B-B14F-4D97-AF65-F5344CB8AC3E}">
        <p14:creationId xmlns:p14="http://schemas.microsoft.com/office/powerpoint/2010/main" val="42103942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US" sz="3200" dirty="0">
                <a:latin typeface="Calibri" panose="020F0502020204030204" pitchFamily="34" charset="0"/>
                <a:cs typeface="Calibri" panose="020F0502020204030204" pitchFamily="34" charset="0"/>
              </a:rPr>
              <a:t>π bond</a:t>
            </a:r>
            <a:endParaRPr lang="en-IN" sz="3200" dirty="0">
              <a:latin typeface="Calibri" panose="020F0502020204030204" pitchFamily="34" charset="0"/>
              <a:cs typeface="Calibri" panose="020F0502020204030204" pitchFamily="34" charset="0"/>
            </a:endParaRPr>
          </a:p>
        </p:txBody>
      </p:sp>
      <p:sp>
        <p:nvSpPr>
          <p:cNvPr id="124" name="Google Shape;124;p27"/>
          <p:cNvSpPr txBox="1">
            <a:spLocks noGrp="1"/>
          </p:cNvSpPr>
          <p:nvPr>
            <p:ph type="body" idx="2"/>
          </p:nvPr>
        </p:nvSpPr>
        <p:spPr>
          <a:xfrm>
            <a:off x="4604657" y="293403"/>
            <a:ext cx="4358722"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Modified p-orbitals overlap linearly to form σ-bonds. p-orbitals overlap sideways to form π- bonds.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π - bonds are weaker than σ-bonds due to less overlap of p-orbitals in π-bonds. π - bonds cannot be rotated. </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The electron configuration of carbon is 1s</a:t>
            </a:r>
            <a:r>
              <a:rPr lang="en-IN" sz="1600" baseline="30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2s</a:t>
            </a:r>
            <a:r>
              <a:rPr lang="en-IN" sz="1600" baseline="30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2p</a:t>
            </a:r>
            <a:r>
              <a:rPr lang="en-IN" sz="1600" baseline="30000" dirty="0">
                <a:latin typeface="Calibri" panose="020F0502020204030204" pitchFamily="34" charset="0"/>
                <a:cs typeface="Calibri" panose="020F0502020204030204" pitchFamily="34" charset="0"/>
              </a:rPr>
              <a:t>2</a:t>
            </a:r>
            <a:r>
              <a:rPr lang="en-IN" sz="1600" dirty="0">
                <a:latin typeface="Calibri" panose="020F0502020204030204" pitchFamily="34" charset="0"/>
                <a:cs typeface="Calibri" panose="020F0502020204030204" pitchFamily="34" charset="0"/>
              </a:rPr>
              <a:t>. It has four valence electrons: two from s-orbital and two from p-orbitals.</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 Three of these valence electrons are involved in σ-bonds: two bonds with hydrogen and one with another carbon atom.</a:t>
            </a:r>
          </a:p>
          <a:p>
            <a:pPr lvl="0">
              <a:buFont typeface="Arial" panose="020B0604020202020204" pitchFamily="34" charset="0"/>
              <a:buChar char="•"/>
            </a:pPr>
            <a:r>
              <a:rPr lang="en-IN" sz="1600" dirty="0">
                <a:latin typeface="Calibri" panose="020F0502020204030204" pitchFamily="34" charset="0"/>
                <a:cs typeface="Calibri" panose="020F0502020204030204" pitchFamily="34" charset="0"/>
              </a:rPr>
              <a:t> The fourth electron that occupies a p-orbital, overlaps sideways with the p-orbital of another carbon atom to form a π-bond.</a:t>
            </a:r>
          </a:p>
          <a:p>
            <a:pPr lvl="0">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p:txBody>
      </p:sp>
      <p:sp>
        <p:nvSpPr>
          <p:cNvPr id="126" name="Google Shape;126;p27"/>
          <p:cNvSpPr txBox="1"/>
          <p:nvPr/>
        </p:nvSpPr>
        <p:spPr>
          <a:xfrm>
            <a:off x="2231571" y="4546950"/>
            <a:ext cx="2103254"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Bonding in alkenes and ethene</a:t>
            </a:r>
            <a:endParaRPr sz="1100" dirty="0">
              <a:solidFill>
                <a:srgbClr val="666666"/>
              </a:solidFill>
            </a:endParaRPr>
          </a:p>
        </p:txBody>
      </p:sp>
      <p:pic>
        <p:nvPicPr>
          <p:cNvPr id="3" name="Picture 2">
            <a:extLst>
              <a:ext uri="{FF2B5EF4-FFF2-40B4-BE49-F238E27FC236}">
                <a16:creationId xmlns:a16="http://schemas.microsoft.com/office/drawing/2014/main" id="{9875FAF2-C601-433E-85CB-E41D514ED738}"/>
              </a:ext>
            </a:extLst>
          </p:cNvPr>
          <p:cNvPicPr>
            <a:picLocks noChangeAspect="1"/>
          </p:cNvPicPr>
          <p:nvPr/>
        </p:nvPicPr>
        <p:blipFill>
          <a:blip r:embed="rId3"/>
          <a:stretch>
            <a:fillRect/>
          </a:stretch>
        </p:blipFill>
        <p:spPr>
          <a:xfrm>
            <a:off x="427046" y="1419098"/>
            <a:ext cx="4006055" cy="1371200"/>
          </a:xfrm>
          <a:prstGeom prst="rect">
            <a:avLst/>
          </a:prstGeom>
        </p:spPr>
      </p:pic>
      <p:pic>
        <p:nvPicPr>
          <p:cNvPr id="5" name="Picture 4">
            <a:extLst>
              <a:ext uri="{FF2B5EF4-FFF2-40B4-BE49-F238E27FC236}">
                <a16:creationId xmlns:a16="http://schemas.microsoft.com/office/drawing/2014/main" id="{3AF4AD5C-C633-44CE-8BA1-2AC1E0F3D01F}"/>
              </a:ext>
            </a:extLst>
          </p:cNvPr>
          <p:cNvPicPr>
            <a:picLocks noChangeAspect="1"/>
          </p:cNvPicPr>
          <p:nvPr/>
        </p:nvPicPr>
        <p:blipFill>
          <a:blip r:embed="rId4"/>
          <a:stretch>
            <a:fillRect/>
          </a:stretch>
        </p:blipFill>
        <p:spPr>
          <a:xfrm>
            <a:off x="1486418" y="2795908"/>
            <a:ext cx="1490306" cy="1299852"/>
          </a:xfrm>
          <a:prstGeom prst="rect">
            <a:avLst/>
          </a:prstGeom>
        </p:spPr>
      </p:pic>
    </p:spTree>
    <p:extLst>
      <p:ext uri="{BB962C8B-B14F-4D97-AF65-F5344CB8AC3E}">
        <p14:creationId xmlns:p14="http://schemas.microsoft.com/office/powerpoint/2010/main" val="37328201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chemeClr val="bg2"/>
                </a:solidFill>
                <a:latin typeface="Calibri" panose="020F0502020204030204" pitchFamily="34" charset="0"/>
                <a:cs typeface="Calibri" panose="020F0502020204030204" pitchFamily="34" charset="0"/>
              </a:rPr>
              <a:t>Bonding in alkenes</a:t>
            </a:r>
          </a:p>
        </p:txBody>
      </p:sp>
      <p:sp>
        <p:nvSpPr>
          <p:cNvPr id="124" name="Google Shape;124;p27"/>
          <p:cNvSpPr txBox="1">
            <a:spLocks noGrp="1"/>
          </p:cNvSpPr>
          <p:nvPr>
            <p:ph type="body" idx="2"/>
          </p:nvPr>
        </p:nvSpPr>
        <p:spPr>
          <a:xfrm>
            <a:off x="4865511" y="428870"/>
            <a:ext cx="3910990" cy="3216698"/>
          </a:xfrm>
          <a:prstGeom prst="rect">
            <a:avLst/>
          </a:prstGeom>
        </p:spPr>
        <p:txBody>
          <a:bodyPr spcFirstLastPara="1" wrap="square" lIns="91425" tIns="91425" rIns="91425" bIns="91425" anchor="t" anchorCtr="0">
            <a:noAutofit/>
          </a:bodyPr>
          <a:lstStyle/>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Ethene is planar in shape to ensure maximum overlapping of p-orbitals in π-bond.</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The H—C—H forms a trigonal planar shape with a bond angle of 117⁰. </a:t>
            </a:r>
          </a:p>
          <a:p>
            <a:pPr lvl="0">
              <a:spcBef>
                <a:spcPts val="600"/>
              </a:spcBef>
              <a:buFont typeface="Arial" panose="020B0604020202020204" pitchFamily="34" charset="0"/>
              <a:buChar char="•"/>
            </a:pPr>
            <a:r>
              <a:rPr lang="en-IN" sz="1600" dirty="0">
                <a:latin typeface="Calibri" panose="020F0502020204030204" pitchFamily="34" charset="0"/>
                <a:cs typeface="Calibri" panose="020F0502020204030204" pitchFamily="34" charset="0"/>
              </a:rPr>
              <a:t>The bond angle for trigonal planar shapes is 120⁰ and in this case, it is 117⁰. This is because of the position of π-bond that minimises the repulsive forces. </a:t>
            </a:r>
          </a:p>
          <a:p>
            <a:pPr lvl="0">
              <a:spcBef>
                <a:spcPts val="600"/>
              </a:spcBef>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a:p>
            <a:pPr lvl="0">
              <a:spcBef>
                <a:spcPts val="600"/>
              </a:spcBef>
              <a:buFont typeface="Arial" panose="020B0604020202020204" pitchFamily="34" charset="0"/>
              <a:buChar char="•"/>
            </a:pPr>
            <a:endParaRPr lang="en-IN" sz="1600" dirty="0">
              <a:latin typeface="Calibri" panose="020F0502020204030204" pitchFamily="34" charset="0"/>
              <a:cs typeface="Calibri" panose="020F0502020204030204" pitchFamily="34" charset="0"/>
            </a:endParaRPr>
          </a:p>
        </p:txBody>
      </p:sp>
      <p:sp>
        <p:nvSpPr>
          <p:cNvPr id="126" name="Google Shape;126;p27"/>
          <p:cNvSpPr txBox="1"/>
          <p:nvPr/>
        </p:nvSpPr>
        <p:spPr>
          <a:xfrm>
            <a:off x="2895600" y="4546950"/>
            <a:ext cx="14392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Structure of ethene</a:t>
            </a:r>
            <a:endParaRPr sz="1100" dirty="0">
              <a:solidFill>
                <a:srgbClr val="666666"/>
              </a:solidFill>
            </a:endParaRPr>
          </a:p>
        </p:txBody>
      </p:sp>
      <p:pic>
        <p:nvPicPr>
          <p:cNvPr id="2" name="Picture 1">
            <a:extLst>
              <a:ext uri="{FF2B5EF4-FFF2-40B4-BE49-F238E27FC236}">
                <a16:creationId xmlns:a16="http://schemas.microsoft.com/office/drawing/2014/main" id="{B9A5DE1D-9A64-4DB9-8507-438A843C74DC}"/>
              </a:ext>
            </a:extLst>
          </p:cNvPr>
          <p:cNvPicPr>
            <a:picLocks noChangeAspect="1"/>
          </p:cNvPicPr>
          <p:nvPr/>
        </p:nvPicPr>
        <p:blipFill>
          <a:blip r:embed="rId3"/>
          <a:stretch>
            <a:fillRect/>
          </a:stretch>
        </p:blipFill>
        <p:spPr>
          <a:xfrm>
            <a:off x="965963" y="2037219"/>
            <a:ext cx="2920237" cy="1481456"/>
          </a:xfrm>
          <a:prstGeom prst="rect">
            <a:avLst/>
          </a:prstGeom>
        </p:spPr>
      </p:pic>
    </p:spTree>
    <p:extLst>
      <p:ext uri="{BB962C8B-B14F-4D97-AF65-F5344CB8AC3E}">
        <p14:creationId xmlns:p14="http://schemas.microsoft.com/office/powerpoint/2010/main" val="1238716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Intermolecular forces</a:t>
            </a:r>
          </a:p>
        </p:txBody>
      </p:sp>
      <p:sp>
        <p:nvSpPr>
          <p:cNvPr id="118" name="Google Shape;118;p26"/>
          <p:cNvSpPr txBox="1"/>
          <p:nvPr/>
        </p:nvSpPr>
        <p:spPr>
          <a:xfrm>
            <a:off x="804200" y="1813736"/>
            <a:ext cx="7330800"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forces between the molecules in covalent bonds are called as intermolecular forces. These forces are weak. There are three types of intermolecular forces:</a:t>
            </a:r>
          </a:p>
          <a:p>
            <a:pPr marL="801688" lvl="0" indent="-285750" algn="just">
              <a:lnSpc>
                <a:spcPct val="113000"/>
              </a:lnSpc>
              <a:spcBef>
                <a:spcPts val="600"/>
              </a:spcBef>
              <a:buSzPts val="1800"/>
              <a:buFont typeface="Wingdings" panose="05000000000000000000" pitchFamily="2" charset="2"/>
              <a:buChar char="ü"/>
            </a:pPr>
            <a:r>
              <a:rPr lang="fr-FR" sz="1600" dirty="0">
                <a:latin typeface="Calibri" panose="020F0502020204030204" pitchFamily="34" charset="0"/>
              </a:rPr>
              <a:t>permanent dipole-dipole forces</a:t>
            </a:r>
          </a:p>
          <a:p>
            <a:pPr marL="801688" lvl="0" indent="-285750" algn="just">
              <a:lnSpc>
                <a:spcPct val="113000"/>
              </a:lnSpc>
              <a:spcBef>
                <a:spcPts val="600"/>
              </a:spcBef>
              <a:buSzPts val="1800"/>
              <a:buFont typeface="Wingdings" panose="05000000000000000000" pitchFamily="2" charset="2"/>
              <a:buChar char="ü"/>
            </a:pPr>
            <a:r>
              <a:rPr lang="fr-FR" sz="1600" dirty="0">
                <a:latin typeface="Calibri" panose="020F0502020204030204" pitchFamily="34" charset="0"/>
              </a:rPr>
              <a:t>Instantaneous dipole forces</a:t>
            </a:r>
          </a:p>
          <a:p>
            <a:pPr marL="801688" lvl="0" indent="-285750" algn="just">
              <a:lnSpc>
                <a:spcPct val="113000"/>
              </a:lnSpc>
              <a:spcBef>
                <a:spcPts val="600"/>
              </a:spcBef>
              <a:buSzPts val="1800"/>
              <a:buFont typeface="Wingdings" panose="05000000000000000000" pitchFamily="2" charset="2"/>
              <a:buChar char="ü"/>
            </a:pPr>
            <a:r>
              <a:rPr lang="fr-FR" sz="1600" dirty="0">
                <a:latin typeface="Calibri" panose="020F0502020204030204" pitchFamily="34" charset="0"/>
              </a:rPr>
              <a:t>hydrogen bonding</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relative bonds strengths of intermolecular forces is: </a:t>
            </a:r>
          </a:p>
          <a:p>
            <a:pPr marL="400050" lvl="0" indent="-28575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permanent dipole-dipole forces &lt; instantaneous dipole forces &lt; hydrogen bonding &lt; covalent bonding &lt; ionic bonding</a:t>
            </a: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spTree>
    <p:extLst>
      <p:ext uri="{BB962C8B-B14F-4D97-AF65-F5344CB8AC3E}">
        <p14:creationId xmlns:p14="http://schemas.microsoft.com/office/powerpoint/2010/main" val="28821168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3131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Instantaneous dipole forces</a:t>
            </a:r>
          </a:p>
        </p:txBody>
      </p:sp>
      <p:sp>
        <p:nvSpPr>
          <p:cNvPr id="124" name="Google Shape;124;p27"/>
          <p:cNvSpPr txBox="1">
            <a:spLocks noGrp="1"/>
          </p:cNvSpPr>
          <p:nvPr>
            <p:ph type="body" idx="2"/>
          </p:nvPr>
        </p:nvSpPr>
        <p:spPr>
          <a:xfrm>
            <a:off x="4840348" y="157066"/>
            <a:ext cx="4182466"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US" sz="1600" dirty="0">
                <a:latin typeface="Calibri" panose="020F0502020204030204" pitchFamily="34" charset="0"/>
              </a:rPr>
              <a:t>Instantaneous dipole forces are weak forces of attraction that hold the non-polar molecules together. </a:t>
            </a:r>
          </a:p>
          <a:p>
            <a:pPr lvl="0" algn="just">
              <a:buFont typeface="Arial" panose="020B0604020202020204" pitchFamily="34" charset="0"/>
              <a:buChar char="•"/>
            </a:pPr>
            <a:r>
              <a:rPr lang="en-US" sz="1600" dirty="0">
                <a:latin typeface="Calibri" panose="020F0502020204030204" pitchFamily="34" charset="0"/>
              </a:rPr>
              <a:t>Due to constant motion of molecules, electron cloud on one side of the molecule is more than the other side. </a:t>
            </a:r>
          </a:p>
          <a:p>
            <a:pPr lvl="0" algn="just">
              <a:buFont typeface="Arial" panose="020B0604020202020204" pitchFamily="34" charset="0"/>
              <a:buChar char="•"/>
            </a:pPr>
            <a:r>
              <a:rPr lang="en-US" sz="1600" dirty="0">
                <a:latin typeface="Calibri" panose="020F0502020204030204" pitchFamily="34" charset="0"/>
              </a:rPr>
              <a:t>This gives rise to a dipole. This dipole induces dipole on </a:t>
            </a:r>
            <a:r>
              <a:rPr lang="en-US" sz="1600" dirty="0" err="1">
                <a:latin typeface="Calibri" panose="020F0502020204030204" pitchFamily="34" charset="0"/>
              </a:rPr>
              <a:t>neighbouring</a:t>
            </a:r>
            <a:r>
              <a:rPr lang="en-US" sz="1600" dirty="0">
                <a:latin typeface="Calibri" panose="020F0502020204030204" pitchFamily="34" charset="0"/>
              </a:rPr>
              <a:t> molecules. </a:t>
            </a:r>
          </a:p>
          <a:p>
            <a:pPr lvl="0" algn="just">
              <a:buFont typeface="Arial" panose="020B0604020202020204" pitchFamily="34" charset="0"/>
              <a:buChar char="•"/>
            </a:pPr>
            <a:r>
              <a:rPr lang="en-US" sz="1600" dirty="0">
                <a:latin typeface="Calibri" panose="020F0502020204030204" pitchFamily="34" charset="0"/>
              </a:rPr>
              <a:t>The resulting force of attraction between the molecules is called instantaneous dipole-induced dipole force. </a:t>
            </a:r>
          </a:p>
          <a:p>
            <a:pPr lvl="0" algn="just">
              <a:buFont typeface="Arial" panose="020B0604020202020204" pitchFamily="34" charset="0"/>
              <a:buChar char="•"/>
            </a:pPr>
            <a:r>
              <a:rPr lang="en-US" sz="1600" dirty="0">
                <a:latin typeface="Calibri" panose="020F0502020204030204" pitchFamily="34" charset="0"/>
              </a:rPr>
              <a:t>This force is also called temporary dipole-induced dipole force or London dispersion force</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609" y="2004616"/>
            <a:ext cx="3819591" cy="2414684"/>
          </a:xfrm>
          <a:prstGeom prst="rect">
            <a:avLst/>
          </a:prstGeom>
        </p:spPr>
      </p:pic>
    </p:spTree>
    <p:extLst>
      <p:ext uri="{BB962C8B-B14F-4D97-AF65-F5344CB8AC3E}">
        <p14:creationId xmlns:p14="http://schemas.microsoft.com/office/powerpoint/2010/main" val="4262010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3131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Instantaneous dipole forces</a:t>
            </a:r>
          </a:p>
        </p:txBody>
      </p:sp>
      <p:sp>
        <p:nvSpPr>
          <p:cNvPr id="124" name="Google Shape;124;p27"/>
          <p:cNvSpPr txBox="1">
            <a:spLocks noGrp="1"/>
          </p:cNvSpPr>
          <p:nvPr>
            <p:ph type="body" idx="2"/>
          </p:nvPr>
        </p:nvSpPr>
        <p:spPr>
          <a:xfrm>
            <a:off x="4682304" y="313150"/>
            <a:ext cx="4182466" cy="3695100"/>
          </a:xfrm>
          <a:prstGeom prst="rect">
            <a:avLst/>
          </a:prstGeom>
        </p:spPr>
        <p:txBody>
          <a:bodyPr spcFirstLastPara="1" wrap="square" lIns="91425" tIns="91425" rIns="91425" bIns="91425" anchor="t" anchorCtr="0">
            <a:noAutofit/>
          </a:bodyPr>
          <a:lstStyle/>
          <a:p>
            <a:pPr lvl="0" algn="just">
              <a:buFont typeface="Arial" panose="020B0604020202020204" pitchFamily="34" charset="0"/>
              <a:buChar char="•"/>
            </a:pPr>
            <a:r>
              <a:rPr lang="en-US" sz="1600" dirty="0">
                <a:latin typeface="Calibri" panose="020F0502020204030204" pitchFamily="34" charset="0"/>
              </a:rPr>
              <a:t>The magnitude of this force depends on the number of electrons within the molecule. </a:t>
            </a:r>
          </a:p>
          <a:p>
            <a:pPr lvl="0" algn="just">
              <a:buFont typeface="Arial" panose="020B0604020202020204" pitchFamily="34" charset="0"/>
              <a:buChar char="•"/>
            </a:pPr>
            <a:r>
              <a:rPr lang="en-US" sz="1600" dirty="0">
                <a:latin typeface="Calibri" panose="020F0502020204030204" pitchFamily="34" charset="0"/>
              </a:rPr>
              <a:t>Because, more the number of electrons, larger is the chance of forming an instantaneous dipole and larger will be the dipole.</a:t>
            </a:r>
          </a:p>
          <a:p>
            <a:pPr lvl="0" algn="just">
              <a:buFont typeface="Arial" panose="020B0604020202020204" pitchFamily="34" charset="0"/>
              <a:buChar char="•"/>
            </a:pPr>
            <a:r>
              <a:rPr lang="en-US" sz="1600" dirty="0">
                <a:latin typeface="Calibri" panose="020F0502020204030204" pitchFamily="34" charset="0"/>
              </a:rPr>
              <a:t>The magnitude of this force also depends on the shape of the molecule. Because, larger the area of contact, larger will be the force. The greater the instantaneous dipole force, greater will be the boiling point. </a:t>
            </a:r>
          </a:p>
          <a:p>
            <a:pPr lvl="0" algn="just">
              <a:buFont typeface="Arial" panose="020B0604020202020204" pitchFamily="34" charset="0"/>
              <a:buChar char="•"/>
            </a:pPr>
            <a:endParaRPr lang="en-US" sz="1600" dirty="0">
              <a:latin typeface="Calibri" panose="020F050202020403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2414" y="1693210"/>
            <a:ext cx="2761745" cy="1757079"/>
          </a:xfrm>
          <a:prstGeom prst="rect">
            <a:avLst/>
          </a:prstGeom>
        </p:spPr>
      </p:pic>
      <p:sp>
        <p:nvSpPr>
          <p:cNvPr id="8" name="TextBox 7">
            <a:extLst>
              <a:ext uri="{FF2B5EF4-FFF2-40B4-BE49-F238E27FC236}">
                <a16:creationId xmlns:a16="http://schemas.microsoft.com/office/drawing/2014/main" id="{A3443B95-0A72-4C8E-8197-5172212FD64E}"/>
              </a:ext>
            </a:extLst>
          </p:cNvPr>
          <p:cNvSpPr txBox="1"/>
          <p:nvPr/>
        </p:nvSpPr>
        <p:spPr>
          <a:xfrm>
            <a:off x="187286" y="3745558"/>
            <a:ext cx="3838064" cy="738664"/>
          </a:xfrm>
          <a:prstGeom prst="rect">
            <a:avLst/>
          </a:prstGeom>
          <a:noFill/>
        </p:spPr>
        <p:txBody>
          <a:bodyPr wrap="square">
            <a:spAutoFit/>
          </a:bodyPr>
          <a:lstStyle/>
          <a:p>
            <a:pPr lvl="0" algn="just"/>
            <a:r>
              <a:rPr lang="en-US" sz="1400" dirty="0">
                <a:latin typeface="Calibri" panose="020F0502020204030204" pitchFamily="34" charset="0"/>
              </a:rPr>
              <a:t>The structure of crystals of iodine where the iodine molecules are held by weak instantaneous dipole forces.</a:t>
            </a:r>
          </a:p>
        </p:txBody>
      </p:sp>
    </p:spTree>
    <p:extLst>
      <p:ext uri="{BB962C8B-B14F-4D97-AF65-F5344CB8AC3E}">
        <p14:creationId xmlns:p14="http://schemas.microsoft.com/office/powerpoint/2010/main" val="19341871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Intermolecular forces: Permanent dipole-dipole forces</a:t>
            </a:r>
          </a:p>
        </p:txBody>
      </p:sp>
      <p:sp>
        <p:nvSpPr>
          <p:cNvPr id="118" name="Google Shape;118;p26"/>
          <p:cNvSpPr txBox="1"/>
          <p:nvPr/>
        </p:nvSpPr>
        <p:spPr>
          <a:xfrm>
            <a:off x="533267" y="1719808"/>
            <a:ext cx="8077466"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forces of attraction between two molecules having permanent dipoles are called permanent dipole-dipole forces.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This type of forces is found in polar molecules with permanent dipoles. </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The δ+ of a molecule is attracted towards δ- of another molecule and a weak attractive force is created.</a:t>
            </a:r>
          </a:p>
          <a:p>
            <a:pPr marL="457200" lvl="0" indent="-342900" algn="just">
              <a:lnSpc>
                <a:spcPct val="113000"/>
              </a:lnSpc>
              <a:spcBef>
                <a:spcPts val="600"/>
              </a:spcBef>
              <a:buSzPts val="1800"/>
              <a:buFont typeface="Arial" panose="020B0604020202020204" pitchFamily="34" charset="0"/>
              <a:buChar char="•"/>
            </a:pPr>
            <a:r>
              <a:rPr lang="en-IN" sz="1600" dirty="0">
                <a:latin typeface="Calibri" panose="020F0502020204030204" pitchFamily="34" charset="0"/>
              </a:rPr>
              <a:t>For example: In </a:t>
            </a:r>
            <a:r>
              <a:rPr lang="en-IN" sz="1600" dirty="0" err="1">
                <a:latin typeface="Calibri" panose="020F0502020204030204" pitchFamily="34" charset="0"/>
              </a:rPr>
              <a:t>HCl</a:t>
            </a:r>
            <a:r>
              <a:rPr lang="en-IN" sz="1600" dirty="0">
                <a:latin typeface="Calibri" panose="020F0502020204030204" pitchFamily="34" charset="0"/>
              </a:rPr>
              <a:t>, the electronegativity of chlorine is more than that of hydrogen. As a result, chlorine gets slightly negative charge and hydrogen gets a slight positive charge.</a:t>
            </a:r>
          </a:p>
          <a:p>
            <a:pPr marL="457200" lvl="0" indent="-342900" algn="just">
              <a:lnSpc>
                <a:spcPct val="113000"/>
              </a:lnSpc>
              <a:spcBef>
                <a:spcPts val="600"/>
              </a:spcBef>
              <a:buSzPts val="1800"/>
              <a:buFont typeface="Arial" panose="020B0604020202020204" pitchFamily="34" charset="0"/>
              <a:buChar char="•"/>
            </a:pPr>
            <a:endParaRPr sz="1600" dirty="0">
              <a:latin typeface="Calibri" panose="020F0502020204030204" pitchFamily="34" charset="0"/>
            </a:endParaRPr>
          </a:p>
          <a:p>
            <a:pPr marL="285750" lvl="0" indent="-285750" algn="l" rtl="0">
              <a:lnSpc>
                <a:spcPct val="113000"/>
              </a:lnSpc>
              <a:spcBef>
                <a:spcPts val="600"/>
              </a:spcBef>
              <a:spcAft>
                <a:spcPts val="0"/>
              </a:spcAft>
              <a:buFont typeface="Arial" panose="020B0604020202020204" pitchFamily="34" charset="0"/>
              <a:buChar char="•"/>
            </a:pPr>
            <a:endParaRPr sz="1600" dirty="0">
              <a:latin typeface="Calibri" panose="020F0502020204030204" pitchFamily="34" charset="0"/>
            </a:endParaRPr>
          </a:p>
        </p:txBody>
      </p:sp>
      <p:pic>
        <p:nvPicPr>
          <p:cNvPr id="4" name="Picture 3">
            <a:extLst>
              <a:ext uri="{FF2B5EF4-FFF2-40B4-BE49-F238E27FC236}">
                <a16:creationId xmlns:a16="http://schemas.microsoft.com/office/drawing/2014/main" id="{EBBF7105-DFE1-4A58-A380-C1DE6548398C}"/>
              </a:ext>
            </a:extLst>
          </p:cNvPr>
          <p:cNvPicPr>
            <a:picLocks noChangeAspect="1"/>
          </p:cNvPicPr>
          <p:nvPr/>
        </p:nvPicPr>
        <p:blipFill>
          <a:blip r:embed="rId3"/>
          <a:stretch>
            <a:fillRect/>
          </a:stretch>
        </p:blipFill>
        <p:spPr>
          <a:xfrm>
            <a:off x="1793506" y="4138141"/>
            <a:ext cx="5556988" cy="865900"/>
          </a:xfrm>
          <a:prstGeom prst="rect">
            <a:avLst/>
          </a:prstGeom>
        </p:spPr>
      </p:pic>
    </p:spTree>
    <p:extLst>
      <p:ext uri="{BB962C8B-B14F-4D97-AF65-F5344CB8AC3E}">
        <p14:creationId xmlns:p14="http://schemas.microsoft.com/office/powerpoint/2010/main" val="31450764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6"/>
          <p:cNvSpPr txBox="1">
            <a:spLocks noGrp="1"/>
          </p:cNvSpPr>
          <p:nvPr>
            <p:ph type="title"/>
          </p:nvPr>
        </p:nvSpPr>
        <p:spPr>
          <a:xfrm>
            <a:off x="933025" y="592925"/>
            <a:ext cx="6305100" cy="767700"/>
          </a:xfrm>
          <a:prstGeom prst="rect">
            <a:avLst/>
          </a:prstGeom>
        </p:spPr>
        <p:txBody>
          <a:bodyPr spcFirstLastPara="1" wrap="square" lIns="91425" tIns="91425" rIns="91425" bIns="91425" anchor="b" anchorCtr="0">
            <a:noAutofit/>
          </a:bodyPr>
          <a:lstStyle/>
          <a:p>
            <a:pPr lvl="0"/>
            <a:r>
              <a:rPr lang="en-IN" dirty="0">
                <a:latin typeface="Calibri" panose="020F0502020204030204" pitchFamily="34" charset="0"/>
              </a:rPr>
              <a:t>Intermolecular forces: Hydrogen bonding</a:t>
            </a:r>
          </a:p>
        </p:txBody>
      </p:sp>
      <p:sp>
        <p:nvSpPr>
          <p:cNvPr id="118" name="Google Shape;118;p26"/>
          <p:cNvSpPr txBox="1"/>
          <p:nvPr/>
        </p:nvSpPr>
        <p:spPr>
          <a:xfrm>
            <a:off x="533267" y="1719808"/>
            <a:ext cx="8077466" cy="2492100"/>
          </a:xfrm>
          <a:prstGeom prst="rect">
            <a:avLst/>
          </a:prstGeom>
          <a:noFill/>
          <a:ln>
            <a:noFill/>
          </a:ln>
        </p:spPr>
        <p:txBody>
          <a:bodyPr spcFirstLastPara="1" wrap="square" lIns="91425" tIns="91425" rIns="91425" bIns="91425" anchor="t" anchorCtr="0">
            <a:noAutofit/>
          </a:bodyPr>
          <a:lstStyle/>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Hydrogen bonding occurs in between two molecules when one molecule with an hydrogen atom is covalently bonded with fluorine, oxygen or nitrogen (the most electronegative elements) and another molecule having fluorine, oxygen or nitrogen with a lone pair of electrons.</a:t>
            </a: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In ammonia, bond is highly </a:t>
            </a:r>
            <a:r>
              <a:rPr lang="en-US" sz="1600" dirty="0" err="1">
                <a:latin typeface="Calibri" panose="020F0502020204030204" pitchFamily="34" charset="0"/>
              </a:rPr>
              <a:t>polarised</a:t>
            </a:r>
            <a:r>
              <a:rPr lang="en-US" sz="1600" dirty="0">
                <a:latin typeface="Calibri" panose="020F0502020204030204" pitchFamily="34" charset="0"/>
              </a:rPr>
              <a:t> due the presence of nitrogen which obtains a δ- charge. </a:t>
            </a:r>
          </a:p>
          <a:p>
            <a:pPr marL="457200" lvl="0" indent="-342900" algn="just">
              <a:lnSpc>
                <a:spcPct val="113000"/>
              </a:lnSpc>
              <a:spcBef>
                <a:spcPts val="600"/>
              </a:spcBef>
              <a:buSzPts val="1800"/>
              <a:buFont typeface="Arial" panose="020B0604020202020204" pitchFamily="34" charset="0"/>
              <a:buChar char="•"/>
            </a:pPr>
            <a:r>
              <a:rPr lang="en-US" sz="1600" dirty="0">
                <a:latin typeface="Calibri" panose="020F0502020204030204" pitchFamily="34" charset="0"/>
              </a:rPr>
              <a:t>Hydrogen gets a δ+ charge that is high enough to form a bond with the lone pair of electrons in the </a:t>
            </a:r>
            <a:r>
              <a:rPr lang="en-US" sz="1600" dirty="0" err="1">
                <a:latin typeface="Calibri" panose="020F0502020204030204" pitchFamily="34" charset="0"/>
              </a:rPr>
              <a:t>neighbouring</a:t>
            </a:r>
            <a:r>
              <a:rPr lang="en-US" sz="1600" dirty="0">
                <a:latin typeface="Calibri" panose="020F0502020204030204" pitchFamily="34" charset="0"/>
              </a:rPr>
              <a:t> nitrogen atom.</a:t>
            </a:r>
          </a:p>
          <a:p>
            <a:pPr marL="457200" lvl="0" indent="-342900" algn="just">
              <a:lnSpc>
                <a:spcPct val="113000"/>
              </a:lnSpc>
              <a:spcBef>
                <a:spcPts val="600"/>
              </a:spcBef>
              <a:buSzPts val="1800"/>
              <a:buFont typeface="Arial" panose="020B0604020202020204" pitchFamily="34" charset="0"/>
              <a:buChar char="•"/>
            </a:pPr>
            <a:endParaRPr lang="en-US" sz="1600" dirty="0">
              <a:latin typeface="Calibri" panose="020F0502020204030204" pitchFamily="34" charset="0"/>
            </a:endParaRPr>
          </a:p>
        </p:txBody>
      </p:sp>
      <p:pic>
        <p:nvPicPr>
          <p:cNvPr id="5" name="Picture 4">
            <a:extLst>
              <a:ext uri="{FF2B5EF4-FFF2-40B4-BE49-F238E27FC236}">
                <a16:creationId xmlns:a16="http://schemas.microsoft.com/office/drawing/2014/main" id="{E29A2BD3-AECA-4C5B-80BF-D3F0D9C6C2FE}"/>
              </a:ext>
            </a:extLst>
          </p:cNvPr>
          <p:cNvPicPr/>
          <p:nvPr/>
        </p:nvPicPr>
        <p:blipFill>
          <a:blip r:embed="rId3">
            <a:extLst>
              <a:ext uri="{28A0092B-C50C-407E-A947-70E740481C1C}">
                <a14:useLocalDpi xmlns:a14="http://schemas.microsoft.com/office/drawing/2010/main" val="0"/>
              </a:ext>
            </a:extLst>
          </a:blip>
          <a:stretch>
            <a:fillRect/>
          </a:stretch>
        </p:blipFill>
        <p:spPr>
          <a:xfrm>
            <a:off x="5364479" y="4088295"/>
            <a:ext cx="2113915" cy="924560"/>
          </a:xfrm>
          <a:prstGeom prst="rect">
            <a:avLst/>
          </a:prstGeom>
        </p:spPr>
      </p:pic>
    </p:spTree>
    <p:extLst>
      <p:ext uri="{BB962C8B-B14F-4D97-AF65-F5344CB8AC3E}">
        <p14:creationId xmlns:p14="http://schemas.microsoft.com/office/powerpoint/2010/main" val="4108884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Anomalous properties of H</a:t>
            </a:r>
            <a:r>
              <a:rPr lang="en-IN" sz="3200" baseline="-25000" dirty="0">
                <a:solidFill>
                  <a:srgbClr val="000000"/>
                </a:solidFill>
                <a:latin typeface="Calibri" panose="020F0502020204030204" pitchFamily="34" charset="0"/>
              </a:rPr>
              <a:t>2</a:t>
            </a:r>
            <a:r>
              <a:rPr lang="en-IN" sz="3200" dirty="0">
                <a:solidFill>
                  <a:srgbClr val="000000"/>
                </a:solidFill>
                <a:latin typeface="Calibri" panose="020F0502020204030204" pitchFamily="34" charset="0"/>
              </a:rPr>
              <a:t>O</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lgn="just">
              <a:spcBef>
                <a:spcPts val="600"/>
              </a:spcBef>
              <a:buFont typeface="Arial" panose="020B0604020202020204" pitchFamily="34" charset="0"/>
              <a:buChar char="•"/>
            </a:pPr>
            <a:r>
              <a:rPr lang="en-IN" sz="1600" dirty="0">
                <a:latin typeface="Calibri" panose="020F0502020204030204" pitchFamily="34" charset="0"/>
              </a:rPr>
              <a:t>Water molecule has two hydrogen atoms and two lone pair of electrons per molecule.</a:t>
            </a:r>
          </a:p>
          <a:p>
            <a:pPr lvl="0" algn="just">
              <a:spcBef>
                <a:spcPts val="600"/>
              </a:spcBef>
              <a:buFont typeface="Arial" panose="020B0604020202020204" pitchFamily="34" charset="0"/>
              <a:buChar char="•"/>
            </a:pPr>
            <a:r>
              <a:rPr lang="en-IN" sz="1600" dirty="0">
                <a:latin typeface="Calibri" panose="020F0502020204030204" pitchFamily="34" charset="0"/>
              </a:rPr>
              <a:t> It has an average of two hydrogen bonds per molecule.</a:t>
            </a:r>
          </a:p>
          <a:p>
            <a:pPr lvl="0" algn="just">
              <a:spcBef>
                <a:spcPts val="600"/>
              </a:spcBef>
              <a:buFont typeface="Arial" panose="020B0604020202020204" pitchFamily="34" charset="0"/>
              <a:buChar char="•"/>
            </a:pPr>
            <a:r>
              <a:rPr lang="en-IN" sz="1600" dirty="0">
                <a:latin typeface="Calibri" panose="020F0502020204030204" pitchFamily="34" charset="0"/>
              </a:rPr>
              <a:t>Ice is less dense than water because  of comparatively long hydrogen bonds, the particles in solid state are slightly apart than in liquid state.</a:t>
            </a:r>
          </a:p>
          <a:p>
            <a:pPr marL="285750" lvl="0" indent="-285750" algn="l" rtl="0">
              <a:spcBef>
                <a:spcPts val="600"/>
              </a:spcBef>
              <a:spcAft>
                <a:spcPts val="1600"/>
              </a:spcAf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3128525" y="4546950"/>
            <a:ext cx="1206300"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Water molecule</a:t>
            </a:r>
            <a:endParaRPr sz="1100" dirty="0">
              <a:solidFill>
                <a:srgbClr val="66666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9814" y="1645406"/>
            <a:ext cx="2328672" cy="2456688"/>
          </a:xfrm>
          <a:prstGeom prst="rect">
            <a:avLst/>
          </a:prstGeom>
        </p:spPr>
      </p:pic>
    </p:spTree>
    <p:extLst>
      <p:ext uri="{BB962C8B-B14F-4D97-AF65-F5344CB8AC3E}">
        <p14:creationId xmlns:p14="http://schemas.microsoft.com/office/powerpoint/2010/main" val="17027751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solidFill>
                  <a:srgbClr val="000000"/>
                </a:solidFill>
                <a:latin typeface="Calibri" panose="020F0502020204030204" pitchFamily="34" charset="0"/>
              </a:rPr>
              <a:t>Anomalous properties of H</a:t>
            </a:r>
            <a:r>
              <a:rPr lang="en-IN" sz="3200" baseline="-25000" dirty="0">
                <a:solidFill>
                  <a:srgbClr val="000000"/>
                </a:solidFill>
                <a:latin typeface="Calibri" panose="020F0502020204030204" pitchFamily="34" charset="0"/>
              </a:rPr>
              <a:t>2</a:t>
            </a:r>
            <a:r>
              <a:rPr lang="en-IN" sz="3200" dirty="0">
                <a:solidFill>
                  <a:srgbClr val="000000"/>
                </a:solidFill>
                <a:latin typeface="Calibri" panose="020F0502020204030204" pitchFamily="34" charset="0"/>
              </a:rPr>
              <a:t>O</a:t>
            </a:r>
          </a:p>
        </p:txBody>
      </p:sp>
      <p:sp>
        <p:nvSpPr>
          <p:cNvPr id="124" name="Google Shape;124;p27"/>
          <p:cNvSpPr txBox="1">
            <a:spLocks noGrp="1"/>
          </p:cNvSpPr>
          <p:nvPr>
            <p:ph type="body" idx="2"/>
          </p:nvPr>
        </p:nvSpPr>
        <p:spPr>
          <a:xfrm>
            <a:off x="4939500" y="724200"/>
            <a:ext cx="3837000" cy="3695100"/>
          </a:xfrm>
          <a:prstGeom prst="rect">
            <a:avLst/>
          </a:prstGeom>
        </p:spPr>
        <p:txBody>
          <a:bodyPr spcFirstLastPara="1" wrap="square" lIns="91425" tIns="91425" rIns="91425" bIns="91425" anchor="t" anchorCtr="0">
            <a:noAutofit/>
          </a:bodyPr>
          <a:lstStyle/>
          <a:p>
            <a:pPr lvl="0" algn="just">
              <a:spcBef>
                <a:spcPts val="600"/>
              </a:spcBef>
              <a:buClr>
                <a:srgbClr val="FFFFFF"/>
              </a:buClr>
              <a:buFont typeface="Arial" panose="020B0604020202020204" pitchFamily="34" charset="0"/>
              <a:buChar char="•"/>
            </a:pPr>
            <a:r>
              <a:rPr lang="en-IN" sz="1600" dirty="0">
                <a:solidFill>
                  <a:srgbClr val="FFFFFF"/>
                </a:solidFill>
                <a:latin typeface="Calibri" panose="020F0502020204030204" pitchFamily="34" charset="0"/>
              </a:rPr>
              <a:t>Due to extensive hydrogen bonding, water has relatively high melting and boiling points compared to the hydrides of other elements of the same group as shown in the graph.</a:t>
            </a:r>
          </a:p>
          <a:p>
            <a:pPr lvl="0" algn="just">
              <a:spcBef>
                <a:spcPts val="600"/>
              </a:spcBef>
              <a:buClr>
                <a:srgbClr val="FFFFFF"/>
              </a:buClr>
              <a:buFont typeface="Arial" panose="020B0604020202020204" pitchFamily="34" charset="0"/>
              <a:buChar char="•"/>
            </a:pPr>
            <a:r>
              <a:rPr lang="en-IN" sz="1600" dirty="0">
                <a:solidFill>
                  <a:srgbClr val="FFFFFF"/>
                </a:solidFill>
                <a:latin typeface="Calibri" panose="020F0502020204030204" pitchFamily="34" charset="0"/>
              </a:rPr>
              <a:t> Therefore, the energy required to break bonds in H</a:t>
            </a:r>
            <a:r>
              <a:rPr lang="en-IN" sz="1600" baseline="-25000" dirty="0">
                <a:solidFill>
                  <a:srgbClr val="FFFFFF"/>
                </a:solidFill>
                <a:latin typeface="Calibri" panose="020F0502020204030204" pitchFamily="34" charset="0"/>
              </a:rPr>
              <a:t>2</a:t>
            </a:r>
            <a:r>
              <a:rPr lang="en-IN" sz="1600" dirty="0">
                <a:solidFill>
                  <a:srgbClr val="FFFFFF"/>
                </a:solidFill>
                <a:latin typeface="Calibri" panose="020F0502020204030204" pitchFamily="34" charset="0"/>
              </a:rPr>
              <a:t>O is greater than hydrides of the same group.</a:t>
            </a:r>
          </a:p>
          <a:p>
            <a:pPr marL="285750" lvl="0" indent="-285750" algn="l" rtl="0">
              <a:spcBef>
                <a:spcPts val="600"/>
              </a:spcBef>
              <a:spcAft>
                <a:spcPts val="1600"/>
              </a:spcAft>
              <a:buFont typeface="Arial" panose="020B0604020202020204" pitchFamily="34" charset="0"/>
              <a:buChar char="•"/>
            </a:pPr>
            <a:endParaRPr sz="1600" dirty="0">
              <a:latin typeface="Calibri" panose="020F0502020204030204" pitchFamily="34" charset="0"/>
            </a:endParaRPr>
          </a:p>
        </p:txBody>
      </p:sp>
      <p:sp>
        <p:nvSpPr>
          <p:cNvPr id="126" name="Google Shape;126;p27"/>
          <p:cNvSpPr txBox="1"/>
          <p:nvPr/>
        </p:nvSpPr>
        <p:spPr>
          <a:xfrm>
            <a:off x="2959192" y="4419300"/>
            <a:ext cx="1612808"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Energy required to break bonds of hydrides of group 16</a:t>
            </a:r>
            <a:endParaRPr sz="1100" dirty="0">
              <a:solidFill>
                <a:srgbClr val="66666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100" y="1543100"/>
            <a:ext cx="4234011" cy="2533650"/>
          </a:xfrm>
          <a:prstGeom prst="rect">
            <a:avLst/>
          </a:prstGeom>
        </p:spPr>
      </p:pic>
    </p:spTree>
    <p:extLst>
      <p:ext uri="{BB962C8B-B14F-4D97-AF65-F5344CB8AC3E}">
        <p14:creationId xmlns:p14="http://schemas.microsoft.com/office/powerpoint/2010/main" val="1231095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3200" dirty="0">
                <a:latin typeface="Calibri" panose="020F0502020204030204" pitchFamily="34" charset="0"/>
                <a:cs typeface="Calibri" panose="020F0502020204030204" pitchFamily="34" charset="0"/>
              </a:rPr>
              <a:t>Variation of boiling points in alkanes</a:t>
            </a:r>
          </a:p>
        </p:txBody>
      </p:sp>
      <p:sp>
        <p:nvSpPr>
          <p:cNvPr id="124" name="Google Shape;124;p27"/>
          <p:cNvSpPr txBox="1">
            <a:spLocks noGrp="1"/>
          </p:cNvSpPr>
          <p:nvPr>
            <p:ph type="body" idx="2"/>
          </p:nvPr>
        </p:nvSpPr>
        <p:spPr>
          <a:xfrm>
            <a:off x="4950789" y="408111"/>
            <a:ext cx="3837000"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The boiling point of alkane homologous series increases due to increase in the number of electrons in bigger molecules. This increase in number of electrons increases the size of induced dipole-dipole interactions (London forces) between the molecules.</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The intensity of induced dipole-dipole interactions in a molecule is also dependent on its shape.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Long chain alkanes have larger London force when compared to that of spherical shaped branched alkanes because of the larger contact area between the molecules in long chain alkanes.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As a result, long chain alkanes have higher boiling points when compared to spherical shaped branched alkanes. </a:t>
            </a:r>
          </a:p>
        </p:txBody>
      </p:sp>
      <p:sp>
        <p:nvSpPr>
          <p:cNvPr id="126" name="Google Shape;126;p27"/>
          <p:cNvSpPr txBox="1"/>
          <p:nvPr/>
        </p:nvSpPr>
        <p:spPr>
          <a:xfrm>
            <a:off x="2514600" y="4546950"/>
            <a:ext cx="1820225"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Variation of boiling points</a:t>
            </a:r>
            <a:endParaRPr sz="1100" dirty="0">
              <a:solidFill>
                <a:srgbClr val="666666"/>
              </a:solidFill>
            </a:endParaRPr>
          </a:p>
        </p:txBody>
      </p:sp>
      <p:pic>
        <p:nvPicPr>
          <p:cNvPr id="4" name="Picture 3">
            <a:extLst>
              <a:ext uri="{FF2B5EF4-FFF2-40B4-BE49-F238E27FC236}">
                <a16:creationId xmlns:a16="http://schemas.microsoft.com/office/drawing/2014/main" id="{6F5EA85A-92E3-4F04-9A90-003CFEE26C3A}"/>
              </a:ext>
            </a:extLst>
          </p:cNvPr>
          <p:cNvPicPr>
            <a:picLocks noChangeAspect="1"/>
          </p:cNvPicPr>
          <p:nvPr/>
        </p:nvPicPr>
        <p:blipFill>
          <a:blip r:embed="rId3"/>
          <a:stretch>
            <a:fillRect/>
          </a:stretch>
        </p:blipFill>
        <p:spPr>
          <a:xfrm>
            <a:off x="253222" y="1934605"/>
            <a:ext cx="4181856" cy="1658112"/>
          </a:xfrm>
          <a:prstGeom prst="rect">
            <a:avLst/>
          </a:prstGeom>
        </p:spPr>
      </p:pic>
    </p:spTree>
    <p:extLst>
      <p:ext uri="{BB962C8B-B14F-4D97-AF65-F5344CB8AC3E}">
        <p14:creationId xmlns:p14="http://schemas.microsoft.com/office/powerpoint/2010/main" val="1178803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11187" y="537517"/>
            <a:ext cx="3362400" cy="1001700"/>
          </a:xfrm>
          <a:prstGeom prst="rect">
            <a:avLst/>
          </a:prstGeom>
        </p:spPr>
        <p:txBody>
          <a:bodyPr spcFirstLastPara="1" wrap="square" lIns="91425" tIns="91425" rIns="91425" bIns="91425" anchor="ctr" anchorCtr="0">
            <a:noAutofit/>
          </a:bodyPr>
          <a:lstStyle/>
          <a:p>
            <a:pPr lvl="0"/>
            <a:r>
              <a:rPr lang="en-US" sz="2800" dirty="0">
                <a:latin typeface="Calibri" panose="020F0502020204030204" pitchFamily="34" charset="0"/>
                <a:cs typeface="Calibri" panose="020F0502020204030204" pitchFamily="34" charset="0"/>
              </a:rPr>
              <a:t>High boiling point of alcohols compared to alkanes </a:t>
            </a:r>
          </a:p>
        </p:txBody>
      </p:sp>
      <p:sp>
        <p:nvSpPr>
          <p:cNvPr id="124" name="Google Shape;124;p27"/>
          <p:cNvSpPr txBox="1">
            <a:spLocks noGrp="1"/>
          </p:cNvSpPr>
          <p:nvPr>
            <p:ph type="body" idx="2"/>
          </p:nvPr>
        </p:nvSpPr>
        <p:spPr>
          <a:xfrm>
            <a:off x="4597975" y="440465"/>
            <a:ext cx="4424839" cy="3695100"/>
          </a:xfrm>
          <a:prstGeom prst="rect">
            <a:avLst/>
          </a:prstGeom>
        </p:spPr>
        <p:txBody>
          <a:bodyPr spcFirstLastPara="1" wrap="square" lIns="91425" tIns="91425" rIns="91425" bIns="91425" anchor="t" anchorCtr="0">
            <a:noAutofit/>
          </a:bodyPr>
          <a:lstStyle/>
          <a:p>
            <a:pPr lvl="0">
              <a:buFont typeface="Arial" panose="020B0604020202020204" pitchFamily="34" charset="0"/>
              <a:buChar char="•"/>
            </a:pPr>
            <a:r>
              <a:rPr lang="en-IN" sz="1400" dirty="0">
                <a:solidFill>
                  <a:schemeClr val="bg1"/>
                </a:solidFill>
                <a:latin typeface="Calibri" panose="020F0502020204030204" pitchFamily="34" charset="0"/>
                <a:cs typeface="Calibri" panose="020F0502020204030204" pitchFamily="34" charset="0"/>
              </a:rPr>
              <a:t>Alcohols are polar molecules due to the presence of hydrogen bonding. Oxygen is a more electronegative element compared to hydrogen. </a:t>
            </a:r>
          </a:p>
          <a:p>
            <a:pPr lvl="0">
              <a:buFont typeface="Arial" panose="020B0604020202020204" pitchFamily="34" charset="0"/>
              <a:buChar char="•"/>
            </a:pPr>
            <a:r>
              <a:rPr lang="en-IN" sz="1400" dirty="0">
                <a:solidFill>
                  <a:schemeClr val="bg1"/>
                </a:solidFill>
                <a:latin typeface="Calibri" panose="020F0502020204030204" pitchFamily="34" charset="0"/>
                <a:cs typeface="Calibri" panose="020F0502020204030204" pitchFamily="34" charset="0"/>
              </a:rPr>
              <a:t>As a result, oxygen is slightly negative, and a positive charge is induced in hydrogen atom. </a:t>
            </a:r>
          </a:p>
          <a:p>
            <a:pPr lvl="0">
              <a:buFont typeface="Arial" panose="020B0604020202020204" pitchFamily="34" charset="0"/>
              <a:buChar char="•"/>
            </a:pPr>
            <a:r>
              <a:rPr lang="en-IN" sz="1400" dirty="0">
                <a:solidFill>
                  <a:schemeClr val="bg1"/>
                </a:solidFill>
                <a:latin typeface="Calibri" panose="020F0502020204030204" pitchFamily="34" charset="0"/>
                <a:cs typeface="Calibri" panose="020F0502020204030204" pitchFamily="34" charset="0"/>
              </a:rPr>
              <a:t>The strength of polarity reduces as the length of carbon chain increases.</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Due to the presence of hydrogen bonds, alcohols have higher boiling points when compared to alkanes of relative molecular masses.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For example: boiling point of methanol is higher than that of methane. </a:t>
            </a:r>
          </a:p>
          <a:p>
            <a:pPr lvl="0">
              <a:buFont typeface="Arial" panose="020B0604020202020204" pitchFamily="34" charset="0"/>
              <a:buChar char="•"/>
            </a:pPr>
            <a:r>
              <a:rPr lang="en-IN" sz="1400" dirty="0">
                <a:latin typeface="Calibri" panose="020F0502020204030204" pitchFamily="34" charset="0"/>
                <a:cs typeface="Calibri" panose="020F0502020204030204" pitchFamily="34" charset="0"/>
              </a:rPr>
              <a:t>In other words, alcohols are less volatile (tendency to vaporise) compared to alkanes of relative molecular masses. </a:t>
            </a:r>
          </a:p>
          <a:p>
            <a:pPr lvl="0">
              <a:buFont typeface="Arial" panose="020B0604020202020204" pitchFamily="34" charset="0"/>
              <a:buChar char="•"/>
            </a:pPr>
            <a:endParaRPr lang="en-IN" sz="1400" dirty="0">
              <a:solidFill>
                <a:schemeClr val="bg1"/>
              </a:solidFill>
              <a:latin typeface="Calibri" panose="020F0502020204030204" pitchFamily="34" charset="0"/>
              <a:cs typeface="Calibri" panose="020F0502020204030204" pitchFamily="34" charset="0"/>
            </a:endParaRPr>
          </a:p>
        </p:txBody>
      </p:sp>
      <p:sp>
        <p:nvSpPr>
          <p:cNvPr id="126" name="Google Shape;126;p27"/>
          <p:cNvSpPr txBox="1"/>
          <p:nvPr/>
        </p:nvSpPr>
        <p:spPr>
          <a:xfrm>
            <a:off x="2296886" y="4546950"/>
            <a:ext cx="2037939"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Hydrogen bonding in alcohols</a:t>
            </a:r>
            <a:endParaRPr sz="1100" dirty="0">
              <a:solidFill>
                <a:srgbClr val="666666"/>
              </a:solidFill>
            </a:endParaRPr>
          </a:p>
        </p:txBody>
      </p:sp>
      <p:pic>
        <p:nvPicPr>
          <p:cNvPr id="4" name="Picture 3">
            <a:extLst>
              <a:ext uri="{FF2B5EF4-FFF2-40B4-BE49-F238E27FC236}">
                <a16:creationId xmlns:a16="http://schemas.microsoft.com/office/drawing/2014/main" id="{F6B27084-9780-488F-9217-F96FFE431582}"/>
              </a:ext>
            </a:extLst>
          </p:cNvPr>
          <p:cNvPicPr>
            <a:picLocks noChangeAspect="1"/>
          </p:cNvPicPr>
          <p:nvPr/>
        </p:nvPicPr>
        <p:blipFill>
          <a:blip r:embed="rId3"/>
          <a:stretch>
            <a:fillRect/>
          </a:stretch>
        </p:blipFill>
        <p:spPr>
          <a:xfrm>
            <a:off x="714713" y="1926771"/>
            <a:ext cx="3258874" cy="1606048"/>
          </a:xfrm>
          <a:prstGeom prst="rect">
            <a:avLst/>
          </a:prstGeom>
        </p:spPr>
      </p:pic>
    </p:spTree>
    <p:extLst>
      <p:ext uri="{BB962C8B-B14F-4D97-AF65-F5344CB8AC3E}">
        <p14:creationId xmlns:p14="http://schemas.microsoft.com/office/powerpoint/2010/main" val="2032054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7"/>
          <p:cNvSpPr txBox="1">
            <a:spLocks noGrp="1"/>
          </p:cNvSpPr>
          <p:nvPr>
            <p:ph type="title"/>
          </p:nvPr>
        </p:nvSpPr>
        <p:spPr>
          <a:xfrm>
            <a:off x="662950" y="198850"/>
            <a:ext cx="3362400" cy="1001700"/>
          </a:xfrm>
          <a:prstGeom prst="rect">
            <a:avLst/>
          </a:prstGeom>
        </p:spPr>
        <p:txBody>
          <a:bodyPr spcFirstLastPara="1" wrap="square" lIns="91425" tIns="91425" rIns="91425" bIns="91425" anchor="ctr" anchorCtr="0">
            <a:noAutofit/>
          </a:bodyPr>
          <a:lstStyle/>
          <a:p>
            <a:pPr lvl="0"/>
            <a:r>
              <a:rPr lang="en-IN" sz="2800" dirty="0">
                <a:solidFill>
                  <a:srgbClr val="000000"/>
                </a:solidFill>
                <a:latin typeface="Calibri" panose="020F0502020204030204" pitchFamily="34" charset="0"/>
                <a:cs typeface="Calibri" panose="020F0502020204030204" pitchFamily="34" charset="0"/>
              </a:rPr>
              <a:t>Variation in boiling points of hydrogen halides</a:t>
            </a:r>
          </a:p>
        </p:txBody>
      </p:sp>
      <p:sp>
        <p:nvSpPr>
          <p:cNvPr id="124" name="Google Shape;124;p27"/>
          <p:cNvSpPr txBox="1">
            <a:spLocks noGrp="1"/>
          </p:cNvSpPr>
          <p:nvPr>
            <p:ph type="body" idx="2"/>
          </p:nvPr>
        </p:nvSpPr>
        <p:spPr>
          <a:xfrm>
            <a:off x="4847422" y="738129"/>
            <a:ext cx="3822852" cy="3036191"/>
          </a:xfrm>
          <a:prstGeom prst="rect">
            <a:avLst/>
          </a:prstGeom>
        </p:spPr>
        <p:txBody>
          <a:bodyPr spcFirstLastPara="1" wrap="square" lIns="91425" tIns="91425" rIns="91425" bIns="91425" anchor="t" anchorCtr="0">
            <a:noAutofit/>
          </a:bodyPr>
          <a:lstStyle/>
          <a:p>
            <a:pPr lvl="0">
              <a:spcBef>
                <a:spcPts val="600"/>
              </a:spcBef>
            </a:pPr>
            <a:r>
              <a:rPr lang="en-IN" sz="1600" dirty="0">
                <a:solidFill>
                  <a:schemeClr val="bg1"/>
                </a:solidFill>
                <a:latin typeface="Calibri" panose="020F0502020204030204" pitchFamily="34" charset="0"/>
                <a:cs typeface="Calibri" panose="020F0502020204030204" pitchFamily="34" charset="0"/>
              </a:rPr>
              <a:t>The boiling points rises from </a:t>
            </a:r>
            <a:r>
              <a:rPr lang="en-IN" sz="1600" dirty="0" err="1">
                <a:solidFill>
                  <a:schemeClr val="bg1"/>
                </a:solidFill>
                <a:latin typeface="Calibri" panose="020F0502020204030204" pitchFamily="34" charset="0"/>
                <a:cs typeface="Calibri" panose="020F0502020204030204" pitchFamily="34" charset="0"/>
              </a:rPr>
              <a:t>HCl</a:t>
            </a:r>
            <a:r>
              <a:rPr lang="en-IN" sz="1600" dirty="0">
                <a:solidFill>
                  <a:schemeClr val="bg1"/>
                </a:solidFill>
                <a:latin typeface="Calibri" panose="020F0502020204030204" pitchFamily="34" charset="0"/>
                <a:cs typeface="Calibri" panose="020F0502020204030204" pitchFamily="34" charset="0"/>
              </a:rPr>
              <a:t> to HI. This is due to the increase in number of electrons. This results in </a:t>
            </a:r>
            <a:r>
              <a:rPr lang="en-US" sz="1600" dirty="0">
                <a:solidFill>
                  <a:schemeClr val="bg1"/>
                </a:solidFill>
                <a:latin typeface="Calibri" panose="020F0502020204030204" pitchFamily="34" charset="0"/>
                <a:cs typeface="Calibri" panose="020F0502020204030204" pitchFamily="34" charset="0"/>
              </a:rPr>
              <a:t>increase in magnitude of London dispersion forces</a:t>
            </a:r>
            <a:endParaRPr lang="en-IN" sz="1600" dirty="0">
              <a:solidFill>
                <a:schemeClr val="bg1"/>
              </a:solidFill>
              <a:latin typeface="Calibri" panose="020F0502020204030204" pitchFamily="34" charset="0"/>
              <a:cs typeface="Calibri" panose="020F0502020204030204" pitchFamily="34" charset="0"/>
            </a:endParaRPr>
          </a:p>
          <a:p>
            <a:pPr lvl="0">
              <a:spcBef>
                <a:spcPts val="600"/>
              </a:spcBef>
            </a:pPr>
            <a:r>
              <a:rPr lang="en-IN" sz="1600" dirty="0">
                <a:solidFill>
                  <a:schemeClr val="bg1"/>
                </a:solidFill>
                <a:latin typeface="Calibri" panose="020F0502020204030204" pitchFamily="34" charset="0"/>
                <a:cs typeface="Calibri" panose="020F0502020204030204" pitchFamily="34" charset="0"/>
              </a:rPr>
              <a:t>The boiling point of HF is very high. This is due to the strong hydrogen bonding between HF molecules.</a:t>
            </a:r>
          </a:p>
          <a:p>
            <a:pPr lvl="0">
              <a:spcBef>
                <a:spcPts val="600"/>
              </a:spcBef>
            </a:pPr>
            <a:endParaRPr lang="en-IN" sz="1600" dirty="0">
              <a:solidFill>
                <a:schemeClr val="bg1"/>
              </a:solidFill>
              <a:latin typeface="Calibri" panose="020F0502020204030204" pitchFamily="34" charset="0"/>
              <a:cs typeface="Calibri" panose="020F0502020204030204" pitchFamily="34" charset="0"/>
            </a:endParaRPr>
          </a:p>
        </p:txBody>
      </p:sp>
      <p:sp>
        <p:nvSpPr>
          <p:cNvPr id="126" name="Google Shape;126;p27"/>
          <p:cNvSpPr txBox="1"/>
          <p:nvPr/>
        </p:nvSpPr>
        <p:spPr>
          <a:xfrm>
            <a:off x="2296886" y="4546950"/>
            <a:ext cx="2037939" cy="278400"/>
          </a:xfrm>
          <a:prstGeom prst="rect">
            <a:avLst/>
          </a:prstGeom>
          <a:noFill/>
          <a:ln>
            <a:noFill/>
          </a:ln>
        </p:spPr>
        <p:txBody>
          <a:bodyPr spcFirstLastPara="1" wrap="square" lIns="91425" tIns="91425" rIns="91425" bIns="91425" anchor="t" anchorCtr="0">
            <a:noAutofit/>
          </a:bodyPr>
          <a:lstStyle/>
          <a:p>
            <a:pPr lvl="0"/>
            <a:r>
              <a:rPr lang="en-IN" sz="1100" dirty="0">
                <a:solidFill>
                  <a:srgbClr val="666666"/>
                </a:solidFill>
              </a:rPr>
              <a:t>Boiling points of hydrogen halides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3030" y="1573769"/>
            <a:ext cx="2682240" cy="2877312"/>
          </a:xfrm>
          <a:prstGeom prst="rect">
            <a:avLst/>
          </a:prstGeom>
        </p:spPr>
      </p:pic>
    </p:spTree>
    <p:extLst>
      <p:ext uri="{BB962C8B-B14F-4D97-AF65-F5344CB8AC3E}">
        <p14:creationId xmlns:p14="http://schemas.microsoft.com/office/powerpoint/2010/main" val="1438442304"/>
      </p:ext>
    </p:extLst>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1131</TotalTime>
  <Words>3593</Words>
  <Application>Microsoft Office PowerPoint</Application>
  <PresentationFormat>On-screen Show (16:9)</PresentationFormat>
  <Paragraphs>442</Paragraphs>
  <Slides>50</Slides>
  <Notes>50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Roboto</vt:lpstr>
      <vt:lpstr>Wingdings</vt:lpstr>
      <vt:lpstr>Calibri</vt:lpstr>
      <vt:lpstr>Material</vt:lpstr>
      <vt:lpstr>Chemical bonding</vt:lpstr>
      <vt:lpstr>Introduction</vt:lpstr>
      <vt:lpstr>Ionic bonding</vt:lpstr>
      <vt:lpstr>Ionic bonding</vt:lpstr>
      <vt:lpstr>Ionic Crystals</vt:lpstr>
      <vt:lpstr>Ionic Crystals</vt:lpstr>
      <vt:lpstr>Strength of metallic bonding</vt:lpstr>
      <vt:lpstr>Strength of metallic bonding</vt:lpstr>
      <vt:lpstr>Melting point and boiling point</vt:lpstr>
      <vt:lpstr>Covalent bonding</vt:lpstr>
      <vt:lpstr>Single covalent bonding</vt:lpstr>
      <vt:lpstr>Multiple covalent bonding</vt:lpstr>
      <vt:lpstr>Dative covalent bonding</vt:lpstr>
      <vt:lpstr>Dative covalent bonding</vt:lpstr>
      <vt:lpstr>Bond energy</vt:lpstr>
      <vt:lpstr>Electronegativity and bond polarity</vt:lpstr>
      <vt:lpstr>Electronegativity and bond polarity</vt:lpstr>
      <vt:lpstr>Electronegativity and bond polarity</vt:lpstr>
      <vt:lpstr>Electronegativity and bond polarity</vt:lpstr>
      <vt:lpstr>Shape of simple molecules and ions</vt:lpstr>
      <vt:lpstr>Shape of methane molecule</vt:lpstr>
      <vt:lpstr>Shape of water molecule</vt:lpstr>
      <vt:lpstr>Shape of ammonia molecule</vt:lpstr>
      <vt:lpstr>Shape of ammonium ion</vt:lpstr>
      <vt:lpstr>Shape of Al2Cl6</vt:lpstr>
      <vt:lpstr>Shape of Al2Cl6</vt:lpstr>
      <vt:lpstr>Shape of molecules </vt:lpstr>
      <vt:lpstr>Shape of simple molecules and ions</vt:lpstr>
      <vt:lpstr>Shape of simple molecules and ions</vt:lpstr>
      <vt:lpstr>Shape of simple molecules and ions</vt:lpstr>
      <vt:lpstr>Shape of simple molecules and ions</vt:lpstr>
      <vt:lpstr>Shape of simple molecules and ions</vt:lpstr>
      <vt:lpstr>More shapes</vt:lpstr>
      <vt:lpstr>More shapes</vt:lpstr>
      <vt:lpstr>More shapes</vt:lpstr>
      <vt:lpstr>σ bonds</vt:lpstr>
      <vt:lpstr>σ bond</vt:lpstr>
      <vt:lpstr>Hybridisation</vt:lpstr>
      <vt:lpstr>π bond</vt:lpstr>
      <vt:lpstr>Bonding in alkenes</vt:lpstr>
      <vt:lpstr>Intermolecular forces</vt:lpstr>
      <vt:lpstr>Instantaneous dipole forces</vt:lpstr>
      <vt:lpstr>Instantaneous dipole forces</vt:lpstr>
      <vt:lpstr>Intermolecular forces: Permanent dipole-dipole forces</vt:lpstr>
      <vt:lpstr>Intermolecular forces: Hydrogen bonding</vt:lpstr>
      <vt:lpstr>Anomalous properties of H2O</vt:lpstr>
      <vt:lpstr>Anomalous properties of H2O</vt:lpstr>
      <vt:lpstr>Variation of boiling points in alkanes</vt:lpstr>
      <vt:lpstr>High boiling point of alcohols compared to alkanes </vt:lpstr>
      <vt:lpstr>Variation in boiling points of hydrogen halides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cp:lastModifiedBy>SUTHAN SELVARAJ</cp:lastModifiedBy>
  <cp:revision>52</cp:revision>
  <dcterms:modified xsi:type="dcterms:W3CDTF">2021-05-12T04:03:29Z</dcterms:modified>
</cp:coreProperties>
</file>