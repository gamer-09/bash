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33"/>
  </p:notesMasterIdLst>
  <p:sldIdLst>
    <p:sldId id="256" r:id="rId3"/>
    <p:sldId id="276" r:id="rId4"/>
    <p:sldId id="314" r:id="rId5"/>
    <p:sldId id="259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285" r:id="rId15"/>
    <p:sldId id="323" r:id="rId16"/>
    <p:sldId id="324" r:id="rId17"/>
    <p:sldId id="325" r:id="rId18"/>
    <p:sldId id="284" r:id="rId19"/>
    <p:sldId id="286" r:id="rId20"/>
    <p:sldId id="326" r:id="rId21"/>
    <p:sldId id="299" r:id="rId22"/>
    <p:sldId id="327" r:id="rId23"/>
    <p:sldId id="328" r:id="rId24"/>
    <p:sldId id="278" r:id="rId25"/>
    <p:sldId id="279" r:id="rId26"/>
    <p:sldId id="277" r:id="rId27"/>
    <p:sldId id="329" r:id="rId28"/>
    <p:sldId id="283" r:id="rId29"/>
    <p:sldId id="330" r:id="rId30"/>
    <p:sldId id="331" r:id="rId31"/>
    <p:sldId id="332" r:id="rId3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  <p:embeddedFont>
      <p:font typeface="Roboto" panose="020B060402020202020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lha Naveed" initials="TN" lastIdx="3" clrIdx="0">
    <p:extLst>
      <p:ext uri="{19B8F6BF-5375-455C-9EA6-DF929625EA0E}">
        <p15:presenceInfo xmlns:p15="http://schemas.microsoft.com/office/powerpoint/2012/main" userId="S::Talha.0967666@talmeez.pk::7e7d7d2b-7ed0-4599-9d1e-381a7fec9252" providerId="AD"/>
      </p:ext>
    </p:extLst>
  </p:cmAuthor>
  <p:cmAuthor id="2" name="SUTHAN SELVARAJ" initials="SS" lastIdx="1" clrIdx="1">
    <p:extLst>
      <p:ext uri="{19B8F6BF-5375-455C-9EA6-DF929625EA0E}">
        <p15:presenceInfo xmlns:p15="http://schemas.microsoft.com/office/powerpoint/2012/main" userId="S::18061952@imail.sunway.edu.my::2efb98fe-2ea7-4325-9d1d-55f3fd5226b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728" autoAdjust="0"/>
  </p:normalViewPr>
  <p:slideViewPr>
    <p:cSldViewPr snapToGrid="0">
      <p:cViewPr>
        <p:scale>
          <a:sx n="68" d="100"/>
          <a:sy n="68" d="100"/>
        </p:scale>
        <p:origin x="1362" y="2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2.fntdata"/><Relationship Id="rId43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72934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4e51d7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4e51d7b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2364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e51d7be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e51d7be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0028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47673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e51d7be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e51d7be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0750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e51d7be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e51d7be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5110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77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9051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6299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7543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5549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3758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e51d7be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e51d7be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4276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e51d7be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e51d7be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91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97565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63630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73307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05114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4191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45380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e51d7be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e51d7be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77404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0717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e51d7be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e51d7be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98381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34206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e51d7be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e51d7be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28763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e51d7be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e51d7be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36310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12251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19072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4e51d7b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4e51d7b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45942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e51d7be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e51d7be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71399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e51d7be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e51d7be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5161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4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8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9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1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2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23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rgbClr val="27AE60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>
            <a:spLocks noGrp="1"/>
          </p:cNvSpPr>
          <p:nvPr>
            <p:ph type="ctrTitle"/>
          </p:nvPr>
        </p:nvSpPr>
        <p:spPr>
          <a:xfrm>
            <a:off x="460950" y="1169700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>
                <a:latin typeface="Calibri" panose="020F0502020204030204" pitchFamily="34" charset="0"/>
                <a:cs typeface="Calibri" panose="020F0502020204030204" pitchFamily="34" charset="0"/>
              </a:rPr>
              <a:t>Chemical energetics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2136" y="2103300"/>
            <a:ext cx="60581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5.1 Enthalpy change, </a:t>
            </a:r>
            <a:r>
              <a:rPr lang="el-GR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5.2 Hess’ law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>
            <a:spLocks noGrp="1"/>
          </p:cNvSpPr>
          <p:nvPr>
            <p:ph type="title"/>
          </p:nvPr>
        </p:nvSpPr>
        <p:spPr>
          <a:xfrm>
            <a:off x="662950" y="198850"/>
            <a:ext cx="3362400" cy="10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dirty="0">
                <a:solidFill>
                  <a:srgbClr val="000000"/>
                </a:solidFill>
                <a:latin typeface="Calibri" panose="020F0502020204030204" pitchFamily="34" charset="0"/>
              </a:rPr>
              <a:t>Introduction</a:t>
            </a:r>
            <a:endParaRPr sz="3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4" name="Google Shape;124;p27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en-IN" sz="1400" dirty="0">
                <a:latin typeface="Calibri" panose="020F0502020204030204" pitchFamily="34" charset="0"/>
              </a:rPr>
              <a:t>Chemical reactions that release energy to the surroundings are called as exothermic reactions.  For example: Combustion of fuels.</a:t>
            </a:r>
          </a:p>
          <a:p>
            <a:pPr marL="114300" lvl="0" indent="0" algn="just">
              <a:buNone/>
            </a:pPr>
            <a:endParaRPr lang="en-IN" sz="1400" dirty="0">
              <a:latin typeface="Calibri" panose="020F0502020204030204" pitchFamily="34" charset="0"/>
            </a:endParaRPr>
          </a:p>
          <a:p>
            <a:pPr lvl="0" algn="just"/>
            <a:r>
              <a:rPr lang="en-IN" sz="1400" dirty="0">
                <a:latin typeface="Calibri" panose="020F0502020204030204" pitchFamily="34" charset="0"/>
              </a:rPr>
              <a:t>Chemical reactions that absorb energy from the surroundings are called as endothermic reactions. For example: photosynthesis.</a:t>
            </a:r>
            <a:endParaRPr sz="1400" dirty="0">
              <a:latin typeface="Calibri" panose="020F0502020204030204" pitchFamily="34" charset="0"/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3128524" y="4732007"/>
            <a:ext cx="1522497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1100" dirty="0"/>
              <a:t>Exothermic reaction</a:t>
            </a:r>
            <a:endParaRPr sz="11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406" y="1200550"/>
            <a:ext cx="2761488" cy="3188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606453" y="592925"/>
            <a:ext cx="8210976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>
                <a:latin typeface="Calibri" panose="020F0502020204030204" pitchFamily="34" charset="0"/>
              </a:rPr>
              <a:t>Enthalpy changes and enthalpy profile diagrams</a:t>
            </a:r>
            <a:endParaRPr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Google Shape;118;p26"/>
              <p:cNvSpPr txBox="1"/>
              <p:nvPr/>
            </p:nvSpPr>
            <p:spPr>
              <a:xfrm>
                <a:off x="702600" y="2028225"/>
                <a:ext cx="7330800" cy="24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42900" algn="just">
                  <a:lnSpc>
                    <a:spcPct val="113000"/>
                  </a:lnSpc>
                  <a:buSzPts val="1800"/>
                  <a:buChar char="●"/>
                </a:pPr>
                <a:r>
                  <a:rPr lang="en-IN" sz="1600" dirty="0">
                    <a:latin typeface="Calibri" panose="020F0502020204030204" pitchFamily="34" charset="0"/>
                  </a:rPr>
                  <a:t>The energy exchanges between a chemical reaction and its surroundings at constant pressure is called as the enthalpy change.</a:t>
                </a:r>
              </a:p>
              <a:p>
                <a:pPr marL="457200" lvl="0" indent="-342900" algn="just">
                  <a:lnSpc>
                    <a:spcPct val="113000"/>
                  </a:lnSpc>
                  <a:buSzPts val="1800"/>
                  <a:buChar char="●"/>
                </a:pPr>
                <a:r>
                  <a:rPr lang="en-IN" sz="1600" dirty="0">
                    <a:latin typeface="Calibri" panose="020F0502020204030204" pitchFamily="34" charset="0"/>
                  </a:rPr>
                  <a:t>Enthalpy is the total energy possessed by the materials that react. </a:t>
                </a:r>
              </a:p>
              <a:p>
                <a:pPr marL="457200" lvl="0" indent="-342900" algn="just">
                  <a:lnSpc>
                    <a:spcPct val="113000"/>
                  </a:lnSpc>
                  <a:buSzPts val="1800"/>
                  <a:buChar char="●"/>
                </a:pPr>
                <a:r>
                  <a:rPr lang="en-IN" sz="1600" dirty="0">
                    <a:latin typeface="Calibri" panose="020F0502020204030204" pitchFamily="34" charset="0"/>
                  </a:rPr>
                  <a:t>Enthalpy cannot be measured directly. Enthalpy change (</a:t>
                </a:r>
                <a:r>
                  <a:rPr lang="el-GR" sz="1600" dirty="0">
                    <a:latin typeface="Calibri" panose="020F0502020204030204" pitchFamily="34" charset="0"/>
                  </a:rPr>
                  <a:t>Δ</a:t>
                </a:r>
                <a:r>
                  <a:rPr lang="en-IN" sz="1600" dirty="0">
                    <a:latin typeface="Calibri" panose="020F0502020204030204" pitchFamily="34" charset="0"/>
                  </a:rPr>
                  <a:t>H) can be written as the difference in the enthalpy of products and reactants. The unit for enthalpy change is kJ/mol. </a:t>
                </a:r>
              </a:p>
              <a:p>
                <a:pPr marL="114300" algn="just">
                  <a:lnSpc>
                    <a:spcPct val="113000"/>
                  </a:lnSpc>
                  <a:buSzPts val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600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IN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𝑝𝑟𝑜𝑑𝑢𝑐𝑡𝑠</m:t>
                          </m:r>
                        </m:sub>
                      </m:sSub>
                      <m:r>
                        <a:rPr lang="en-IN" sz="16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IN" sz="1600" i="1">
                              <a:latin typeface="Cambria Math" panose="02040503050406030204" pitchFamily="18" charset="0"/>
                            </a:rPr>
                            <m:t>𝑟𝑒𝑎𝑐𝑡𝑎𝑛𝑡𝑠</m:t>
                          </m:r>
                        </m:sub>
                      </m:sSub>
                    </m:oMath>
                  </m:oMathPara>
                </a14:m>
                <a:endParaRPr lang="en-IN" sz="1600" dirty="0">
                  <a:latin typeface="Calibri" panose="020F0502020204030204" pitchFamily="34" charset="0"/>
                </a:endParaRPr>
              </a:p>
              <a:p>
                <a:pPr marL="457200" lvl="0" indent="-342900" algn="just">
                  <a:lnSpc>
                    <a:spcPct val="113000"/>
                  </a:lnSpc>
                  <a:buSzPts val="1800"/>
                  <a:buChar char="●"/>
                </a:pPr>
                <a:r>
                  <a:rPr lang="en-IN" sz="1600" dirty="0">
                    <a:latin typeface="Calibri" panose="020F0502020204030204" pitchFamily="34" charset="0"/>
                  </a:rPr>
                  <a:t>Enthalpy changes can be represented using enthalpy profile diagrams.</a:t>
                </a:r>
              </a:p>
              <a:p>
                <a:pPr marL="0" lvl="0" indent="0" algn="l" rtl="0">
                  <a:lnSpc>
                    <a:spcPct val="113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sz="1600" dirty="0">
                  <a:latin typeface="Calibri" panose="020F0502020204030204" pitchFamily="34" charset="0"/>
                </a:endParaRPr>
              </a:p>
              <a:p>
                <a:pPr marL="0" lvl="0" indent="0" algn="l" rtl="0">
                  <a:lnSpc>
                    <a:spcPct val="11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dirty="0">
                  <a:latin typeface="Calibri" panose="020F0502020204030204" pitchFamily="34" charset="0"/>
                </a:endParaRPr>
              </a:p>
              <a:p>
                <a:pPr marL="0" lvl="0" indent="0" algn="l" rtl="0">
                  <a:lnSpc>
                    <a:spcPct val="11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8" name="Google Shape;118;p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00" y="2028225"/>
                <a:ext cx="7330800" cy="2492100"/>
              </a:xfrm>
              <a:prstGeom prst="rect">
                <a:avLst/>
              </a:prstGeom>
              <a:blipFill>
                <a:blip r:embed="rId3"/>
                <a:stretch>
                  <a:fillRect r="-41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>
            <a:spLocks noGrp="1"/>
          </p:cNvSpPr>
          <p:nvPr>
            <p:ph type="title"/>
          </p:nvPr>
        </p:nvSpPr>
        <p:spPr>
          <a:xfrm>
            <a:off x="116300" y="198850"/>
            <a:ext cx="4455700" cy="10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200" dirty="0">
                <a:latin typeface="Calibri" panose="020F0502020204030204" pitchFamily="34" charset="0"/>
              </a:rPr>
              <a:t>Enthalpy changes and enthalpy profile diagrams</a:t>
            </a:r>
          </a:p>
        </p:txBody>
      </p:sp>
      <p:sp>
        <p:nvSpPr>
          <p:cNvPr id="124" name="Google Shape;124;p27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>
              <a:buNone/>
            </a:pPr>
            <a:endParaRPr lang="en-IN" sz="1600" dirty="0">
              <a:latin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</a:rPr>
              <a:t>The combustion of methane in the presence of excess oxygen is an exothermic reaction. </a:t>
            </a:r>
          </a:p>
          <a:p>
            <a:r>
              <a:rPr lang="en-IN" sz="1600" dirty="0">
                <a:latin typeface="Calibri" panose="020F0502020204030204" pitchFamily="34" charset="0"/>
              </a:rPr>
              <a:t>For exothermic reactions, the enthalpy change is negative as ΔH(products) &lt; ΔH(reactants)</a:t>
            </a:r>
          </a:p>
          <a:p>
            <a:pPr marL="0" indent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-IN" sz="1600" dirty="0">
                <a:latin typeface="Calibri" panose="020F0502020204030204" pitchFamily="34" charset="0"/>
              </a:rPr>
              <a:t>CH</a:t>
            </a:r>
            <a:r>
              <a:rPr lang="en-IN" sz="1600" baseline="-25000" dirty="0">
                <a:latin typeface="Calibri" panose="020F0502020204030204" pitchFamily="34" charset="0"/>
              </a:rPr>
              <a:t>4</a:t>
            </a:r>
            <a:r>
              <a:rPr lang="en-IN" sz="1600" dirty="0">
                <a:latin typeface="Calibri" panose="020F0502020204030204" pitchFamily="34" charset="0"/>
              </a:rPr>
              <a:t> (g) + 2O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 (g) → CO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(g) + 2H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O(l)</a:t>
            </a:r>
          </a:p>
          <a:p>
            <a:pPr marL="0" indent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-IN" sz="1600" dirty="0">
                <a:latin typeface="Calibri" panose="020F0502020204030204" pitchFamily="34" charset="0"/>
              </a:rPr>
              <a:t> ΔH=-890.3 kJ/mol</a:t>
            </a:r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lang="en-IN" sz="1600" dirty="0">
              <a:latin typeface="Calibri" panose="020F0502020204030204" pitchFamily="34" charset="0"/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1279726" y="4744766"/>
            <a:ext cx="3346704" cy="364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1100" dirty="0"/>
              <a:t>Enthalpy profile diagram of an exothermic reaction</a:t>
            </a:r>
            <a:endParaRPr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C288A4-1DAD-45D3-A085-9453C6FDE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41" y="1418908"/>
            <a:ext cx="2962617" cy="300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79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>
            <a:spLocks noGrp="1"/>
          </p:cNvSpPr>
          <p:nvPr>
            <p:ph type="title"/>
          </p:nvPr>
        </p:nvSpPr>
        <p:spPr>
          <a:xfrm>
            <a:off x="127186" y="198850"/>
            <a:ext cx="4433928" cy="10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200" dirty="0">
                <a:solidFill>
                  <a:srgbClr val="000000"/>
                </a:solidFill>
                <a:latin typeface="Calibri" panose="020F0502020204030204" pitchFamily="34" charset="0"/>
              </a:rPr>
              <a:t>Enthalpy changes and enthalpy profile diagrams</a:t>
            </a:r>
          </a:p>
        </p:txBody>
      </p:sp>
      <p:sp>
        <p:nvSpPr>
          <p:cNvPr id="124" name="Google Shape;124;p27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>
              <a:buNone/>
            </a:pPr>
            <a:endParaRPr lang="en-IN" sz="1600" dirty="0">
              <a:latin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</a:rPr>
              <a:t>Thermal decomposition of calcium carbonate is an endothermic reaction. </a:t>
            </a:r>
          </a:p>
          <a:p>
            <a:pPr marL="114300" indent="0">
              <a:buNone/>
            </a:pPr>
            <a:endParaRPr lang="en-IN" sz="1600" dirty="0">
              <a:latin typeface="Calibri" panose="020F0502020204030204" pitchFamily="34" charset="0"/>
            </a:endParaRPr>
          </a:p>
          <a:p>
            <a:r>
              <a:rPr lang="en-IN" sz="1600" dirty="0">
                <a:latin typeface="Calibri" panose="020F0502020204030204" pitchFamily="34" charset="0"/>
              </a:rPr>
              <a:t>For endothermic reactions, the enthalpy change is positive as ΔH(products) &gt; ΔH(reactants)</a:t>
            </a:r>
          </a:p>
          <a:p>
            <a:pPr lvl="0"/>
            <a:endParaRPr lang="en-IN" sz="1600" dirty="0">
              <a:latin typeface="Calibri" panose="020F0502020204030204" pitchFamily="34" charset="0"/>
            </a:endParaRPr>
          </a:p>
          <a:p>
            <a:pPr marL="127000" indent="0" algn="ctr">
              <a:buNone/>
            </a:pPr>
            <a:r>
              <a:rPr lang="en-IN" sz="1600" dirty="0">
                <a:latin typeface="Calibri" panose="020F0502020204030204" pitchFamily="34" charset="0"/>
              </a:rPr>
              <a:t>CaCO</a:t>
            </a:r>
            <a:r>
              <a:rPr lang="en-IN" sz="1600" baseline="-25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 (s)→ </a:t>
            </a:r>
            <a:r>
              <a:rPr lang="en-IN" sz="1600" dirty="0" err="1">
                <a:latin typeface="Calibri" panose="020F0502020204030204" pitchFamily="34" charset="0"/>
              </a:rPr>
              <a:t>CaO</a:t>
            </a:r>
            <a:r>
              <a:rPr lang="en-IN" sz="1600" dirty="0">
                <a:latin typeface="Calibri" panose="020F0502020204030204" pitchFamily="34" charset="0"/>
              </a:rPr>
              <a:t>(s) +CO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 (g)</a:t>
            </a:r>
          </a:p>
          <a:p>
            <a:pPr marL="127000" indent="0" algn="ctr">
              <a:buNone/>
            </a:pPr>
            <a:endParaRPr lang="en-IN" sz="1600" dirty="0">
              <a:latin typeface="Calibri" panose="020F0502020204030204" pitchFamily="34" charset="0"/>
            </a:endParaRPr>
          </a:p>
          <a:p>
            <a:pPr marL="127000" indent="0" algn="ctr">
              <a:buNone/>
            </a:pPr>
            <a:r>
              <a:rPr lang="en-IN" sz="1600" dirty="0">
                <a:latin typeface="Calibri" panose="020F0502020204030204" pitchFamily="34" charset="0"/>
              </a:rPr>
              <a:t> ΔH=572kJ/mol</a:t>
            </a:r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endParaRPr lang="en-IN" sz="1600" dirty="0">
              <a:latin typeface="Calibri" panose="020F0502020204030204" pitchFamily="34" charset="0"/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1178914" y="4693694"/>
            <a:ext cx="3508336" cy="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1100" dirty="0"/>
              <a:t>Enthalpy profile diagram of an endothermic reaction</a:t>
            </a:r>
            <a:endParaRPr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ACCF19-E817-41C7-81C4-2DC6ED8E2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15" y="1512711"/>
            <a:ext cx="2984578" cy="302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60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933025" y="592925"/>
            <a:ext cx="6305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>
                <a:latin typeface="Calibri" panose="020F0502020204030204" pitchFamily="34" charset="0"/>
              </a:rPr>
              <a:t>Activation energy</a:t>
            </a:r>
            <a:endParaRPr dirty="0">
              <a:latin typeface="Calibri" panose="020F0502020204030204" pitchFamily="34" charset="0"/>
            </a:endParaRPr>
          </a:p>
        </p:txBody>
      </p:sp>
      <p:sp>
        <p:nvSpPr>
          <p:cNvPr id="118" name="Google Shape;118;p26"/>
          <p:cNvSpPr txBox="1"/>
          <p:nvPr/>
        </p:nvSpPr>
        <p:spPr>
          <a:xfrm>
            <a:off x="713889" y="1836314"/>
            <a:ext cx="7330800" cy="24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285750">
              <a:buSzPts val="1800"/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</a:rPr>
              <a:t>The minimum energy that colliding reactant particles must possess in order to start a reaction is called as activation energy. 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39D149-1576-43F9-BA5A-74F9EEFE885F}"/>
              </a:ext>
            </a:extLst>
          </p:cNvPr>
          <p:cNvSpPr/>
          <p:nvPr/>
        </p:nvSpPr>
        <p:spPr>
          <a:xfrm>
            <a:off x="1011059" y="4707329"/>
            <a:ext cx="31758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Activation energy of exothermic reaction</a:t>
            </a:r>
            <a:endParaRPr lang="en-IN" dirty="0">
              <a:latin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632F4D-2F3E-4892-A96E-0FF551E90C09}"/>
              </a:ext>
            </a:extLst>
          </p:cNvPr>
          <p:cNvSpPr/>
          <p:nvPr/>
        </p:nvSpPr>
        <p:spPr>
          <a:xfrm>
            <a:off x="4997225" y="4695899"/>
            <a:ext cx="328647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Activation energy of endothermic reaction</a:t>
            </a:r>
            <a:endParaRPr lang="en-IN" dirty="0">
              <a:latin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63F0D4-81AE-4AF7-9141-4EC0127A7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858" y="2496199"/>
            <a:ext cx="2758888" cy="22111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D78939-7029-4425-BA0B-5A29AB42C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262" y="2496199"/>
            <a:ext cx="2712290" cy="217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817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933025" y="592925"/>
            <a:ext cx="6305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>
                <a:latin typeface="Calibri" panose="020F0502020204030204" pitchFamily="34" charset="0"/>
              </a:rPr>
              <a:t>Standard change of enthalpy </a:t>
            </a:r>
          </a:p>
        </p:txBody>
      </p:sp>
      <p:sp>
        <p:nvSpPr>
          <p:cNvPr id="118" name="Google Shape;118;p26"/>
          <p:cNvSpPr txBox="1"/>
          <p:nvPr/>
        </p:nvSpPr>
        <p:spPr>
          <a:xfrm>
            <a:off x="578422" y="2058475"/>
            <a:ext cx="7330800" cy="24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285750" algn="just">
              <a:lnSpc>
                <a:spcPct val="113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The standard conditions for measuring enthalpy changes are:</a:t>
            </a:r>
          </a:p>
          <a:p>
            <a:pPr marL="868363" lvl="3" indent="-285750" algn="just">
              <a:lnSpc>
                <a:spcPct val="113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Pressure of 100 kPa (normal atmospheric pressure)</a:t>
            </a:r>
          </a:p>
          <a:p>
            <a:pPr marL="868363" lvl="3" indent="-285750" algn="just">
              <a:lnSpc>
                <a:spcPct val="113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Temperature of 298 K (25 ⁰C)</a:t>
            </a:r>
          </a:p>
          <a:p>
            <a:pPr marL="868363" lvl="3" indent="-285750" algn="just">
              <a:lnSpc>
                <a:spcPct val="113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Reactants are in the normal physical state at 100 kPa and 298 K</a:t>
            </a:r>
          </a:p>
          <a:p>
            <a:pPr marL="868363" lvl="3" indent="-285750" algn="just">
              <a:lnSpc>
                <a:spcPct val="113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Solutions at a concentration of 1 mol/dm</a:t>
            </a:r>
            <a:r>
              <a:rPr lang="en-IN" sz="1600" baseline="30000" dirty="0">
                <a:latin typeface="Calibri" panose="020F0502020204030204" pitchFamily="34" charset="0"/>
              </a:rPr>
              <a:t>3</a:t>
            </a:r>
          </a:p>
          <a:p>
            <a:pPr marL="868363" lvl="3" indent="-285750">
              <a:lnSpc>
                <a:spcPct val="113000"/>
              </a:lnSpc>
              <a:buSzPts val="1800"/>
              <a:buFont typeface="Arial" panose="020B0604020202020204" pitchFamily="34" charset="0"/>
              <a:buChar char="•"/>
            </a:pPr>
            <a:endParaRPr lang="en-IN" sz="1600" dirty="0">
              <a:latin typeface="Calibri" panose="020F0502020204030204" pitchFamily="34" charset="0"/>
            </a:endParaRPr>
          </a:p>
          <a:p>
            <a:pPr marL="400050" indent="-285750" algn="just">
              <a:lnSpc>
                <a:spcPct val="113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To denote that the enthalpy change has been calculated at standard pressure and temperature, symbol ⦵ is used.</a:t>
            </a:r>
          </a:p>
          <a:p>
            <a:pPr marL="114300" algn="ctr">
              <a:lnSpc>
                <a:spcPct val="113000"/>
              </a:lnSpc>
              <a:buSzPts val="1800"/>
            </a:pPr>
            <a:r>
              <a:rPr lang="en-IN" sz="1600" dirty="0">
                <a:latin typeface="Calibri" panose="020F0502020204030204" pitchFamily="34" charset="0"/>
              </a:rPr>
              <a:t>CH</a:t>
            </a:r>
            <a:r>
              <a:rPr lang="en-IN" sz="1600" baseline="-25000" dirty="0">
                <a:latin typeface="Calibri" panose="020F0502020204030204" pitchFamily="34" charset="0"/>
              </a:rPr>
              <a:t>4</a:t>
            </a:r>
            <a:r>
              <a:rPr lang="en-IN" sz="1600" dirty="0">
                <a:latin typeface="Calibri" panose="020F0502020204030204" pitchFamily="34" charset="0"/>
              </a:rPr>
              <a:t> (g) + 2O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 (g) → CO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(g) + 2H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O(l) ΔH</a:t>
            </a:r>
            <a:r>
              <a:rPr lang="en-IN" sz="1600" baseline="30000" dirty="0">
                <a:latin typeface="Calibri" panose="020F0502020204030204" pitchFamily="34" charset="0"/>
              </a:rPr>
              <a:t>⦵</a:t>
            </a:r>
            <a:r>
              <a:rPr lang="en-IN" sz="1600" dirty="0">
                <a:latin typeface="Calibri" panose="020F0502020204030204" pitchFamily="34" charset="0"/>
              </a:rPr>
              <a:t>=-890.3 kJ/mol</a:t>
            </a:r>
          </a:p>
          <a:p>
            <a:pPr marL="400050" indent="-285750">
              <a:lnSpc>
                <a:spcPct val="113000"/>
              </a:lnSpc>
              <a:buSzPts val="1800"/>
              <a:buFont typeface="Arial" panose="020B0604020202020204" pitchFamily="34" charset="0"/>
              <a:buChar char="•"/>
            </a:pPr>
            <a:endParaRPr lang="en-IN" sz="1600" dirty="0">
              <a:latin typeface="Calibri" panose="020F0502020204030204" pitchFamily="34" charset="0"/>
            </a:endParaRPr>
          </a:p>
          <a:p>
            <a:pPr marL="285750" lvl="0" indent="-28575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598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933025" y="592925"/>
            <a:ext cx="6305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latin typeface="Calibri" panose="020F0502020204030204" pitchFamily="34" charset="0"/>
              </a:rPr>
              <a:t>Standard enthalpy change of reaction</a:t>
            </a:r>
          </a:p>
        </p:txBody>
      </p:sp>
      <p:sp>
        <p:nvSpPr>
          <p:cNvPr id="118" name="Google Shape;118;p26"/>
          <p:cNvSpPr txBox="1"/>
          <p:nvPr/>
        </p:nvSpPr>
        <p:spPr>
          <a:xfrm>
            <a:off x="702600" y="2176593"/>
            <a:ext cx="7330800" cy="24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36600" lvl="0" indent="-285750" algn="just">
              <a:lnSpc>
                <a:spcPct val="114000"/>
              </a:lnSpc>
              <a:spcBef>
                <a:spcPts val="600"/>
              </a:spcBef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The standard enthalpy change of a reaction is the enthalpy change when the amount of reactants shown in balanced equation at standard pressure and temperature react to give products at standard pressure and temperature.</a:t>
            </a:r>
          </a:p>
          <a:p>
            <a:pPr marL="450850" algn="ctr">
              <a:lnSpc>
                <a:spcPct val="114000"/>
              </a:lnSpc>
              <a:spcBef>
                <a:spcPts val="600"/>
              </a:spcBef>
              <a:buSzPts val="1800"/>
            </a:pPr>
            <a:r>
              <a:rPr lang="en-IN" sz="1600" dirty="0">
                <a:latin typeface="Calibri" panose="020F0502020204030204" pitchFamily="34" charset="0"/>
              </a:rPr>
              <a:t>2H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 (g) +O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 (g) →2H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O (l) </a:t>
            </a:r>
            <a:r>
              <a:rPr lang="en-IN" sz="1600" dirty="0" err="1">
                <a:latin typeface="Calibri" panose="020F0502020204030204" pitchFamily="34" charset="0"/>
              </a:rPr>
              <a:t>ΔH</a:t>
            </a:r>
            <a:r>
              <a:rPr lang="en-IN" sz="1600" baseline="30000" dirty="0" err="1">
                <a:latin typeface="Calibri" panose="020F0502020204030204" pitchFamily="34" charset="0"/>
              </a:rPr>
              <a:t>⦵</a:t>
            </a:r>
            <a:r>
              <a:rPr lang="en-IN" sz="1600" baseline="-25000" dirty="0" err="1">
                <a:latin typeface="Calibri" panose="020F0502020204030204" pitchFamily="34" charset="0"/>
              </a:rPr>
              <a:t>r</a:t>
            </a:r>
            <a:r>
              <a:rPr lang="en-IN" sz="1600" dirty="0">
                <a:latin typeface="Calibri" panose="020F0502020204030204" pitchFamily="34" charset="0"/>
              </a:rPr>
              <a:t>=-572 kJ/mol</a:t>
            </a:r>
          </a:p>
          <a:p>
            <a:pPr marL="450850" lvl="0" algn="just">
              <a:lnSpc>
                <a:spcPct val="114000"/>
              </a:lnSpc>
              <a:spcBef>
                <a:spcPts val="600"/>
              </a:spcBef>
              <a:buSzPts val="1800"/>
            </a:pPr>
            <a:endParaRPr lang="en" sz="1600" dirty="0">
              <a:latin typeface="Calibri" panose="020F0502020204030204" pitchFamily="34" charset="0"/>
            </a:endParaRPr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972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933025" y="592925"/>
            <a:ext cx="6305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Standard enthalpy change of 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Google Shape;118;p26"/>
              <p:cNvSpPr txBox="1"/>
              <p:nvPr/>
            </p:nvSpPr>
            <p:spPr>
              <a:xfrm>
                <a:off x="702600" y="1942753"/>
                <a:ext cx="7330800" cy="24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57200" lvl="0" indent="-342900" algn="just">
                  <a:buSzPts val="1800"/>
                  <a:buChar char="●"/>
                </a:pPr>
                <a:endParaRPr lang="en-IN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736600" lvl="0" indent="-285750" algn="just">
                  <a:spcBef>
                    <a:spcPts val="1000"/>
                  </a:spcBef>
                  <a:buSzPts val="1800"/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Calibri" panose="020F0502020204030204" pitchFamily="34" charset="0"/>
                  </a:rPr>
                  <a:t>The standard enthalpy change of formation is the enthalpy change when one mole of a compound is formed from its elements at standard conditions.</a:t>
                </a:r>
              </a:p>
              <a:p>
                <a:pPr marL="736600" lvl="0" indent="-285750" algn="just">
                  <a:spcBef>
                    <a:spcPts val="1000"/>
                  </a:spcBef>
                  <a:buSzPts val="1800"/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Calibri" panose="020F0502020204030204" pitchFamily="34" charset="0"/>
                  </a:rPr>
                  <a:t>For example: to produce 1 mol of water, 1 mol of hydrogen molecules and half a mol of oxygen molecules reacts. </a:t>
                </a:r>
              </a:p>
              <a:p>
                <a:pPr marL="450850" algn="ctr">
                  <a:spcBef>
                    <a:spcPts val="1000"/>
                  </a:spcBef>
                  <a:buSzPts val="1800"/>
                </a:pPr>
                <a:r>
                  <a:rPr lang="en-IN" sz="1600" dirty="0">
                    <a:latin typeface="Calibri" panose="020F0502020204030204" pitchFamily="34" charset="0"/>
                  </a:rPr>
                  <a:t>H</a:t>
                </a:r>
                <a:r>
                  <a:rPr lang="en-IN" sz="1600" baseline="-25000" dirty="0">
                    <a:latin typeface="Calibri" panose="020F0502020204030204" pitchFamily="34" charset="0"/>
                  </a:rPr>
                  <a:t>2</a:t>
                </a:r>
                <a:r>
                  <a:rPr lang="en-IN" sz="1600" dirty="0">
                    <a:latin typeface="Calibri" panose="020F0502020204030204" pitchFamily="34" charset="0"/>
                  </a:rPr>
                  <a:t> (g)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6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 sz="16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ar-AE" sz="160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1600" dirty="0">
                    <a:latin typeface="Calibri" panose="020F0502020204030204" pitchFamily="34" charset="0"/>
                  </a:rPr>
                  <a:t>O</a:t>
                </a:r>
                <a:r>
                  <a:rPr lang="en-IN" sz="1600" baseline="-25000" dirty="0">
                    <a:latin typeface="Calibri" panose="020F0502020204030204" pitchFamily="34" charset="0"/>
                  </a:rPr>
                  <a:t>2</a:t>
                </a:r>
                <a:r>
                  <a:rPr lang="en-IN" sz="1600" dirty="0">
                    <a:latin typeface="Calibri" panose="020F0502020204030204" pitchFamily="34" charset="0"/>
                  </a:rPr>
                  <a:t> (g) →2H</a:t>
                </a:r>
                <a:r>
                  <a:rPr lang="en-IN" sz="1600" baseline="-25000" dirty="0">
                    <a:latin typeface="Calibri" panose="020F0502020204030204" pitchFamily="34" charset="0"/>
                  </a:rPr>
                  <a:t>2</a:t>
                </a:r>
                <a:r>
                  <a:rPr lang="en-IN" sz="1600" dirty="0">
                    <a:latin typeface="Calibri" panose="020F0502020204030204" pitchFamily="34" charset="0"/>
                  </a:rPr>
                  <a:t>O (l) </a:t>
                </a:r>
                <a:r>
                  <a:rPr lang="el-GR" sz="1600" dirty="0">
                    <a:latin typeface="Calibri" panose="020F0502020204030204" pitchFamily="34" charset="0"/>
                  </a:rPr>
                  <a:t>Δ</a:t>
                </a:r>
                <a:r>
                  <a:rPr lang="en-IN" sz="1600" dirty="0" err="1">
                    <a:latin typeface="Calibri" panose="020F0502020204030204" pitchFamily="34" charset="0"/>
                  </a:rPr>
                  <a:t>H</a:t>
                </a:r>
                <a:r>
                  <a:rPr lang="en-IN" sz="1600" baseline="30000" dirty="0" err="1">
                    <a:latin typeface="Calibri" panose="020F0502020204030204" pitchFamily="34" charset="0"/>
                  </a:rPr>
                  <a:t>⦵</a:t>
                </a:r>
                <a:r>
                  <a:rPr lang="en-IN" sz="1600" dirty="0" err="1">
                    <a:latin typeface="Calibri" panose="020F0502020204030204" pitchFamily="34" charset="0"/>
                  </a:rPr>
                  <a:t>f</a:t>
                </a:r>
                <a:r>
                  <a:rPr lang="en-IN" sz="1600" dirty="0">
                    <a:latin typeface="Calibri" panose="020F0502020204030204" pitchFamily="34" charset="0"/>
                  </a:rPr>
                  <a:t>=-286 kJ/mol</a:t>
                </a:r>
              </a:p>
              <a:p>
                <a:pPr marL="722313" indent="-285750" algn="just">
                  <a:buSzPts val="1800"/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Calibri" panose="020F0502020204030204" pitchFamily="34" charset="0"/>
                  </a:rPr>
                  <a:t>Standard enthalpy change for formation of any element at standard conditions is zero.</a:t>
                </a:r>
              </a:p>
              <a:p>
                <a:pPr marL="114300" lvl="0" algn="just">
                  <a:buSzPts val="1800"/>
                </a:pPr>
                <a:endParaRPr lang="en-IN" sz="1600" dirty="0">
                  <a:latin typeface="Calibri" panose="020F0502020204030204" pitchFamily="34" charset="0"/>
                </a:endParaRPr>
              </a:p>
              <a:p>
                <a:pPr marL="450850" lvl="0" algn="just">
                  <a:spcBef>
                    <a:spcPts val="1000"/>
                  </a:spcBef>
                  <a:buSzPts val="1800"/>
                </a:pPr>
                <a:endParaRPr lang="en-IN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lang="en-IN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IN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IN" dirty="0">
                  <a:solidFill>
                    <a:srgbClr val="000000"/>
                  </a:solidFill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8" name="Google Shape;118;p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00" y="1942753"/>
                <a:ext cx="7330800" cy="2492100"/>
              </a:xfrm>
              <a:prstGeom prst="rect">
                <a:avLst/>
              </a:prstGeom>
              <a:blipFill>
                <a:blip r:embed="rId3"/>
                <a:stretch>
                  <a:fillRect r="-416" b="-48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4428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933025" y="592925"/>
            <a:ext cx="6305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latin typeface="Calibri" panose="020F0502020204030204" pitchFamily="34" charset="0"/>
              </a:rPr>
              <a:t>Standard enthalpy change of combustion</a:t>
            </a:r>
          </a:p>
        </p:txBody>
      </p:sp>
      <p:sp>
        <p:nvSpPr>
          <p:cNvPr id="118" name="Google Shape;118;p26"/>
          <p:cNvSpPr txBox="1"/>
          <p:nvPr/>
        </p:nvSpPr>
        <p:spPr>
          <a:xfrm>
            <a:off x="702600" y="1974602"/>
            <a:ext cx="7330800" cy="24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36600" indent="-285750" algn="just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The standard enthalpy change of combustion is the enthalpy change when one mole of a substance is burnt in the presence of excess oxygen at standard conditions. </a:t>
            </a:r>
          </a:p>
          <a:p>
            <a:pPr marL="736600" indent="-285750" algn="just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For example: the standard enthalpy change of combustion of sulphur is -296.8 kJ/mol.</a:t>
            </a:r>
          </a:p>
          <a:p>
            <a:pPr marL="127000" algn="ctr">
              <a:lnSpc>
                <a:spcPct val="114000"/>
              </a:lnSpc>
              <a:spcBef>
                <a:spcPts val="600"/>
              </a:spcBef>
            </a:pPr>
            <a:r>
              <a:rPr lang="en-IN" sz="1600" dirty="0">
                <a:latin typeface="Calibri" panose="020F0502020204030204" pitchFamily="34" charset="0"/>
              </a:rPr>
              <a:t>S (s) + O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 (g) → SO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(g) ΔH</a:t>
            </a:r>
            <a:r>
              <a:rPr lang="en-IN" sz="1600" baseline="30000" dirty="0">
                <a:latin typeface="Calibri" panose="020F0502020204030204" pitchFamily="34" charset="0"/>
              </a:rPr>
              <a:t>⦵</a:t>
            </a:r>
            <a:r>
              <a:rPr lang="en-IN" sz="1600" baseline="-25000" dirty="0">
                <a:latin typeface="Calibri" panose="020F0502020204030204" pitchFamily="34" charset="0"/>
              </a:rPr>
              <a:t>C</a:t>
            </a:r>
            <a:r>
              <a:rPr lang="en-IN" sz="1600" dirty="0">
                <a:latin typeface="Calibri" panose="020F0502020204030204" pitchFamily="34" charset="0"/>
              </a:rPr>
              <a:t> [S(s)]=-296.8 kJ/mol</a:t>
            </a:r>
          </a:p>
          <a:p>
            <a:pPr marL="400050" lvl="0" indent="-285750" algn="just">
              <a:lnSpc>
                <a:spcPct val="114000"/>
              </a:lnSpc>
              <a:spcBef>
                <a:spcPts val="600"/>
              </a:spcBef>
              <a:buSzPts val="1800"/>
              <a:buFont typeface="Arial" panose="020B0604020202020204" pitchFamily="34" charset="0"/>
              <a:buChar char="•"/>
            </a:pPr>
            <a:endParaRPr lang="en-IN" sz="1600" dirty="0">
              <a:latin typeface="Calibri" panose="020F0502020204030204" pitchFamily="34" charset="0"/>
            </a:endParaRPr>
          </a:p>
          <a:p>
            <a:pPr marL="736600" lvl="0" indent="-285750" algn="just">
              <a:lnSpc>
                <a:spcPct val="114000"/>
              </a:lnSpc>
              <a:spcBef>
                <a:spcPts val="600"/>
              </a:spcBef>
              <a:buSzPts val="1800"/>
              <a:buFont typeface="Arial" panose="020B0604020202020204" pitchFamily="34" charset="0"/>
              <a:buChar char="•"/>
            </a:pPr>
            <a:endParaRPr lang="en" sz="1600" dirty="0">
              <a:latin typeface="Calibri" panose="020F0502020204030204" pitchFamily="34" charset="0"/>
            </a:endParaRPr>
          </a:p>
          <a:p>
            <a:pPr marL="285750" lvl="0" indent="-28575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latin typeface="Calibri" panose="020F0502020204030204" pitchFamily="34" charset="0"/>
            </a:endParaRPr>
          </a:p>
          <a:p>
            <a:pPr marL="285750" lvl="0" indent="-28575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latin typeface="Calibri" panose="020F0502020204030204" pitchFamily="34" charset="0"/>
            </a:endParaRPr>
          </a:p>
          <a:p>
            <a:pPr marL="285750" lvl="0" indent="-28575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955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933025" y="592925"/>
            <a:ext cx="6305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latin typeface="Calibri" panose="020F0502020204030204" pitchFamily="34" charset="0"/>
              </a:rPr>
              <a:t>Standard enthalpy change of </a:t>
            </a:r>
            <a:r>
              <a:rPr lang="en-US" dirty="0" err="1">
                <a:latin typeface="Calibri" panose="020F0502020204030204" pitchFamily="34" charset="0"/>
              </a:rPr>
              <a:t>neutralisation</a:t>
            </a: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8" name="Google Shape;118;p26"/>
          <p:cNvSpPr txBox="1"/>
          <p:nvPr/>
        </p:nvSpPr>
        <p:spPr>
          <a:xfrm>
            <a:off x="702600" y="1916948"/>
            <a:ext cx="7330800" cy="24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just">
              <a:lnSpc>
                <a:spcPct val="114000"/>
              </a:lnSpc>
              <a:spcBef>
                <a:spcPts val="600"/>
              </a:spcBef>
              <a:buSzPts val="1800"/>
              <a:buChar char="●"/>
            </a:pPr>
            <a:endParaRPr lang="en-IN" sz="1600" dirty="0">
              <a:latin typeface="Calibri" panose="020F0502020204030204" pitchFamily="34" charset="0"/>
            </a:endParaRPr>
          </a:p>
          <a:p>
            <a:pPr marL="736600" indent="-285750" algn="just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The standard enthalpy change of neutralisation is the enthalpy change when 1 mol of water is formed when acid and alkali react under standard conditions. </a:t>
            </a:r>
          </a:p>
          <a:p>
            <a:pPr marL="736600" indent="-285750" algn="just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For example:</a:t>
            </a:r>
          </a:p>
          <a:p>
            <a:pPr marL="450850" algn="ctr">
              <a:lnSpc>
                <a:spcPct val="114000"/>
              </a:lnSpc>
              <a:spcBef>
                <a:spcPts val="600"/>
              </a:spcBef>
            </a:pPr>
            <a:r>
              <a:rPr lang="en-IN" sz="1600" dirty="0">
                <a:latin typeface="Calibri" panose="020F0502020204030204" pitchFamily="34" charset="0"/>
              </a:rPr>
              <a:t>HCl (</a:t>
            </a:r>
            <a:r>
              <a:rPr lang="en-IN" sz="1600" dirty="0" err="1">
                <a:latin typeface="Calibri" panose="020F0502020204030204" pitchFamily="34" charset="0"/>
              </a:rPr>
              <a:t>aq</a:t>
            </a:r>
            <a:r>
              <a:rPr lang="en-IN" sz="1600" dirty="0">
                <a:latin typeface="Calibri" panose="020F0502020204030204" pitchFamily="34" charset="0"/>
              </a:rPr>
              <a:t>) + NaOH (</a:t>
            </a:r>
            <a:r>
              <a:rPr lang="en-IN" sz="1600" dirty="0" err="1">
                <a:latin typeface="Calibri" panose="020F0502020204030204" pitchFamily="34" charset="0"/>
              </a:rPr>
              <a:t>aq</a:t>
            </a:r>
            <a:r>
              <a:rPr lang="en-IN" sz="1600" dirty="0">
                <a:latin typeface="Calibri" panose="020F0502020204030204" pitchFamily="34" charset="0"/>
              </a:rPr>
              <a:t>) → NaCl (</a:t>
            </a:r>
            <a:r>
              <a:rPr lang="en-IN" sz="1600" dirty="0" err="1">
                <a:latin typeface="Calibri" panose="020F0502020204030204" pitchFamily="34" charset="0"/>
              </a:rPr>
              <a:t>aq</a:t>
            </a:r>
            <a:r>
              <a:rPr lang="en-IN" sz="1600" dirty="0">
                <a:latin typeface="Calibri" panose="020F0502020204030204" pitchFamily="34" charset="0"/>
              </a:rPr>
              <a:t>) + H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O (l) </a:t>
            </a:r>
            <a:r>
              <a:rPr lang="en-IN" sz="1600" dirty="0" err="1">
                <a:latin typeface="Calibri" panose="020F0502020204030204" pitchFamily="34" charset="0"/>
              </a:rPr>
              <a:t>ΔH</a:t>
            </a:r>
            <a:r>
              <a:rPr lang="en-IN" sz="1600" baseline="30000" dirty="0" err="1">
                <a:latin typeface="Calibri" panose="020F0502020204030204" pitchFamily="34" charset="0"/>
              </a:rPr>
              <a:t>⦵</a:t>
            </a:r>
            <a:r>
              <a:rPr lang="en-IN" sz="1600" baseline="-25000" dirty="0" err="1">
                <a:latin typeface="Calibri" panose="020F0502020204030204" pitchFamily="34" charset="0"/>
              </a:rPr>
              <a:t>n</a:t>
            </a:r>
            <a:r>
              <a:rPr lang="en-IN" sz="1600" dirty="0">
                <a:latin typeface="Calibri" panose="020F0502020204030204" pitchFamily="34" charset="0"/>
              </a:rPr>
              <a:t>=-57.1 kJ/mol</a:t>
            </a:r>
          </a:p>
          <a:p>
            <a:pPr marL="736600" indent="-285750" algn="just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sz="1600" dirty="0">
              <a:latin typeface="Calibri" panose="020F0502020204030204" pitchFamily="34" charset="0"/>
            </a:endParaRPr>
          </a:p>
          <a:p>
            <a:pPr marL="400050" lvl="0" indent="-285750" algn="just">
              <a:lnSpc>
                <a:spcPct val="114000"/>
              </a:lnSpc>
              <a:spcBef>
                <a:spcPts val="600"/>
              </a:spcBef>
              <a:buSzPts val="1800"/>
              <a:buFont typeface="Arial" panose="020B0604020202020204" pitchFamily="34" charset="0"/>
              <a:buChar char="•"/>
            </a:pPr>
            <a:endParaRPr lang="en-IN" sz="1600" dirty="0">
              <a:latin typeface="Calibri" panose="020F0502020204030204" pitchFamily="34" charset="0"/>
            </a:endParaRPr>
          </a:p>
          <a:p>
            <a:pPr marL="736600" lvl="0" indent="-285750" algn="just">
              <a:lnSpc>
                <a:spcPct val="114000"/>
              </a:lnSpc>
              <a:spcBef>
                <a:spcPts val="600"/>
              </a:spcBef>
              <a:buSzPts val="1800"/>
              <a:buFont typeface="Arial" panose="020B0604020202020204" pitchFamily="34" charset="0"/>
              <a:buChar char="•"/>
            </a:pPr>
            <a:endParaRPr lang="en" sz="1600" dirty="0">
              <a:latin typeface="Calibri" panose="020F0502020204030204" pitchFamily="34" charset="0"/>
            </a:endParaRPr>
          </a:p>
          <a:p>
            <a:pPr marL="285750" lvl="0" indent="-28575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latin typeface="Calibri" panose="020F0502020204030204" pitchFamily="34" charset="0"/>
            </a:endParaRPr>
          </a:p>
          <a:p>
            <a:pPr marL="285750" lvl="0" indent="-28575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latin typeface="Calibri" panose="020F0502020204030204" pitchFamily="34" charset="0"/>
            </a:endParaRPr>
          </a:p>
          <a:p>
            <a:pPr marL="285750" lvl="0" indent="-28575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741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>
            <a:spLocks noGrp="1"/>
          </p:cNvSpPr>
          <p:nvPr>
            <p:ph type="title"/>
          </p:nvPr>
        </p:nvSpPr>
        <p:spPr>
          <a:xfrm>
            <a:off x="662950" y="198850"/>
            <a:ext cx="3362400" cy="10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</a:rPr>
              <a:t>Measuring enthalpy changes experimentally using calorimetry</a:t>
            </a:r>
          </a:p>
        </p:txBody>
      </p:sp>
      <p:sp>
        <p:nvSpPr>
          <p:cNvPr id="124" name="Google Shape;124;p27"/>
          <p:cNvSpPr txBox="1">
            <a:spLocks noGrp="1"/>
          </p:cNvSpPr>
          <p:nvPr>
            <p:ph type="body" idx="2"/>
          </p:nvPr>
        </p:nvSpPr>
        <p:spPr>
          <a:xfrm>
            <a:off x="4740812" y="417478"/>
            <a:ext cx="3957753" cy="36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The apparatus used in calorimetry is called as calorimeter. 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A polystyrene cup or vacuum flask can act as a calorimeter. Known amounts of reactants and known volumes of liquids are taken. 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The temperature changes are measured using thermometer. 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The enthalpy change is given by the equation,</a:t>
            </a:r>
          </a:p>
          <a:p>
            <a:pPr marL="127000" indent="0" algn="ctr">
              <a:buNone/>
            </a:pPr>
            <a:r>
              <a:rPr lang="en-IN" sz="1600" dirty="0">
                <a:latin typeface="Calibri" panose="020F0502020204030204" pitchFamily="34" charset="0"/>
              </a:rPr>
              <a:t>ΔH=-</a:t>
            </a:r>
            <a:r>
              <a:rPr lang="en-IN" sz="1600" dirty="0" err="1">
                <a:latin typeface="Calibri" panose="020F0502020204030204" pitchFamily="34" charset="0"/>
              </a:rPr>
              <a:t>mcΔT</a:t>
            </a:r>
            <a:r>
              <a:rPr lang="en-IN" sz="1600" dirty="0">
                <a:latin typeface="Calibri" panose="020F0502020204030204" pitchFamily="34" charset="0"/>
              </a:rPr>
              <a:t>/ n</a:t>
            </a:r>
          </a:p>
          <a:p>
            <a:pPr marL="450850" indent="0" algn="just">
              <a:buNone/>
            </a:pPr>
            <a:r>
              <a:rPr lang="en-IN" sz="1600" dirty="0">
                <a:latin typeface="Calibri" panose="020F0502020204030204" pitchFamily="34" charset="0"/>
              </a:rPr>
              <a:t>where m is the mass of water in grams, c is the specific heat capacity of water (4.18 J/</a:t>
            </a:r>
            <a:r>
              <a:rPr lang="en-IN" sz="1600" dirty="0" err="1">
                <a:latin typeface="Calibri" panose="020F0502020204030204" pitchFamily="34" charset="0"/>
              </a:rPr>
              <a:t>g</a:t>
            </a:r>
            <a:r>
              <a:rPr lang="en-IN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⁰</a:t>
            </a:r>
            <a:r>
              <a:rPr lang="en-IN" sz="1600" dirty="0" err="1">
                <a:latin typeface="Calibri" panose="020F0502020204030204" pitchFamily="34" charset="0"/>
              </a:rPr>
              <a:t>C</a:t>
            </a:r>
            <a:r>
              <a:rPr lang="en-IN" sz="1600" dirty="0">
                <a:latin typeface="Calibri" panose="020F0502020204030204" pitchFamily="34" charset="0"/>
              </a:rPr>
              <a:t>) and ΔT is the change in temperature in degree Celsius (⁰C). </a:t>
            </a:r>
            <a:r>
              <a:rPr lang="en-US" sz="1600" dirty="0">
                <a:latin typeface="Calibri" panose="020F0502020204030204" pitchFamily="34" charset="0"/>
              </a:rPr>
              <a:t>n is the amount of fuel burnt in moles.</a:t>
            </a:r>
            <a:endParaRPr lang="en-IN" sz="1600" dirty="0">
              <a:latin typeface="Calibri" panose="020F0502020204030204" pitchFamily="34" charset="0"/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1611087" y="4732007"/>
            <a:ext cx="2928256" cy="284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1100" dirty="0"/>
              <a:t>Measuring enthalpy changes experimentally</a:t>
            </a:r>
            <a:endParaRPr sz="11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94" y="1465788"/>
            <a:ext cx="3029712" cy="31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777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>
            <a:spLocks noGrp="1"/>
          </p:cNvSpPr>
          <p:nvPr>
            <p:ph type="title"/>
          </p:nvPr>
        </p:nvSpPr>
        <p:spPr>
          <a:xfrm>
            <a:off x="662950" y="198850"/>
            <a:ext cx="3362400" cy="10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</a:rPr>
              <a:t>Measuring enthalpy changes experimentally using calorimetry</a:t>
            </a:r>
          </a:p>
        </p:txBody>
      </p:sp>
      <p:sp>
        <p:nvSpPr>
          <p:cNvPr id="124" name="Google Shape;124;p27"/>
          <p:cNvSpPr txBox="1">
            <a:spLocks noGrp="1"/>
          </p:cNvSpPr>
          <p:nvPr>
            <p:ph type="body" idx="2"/>
          </p:nvPr>
        </p:nvSpPr>
        <p:spPr>
          <a:xfrm>
            <a:off x="4895432" y="437668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2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In calorimetry, acids, alkalis and salts are assumed to consist of large  amounts of water. </a:t>
            </a:r>
          </a:p>
          <a:p>
            <a:pPr marL="412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In case of solutions, it is assumed that 1 cm</a:t>
            </a:r>
            <a:r>
              <a:rPr lang="en-IN" sz="1600" baseline="30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 of solution has 1 g. </a:t>
            </a:r>
          </a:p>
          <a:p>
            <a:pPr marL="412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It is also assumed that the specific heat capacity of solutions is same as water.</a:t>
            </a:r>
          </a:p>
          <a:p>
            <a:pPr marL="412750" indent="-2857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sz="1600" dirty="0">
              <a:latin typeface="Calibri" panose="020F0502020204030204" pitchFamily="34" charset="0"/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1611087" y="4732007"/>
            <a:ext cx="2928256" cy="284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1100" dirty="0"/>
              <a:t>Measuring enthalpy changes experimentally</a:t>
            </a:r>
            <a:endParaRPr sz="11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94" y="1465788"/>
            <a:ext cx="3029712" cy="31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69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933025" y="592925"/>
            <a:ext cx="6305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latin typeface="Calibri" panose="020F0502020204030204" pitchFamily="34" charset="0"/>
              </a:rPr>
              <a:t>Finding enthalpy change of </a:t>
            </a:r>
            <a:r>
              <a:rPr lang="en-US" dirty="0" err="1">
                <a:latin typeface="Calibri" panose="020F0502020204030204" pitchFamily="34" charset="0"/>
              </a:rPr>
              <a:t>neutralisation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IN" dirty="0">
                <a:latin typeface="Calibri" panose="020F0502020204030204" pitchFamily="34" charset="0"/>
              </a:rPr>
              <a:t>using calorimetry</a:t>
            </a:r>
          </a:p>
        </p:txBody>
      </p:sp>
      <p:sp>
        <p:nvSpPr>
          <p:cNvPr id="118" name="Google Shape;118;p26"/>
          <p:cNvSpPr txBox="1"/>
          <p:nvPr/>
        </p:nvSpPr>
        <p:spPr>
          <a:xfrm>
            <a:off x="702600" y="2028225"/>
            <a:ext cx="7330800" cy="24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 algn="just">
              <a:lnSpc>
                <a:spcPct val="114000"/>
              </a:lnSpc>
              <a:spcBef>
                <a:spcPts val="600"/>
              </a:spcBef>
              <a:buNone/>
            </a:pPr>
            <a:r>
              <a:rPr lang="en-IN" sz="1600" dirty="0">
                <a:latin typeface="Calibri" panose="020F0502020204030204" pitchFamily="34" charset="0"/>
              </a:rPr>
              <a:t>Example 1: The enthalpy change of neutralisation of sodium hydroxide and hydrochloric acid is found using equimolar and equal volumes of hydrochloric acid and sodium hydroxide.</a:t>
            </a:r>
          </a:p>
          <a:p>
            <a:pPr marL="527050" lvl="0" indent="-400050" algn="just">
              <a:lnSpc>
                <a:spcPct val="114000"/>
              </a:lnSpc>
              <a:spcBef>
                <a:spcPts val="600"/>
              </a:spcBef>
              <a:buFont typeface="+mj-lt"/>
              <a:buAutoNum type="romanLcPeriod"/>
            </a:pPr>
            <a:r>
              <a:rPr lang="en-IN" sz="1600" dirty="0">
                <a:latin typeface="Calibri" panose="020F0502020204030204" pitchFamily="34" charset="0"/>
              </a:rPr>
              <a:t>Measure 50 cm</a:t>
            </a:r>
            <a:r>
              <a:rPr lang="en-IN" sz="1600" baseline="30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 of 1.0 mol/dm</a:t>
            </a:r>
            <a:r>
              <a:rPr lang="en-IN" sz="1600" baseline="30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 hydrochloric acid in polystyrene cup and record its temperature.</a:t>
            </a:r>
          </a:p>
          <a:p>
            <a:pPr marL="527050" lvl="0" indent="-400050" algn="just">
              <a:lnSpc>
                <a:spcPct val="114000"/>
              </a:lnSpc>
              <a:spcBef>
                <a:spcPts val="600"/>
              </a:spcBef>
              <a:buFont typeface="+mj-lt"/>
              <a:buAutoNum type="romanLcPeriod"/>
            </a:pPr>
            <a:r>
              <a:rPr lang="en-IN" sz="1600" dirty="0">
                <a:latin typeface="Calibri" panose="020F0502020204030204" pitchFamily="34" charset="0"/>
              </a:rPr>
              <a:t>Add 50 cm</a:t>
            </a:r>
            <a:r>
              <a:rPr lang="en-IN" sz="1600" baseline="30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 of 1.0 mol/dm</a:t>
            </a:r>
            <a:r>
              <a:rPr lang="en-IN" sz="1600" baseline="30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 sodium hydroxide (at same temperature of acid) into polystyrene cup.</a:t>
            </a:r>
          </a:p>
          <a:p>
            <a:pPr marL="527050" lvl="0" indent="-400050" algn="just">
              <a:lnSpc>
                <a:spcPct val="114000"/>
              </a:lnSpc>
              <a:spcBef>
                <a:spcPts val="600"/>
              </a:spcBef>
              <a:buFont typeface="+mj-lt"/>
              <a:buAutoNum type="romanLcPeriod"/>
            </a:pPr>
            <a:r>
              <a:rPr lang="en-IN" sz="1600" dirty="0">
                <a:latin typeface="Calibri" panose="020F0502020204030204" pitchFamily="34" charset="0"/>
              </a:rPr>
              <a:t>Stir the mixture and record the highest temperature</a:t>
            </a:r>
            <a:endParaRPr sz="1600" dirty="0">
              <a:latin typeface="Calibri" panose="020F0502020204030204" pitchFamily="34" charset="0"/>
            </a:endParaRPr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76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933025" y="592925"/>
            <a:ext cx="6305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latin typeface="Calibri" panose="020F0502020204030204" pitchFamily="34" charset="0"/>
              </a:rPr>
              <a:t>Finding enthalpy change of </a:t>
            </a:r>
            <a:r>
              <a:rPr lang="en-US" dirty="0" err="1">
                <a:latin typeface="Calibri" panose="020F0502020204030204" pitchFamily="34" charset="0"/>
              </a:rPr>
              <a:t>neutralisation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IN" dirty="0">
                <a:latin typeface="Calibri" panose="020F0502020204030204" pitchFamily="34" charset="0"/>
              </a:rPr>
              <a:t>using calorimetry</a:t>
            </a:r>
          </a:p>
        </p:txBody>
      </p:sp>
      <p:sp>
        <p:nvSpPr>
          <p:cNvPr id="118" name="Google Shape;118;p26"/>
          <p:cNvSpPr txBox="1"/>
          <p:nvPr/>
        </p:nvSpPr>
        <p:spPr>
          <a:xfrm>
            <a:off x="3253889" y="1666980"/>
            <a:ext cx="5551444" cy="24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 algn="just">
              <a:lnSpc>
                <a:spcPct val="114000"/>
              </a:lnSpc>
              <a:spcBef>
                <a:spcPts val="600"/>
              </a:spcBef>
              <a:buNone/>
            </a:pPr>
            <a:r>
              <a:rPr lang="en-IN" sz="1600" b="1" dirty="0">
                <a:latin typeface="Calibri" panose="020F0502020204030204" pitchFamily="34" charset="0"/>
              </a:rPr>
              <a:t>Calculations:</a:t>
            </a:r>
            <a:endParaRPr lang="en-IN" sz="1600" dirty="0">
              <a:latin typeface="Calibri" panose="020F0502020204030204" pitchFamily="34" charset="0"/>
            </a:endParaRPr>
          </a:p>
          <a:p>
            <a:pPr marL="127000" indent="0" algn="just">
              <a:lnSpc>
                <a:spcPct val="114000"/>
              </a:lnSpc>
              <a:spcBef>
                <a:spcPts val="600"/>
              </a:spcBef>
              <a:buNone/>
            </a:pPr>
            <a:r>
              <a:rPr lang="en-IN" sz="1600" dirty="0">
                <a:latin typeface="Calibri" panose="020F0502020204030204" pitchFamily="34" charset="0"/>
              </a:rPr>
              <a:t>Using the assumption that 1 cm</a:t>
            </a:r>
            <a:r>
              <a:rPr lang="en-IN" sz="1600" baseline="30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 =1g,</a:t>
            </a:r>
          </a:p>
          <a:p>
            <a:pPr marL="127000" indent="0" algn="just">
              <a:lnSpc>
                <a:spcPct val="114000"/>
              </a:lnSpc>
              <a:spcBef>
                <a:spcPts val="600"/>
              </a:spcBef>
              <a:buNone/>
            </a:pPr>
            <a:r>
              <a:rPr lang="en-IN" sz="1600" dirty="0">
                <a:latin typeface="Calibri" panose="020F0502020204030204" pitchFamily="34" charset="0"/>
              </a:rPr>
              <a:t>Mass of solution = 100 g (50 cm</a:t>
            </a:r>
            <a:r>
              <a:rPr lang="en-IN" sz="1600" baseline="30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 of HCl and 50 cm</a:t>
            </a:r>
            <a:r>
              <a:rPr lang="en-IN" sz="1600" baseline="30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 of NaOH)</a:t>
            </a:r>
          </a:p>
          <a:p>
            <a:pPr marL="127000" indent="0" algn="just">
              <a:lnSpc>
                <a:spcPct val="114000"/>
              </a:lnSpc>
              <a:spcBef>
                <a:spcPts val="600"/>
              </a:spcBef>
              <a:buNone/>
            </a:pPr>
            <a:r>
              <a:rPr lang="en-IN" sz="1600" dirty="0">
                <a:latin typeface="Calibri" panose="020F0502020204030204" pitchFamily="34" charset="0"/>
              </a:rPr>
              <a:t>Specific heat capacity = 4.18 J/ g ⁰C</a:t>
            </a:r>
          </a:p>
          <a:p>
            <a:pPr marL="127000" indent="0" algn="just">
              <a:lnSpc>
                <a:spcPct val="114000"/>
              </a:lnSpc>
              <a:spcBef>
                <a:spcPts val="600"/>
              </a:spcBef>
              <a:buNone/>
            </a:pPr>
            <a:r>
              <a:rPr lang="en-IN" sz="1600" dirty="0">
                <a:latin typeface="Calibri" panose="020F0502020204030204" pitchFamily="34" charset="0"/>
              </a:rPr>
              <a:t>Initial temperature of reactants = 21.1 ⁰C = 273 + 21.1 =294.1 K</a:t>
            </a:r>
          </a:p>
          <a:p>
            <a:pPr marL="127000" indent="0" algn="just">
              <a:lnSpc>
                <a:spcPct val="114000"/>
              </a:lnSpc>
              <a:spcBef>
                <a:spcPts val="600"/>
              </a:spcBef>
              <a:buNone/>
            </a:pPr>
            <a:r>
              <a:rPr lang="en-IN" sz="1600" dirty="0">
                <a:latin typeface="Calibri" panose="020F0502020204030204" pitchFamily="34" charset="0"/>
              </a:rPr>
              <a:t>Final temperature of products =27.6 ⁰C = 300.6 K</a:t>
            </a:r>
          </a:p>
          <a:p>
            <a:pPr marL="127000" indent="0" algn="just">
              <a:lnSpc>
                <a:spcPct val="114000"/>
              </a:lnSpc>
              <a:spcBef>
                <a:spcPts val="600"/>
              </a:spcBef>
              <a:buNone/>
            </a:pPr>
            <a:r>
              <a:rPr lang="en-IN" sz="1600" dirty="0">
                <a:latin typeface="Calibri" panose="020F0502020204030204" pitchFamily="34" charset="0"/>
              </a:rPr>
              <a:t>Change in temperature = 300.6 – 294.1 = 6.5 K</a:t>
            </a:r>
          </a:p>
          <a:p>
            <a:pPr marL="127000" indent="0" algn="just">
              <a:lnSpc>
                <a:spcPct val="114000"/>
              </a:lnSpc>
              <a:spcBef>
                <a:spcPts val="600"/>
              </a:spcBef>
              <a:buNone/>
            </a:pPr>
            <a:r>
              <a:rPr lang="en-IN" sz="1600" dirty="0">
                <a:latin typeface="Calibri" panose="020F0502020204030204" pitchFamily="34" charset="0"/>
              </a:rPr>
              <a:t>Heat energy released= -</a:t>
            </a:r>
            <a:r>
              <a:rPr lang="en-IN" sz="1600" dirty="0" err="1">
                <a:latin typeface="Calibri" panose="020F0502020204030204" pitchFamily="34" charset="0"/>
              </a:rPr>
              <a:t>mcΔT</a:t>
            </a:r>
            <a:r>
              <a:rPr lang="en-IN" sz="1600" dirty="0">
                <a:latin typeface="Calibri" panose="020F0502020204030204" pitchFamily="34" charset="0"/>
              </a:rPr>
              <a:t>= -100 × 4.18 × 6.5 = -2717 J</a:t>
            </a:r>
          </a:p>
          <a:p>
            <a:pPr marL="127000" indent="0" algn="just">
              <a:lnSpc>
                <a:spcPct val="114000"/>
              </a:lnSpc>
              <a:spcBef>
                <a:spcPts val="600"/>
              </a:spcBef>
              <a:buNone/>
            </a:pPr>
            <a:r>
              <a:rPr lang="en-IN" sz="1600" dirty="0">
                <a:latin typeface="Calibri" panose="020F0502020204030204" pitchFamily="34" charset="0"/>
              </a:rPr>
              <a:t>Negative sign shows that this reaction is exothermic.</a:t>
            </a:r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</p:txBody>
      </p:sp>
      <p:sp>
        <p:nvSpPr>
          <p:cNvPr id="2" name="Google Shape;118;p26">
            <a:extLst>
              <a:ext uri="{FF2B5EF4-FFF2-40B4-BE49-F238E27FC236}">
                <a16:creationId xmlns:a16="http://schemas.microsoft.com/office/drawing/2014/main" id="{AECD5E5C-311B-4423-BFFB-3566B80D4AF8}"/>
              </a:ext>
            </a:extLst>
          </p:cNvPr>
          <p:cNvSpPr txBox="1"/>
          <p:nvPr/>
        </p:nvSpPr>
        <p:spPr>
          <a:xfrm>
            <a:off x="208578" y="2058475"/>
            <a:ext cx="2672778" cy="24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27050" lvl="0" indent="-400050" algn="just">
              <a:lnSpc>
                <a:spcPct val="114000"/>
              </a:lnSpc>
              <a:spcBef>
                <a:spcPts val="600"/>
              </a:spcBef>
              <a:buFont typeface="+mj-lt"/>
              <a:buAutoNum type="romanLcPeriod"/>
            </a:pPr>
            <a:r>
              <a:rPr lang="en-IN" sz="1600" dirty="0">
                <a:latin typeface="Calibri" panose="020F0502020204030204" pitchFamily="34" charset="0"/>
              </a:rPr>
              <a:t>50 cm</a:t>
            </a:r>
            <a:r>
              <a:rPr lang="en-IN" sz="1600" baseline="30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 of 1.0 mol/dm</a:t>
            </a:r>
            <a:r>
              <a:rPr lang="en-IN" sz="1600" baseline="30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 hydrochloric acid </a:t>
            </a:r>
          </a:p>
          <a:p>
            <a:pPr marL="527050" lvl="0" indent="-400050" algn="just">
              <a:lnSpc>
                <a:spcPct val="114000"/>
              </a:lnSpc>
              <a:spcBef>
                <a:spcPts val="600"/>
              </a:spcBef>
              <a:buFont typeface="+mj-lt"/>
              <a:buAutoNum type="romanLcPeriod"/>
            </a:pPr>
            <a:r>
              <a:rPr lang="en-IN" sz="1600" dirty="0">
                <a:latin typeface="Calibri" panose="020F0502020204030204" pitchFamily="34" charset="0"/>
              </a:rPr>
              <a:t>50 cm</a:t>
            </a:r>
            <a:r>
              <a:rPr lang="en-IN" sz="1600" baseline="30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 of 1.0 mol/dm</a:t>
            </a:r>
            <a:r>
              <a:rPr lang="en-IN" sz="1600" baseline="30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 sodium hydroxide (at same temperature of acid)</a:t>
            </a:r>
          </a:p>
          <a:p>
            <a:pPr marL="527050" lvl="0" indent="-400050" algn="just">
              <a:lnSpc>
                <a:spcPct val="114000"/>
              </a:lnSpc>
              <a:spcBef>
                <a:spcPts val="600"/>
              </a:spcBef>
              <a:buFont typeface="+mj-lt"/>
              <a:buAutoNum type="romanLcPeriod"/>
            </a:pPr>
            <a:r>
              <a:rPr lang="en-IN" sz="1600" dirty="0">
                <a:latin typeface="Calibri" panose="020F0502020204030204" pitchFamily="34" charset="0"/>
              </a:rPr>
              <a:t>Stir the mixture and record the highest temperature</a:t>
            </a:r>
            <a:endParaRPr sz="1600" dirty="0">
              <a:latin typeface="Calibri" panose="020F0502020204030204" pitchFamily="34" charset="0"/>
            </a:endParaRPr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773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933025" y="592925"/>
            <a:ext cx="6305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latin typeface="Calibri" panose="020F0502020204030204" pitchFamily="34" charset="0"/>
              </a:rPr>
              <a:t>Finding enthalpy change of </a:t>
            </a:r>
            <a:r>
              <a:rPr lang="en-US" dirty="0" err="1">
                <a:latin typeface="Calibri" panose="020F0502020204030204" pitchFamily="34" charset="0"/>
              </a:rPr>
              <a:t>neutralisation</a:t>
            </a:r>
            <a:r>
              <a:rPr lang="en-US" dirty="0">
                <a:latin typeface="Calibri" panose="020F0502020204030204" pitchFamily="34" charset="0"/>
              </a:rPr>
              <a:t> </a:t>
            </a:r>
            <a:r>
              <a:rPr lang="en-IN" dirty="0">
                <a:latin typeface="Calibri" panose="020F0502020204030204" pitchFamily="34" charset="0"/>
              </a:rPr>
              <a:t>using calorimetry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Google Shape;118;p26"/>
              <p:cNvSpPr txBox="1"/>
              <p:nvPr/>
            </p:nvSpPr>
            <p:spPr>
              <a:xfrm>
                <a:off x="3420534" y="1787542"/>
                <a:ext cx="5226755" cy="24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27000" indent="0" algn="just">
                  <a:buNone/>
                </a:pPr>
                <a:endParaRPr lang="en-IN" sz="1600" dirty="0">
                  <a:latin typeface="Calibri" panose="020F0502020204030204" pitchFamily="34" charset="0"/>
                </a:endParaRPr>
              </a:p>
              <a:p>
                <a:pPr marL="12700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600" i="1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𝑚𝑜𝑙𝑒𝑠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𝑎𝑐𝑖𝑑</m:t>
                          </m:r>
                        </m:e>
                      </m:d>
                      <m:r>
                        <a:rPr lang="ar-AE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𝑛𝑢𝑚𝑏𝑒𝑟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𝑚𝑜𝑙𝑒𝑠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𝑏𝑎𝑠𝑒</m:t>
                          </m:r>
                        </m:e>
                      </m:d>
                      <m:r>
                        <a:rPr lang="ar-AE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𝑐𝑜𝑛𝑐𝑒𝑛𝑡𝑟𝑎𝑡𝑖𝑜𝑛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ar-AE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 ×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50</m:t>
                          </m:r>
                        </m:num>
                        <m:den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ar-AE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050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 sz="1600" i="1">
                          <a:latin typeface="Cambria Math" panose="02040503050406030204" pitchFamily="18" charset="0"/>
                        </a:rPr>
                        <m:t>𝑚𝑜𝑙𝑒𝑠</m:t>
                      </m:r>
                    </m:oMath>
                  </m:oMathPara>
                </a14:m>
                <a:endParaRPr lang="ar-AE" sz="1600" dirty="0">
                  <a:latin typeface="Calibri" panose="020F0502020204030204" pitchFamily="34" charset="0"/>
                </a:endParaRPr>
              </a:p>
              <a:p>
                <a:pPr marL="127000" indent="0" algn="just">
                  <a:buNone/>
                </a:pPr>
                <a:endParaRPr lang="ar-AE" sz="1600" dirty="0">
                  <a:latin typeface="Calibri" panose="020F0502020204030204" pitchFamily="34" charset="0"/>
                </a:endParaRPr>
              </a:p>
              <a:p>
                <a:pPr marL="412750" indent="-285750" algn="just"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Calibri" panose="020F0502020204030204" pitchFamily="34" charset="0"/>
                  </a:rPr>
                  <a:t>To produce 0.050 moles of water, 2717 J of energy is released. Therefore, to produce 1 mol of water, 54 kJ/mol is released.  So, enthalpy change of neutralisation = -54 kJ/mol.</a:t>
                </a:r>
              </a:p>
              <a:p>
                <a:pPr marL="412750" indent="-285750" algn="just"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Calibri" panose="020F0502020204030204" pitchFamily="34" charset="0"/>
                  </a:rPr>
                  <a:t>In the data book, it can be found that the enthalpy change of neutralisation for this reaction is -57.1 kJ/mol. The difference in the values is due to the heat losses to air and thermometer.</a:t>
                </a:r>
              </a:p>
              <a:p>
                <a:pPr lvl="0"/>
                <a:endParaRPr lang="en-IN" sz="1600" dirty="0">
                  <a:latin typeface="Calibri" panose="020F050202020403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8" name="Google Shape;118;p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534" y="1787542"/>
                <a:ext cx="5226755" cy="2492100"/>
              </a:xfrm>
              <a:prstGeom prst="rect">
                <a:avLst/>
              </a:prstGeom>
              <a:blipFill>
                <a:blip r:embed="rId3"/>
                <a:stretch>
                  <a:fillRect r="-583" b="-347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118;p26">
            <a:extLst>
              <a:ext uri="{FF2B5EF4-FFF2-40B4-BE49-F238E27FC236}">
                <a16:creationId xmlns:a16="http://schemas.microsoft.com/office/drawing/2014/main" id="{45B54CFD-36A3-405C-B2F1-3D23FC61223D}"/>
              </a:ext>
            </a:extLst>
          </p:cNvPr>
          <p:cNvSpPr txBox="1"/>
          <p:nvPr/>
        </p:nvSpPr>
        <p:spPr>
          <a:xfrm>
            <a:off x="208578" y="2058475"/>
            <a:ext cx="2672778" cy="24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27050" lvl="0" indent="-400050" algn="just">
              <a:lnSpc>
                <a:spcPct val="114000"/>
              </a:lnSpc>
              <a:spcBef>
                <a:spcPts val="600"/>
              </a:spcBef>
              <a:buFont typeface="+mj-lt"/>
              <a:buAutoNum type="romanLcPeriod"/>
            </a:pPr>
            <a:r>
              <a:rPr lang="en-IN" sz="1600" dirty="0">
                <a:latin typeface="Calibri" panose="020F0502020204030204" pitchFamily="34" charset="0"/>
              </a:rPr>
              <a:t>50 cm</a:t>
            </a:r>
            <a:r>
              <a:rPr lang="en-IN" sz="1600" baseline="30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 of 1.0 mol/dm</a:t>
            </a:r>
            <a:r>
              <a:rPr lang="en-IN" sz="1600" baseline="30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 hydrochloric acid </a:t>
            </a:r>
          </a:p>
          <a:p>
            <a:pPr marL="527050" lvl="0" indent="-400050" algn="just">
              <a:lnSpc>
                <a:spcPct val="114000"/>
              </a:lnSpc>
              <a:spcBef>
                <a:spcPts val="600"/>
              </a:spcBef>
              <a:buFont typeface="+mj-lt"/>
              <a:buAutoNum type="romanLcPeriod"/>
            </a:pPr>
            <a:r>
              <a:rPr lang="en-IN" sz="1600" dirty="0">
                <a:latin typeface="Calibri" panose="020F0502020204030204" pitchFamily="34" charset="0"/>
              </a:rPr>
              <a:t>50 cm</a:t>
            </a:r>
            <a:r>
              <a:rPr lang="en-IN" sz="1600" baseline="30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 of 1.0 mol/dm</a:t>
            </a:r>
            <a:r>
              <a:rPr lang="en-IN" sz="1600" baseline="30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 sodium hydroxide (at same temperature of acid)</a:t>
            </a:r>
          </a:p>
          <a:p>
            <a:pPr marL="527050" lvl="0" indent="-400050" algn="just">
              <a:lnSpc>
                <a:spcPct val="114000"/>
              </a:lnSpc>
              <a:spcBef>
                <a:spcPts val="600"/>
              </a:spcBef>
              <a:buFont typeface="+mj-lt"/>
              <a:buAutoNum type="romanLcPeriod"/>
            </a:pPr>
            <a:r>
              <a:rPr lang="en-IN" sz="1600" dirty="0">
                <a:latin typeface="Calibri" panose="020F0502020204030204" pitchFamily="34" charset="0"/>
              </a:rPr>
              <a:t>Stir the mixture and record the highest temperature</a:t>
            </a:r>
            <a:endParaRPr sz="1600" dirty="0">
              <a:latin typeface="Calibri" panose="020F0502020204030204" pitchFamily="34" charset="0"/>
            </a:endParaRPr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  <a:p>
            <a:pPr marL="0" lvl="0" indent="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929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933025" y="592925"/>
            <a:ext cx="6305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>
                <a:latin typeface="Calibri" panose="020F0502020204030204" pitchFamily="34" charset="0"/>
              </a:rPr>
              <a:t>Bond enthalpies</a:t>
            </a:r>
          </a:p>
        </p:txBody>
      </p:sp>
      <p:sp>
        <p:nvSpPr>
          <p:cNvPr id="118" name="Google Shape;118;p26"/>
          <p:cNvSpPr txBox="1"/>
          <p:nvPr/>
        </p:nvSpPr>
        <p:spPr>
          <a:xfrm>
            <a:off x="713888" y="1856497"/>
            <a:ext cx="7967267" cy="24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IN" sz="1600" dirty="0">
                <a:latin typeface="Calibri" panose="020F0502020204030204" pitchFamily="34" charset="0"/>
              </a:rPr>
              <a:t>To break bonds in a compound or a molecule requires energy to overcome the force of attraction. </a:t>
            </a:r>
          </a:p>
          <a:p>
            <a:pPr marL="285750" lvl="0" indent="-285750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IN" sz="1600" dirty="0">
                <a:latin typeface="Calibri" panose="020F0502020204030204" pitchFamily="34" charset="0"/>
              </a:rPr>
              <a:t>When new bonds are created between atoms, energy is released. Hence, bond breaking is an endothermic reaction and bond making is an exothermic reaction.</a:t>
            </a:r>
          </a:p>
          <a:p>
            <a:pPr marL="285750" lvl="0" indent="-285750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latin typeface="Calibri" panose="020F0502020204030204" pitchFamily="34" charset="0"/>
              </a:rPr>
              <a:t>A chemical reaction will be exothermic, if the energy needed to break bonds is less than the energy released when new bonds are formed. In this case, the reaction releases energy. </a:t>
            </a:r>
          </a:p>
          <a:p>
            <a:pPr marL="285750" lvl="0" indent="-285750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latin typeface="Calibri" panose="020F0502020204030204" pitchFamily="34" charset="0"/>
              </a:rPr>
              <a:t>A chemical reaction will be endothermic, if the energy needed to break bonds is more than the energy released when new bonds are formed. In this case, the reaction absorbs energy. 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5494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933025" y="592925"/>
            <a:ext cx="6305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>
                <a:latin typeface="Calibri" panose="020F0502020204030204" pitchFamily="34" charset="0"/>
              </a:rPr>
              <a:t>Bond enthalpies</a:t>
            </a:r>
          </a:p>
        </p:txBody>
      </p:sp>
      <p:sp>
        <p:nvSpPr>
          <p:cNvPr id="118" name="Google Shape;118;p26"/>
          <p:cNvSpPr txBox="1"/>
          <p:nvPr/>
        </p:nvSpPr>
        <p:spPr>
          <a:xfrm>
            <a:off x="713889" y="1890364"/>
            <a:ext cx="7330800" cy="24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IN" sz="1600" dirty="0">
                <a:latin typeface="Calibri" panose="020F0502020204030204" pitchFamily="34" charset="0"/>
              </a:rPr>
              <a:t>The amount energy required to break a specific covalent bond is called as bond enthalpy or bond energy. The symbol for bond enthalpy is E. </a:t>
            </a:r>
          </a:p>
          <a:p>
            <a:pPr marL="285750" lvl="0" indent="-285750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IN" sz="1600" dirty="0">
                <a:latin typeface="Calibri" panose="020F0502020204030204" pitchFamily="34" charset="0"/>
              </a:rPr>
              <a:t>Consider O-H bonds in water. Relatively more energy is required to break the first O-H than the second. Moreover, O-H bonds of different compounds will require different bond energies. </a:t>
            </a:r>
          </a:p>
          <a:p>
            <a:pPr marL="285750" lvl="0" indent="-285750">
              <a:lnSpc>
                <a:spcPct val="114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IN" sz="1600" dirty="0">
                <a:latin typeface="Calibri" panose="020F0502020204030204" pitchFamily="34" charset="0"/>
              </a:rPr>
              <a:t>Hence, the term average bond enthalpy is used where different bond energies of the same type of bond but in different environments are taken into consideration.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5874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933025" y="592925"/>
            <a:ext cx="6305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>
                <a:latin typeface="Calibri" panose="020F0502020204030204" pitchFamily="34" charset="0"/>
              </a:rPr>
              <a:t>Bond enthalpies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39D149-1576-43F9-BA5A-74F9EEFE885F}"/>
              </a:ext>
            </a:extLst>
          </p:cNvPr>
          <p:cNvSpPr/>
          <p:nvPr/>
        </p:nvSpPr>
        <p:spPr>
          <a:xfrm>
            <a:off x="1237825" y="4616829"/>
            <a:ext cx="30242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Reaction profile of exothermic reaction (combustion of methane)</a:t>
            </a: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sym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609597-6F56-4A37-ABDB-93E1008606A7}"/>
              </a:ext>
            </a:extLst>
          </p:cNvPr>
          <p:cNvSpPr/>
          <p:nvPr/>
        </p:nvSpPr>
        <p:spPr>
          <a:xfrm>
            <a:off x="4319862" y="4614403"/>
            <a:ext cx="33446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Reaction profile of endothermic reaction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sym typeface="Arial"/>
              </a:rPr>
              <a:t>(Decomposition of HBr)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F0D2C7-DB01-4AE2-9CAF-4C58EFBC8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825" y="1828799"/>
            <a:ext cx="2595220" cy="27856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50CAA1-19B1-4632-8D38-91FA25158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049" y="1774457"/>
            <a:ext cx="2763329" cy="283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87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>
            <a:spLocks noGrp="1"/>
          </p:cNvSpPr>
          <p:nvPr>
            <p:ph type="title"/>
          </p:nvPr>
        </p:nvSpPr>
        <p:spPr>
          <a:xfrm>
            <a:off x="662950" y="198850"/>
            <a:ext cx="3362400" cy="10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200" dirty="0">
                <a:solidFill>
                  <a:srgbClr val="000000"/>
                </a:solidFill>
                <a:latin typeface="Calibri" panose="020F0502020204030204" pitchFamily="34" charset="0"/>
              </a:rPr>
              <a:t>Hess’s law and enthalpy cycles </a:t>
            </a:r>
          </a:p>
        </p:txBody>
      </p:sp>
      <p:sp>
        <p:nvSpPr>
          <p:cNvPr id="124" name="Google Shape;124;p27"/>
          <p:cNvSpPr txBox="1">
            <a:spLocks noGrp="1"/>
          </p:cNvSpPr>
          <p:nvPr>
            <p:ph type="body" idx="2"/>
          </p:nvPr>
        </p:nvSpPr>
        <p:spPr>
          <a:xfrm>
            <a:off x="4763230" y="571649"/>
            <a:ext cx="3837000" cy="14964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IN" sz="1400" dirty="0">
                <a:latin typeface="Calibri" panose="020F0502020204030204" pitchFamily="34" charset="0"/>
              </a:rPr>
              <a:t>Hess’s law states that the total enthalpy change in a chemical reaction is independent of the route by which the chemical reaction takes place as long as the initial and final conditions are the same.</a:t>
            </a:r>
          </a:p>
          <a:p>
            <a:pPr algn="just"/>
            <a:r>
              <a:rPr lang="en-IN" sz="1400" dirty="0">
                <a:latin typeface="Calibri" panose="020F0502020204030204" pitchFamily="34" charset="0"/>
              </a:rPr>
              <a:t>Consider reactants X and Y that combines directly to form product Z. This is the direct route. There are two indirect routes for this chemical reaction to take place:</a:t>
            </a:r>
          </a:p>
          <a:p>
            <a:pPr marL="804863" algn="just">
              <a:buFont typeface="Wingdings" panose="05000000000000000000" pitchFamily="2" charset="2"/>
              <a:buChar char="Ø"/>
            </a:pPr>
            <a:r>
              <a:rPr lang="en-IN" sz="1400" dirty="0">
                <a:latin typeface="Calibri" panose="020F0502020204030204" pitchFamily="34" charset="0"/>
              </a:rPr>
              <a:t>X and Y combines to form A and B first and then, A and B combines to form Z.</a:t>
            </a:r>
          </a:p>
          <a:p>
            <a:pPr marL="804863" algn="just">
              <a:buFont typeface="Wingdings" panose="05000000000000000000" pitchFamily="2" charset="2"/>
              <a:buChar char="Ø"/>
            </a:pPr>
            <a:r>
              <a:rPr lang="en-IN" sz="1400" dirty="0">
                <a:latin typeface="Calibri" panose="020F0502020204030204" pitchFamily="34" charset="0"/>
              </a:rPr>
              <a:t>X and Y combines to form E and then, E decomposes to F and G. F and G combine to form Z.</a:t>
            </a:r>
          </a:p>
          <a:p>
            <a:pPr marL="461963" indent="0" algn="just">
              <a:buNone/>
            </a:pPr>
            <a:r>
              <a:rPr lang="en-IN" sz="1400" dirty="0">
                <a:latin typeface="Calibri" panose="020F0502020204030204" pitchFamily="34" charset="0"/>
              </a:rPr>
              <a:t>Using Hess’s law the enthalpy change of the reaction in direct route is same as that of indirect routes. </a:t>
            </a:r>
          </a:p>
          <a:p>
            <a:pPr marL="461963" indent="0" algn="just">
              <a:buNone/>
            </a:pPr>
            <a:endParaRPr lang="en-IN" sz="1400" dirty="0">
              <a:latin typeface="Calibri" panose="020F0502020204030204" pitchFamily="34" charset="0"/>
            </a:endParaRPr>
          </a:p>
          <a:p>
            <a:pPr marL="114300" lvl="0" indent="0" algn="just">
              <a:buNone/>
            </a:pPr>
            <a:endParaRPr lang="en-IN" sz="1400" dirty="0">
              <a:latin typeface="Calibri" panose="020F0502020204030204" pitchFamily="34" charset="0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>
              <a:latin typeface="Calibri" panose="020F0502020204030204" pitchFamily="34" charset="0"/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3128525" y="4546950"/>
            <a:ext cx="12063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1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Enthalpy cycle</a:t>
            </a:r>
            <a:endParaRPr sz="1100" dirty="0">
              <a:solidFill>
                <a:srgbClr val="66666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52" y="1787787"/>
            <a:ext cx="3275796" cy="227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52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933025" y="592925"/>
            <a:ext cx="6305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>
                <a:latin typeface="Calibri" panose="020F0502020204030204" pitchFamily="34" charset="0"/>
              </a:rPr>
              <a:t>Hess’s law and enthalpy cycles </a:t>
            </a:r>
          </a:p>
        </p:txBody>
      </p:sp>
      <p:sp>
        <p:nvSpPr>
          <p:cNvPr id="118" name="Google Shape;118;p26"/>
          <p:cNvSpPr txBox="1"/>
          <p:nvPr/>
        </p:nvSpPr>
        <p:spPr>
          <a:xfrm>
            <a:off x="702600" y="2028225"/>
            <a:ext cx="7330800" cy="24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00050" lvl="0" indent="-285750">
              <a:lnSpc>
                <a:spcPct val="113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</a:rPr>
              <a:t>Calculating enthalpy change of formation from enthalpy changes of combustion</a:t>
            </a:r>
          </a:p>
          <a:p>
            <a:pPr marL="114300" lvl="0">
              <a:lnSpc>
                <a:spcPct val="113000"/>
              </a:lnSpc>
              <a:buSzPts val="1800"/>
            </a:pPr>
            <a:endParaRPr lang="en-IN" sz="1600" dirty="0">
              <a:latin typeface="Calibri" panose="020F0502020204030204" pitchFamily="34" charset="0"/>
            </a:endParaRPr>
          </a:p>
          <a:p>
            <a:pPr marL="114300" lvl="0">
              <a:lnSpc>
                <a:spcPct val="113000"/>
              </a:lnSpc>
              <a:buSzPts val="1800"/>
            </a:pPr>
            <a:r>
              <a:rPr lang="en-IN" sz="1600" dirty="0">
                <a:latin typeface="Calibri" panose="020F0502020204030204" pitchFamily="34" charset="0"/>
              </a:rPr>
              <a:t>Example 2: Calculate the standard enthalpy change of formation of ethanol using the following data:</a:t>
            </a:r>
          </a:p>
          <a:p>
            <a:pPr marL="127000" lvl="1" algn="just">
              <a:lnSpc>
                <a:spcPct val="113000"/>
              </a:lnSpc>
            </a:pPr>
            <a:r>
              <a:rPr lang="en-IN" sz="1600" dirty="0">
                <a:latin typeface="Calibri" panose="020F0502020204030204" pitchFamily="34" charset="0"/>
              </a:rPr>
              <a:t>∆</a:t>
            </a:r>
            <a:r>
              <a:rPr lang="en-IN" sz="1600" dirty="0" err="1">
                <a:latin typeface="Calibri" panose="020F0502020204030204" pitchFamily="34" charset="0"/>
              </a:rPr>
              <a:t>H</a:t>
            </a:r>
            <a:r>
              <a:rPr lang="en-IN" sz="1600" baseline="30000" dirty="0" err="1">
                <a:latin typeface="Calibri" panose="020F0502020204030204" pitchFamily="34" charset="0"/>
              </a:rPr>
              <a:t>⦵</a:t>
            </a:r>
            <a:r>
              <a:rPr lang="en-IN" sz="1600" baseline="-25000" dirty="0" err="1">
                <a:latin typeface="Calibri" panose="020F0502020204030204" pitchFamily="34" charset="0"/>
              </a:rPr>
              <a:t>c</a:t>
            </a:r>
            <a:r>
              <a:rPr lang="en-IN" sz="1600" dirty="0">
                <a:latin typeface="Calibri" panose="020F0502020204030204" pitchFamily="34" charset="0"/>
              </a:rPr>
              <a:t>[C (s)]=-393.5 kJ/mol</a:t>
            </a:r>
          </a:p>
          <a:p>
            <a:pPr marL="127000" lvl="1" algn="just">
              <a:lnSpc>
                <a:spcPct val="113000"/>
              </a:lnSpc>
            </a:pPr>
            <a:r>
              <a:rPr lang="en-IN" sz="1600" dirty="0">
                <a:latin typeface="Calibri" panose="020F0502020204030204" pitchFamily="34" charset="0"/>
              </a:rPr>
              <a:t>∆</a:t>
            </a:r>
            <a:r>
              <a:rPr lang="en-IN" sz="1600" dirty="0" err="1">
                <a:latin typeface="Calibri" panose="020F0502020204030204" pitchFamily="34" charset="0"/>
              </a:rPr>
              <a:t>H</a:t>
            </a:r>
            <a:r>
              <a:rPr lang="en-IN" sz="1600" baseline="30000" dirty="0" err="1">
                <a:latin typeface="Calibri" panose="020F0502020204030204" pitchFamily="34" charset="0"/>
              </a:rPr>
              <a:t>⦵</a:t>
            </a:r>
            <a:r>
              <a:rPr lang="en-IN" sz="1600" baseline="-25000" dirty="0" err="1">
                <a:latin typeface="Calibri" panose="020F0502020204030204" pitchFamily="34" charset="0"/>
              </a:rPr>
              <a:t>c</a:t>
            </a:r>
            <a:r>
              <a:rPr lang="en-IN" sz="1600" dirty="0">
                <a:latin typeface="Calibri" panose="020F0502020204030204" pitchFamily="34" charset="0"/>
              </a:rPr>
              <a:t>[H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(g)]=-285.8 kJ/mol</a:t>
            </a:r>
          </a:p>
          <a:p>
            <a:pPr marL="127000" lvl="1" algn="just">
              <a:lnSpc>
                <a:spcPct val="113000"/>
              </a:lnSpc>
            </a:pPr>
            <a:r>
              <a:rPr lang="en-IN" sz="1600" dirty="0">
                <a:latin typeface="Calibri" panose="020F0502020204030204" pitchFamily="34" charset="0"/>
              </a:rPr>
              <a:t>∆</a:t>
            </a:r>
            <a:r>
              <a:rPr lang="en-IN" sz="1600" dirty="0" err="1">
                <a:latin typeface="Calibri" panose="020F0502020204030204" pitchFamily="34" charset="0"/>
              </a:rPr>
              <a:t>H</a:t>
            </a:r>
            <a:r>
              <a:rPr lang="en-IN" sz="1600" baseline="30000" dirty="0" err="1">
                <a:latin typeface="Calibri" panose="020F0502020204030204" pitchFamily="34" charset="0"/>
              </a:rPr>
              <a:t>⦵</a:t>
            </a:r>
            <a:r>
              <a:rPr lang="en-IN" sz="1600" baseline="-25000" dirty="0" err="1">
                <a:latin typeface="Calibri" panose="020F0502020204030204" pitchFamily="34" charset="0"/>
              </a:rPr>
              <a:t>c</a:t>
            </a:r>
            <a:r>
              <a:rPr lang="en-IN" sz="1600" dirty="0">
                <a:latin typeface="Calibri" panose="020F0502020204030204" pitchFamily="34" charset="0"/>
              </a:rPr>
              <a:t>[C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H</a:t>
            </a:r>
            <a:r>
              <a:rPr lang="en-IN" sz="1600" baseline="-25000" dirty="0">
                <a:latin typeface="Calibri" panose="020F0502020204030204" pitchFamily="34" charset="0"/>
              </a:rPr>
              <a:t>5</a:t>
            </a:r>
            <a:r>
              <a:rPr lang="en-IN" sz="1600" dirty="0">
                <a:latin typeface="Calibri" panose="020F0502020204030204" pitchFamily="34" charset="0"/>
              </a:rPr>
              <a:t>OH (s)]=-1367.3 kJ/mol</a:t>
            </a:r>
          </a:p>
          <a:p>
            <a:pPr marL="114300" lvl="0">
              <a:lnSpc>
                <a:spcPct val="113000"/>
              </a:lnSpc>
              <a:buSzPts val="1800"/>
            </a:pPr>
            <a:endParaRPr sz="1600" dirty="0">
              <a:latin typeface="Calibri" panose="020F0502020204030204" pitchFamily="34" charset="0"/>
            </a:endParaRPr>
          </a:p>
          <a:p>
            <a:pPr marL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  <a:p>
            <a:pPr marL="0" lvl="0" indent="0" algn="l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606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>
            <a:spLocks noGrp="1"/>
          </p:cNvSpPr>
          <p:nvPr>
            <p:ph type="title"/>
          </p:nvPr>
        </p:nvSpPr>
        <p:spPr>
          <a:xfrm>
            <a:off x="662950" y="198850"/>
            <a:ext cx="3362400" cy="10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∆H</a:t>
            </a:r>
            <a:r>
              <a:rPr lang="en-US" sz="2800" baseline="-25000" dirty="0">
                <a:solidFill>
                  <a:srgbClr val="000000"/>
                </a:solidFill>
                <a:latin typeface="Calibri" panose="020F0502020204030204" pitchFamily="34" charset="0"/>
              </a:rPr>
              <a:t>f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 from </a:t>
            </a:r>
            <a:r>
              <a:rPr lang="en-IN" sz="2800" dirty="0">
                <a:latin typeface="Calibri" panose="020F0502020204030204" pitchFamily="34" charset="0"/>
              </a:rPr>
              <a:t>∆</a:t>
            </a:r>
            <a:r>
              <a:rPr lang="en-IN" sz="2800" dirty="0" err="1">
                <a:latin typeface="Calibri" panose="020F0502020204030204" pitchFamily="34" charset="0"/>
              </a:rPr>
              <a:t>H</a:t>
            </a:r>
            <a:r>
              <a:rPr lang="en-IN" sz="2800" baseline="30000" dirty="0" err="1">
                <a:latin typeface="Calibri" panose="020F0502020204030204" pitchFamily="34" charset="0"/>
              </a:rPr>
              <a:t>⦵</a:t>
            </a:r>
            <a:r>
              <a:rPr lang="en-IN" sz="2800" baseline="-25000" dirty="0" err="1">
                <a:latin typeface="Calibri" panose="020F0502020204030204" pitchFamily="34" charset="0"/>
              </a:rPr>
              <a:t>c</a:t>
            </a:r>
            <a:endParaRPr lang="en-US" sz="28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4" name="Google Shape;124;p27"/>
          <p:cNvSpPr txBox="1">
            <a:spLocks noGrp="1"/>
          </p:cNvSpPr>
          <p:nvPr>
            <p:ph type="body" idx="2"/>
          </p:nvPr>
        </p:nvSpPr>
        <p:spPr>
          <a:xfrm>
            <a:off x="4939500" y="554867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just">
              <a:buNone/>
            </a:pPr>
            <a:r>
              <a:rPr lang="en-IN" sz="1400" dirty="0">
                <a:latin typeface="Calibri" panose="020F0502020204030204" pitchFamily="34" charset="0"/>
              </a:rPr>
              <a:t>Calculate the standard enthalpy change of formation of ethanol using the following data: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</a:rPr>
              <a:t>∆</a:t>
            </a:r>
            <a:r>
              <a:rPr lang="en-IN" sz="1400" dirty="0" err="1">
                <a:latin typeface="Calibri" panose="020F0502020204030204" pitchFamily="34" charset="0"/>
              </a:rPr>
              <a:t>H</a:t>
            </a:r>
            <a:r>
              <a:rPr lang="en-IN" sz="1400" baseline="30000" dirty="0" err="1">
                <a:latin typeface="Calibri" panose="020F0502020204030204" pitchFamily="34" charset="0"/>
              </a:rPr>
              <a:t>⦵</a:t>
            </a:r>
            <a:r>
              <a:rPr lang="en-IN" sz="1400" dirty="0" err="1">
                <a:latin typeface="Calibri" panose="020F0502020204030204" pitchFamily="34" charset="0"/>
              </a:rPr>
              <a:t>f</a:t>
            </a:r>
            <a:r>
              <a:rPr lang="en-IN" sz="1400" dirty="0">
                <a:latin typeface="Calibri" panose="020F0502020204030204" pitchFamily="34" charset="0"/>
              </a:rPr>
              <a:t>[C (s)]=-393.5 kJ/mol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</a:rPr>
              <a:t>∆</a:t>
            </a:r>
            <a:r>
              <a:rPr lang="en-IN" sz="1400" dirty="0" err="1">
                <a:latin typeface="Calibri" panose="020F0502020204030204" pitchFamily="34" charset="0"/>
              </a:rPr>
              <a:t>H</a:t>
            </a:r>
            <a:r>
              <a:rPr lang="en-IN" sz="1400" baseline="30000" dirty="0" err="1">
                <a:latin typeface="Calibri" panose="020F0502020204030204" pitchFamily="34" charset="0"/>
              </a:rPr>
              <a:t>⦵</a:t>
            </a:r>
            <a:r>
              <a:rPr lang="en-IN" sz="1400" dirty="0" err="1">
                <a:latin typeface="Calibri" panose="020F0502020204030204" pitchFamily="34" charset="0"/>
              </a:rPr>
              <a:t>f</a:t>
            </a:r>
            <a:r>
              <a:rPr lang="en-IN" sz="1400" dirty="0">
                <a:latin typeface="Calibri" panose="020F0502020204030204" pitchFamily="34" charset="0"/>
              </a:rPr>
              <a:t>[H</a:t>
            </a:r>
            <a:r>
              <a:rPr lang="en-IN" sz="1400" baseline="-25000" dirty="0">
                <a:latin typeface="Calibri" panose="020F0502020204030204" pitchFamily="34" charset="0"/>
              </a:rPr>
              <a:t>2</a:t>
            </a:r>
            <a:r>
              <a:rPr lang="en-IN" sz="1400" dirty="0">
                <a:latin typeface="Calibri" panose="020F0502020204030204" pitchFamily="34" charset="0"/>
              </a:rPr>
              <a:t>(g)]=-285.8 kJ/mol</a:t>
            </a: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</a:rPr>
              <a:t>∆</a:t>
            </a:r>
            <a:r>
              <a:rPr lang="en-IN" sz="1400" dirty="0" err="1">
                <a:latin typeface="Calibri" panose="020F0502020204030204" pitchFamily="34" charset="0"/>
              </a:rPr>
              <a:t>H</a:t>
            </a:r>
            <a:r>
              <a:rPr lang="en-IN" sz="1400" baseline="30000" dirty="0" err="1">
                <a:latin typeface="Calibri" panose="020F0502020204030204" pitchFamily="34" charset="0"/>
              </a:rPr>
              <a:t>⦵</a:t>
            </a:r>
            <a:r>
              <a:rPr lang="en-IN" sz="1400" dirty="0" err="1">
                <a:latin typeface="Calibri" panose="020F0502020204030204" pitchFamily="34" charset="0"/>
              </a:rPr>
              <a:t>c</a:t>
            </a:r>
            <a:r>
              <a:rPr lang="en-IN" sz="1400" dirty="0">
                <a:latin typeface="Calibri" panose="020F0502020204030204" pitchFamily="34" charset="0"/>
              </a:rPr>
              <a:t>[C</a:t>
            </a:r>
            <a:r>
              <a:rPr lang="en-IN" sz="1400" baseline="-25000" dirty="0">
                <a:latin typeface="Calibri" panose="020F0502020204030204" pitchFamily="34" charset="0"/>
              </a:rPr>
              <a:t>2</a:t>
            </a:r>
            <a:r>
              <a:rPr lang="en-IN" sz="1400" dirty="0">
                <a:latin typeface="Calibri" panose="020F0502020204030204" pitchFamily="34" charset="0"/>
              </a:rPr>
              <a:t>H</a:t>
            </a:r>
            <a:r>
              <a:rPr lang="en-IN" sz="1400" baseline="-25000" dirty="0">
                <a:latin typeface="Calibri" panose="020F0502020204030204" pitchFamily="34" charset="0"/>
              </a:rPr>
              <a:t>5</a:t>
            </a:r>
            <a:r>
              <a:rPr lang="en-IN" sz="1400" dirty="0">
                <a:latin typeface="Calibri" panose="020F0502020204030204" pitchFamily="34" charset="0"/>
              </a:rPr>
              <a:t>OH (s)]=-1367.3 kJ/mol</a:t>
            </a:r>
          </a:p>
          <a:p>
            <a:pPr marL="114300" lvl="0" indent="0" algn="just">
              <a:buNone/>
            </a:pPr>
            <a:endParaRPr lang="en-IN" sz="1400" dirty="0">
              <a:latin typeface="Calibri" panose="020F0502020204030204" pitchFamily="34" charset="0"/>
            </a:endParaRPr>
          </a:p>
          <a:p>
            <a:pPr lvl="0" algn="just"/>
            <a:r>
              <a:rPr lang="en-IN" sz="1400" dirty="0">
                <a:latin typeface="Calibri" panose="020F0502020204030204" pitchFamily="34" charset="0"/>
              </a:rPr>
              <a:t>The enthalpy change of formation is written on the top. </a:t>
            </a:r>
          </a:p>
          <a:p>
            <a:pPr lvl="0" algn="just"/>
            <a:r>
              <a:rPr lang="en-IN" sz="1400" dirty="0">
                <a:latin typeface="Calibri" panose="020F0502020204030204" pitchFamily="34" charset="0"/>
              </a:rPr>
              <a:t>Oxygen is included to both the sides of the equation to balance combustion reactions. </a:t>
            </a:r>
          </a:p>
          <a:p>
            <a:pPr lvl="0" algn="just"/>
            <a:r>
              <a:rPr lang="en-IN" sz="1400" dirty="0">
                <a:latin typeface="Calibri" panose="020F0502020204030204" pitchFamily="34" charset="0"/>
              </a:rPr>
              <a:t>The products of combustion are shown in the bottom.</a:t>
            </a:r>
          </a:p>
          <a:p>
            <a:pPr lvl="0" algn="just"/>
            <a:endParaRPr lang="en-IN" sz="1400" dirty="0">
              <a:latin typeface="Calibri" panose="020F0502020204030204" pitchFamily="34" charset="0"/>
            </a:endParaRPr>
          </a:p>
          <a:p>
            <a:pPr lvl="0" algn="just"/>
            <a:r>
              <a:rPr lang="en-IN" sz="1400" dirty="0">
                <a:latin typeface="Calibri" panose="020F0502020204030204" pitchFamily="34" charset="0"/>
              </a:rPr>
              <a:t>Using Hess’s law,</a:t>
            </a:r>
          </a:p>
          <a:p>
            <a:pPr marL="584200" lvl="1" indent="0">
              <a:spcBef>
                <a:spcPts val="0"/>
              </a:spcBef>
              <a:buNone/>
            </a:pPr>
            <a:r>
              <a:rPr lang="en-IN" dirty="0">
                <a:latin typeface="Calibri" panose="020F0502020204030204" pitchFamily="34" charset="0"/>
              </a:rPr>
              <a:t>∆H</a:t>
            </a:r>
            <a:r>
              <a:rPr lang="en-IN" baseline="-25000" dirty="0">
                <a:latin typeface="Calibri" panose="020F0502020204030204" pitchFamily="34" charset="0"/>
              </a:rPr>
              <a:t>1</a:t>
            </a:r>
            <a:r>
              <a:rPr lang="en-IN" dirty="0">
                <a:latin typeface="Calibri" panose="020F0502020204030204" pitchFamily="34" charset="0"/>
              </a:rPr>
              <a:t>=∆H</a:t>
            </a:r>
            <a:r>
              <a:rPr lang="en-IN" baseline="-25000" dirty="0">
                <a:latin typeface="Calibri" panose="020F0502020204030204" pitchFamily="34" charset="0"/>
              </a:rPr>
              <a:t>f </a:t>
            </a:r>
            <a:r>
              <a:rPr lang="en-IN" dirty="0">
                <a:latin typeface="Calibri" panose="020F0502020204030204" pitchFamily="34" charset="0"/>
              </a:rPr>
              <a:t>+ ∆H</a:t>
            </a:r>
            <a:r>
              <a:rPr lang="en-IN" baseline="-25000" dirty="0">
                <a:latin typeface="Calibri" panose="020F0502020204030204" pitchFamily="34" charset="0"/>
              </a:rPr>
              <a:t>2</a:t>
            </a:r>
            <a:endParaRPr lang="en-IN" dirty="0">
              <a:latin typeface="Calibri" panose="020F0502020204030204" pitchFamily="34" charset="0"/>
            </a:endParaRPr>
          </a:p>
          <a:p>
            <a:pPr marL="584200" lvl="1" indent="0">
              <a:spcBef>
                <a:spcPts val="0"/>
              </a:spcBef>
              <a:buNone/>
            </a:pPr>
            <a:r>
              <a:rPr lang="en-IN" dirty="0">
                <a:latin typeface="Calibri" panose="020F0502020204030204" pitchFamily="34" charset="0"/>
              </a:rPr>
              <a:t>∆H</a:t>
            </a:r>
            <a:r>
              <a:rPr lang="en-IN" baseline="-25000" dirty="0">
                <a:latin typeface="Calibri" panose="020F0502020204030204" pitchFamily="34" charset="0"/>
              </a:rPr>
              <a:t>f</a:t>
            </a:r>
            <a:r>
              <a:rPr lang="en-IN" dirty="0">
                <a:latin typeface="Calibri" panose="020F0502020204030204" pitchFamily="34" charset="0"/>
              </a:rPr>
              <a:t>= -1644.4+1367.3</a:t>
            </a:r>
          </a:p>
          <a:p>
            <a:pPr marL="584200" lvl="1" indent="0">
              <a:spcBef>
                <a:spcPts val="0"/>
              </a:spcBef>
              <a:buNone/>
            </a:pPr>
            <a:r>
              <a:rPr lang="en-IN" dirty="0">
                <a:latin typeface="Calibri" panose="020F0502020204030204" pitchFamily="34" charset="0"/>
              </a:rPr>
              <a:t>= -277.1 kJ/mol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>
              <a:latin typeface="Calibri" panose="020F0502020204030204" pitchFamily="34" charset="0"/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945135" y="2765372"/>
            <a:ext cx="279803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100" dirty="0">
                <a:solidFill>
                  <a:srgbClr val="666666"/>
                </a:solidFill>
              </a:rPr>
              <a:t>Enthalpy cycle for combustion reaction</a:t>
            </a:r>
            <a:endParaRPr sz="1100" dirty="0">
              <a:solidFill>
                <a:srgbClr val="666666"/>
              </a:solidFill>
            </a:endParaRPr>
          </a:p>
        </p:txBody>
      </p:sp>
      <p:sp>
        <p:nvSpPr>
          <p:cNvPr id="9" name="Google Shape;126;p27">
            <a:extLst>
              <a:ext uri="{FF2B5EF4-FFF2-40B4-BE49-F238E27FC236}">
                <a16:creationId xmlns:a16="http://schemas.microsoft.com/office/drawing/2014/main" id="{4D58B2DC-6B26-4FB3-A14B-EA204BDFF87D}"/>
              </a:ext>
            </a:extLst>
          </p:cNvPr>
          <p:cNvSpPr txBox="1"/>
          <p:nvPr/>
        </p:nvSpPr>
        <p:spPr>
          <a:xfrm>
            <a:off x="945135" y="4717507"/>
            <a:ext cx="279803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100" dirty="0">
                <a:solidFill>
                  <a:srgbClr val="666666"/>
                </a:solidFill>
              </a:rPr>
              <a:t>Enthalpy cycle for this combustion reaction</a:t>
            </a:r>
            <a:endParaRPr sz="1100" dirty="0">
              <a:solidFill>
                <a:srgbClr val="66666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94" y="1383972"/>
            <a:ext cx="3555256" cy="13955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14" y="3194129"/>
            <a:ext cx="4004215" cy="146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40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933025" y="592925"/>
            <a:ext cx="6305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>
                <a:latin typeface="Calibri" panose="020F0502020204030204" pitchFamily="34" charset="0"/>
              </a:rPr>
              <a:t>Hess’s law and enthalpy cycles </a:t>
            </a:r>
          </a:p>
        </p:txBody>
      </p:sp>
      <p:sp>
        <p:nvSpPr>
          <p:cNvPr id="118" name="Google Shape;118;p26"/>
          <p:cNvSpPr txBox="1"/>
          <p:nvPr/>
        </p:nvSpPr>
        <p:spPr>
          <a:xfrm>
            <a:off x="702600" y="2028225"/>
            <a:ext cx="7330800" cy="24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>
              <a:lnSpc>
                <a:spcPct val="113000"/>
              </a:lnSpc>
              <a:spcBef>
                <a:spcPts val="600"/>
              </a:spcBef>
              <a:buSzPts val="1800"/>
              <a:buChar char="●"/>
            </a:pPr>
            <a:r>
              <a:rPr lang="en-IN" sz="1600" dirty="0">
                <a:latin typeface="Calibri" panose="020F0502020204030204" pitchFamily="34" charset="0"/>
              </a:rPr>
              <a:t>Calculating enthalpy change of reaction from enthalpy changes of formation</a:t>
            </a:r>
          </a:p>
          <a:p>
            <a:pPr marL="114300" lvl="0">
              <a:lnSpc>
                <a:spcPct val="113000"/>
              </a:lnSpc>
              <a:spcBef>
                <a:spcPts val="600"/>
              </a:spcBef>
              <a:buSzPts val="1800"/>
            </a:pPr>
            <a:endParaRPr lang="en-IN" sz="1600" dirty="0">
              <a:latin typeface="Calibri" panose="020F0502020204030204" pitchFamily="34" charset="0"/>
            </a:endParaRPr>
          </a:p>
          <a:p>
            <a:pPr marL="114300" lvl="0">
              <a:lnSpc>
                <a:spcPct val="113000"/>
              </a:lnSpc>
              <a:spcBef>
                <a:spcPts val="600"/>
              </a:spcBef>
              <a:buSzPts val="1800"/>
            </a:pPr>
            <a:r>
              <a:rPr lang="en-IN" sz="1600" dirty="0">
                <a:latin typeface="Calibri" panose="020F0502020204030204" pitchFamily="34" charset="0"/>
              </a:rPr>
              <a:t>Example 3: Calculate the standard enthalpy change for the reaction:</a:t>
            </a:r>
          </a:p>
          <a:p>
            <a:pPr marL="114300" lvl="0">
              <a:lnSpc>
                <a:spcPct val="113000"/>
              </a:lnSpc>
              <a:spcBef>
                <a:spcPts val="600"/>
              </a:spcBef>
              <a:buSzPts val="1800"/>
            </a:pPr>
            <a:r>
              <a:rPr lang="en-IN" sz="1600" dirty="0">
                <a:latin typeface="Calibri" panose="020F0502020204030204" pitchFamily="34" charset="0"/>
              </a:rPr>
              <a:t>2Al(s) +Fe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O</a:t>
            </a:r>
            <a:r>
              <a:rPr lang="en-IN" sz="1600" baseline="-25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(s)→2Fe(s)+Al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O</a:t>
            </a:r>
            <a:r>
              <a:rPr lang="en-IN" sz="1600" baseline="-25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(s)</a:t>
            </a:r>
          </a:p>
          <a:p>
            <a:pPr marL="114300" lvl="0">
              <a:lnSpc>
                <a:spcPct val="113000"/>
              </a:lnSpc>
              <a:spcBef>
                <a:spcPts val="600"/>
              </a:spcBef>
              <a:buSzPts val="1800"/>
            </a:pPr>
            <a:r>
              <a:rPr lang="en-IN" sz="1600" dirty="0">
                <a:latin typeface="Calibri" panose="020F0502020204030204" pitchFamily="34" charset="0"/>
              </a:rPr>
              <a:t>The relevant enthalpy changes of formation are:</a:t>
            </a:r>
          </a:p>
          <a:p>
            <a:pPr marL="127000" indent="0">
              <a:lnSpc>
                <a:spcPct val="113000"/>
              </a:lnSpc>
              <a:spcBef>
                <a:spcPts val="600"/>
              </a:spcBef>
              <a:buNone/>
            </a:pPr>
            <a:r>
              <a:rPr lang="en-IN" sz="1600" dirty="0" err="1">
                <a:latin typeface="Calibri" panose="020F0502020204030204" pitchFamily="34" charset="0"/>
              </a:rPr>
              <a:t>ΔH</a:t>
            </a:r>
            <a:r>
              <a:rPr lang="en-IN" sz="1600" baseline="30000" dirty="0" err="1">
                <a:latin typeface="Calibri" panose="020F0502020204030204" pitchFamily="34" charset="0"/>
              </a:rPr>
              <a:t>⦵</a:t>
            </a:r>
            <a:r>
              <a:rPr lang="en-IN" sz="1600" baseline="-25000" dirty="0" err="1">
                <a:latin typeface="Calibri" panose="020F0502020204030204" pitchFamily="34" charset="0"/>
              </a:rPr>
              <a:t>f</a:t>
            </a:r>
            <a:r>
              <a:rPr lang="en-IN" sz="1600" dirty="0">
                <a:latin typeface="Calibri" panose="020F0502020204030204" pitchFamily="34" charset="0"/>
              </a:rPr>
              <a:t>[Fe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O</a:t>
            </a:r>
            <a:r>
              <a:rPr lang="en-IN" sz="1600" baseline="-25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(s)]= -842.2 kJ/mol</a:t>
            </a:r>
          </a:p>
          <a:p>
            <a:pPr marL="127000" indent="0">
              <a:lnSpc>
                <a:spcPct val="113000"/>
              </a:lnSpc>
              <a:spcBef>
                <a:spcPts val="600"/>
              </a:spcBef>
              <a:buNone/>
            </a:pPr>
            <a:r>
              <a:rPr lang="en-IN" sz="1600" dirty="0" err="1">
                <a:latin typeface="Calibri" panose="020F0502020204030204" pitchFamily="34" charset="0"/>
              </a:rPr>
              <a:t>ΔH</a:t>
            </a:r>
            <a:r>
              <a:rPr lang="en-IN" sz="1600" baseline="30000" dirty="0" err="1">
                <a:latin typeface="Calibri" panose="020F0502020204030204" pitchFamily="34" charset="0"/>
              </a:rPr>
              <a:t>⦵</a:t>
            </a:r>
            <a:r>
              <a:rPr lang="en-IN" sz="1600" baseline="-25000" dirty="0" err="1">
                <a:latin typeface="Calibri" panose="020F0502020204030204" pitchFamily="34" charset="0"/>
              </a:rPr>
              <a:t>f</a:t>
            </a:r>
            <a:r>
              <a:rPr lang="en-IN" sz="1600" dirty="0">
                <a:latin typeface="Calibri" panose="020F0502020204030204" pitchFamily="34" charset="0"/>
              </a:rPr>
              <a:t>[Al</a:t>
            </a:r>
            <a:r>
              <a:rPr lang="en-IN" sz="1600" baseline="-25000" dirty="0">
                <a:latin typeface="Calibri" panose="020F0502020204030204" pitchFamily="34" charset="0"/>
              </a:rPr>
              <a:t>2</a:t>
            </a:r>
            <a:r>
              <a:rPr lang="en-IN" sz="1600" dirty="0">
                <a:latin typeface="Calibri" panose="020F0502020204030204" pitchFamily="34" charset="0"/>
              </a:rPr>
              <a:t>O</a:t>
            </a:r>
            <a:r>
              <a:rPr lang="en-IN" sz="1600" baseline="-25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(s)]= -1675.7 kJ/mol</a:t>
            </a:r>
          </a:p>
          <a:p>
            <a:pPr marL="114300" lvl="0">
              <a:lnSpc>
                <a:spcPct val="113000"/>
              </a:lnSpc>
              <a:spcBef>
                <a:spcPts val="600"/>
              </a:spcBef>
              <a:buSzPts val="1800"/>
            </a:pPr>
            <a:endParaRPr sz="1600" dirty="0">
              <a:latin typeface="Calibri" panose="020F0502020204030204" pitchFamily="34" charset="0"/>
            </a:endParaRPr>
          </a:p>
          <a:p>
            <a:pPr marL="0" lvl="0" indent="0" algn="l" rtl="0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  <a:p>
            <a:pPr marL="0" lvl="0" indent="0" algn="l" rtl="0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0587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>
            <a:spLocks noGrp="1"/>
          </p:cNvSpPr>
          <p:nvPr>
            <p:ph type="title"/>
          </p:nvPr>
        </p:nvSpPr>
        <p:spPr>
          <a:xfrm>
            <a:off x="662950" y="198850"/>
            <a:ext cx="3362400" cy="10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200" dirty="0" err="1">
                <a:latin typeface="Calibri" panose="020F0502020204030204" pitchFamily="34" charset="0"/>
              </a:rPr>
              <a:t>ΔH</a:t>
            </a:r>
            <a:r>
              <a:rPr lang="en-IN" sz="3200" baseline="-25000" dirty="0" err="1">
                <a:latin typeface="Calibri" panose="020F0502020204030204" pitchFamily="34" charset="0"/>
              </a:rPr>
              <a:t>r</a:t>
            </a:r>
            <a:r>
              <a:rPr lang="en-IN" sz="3200" dirty="0">
                <a:latin typeface="Calibri" panose="020F0502020204030204" pitchFamily="34" charset="0"/>
              </a:rPr>
              <a:t> from </a:t>
            </a:r>
            <a:r>
              <a:rPr lang="en-IN" sz="3200" dirty="0" err="1">
                <a:latin typeface="Calibri" panose="020F0502020204030204" pitchFamily="34" charset="0"/>
              </a:rPr>
              <a:t>ΔH</a:t>
            </a:r>
            <a:r>
              <a:rPr lang="en-IN" sz="3200" baseline="30000" dirty="0" err="1">
                <a:latin typeface="Calibri" panose="020F0502020204030204" pitchFamily="34" charset="0"/>
              </a:rPr>
              <a:t>⦵</a:t>
            </a:r>
            <a:r>
              <a:rPr lang="en-IN" sz="3200" baseline="-25000" dirty="0" err="1">
                <a:latin typeface="Calibri" panose="020F0502020204030204" pitchFamily="34" charset="0"/>
              </a:rPr>
              <a:t>f</a:t>
            </a:r>
            <a:endParaRPr sz="3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4" name="Google Shape;124;p27"/>
          <p:cNvSpPr txBox="1">
            <a:spLocks noGrp="1"/>
          </p:cNvSpPr>
          <p:nvPr>
            <p:ph type="body" idx="2"/>
          </p:nvPr>
        </p:nvSpPr>
        <p:spPr>
          <a:xfrm>
            <a:off x="4751023" y="198850"/>
            <a:ext cx="4204500" cy="36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13000"/>
              </a:lnSpc>
              <a:spcBef>
                <a:spcPts val="600"/>
              </a:spcBef>
              <a:buSzPts val="1800"/>
              <a:buNone/>
            </a:pPr>
            <a:r>
              <a:rPr lang="en-IN" sz="1400" dirty="0">
                <a:latin typeface="Calibri" panose="020F0502020204030204" pitchFamily="34" charset="0"/>
              </a:rPr>
              <a:t>Example 3: Calculate the standard enthalpy change for the reaction:</a:t>
            </a:r>
          </a:p>
          <a:p>
            <a:pPr marL="0" lvl="0" indent="0">
              <a:lnSpc>
                <a:spcPct val="113000"/>
              </a:lnSpc>
              <a:spcBef>
                <a:spcPts val="600"/>
              </a:spcBef>
              <a:buSzPts val="1800"/>
              <a:buNone/>
            </a:pPr>
            <a:r>
              <a:rPr lang="en-IN" sz="1400" dirty="0">
                <a:latin typeface="Calibri" panose="020F0502020204030204" pitchFamily="34" charset="0"/>
              </a:rPr>
              <a:t>2Al(s) +Fe</a:t>
            </a:r>
            <a:r>
              <a:rPr lang="en-IN" sz="1400" baseline="-25000" dirty="0">
                <a:latin typeface="Calibri" panose="020F0502020204030204" pitchFamily="34" charset="0"/>
              </a:rPr>
              <a:t>2</a:t>
            </a:r>
            <a:r>
              <a:rPr lang="en-IN" sz="1400" dirty="0">
                <a:latin typeface="Calibri" panose="020F0502020204030204" pitchFamily="34" charset="0"/>
              </a:rPr>
              <a:t>O</a:t>
            </a:r>
            <a:r>
              <a:rPr lang="en-IN" sz="1400" baseline="-25000" dirty="0">
                <a:latin typeface="Calibri" panose="020F0502020204030204" pitchFamily="34" charset="0"/>
              </a:rPr>
              <a:t>3</a:t>
            </a:r>
            <a:r>
              <a:rPr lang="en-IN" sz="1400" dirty="0">
                <a:latin typeface="Calibri" panose="020F0502020204030204" pitchFamily="34" charset="0"/>
              </a:rPr>
              <a:t>(s)→2Fe(s)+Al</a:t>
            </a:r>
            <a:r>
              <a:rPr lang="en-IN" sz="1400" baseline="-25000" dirty="0">
                <a:latin typeface="Calibri" panose="020F0502020204030204" pitchFamily="34" charset="0"/>
              </a:rPr>
              <a:t>2</a:t>
            </a:r>
            <a:r>
              <a:rPr lang="en-IN" sz="1400" dirty="0">
                <a:latin typeface="Calibri" panose="020F0502020204030204" pitchFamily="34" charset="0"/>
              </a:rPr>
              <a:t>O</a:t>
            </a:r>
            <a:r>
              <a:rPr lang="en-IN" sz="1400" baseline="-25000" dirty="0">
                <a:latin typeface="Calibri" panose="020F0502020204030204" pitchFamily="34" charset="0"/>
              </a:rPr>
              <a:t>3</a:t>
            </a:r>
            <a:r>
              <a:rPr lang="en-IN" sz="1400" dirty="0">
                <a:latin typeface="Calibri" panose="020F0502020204030204" pitchFamily="34" charset="0"/>
              </a:rPr>
              <a:t>(s)</a:t>
            </a:r>
          </a:p>
          <a:p>
            <a:pPr marL="0" lvl="0" indent="0">
              <a:lnSpc>
                <a:spcPct val="113000"/>
              </a:lnSpc>
              <a:spcBef>
                <a:spcPts val="600"/>
              </a:spcBef>
              <a:buSzPts val="1800"/>
              <a:buNone/>
            </a:pPr>
            <a:r>
              <a:rPr lang="en-IN" sz="1400" dirty="0">
                <a:latin typeface="Calibri" panose="020F0502020204030204" pitchFamily="34" charset="0"/>
              </a:rPr>
              <a:t>The relevant enthalpy changes of formation are:</a:t>
            </a:r>
          </a:p>
          <a:p>
            <a:pPr marL="127000" indent="0">
              <a:lnSpc>
                <a:spcPct val="113000"/>
              </a:lnSpc>
              <a:spcBef>
                <a:spcPts val="600"/>
              </a:spcBef>
              <a:buNone/>
            </a:pPr>
            <a:r>
              <a:rPr lang="en-IN" sz="1400" dirty="0" err="1">
                <a:latin typeface="Calibri" panose="020F0502020204030204" pitchFamily="34" charset="0"/>
              </a:rPr>
              <a:t>ΔH</a:t>
            </a:r>
            <a:r>
              <a:rPr lang="en-IN" sz="1400" baseline="30000" dirty="0" err="1">
                <a:latin typeface="Calibri" panose="020F0502020204030204" pitchFamily="34" charset="0"/>
              </a:rPr>
              <a:t>⦵</a:t>
            </a:r>
            <a:r>
              <a:rPr lang="en-IN" sz="1400" baseline="-25000" dirty="0" err="1">
                <a:latin typeface="Calibri" panose="020F0502020204030204" pitchFamily="34" charset="0"/>
              </a:rPr>
              <a:t>f</a:t>
            </a:r>
            <a:r>
              <a:rPr lang="en-IN" sz="1400" dirty="0">
                <a:latin typeface="Calibri" panose="020F0502020204030204" pitchFamily="34" charset="0"/>
              </a:rPr>
              <a:t>[Fe</a:t>
            </a:r>
            <a:r>
              <a:rPr lang="en-IN" sz="1400" baseline="-25000" dirty="0">
                <a:latin typeface="Calibri" panose="020F0502020204030204" pitchFamily="34" charset="0"/>
              </a:rPr>
              <a:t>2</a:t>
            </a:r>
            <a:r>
              <a:rPr lang="en-IN" sz="1400" dirty="0">
                <a:latin typeface="Calibri" panose="020F0502020204030204" pitchFamily="34" charset="0"/>
              </a:rPr>
              <a:t>O</a:t>
            </a:r>
            <a:r>
              <a:rPr lang="en-IN" sz="1400" baseline="-25000" dirty="0">
                <a:latin typeface="Calibri" panose="020F0502020204030204" pitchFamily="34" charset="0"/>
              </a:rPr>
              <a:t>3</a:t>
            </a:r>
            <a:r>
              <a:rPr lang="en-IN" sz="1400" dirty="0">
                <a:latin typeface="Calibri" panose="020F0502020204030204" pitchFamily="34" charset="0"/>
              </a:rPr>
              <a:t>(s)]= - 842.2 kJ/mol</a:t>
            </a:r>
          </a:p>
          <a:p>
            <a:pPr marL="127000" indent="0">
              <a:lnSpc>
                <a:spcPct val="113000"/>
              </a:lnSpc>
              <a:spcBef>
                <a:spcPts val="600"/>
              </a:spcBef>
              <a:buNone/>
            </a:pPr>
            <a:r>
              <a:rPr lang="en-IN" sz="1400" dirty="0" err="1">
                <a:latin typeface="Calibri" panose="020F0502020204030204" pitchFamily="34" charset="0"/>
              </a:rPr>
              <a:t>ΔH</a:t>
            </a:r>
            <a:r>
              <a:rPr lang="en-IN" sz="1400" baseline="30000" dirty="0" err="1">
                <a:latin typeface="Calibri" panose="020F0502020204030204" pitchFamily="34" charset="0"/>
              </a:rPr>
              <a:t>⦵</a:t>
            </a:r>
            <a:r>
              <a:rPr lang="en-IN" sz="1400" baseline="-25000" dirty="0" err="1">
                <a:latin typeface="Calibri" panose="020F0502020204030204" pitchFamily="34" charset="0"/>
              </a:rPr>
              <a:t>f</a:t>
            </a:r>
            <a:r>
              <a:rPr lang="en-IN" sz="1400" dirty="0">
                <a:latin typeface="Calibri" panose="020F0502020204030204" pitchFamily="34" charset="0"/>
              </a:rPr>
              <a:t>[Al</a:t>
            </a:r>
            <a:r>
              <a:rPr lang="en-IN" sz="1400" baseline="-25000" dirty="0">
                <a:latin typeface="Calibri" panose="020F0502020204030204" pitchFamily="34" charset="0"/>
              </a:rPr>
              <a:t>2</a:t>
            </a:r>
            <a:r>
              <a:rPr lang="en-IN" sz="1400" dirty="0">
                <a:latin typeface="Calibri" panose="020F0502020204030204" pitchFamily="34" charset="0"/>
              </a:rPr>
              <a:t>O</a:t>
            </a:r>
            <a:r>
              <a:rPr lang="en-IN" sz="1400" baseline="-25000" dirty="0">
                <a:latin typeface="Calibri" panose="020F0502020204030204" pitchFamily="34" charset="0"/>
              </a:rPr>
              <a:t>3</a:t>
            </a:r>
            <a:r>
              <a:rPr lang="en-IN" sz="1400" dirty="0">
                <a:latin typeface="Calibri" panose="020F0502020204030204" pitchFamily="34" charset="0"/>
              </a:rPr>
              <a:t>(s)]= -1675.7 kJ/mol</a:t>
            </a:r>
          </a:p>
          <a:p>
            <a:pPr marL="114300" lvl="0" indent="0" algn="just">
              <a:buNone/>
            </a:pPr>
            <a:endParaRPr lang="en-IN" sz="1400" dirty="0">
              <a:latin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</a:rPr>
              <a:t>The balanced equation is written on top.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</a:rPr>
              <a:t>The elements are written in the bottom.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Calibri" panose="020F0502020204030204" pitchFamily="34" charset="0"/>
              </a:rPr>
              <a:t>The dashed line shows the indirect route.</a:t>
            </a:r>
          </a:p>
          <a:p>
            <a:pPr marL="127000" lvl="0" indent="0">
              <a:buNone/>
            </a:pPr>
            <a:endParaRPr lang="en-IN" sz="1400" dirty="0">
              <a:latin typeface="Calibri" panose="020F0502020204030204" pitchFamily="34" charset="0"/>
            </a:endParaRPr>
          </a:p>
          <a:p>
            <a:pPr marL="127000" lvl="0" indent="0">
              <a:spcBef>
                <a:spcPts val="600"/>
              </a:spcBef>
              <a:buNone/>
            </a:pPr>
            <a:r>
              <a:rPr lang="en-IN" sz="1400" dirty="0">
                <a:latin typeface="Calibri" panose="020F0502020204030204" pitchFamily="34" charset="0"/>
              </a:rPr>
              <a:t>Using Hess’s law,</a:t>
            </a:r>
          </a:p>
          <a:p>
            <a:pPr marL="584200" lvl="1" indent="0">
              <a:spcBef>
                <a:spcPts val="600"/>
              </a:spcBef>
              <a:buNone/>
            </a:pPr>
            <a:r>
              <a:rPr lang="en-IN" dirty="0">
                <a:latin typeface="Calibri" panose="020F0502020204030204" pitchFamily="34" charset="0"/>
              </a:rPr>
              <a:t>∆H</a:t>
            </a:r>
            <a:r>
              <a:rPr lang="en-IN" baseline="-25000" dirty="0">
                <a:latin typeface="Calibri" panose="020F0502020204030204" pitchFamily="34" charset="0"/>
              </a:rPr>
              <a:t>2</a:t>
            </a:r>
            <a:r>
              <a:rPr lang="en-IN" dirty="0">
                <a:latin typeface="Calibri" panose="020F0502020204030204" pitchFamily="34" charset="0"/>
              </a:rPr>
              <a:t>=∆H</a:t>
            </a:r>
            <a:r>
              <a:rPr lang="en-IN" baseline="-25000" dirty="0">
                <a:latin typeface="Calibri" panose="020F0502020204030204" pitchFamily="34" charset="0"/>
              </a:rPr>
              <a:t>1</a:t>
            </a:r>
            <a:r>
              <a:rPr lang="en-IN" dirty="0">
                <a:latin typeface="Calibri" panose="020F0502020204030204" pitchFamily="34" charset="0"/>
              </a:rPr>
              <a:t>+∆H</a:t>
            </a:r>
            <a:r>
              <a:rPr lang="en-IN" baseline="-25000" dirty="0">
                <a:latin typeface="Calibri" panose="020F0502020204030204" pitchFamily="34" charset="0"/>
              </a:rPr>
              <a:t>r</a:t>
            </a:r>
            <a:endParaRPr lang="en-IN" dirty="0">
              <a:latin typeface="Calibri" panose="020F0502020204030204" pitchFamily="34" charset="0"/>
            </a:endParaRPr>
          </a:p>
          <a:p>
            <a:pPr marL="584200" lvl="1" indent="0">
              <a:spcBef>
                <a:spcPts val="600"/>
              </a:spcBef>
              <a:buNone/>
            </a:pPr>
            <a:r>
              <a:rPr lang="en-IN" dirty="0">
                <a:latin typeface="Calibri" panose="020F0502020204030204" pitchFamily="34" charset="0"/>
              </a:rPr>
              <a:t>∆</a:t>
            </a:r>
            <a:r>
              <a:rPr lang="en-IN" dirty="0" err="1">
                <a:latin typeface="Calibri" panose="020F0502020204030204" pitchFamily="34" charset="0"/>
              </a:rPr>
              <a:t>H</a:t>
            </a:r>
            <a:r>
              <a:rPr lang="en-IN" baseline="30000" dirty="0" err="1">
                <a:latin typeface="Calibri" panose="020F0502020204030204" pitchFamily="34" charset="0"/>
              </a:rPr>
              <a:t>⦵</a:t>
            </a:r>
            <a:r>
              <a:rPr lang="en-IN" baseline="-25000" dirty="0" err="1">
                <a:latin typeface="Calibri" panose="020F0502020204030204" pitchFamily="34" charset="0"/>
              </a:rPr>
              <a:t>f</a:t>
            </a:r>
            <a:r>
              <a:rPr lang="en-IN" dirty="0">
                <a:latin typeface="Calibri" panose="020F0502020204030204" pitchFamily="34" charset="0"/>
              </a:rPr>
              <a:t>[Al</a:t>
            </a:r>
            <a:r>
              <a:rPr lang="en-IN" baseline="-25000" dirty="0">
                <a:latin typeface="Calibri" panose="020F0502020204030204" pitchFamily="34" charset="0"/>
              </a:rPr>
              <a:t>2</a:t>
            </a:r>
            <a:r>
              <a:rPr lang="en-IN" dirty="0">
                <a:latin typeface="Calibri" panose="020F0502020204030204" pitchFamily="34" charset="0"/>
              </a:rPr>
              <a:t>O</a:t>
            </a:r>
            <a:r>
              <a:rPr lang="en-IN" baseline="-25000" dirty="0">
                <a:latin typeface="Calibri" panose="020F0502020204030204" pitchFamily="34" charset="0"/>
              </a:rPr>
              <a:t>3</a:t>
            </a:r>
            <a:r>
              <a:rPr lang="en-IN" dirty="0">
                <a:latin typeface="Calibri" panose="020F0502020204030204" pitchFamily="34" charset="0"/>
              </a:rPr>
              <a:t>]=∆</a:t>
            </a:r>
            <a:r>
              <a:rPr lang="en-IN" dirty="0" err="1">
                <a:latin typeface="Calibri" panose="020F0502020204030204" pitchFamily="34" charset="0"/>
              </a:rPr>
              <a:t>H</a:t>
            </a:r>
            <a:r>
              <a:rPr lang="en-IN" baseline="30000" dirty="0" err="1">
                <a:latin typeface="Calibri" panose="020F0502020204030204" pitchFamily="34" charset="0"/>
              </a:rPr>
              <a:t>⦵</a:t>
            </a:r>
            <a:r>
              <a:rPr lang="en-IN" dirty="0" err="1">
                <a:latin typeface="Calibri" panose="020F0502020204030204" pitchFamily="34" charset="0"/>
              </a:rPr>
              <a:t>f</a:t>
            </a:r>
            <a:r>
              <a:rPr lang="en-IN" dirty="0">
                <a:latin typeface="Calibri" panose="020F0502020204030204" pitchFamily="34" charset="0"/>
              </a:rPr>
              <a:t>[Fe</a:t>
            </a:r>
            <a:r>
              <a:rPr lang="en-IN" baseline="-25000" dirty="0">
                <a:latin typeface="Calibri" panose="020F0502020204030204" pitchFamily="34" charset="0"/>
              </a:rPr>
              <a:t>2</a:t>
            </a:r>
            <a:r>
              <a:rPr lang="en-IN" dirty="0">
                <a:latin typeface="Calibri" panose="020F0502020204030204" pitchFamily="34" charset="0"/>
              </a:rPr>
              <a:t>O</a:t>
            </a:r>
            <a:r>
              <a:rPr lang="en-IN" baseline="-25000" dirty="0">
                <a:latin typeface="Calibri" panose="020F0502020204030204" pitchFamily="34" charset="0"/>
              </a:rPr>
              <a:t>3</a:t>
            </a:r>
            <a:r>
              <a:rPr lang="en-IN" dirty="0">
                <a:latin typeface="Calibri" panose="020F0502020204030204" pitchFamily="34" charset="0"/>
              </a:rPr>
              <a:t>]+∆Hr</a:t>
            </a:r>
          </a:p>
          <a:p>
            <a:pPr marL="584200" lvl="1" indent="0">
              <a:spcBef>
                <a:spcPts val="600"/>
              </a:spcBef>
              <a:buNone/>
            </a:pPr>
            <a:r>
              <a:rPr lang="en-IN" dirty="0">
                <a:latin typeface="Calibri" panose="020F0502020204030204" pitchFamily="34" charset="0"/>
              </a:rPr>
              <a:t>-1675.7= - 842.2 + ∆Hr</a:t>
            </a:r>
          </a:p>
          <a:p>
            <a:pPr marL="584200" lvl="1" indent="0">
              <a:spcBef>
                <a:spcPts val="600"/>
              </a:spcBef>
              <a:buNone/>
            </a:pPr>
            <a:r>
              <a:rPr lang="en-IN" dirty="0">
                <a:latin typeface="Calibri" panose="020F0502020204030204" pitchFamily="34" charset="0"/>
              </a:rPr>
              <a:t>∆Hr= - 833.5 kJ/mol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>
              <a:latin typeface="Calibri" panose="020F0502020204030204" pitchFamily="34" charset="0"/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826987" y="2907880"/>
            <a:ext cx="279803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100" dirty="0">
                <a:solidFill>
                  <a:srgbClr val="666666"/>
                </a:solidFill>
              </a:rPr>
              <a:t>Enthalpy cycle for formation reaction</a:t>
            </a:r>
            <a:endParaRPr sz="1100" dirty="0">
              <a:solidFill>
                <a:srgbClr val="666666"/>
              </a:solidFill>
            </a:endParaRPr>
          </a:p>
        </p:txBody>
      </p:sp>
      <p:sp>
        <p:nvSpPr>
          <p:cNvPr id="9" name="Google Shape;126;p27">
            <a:extLst>
              <a:ext uri="{FF2B5EF4-FFF2-40B4-BE49-F238E27FC236}">
                <a16:creationId xmlns:a16="http://schemas.microsoft.com/office/drawing/2014/main" id="{4D58B2DC-6B26-4FB3-A14B-EA204BDFF87D}"/>
              </a:ext>
            </a:extLst>
          </p:cNvPr>
          <p:cNvSpPr txBox="1"/>
          <p:nvPr/>
        </p:nvSpPr>
        <p:spPr>
          <a:xfrm>
            <a:off x="945135" y="4825350"/>
            <a:ext cx="279803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100" dirty="0">
                <a:solidFill>
                  <a:srgbClr val="666666"/>
                </a:solidFill>
              </a:rPr>
              <a:t>Enthalpy cycle for this reaction</a:t>
            </a:r>
            <a:endParaRPr sz="1100" dirty="0">
              <a:solidFill>
                <a:srgbClr val="66666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954" y="1469361"/>
            <a:ext cx="3878096" cy="14692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77" y="3206811"/>
            <a:ext cx="4287407" cy="1618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>
            <a:spLocks noGrp="1"/>
          </p:cNvSpPr>
          <p:nvPr>
            <p:ph type="title"/>
          </p:nvPr>
        </p:nvSpPr>
        <p:spPr>
          <a:xfrm>
            <a:off x="90900" y="198850"/>
            <a:ext cx="4506500" cy="10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Calculating enthalpy changes of reaction using average bond enthalpies</a:t>
            </a:r>
          </a:p>
        </p:txBody>
      </p:sp>
      <p:sp>
        <p:nvSpPr>
          <p:cNvPr id="124" name="Google Shape;124;p27"/>
          <p:cNvSpPr txBox="1">
            <a:spLocks noGrp="1"/>
          </p:cNvSpPr>
          <p:nvPr>
            <p:ph type="body" idx="2"/>
          </p:nvPr>
        </p:nvSpPr>
        <p:spPr>
          <a:xfrm>
            <a:off x="4973367" y="699700"/>
            <a:ext cx="3837000" cy="17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latin typeface="Calibri" panose="020F0502020204030204" pitchFamily="34" charset="0"/>
              </a:rPr>
              <a:t>In some reactions, the enthalpy change cannot be measured directly. In such reactions, mean bond enthalpy is used to calculate enthalpy change. </a:t>
            </a:r>
          </a:p>
          <a:p>
            <a:pPr lvl="0"/>
            <a:r>
              <a:rPr lang="en-IN" sz="1600" dirty="0">
                <a:latin typeface="Calibri" panose="020F0502020204030204" pitchFamily="34" charset="0"/>
              </a:rPr>
              <a:t>Using Hess’s law,</a:t>
            </a:r>
          </a:p>
          <a:p>
            <a:pPr marL="114300" indent="0" algn="ctr">
              <a:buNone/>
            </a:pPr>
            <a:r>
              <a:rPr lang="en-IN" sz="1600" dirty="0">
                <a:latin typeface="Calibri" panose="020F0502020204030204" pitchFamily="34" charset="0"/>
              </a:rPr>
              <a:t>∆H</a:t>
            </a:r>
            <a:r>
              <a:rPr lang="en-IN" sz="1600" baseline="-25000" dirty="0">
                <a:latin typeface="Calibri" panose="020F0502020204030204" pitchFamily="34" charset="0"/>
              </a:rPr>
              <a:t>r</a:t>
            </a:r>
            <a:r>
              <a:rPr lang="en-IN" sz="1600" dirty="0">
                <a:latin typeface="Calibri" panose="020F0502020204030204" pitchFamily="34" charset="0"/>
              </a:rPr>
              <a:t>=∑bond enthalpy of bonds broken - ∑bond enthalpy of bonds formed</a:t>
            </a:r>
          </a:p>
          <a:p>
            <a:pPr marL="114300" indent="0" algn="ctr">
              <a:buNone/>
            </a:pPr>
            <a:endParaRPr lang="en-IN" sz="1600" dirty="0">
              <a:latin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</a:rPr>
              <a:t>However, this is only an accurate value because mean values of bond energies are used. </a:t>
            </a:r>
          </a:p>
          <a:p>
            <a:r>
              <a:rPr lang="en-US" sz="1600" dirty="0">
                <a:latin typeface="Calibri" panose="020F0502020204030204" pitchFamily="34" charset="0"/>
              </a:rPr>
              <a:t>In order to find the exact value, we use enthalpy cycles where accurate values are used.</a:t>
            </a:r>
          </a:p>
          <a:p>
            <a:pPr marL="114300" lvl="0" indent="0">
              <a:buNone/>
            </a:pPr>
            <a:endParaRPr lang="en-IN" sz="1600" dirty="0">
              <a:latin typeface="Calibri" panose="020F0502020204030204" pitchFamily="34" charset="0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2342157" y="4718400"/>
            <a:ext cx="20774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1100" dirty="0">
                <a:ea typeface="Calibri" panose="020F0502020204030204" pitchFamily="34" charset="0"/>
                <a:cs typeface="Times New Roman" panose="02020603050405020304" pitchFamily="18" charset="0"/>
              </a:rPr>
              <a:t>Enthalpy cycle for the reaction</a:t>
            </a:r>
            <a:endParaRPr sz="1100" dirty="0">
              <a:solidFill>
                <a:srgbClr val="666666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00" y="1874266"/>
            <a:ext cx="4271452" cy="161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60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933025" y="592925"/>
            <a:ext cx="6305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800" dirty="0">
                <a:latin typeface="Calibri" panose="020F0502020204030204" pitchFamily="34" charset="0"/>
              </a:rPr>
              <a:t>Calculating enthalpy </a:t>
            </a:r>
            <a:r>
              <a:rPr lang="en-US" sz="2800">
                <a:latin typeface="Calibri" panose="020F0502020204030204" pitchFamily="34" charset="0"/>
              </a:rPr>
              <a:t>changes using average </a:t>
            </a:r>
            <a:r>
              <a:rPr lang="en-US" sz="2800" dirty="0">
                <a:latin typeface="Calibri" panose="020F0502020204030204" pitchFamily="34" charset="0"/>
              </a:rPr>
              <a:t>bond enthalpies: Example</a:t>
            </a:r>
            <a:endParaRPr lang="en-IN" sz="2800" dirty="0">
              <a:latin typeface="Calibri" panose="020F0502020204030204" pitchFamily="34" charset="0"/>
            </a:endParaRPr>
          </a:p>
        </p:txBody>
      </p:sp>
      <p:sp>
        <p:nvSpPr>
          <p:cNvPr id="118" name="Google Shape;118;p26"/>
          <p:cNvSpPr txBox="1"/>
          <p:nvPr/>
        </p:nvSpPr>
        <p:spPr>
          <a:xfrm>
            <a:off x="4143021" y="2058475"/>
            <a:ext cx="4789963" cy="24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>
              <a:buNone/>
            </a:pPr>
            <a:r>
              <a:rPr lang="en-IN" sz="1600" b="1" dirty="0">
                <a:latin typeface="Calibri" panose="020F0502020204030204" pitchFamily="34" charset="0"/>
              </a:rPr>
              <a:t>Solution:</a:t>
            </a:r>
            <a:endParaRPr lang="en-IN" sz="1600" dirty="0">
              <a:latin typeface="Calibri" panose="020F0502020204030204" pitchFamily="34" charset="0"/>
            </a:endParaRPr>
          </a:p>
          <a:p>
            <a:pPr marL="127000" indent="0">
              <a:buNone/>
            </a:pPr>
            <a:r>
              <a:rPr lang="en-IN" sz="1600" dirty="0">
                <a:latin typeface="Calibri" panose="020F0502020204030204" pitchFamily="34" charset="0"/>
              </a:rPr>
              <a:t>∆H=∑bond enthalpy of bonds broken-∑bond enthalpy of bonds formed</a:t>
            </a:r>
          </a:p>
          <a:p>
            <a:pPr marL="127000" indent="0">
              <a:buNone/>
            </a:pPr>
            <a:r>
              <a:rPr lang="en-IN" sz="1600" dirty="0">
                <a:latin typeface="Calibri" panose="020F0502020204030204" pitchFamily="34" charset="0"/>
              </a:rPr>
              <a:t>∆H= (6× E(C-H) + E(C=O) +2× E(C-C) + 4 × E(O=O)) - (6× E(C=O) +6× E(O-H))</a:t>
            </a:r>
          </a:p>
          <a:p>
            <a:pPr marL="127000" indent="0">
              <a:buNone/>
            </a:pPr>
            <a:r>
              <a:rPr lang="en-IN" sz="1600" dirty="0">
                <a:latin typeface="Calibri" panose="020F0502020204030204" pitchFamily="34" charset="0"/>
              </a:rPr>
              <a:t>=5961-7620</a:t>
            </a:r>
          </a:p>
          <a:p>
            <a:pPr marL="127000" indent="0">
              <a:buNone/>
            </a:pPr>
            <a:r>
              <a:rPr lang="en-IN" sz="1600" dirty="0">
                <a:latin typeface="Calibri" panose="020F0502020204030204" pitchFamily="34" charset="0"/>
              </a:rPr>
              <a:t>=-1659 kJ/mol</a:t>
            </a:r>
            <a:endParaRPr sz="1600" dirty="0">
              <a:latin typeface="Calibri" panose="020F050202020403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</p:txBody>
      </p:sp>
      <p:sp>
        <p:nvSpPr>
          <p:cNvPr id="2" name="Google Shape;118;p26">
            <a:extLst>
              <a:ext uri="{FF2B5EF4-FFF2-40B4-BE49-F238E27FC236}">
                <a16:creationId xmlns:a16="http://schemas.microsoft.com/office/drawing/2014/main" id="{BFE52853-BEC4-4228-B826-075A427BE8DC}"/>
              </a:ext>
            </a:extLst>
          </p:cNvPr>
          <p:cNvSpPr txBox="1"/>
          <p:nvPr/>
        </p:nvSpPr>
        <p:spPr>
          <a:xfrm>
            <a:off x="702600" y="2028225"/>
            <a:ext cx="3440421" cy="24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>
              <a:buNone/>
            </a:pPr>
            <a:r>
              <a:rPr lang="en-IN" sz="1600" b="1" dirty="0">
                <a:latin typeface="Calibri" panose="020F0502020204030204" pitchFamily="34" charset="0"/>
              </a:rPr>
              <a:t>Example 4:</a:t>
            </a:r>
            <a:r>
              <a:rPr lang="en-IN" sz="1600" dirty="0">
                <a:latin typeface="Calibri" panose="020F0502020204030204" pitchFamily="34" charset="0"/>
              </a:rPr>
              <a:t> Using the following data of bond enthalpies, calculate the standard enthalpy change of combustion of propanone (CH</a:t>
            </a:r>
            <a:r>
              <a:rPr lang="en-IN" sz="1600" baseline="-25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COCH</a:t>
            </a:r>
            <a:r>
              <a:rPr lang="en-IN" sz="1600" baseline="-25000" dirty="0">
                <a:latin typeface="Calibri" panose="020F0502020204030204" pitchFamily="34" charset="0"/>
              </a:rPr>
              <a:t>3</a:t>
            </a:r>
            <a:r>
              <a:rPr lang="en-IN" sz="1600" dirty="0">
                <a:latin typeface="Calibri" panose="020F0502020204030204" pitchFamily="34" charset="0"/>
              </a:rPr>
              <a:t>)</a:t>
            </a:r>
          </a:p>
          <a:p>
            <a:pPr marL="127000" indent="0">
              <a:buNone/>
            </a:pPr>
            <a:endParaRPr lang="en-IN" sz="1600" dirty="0">
              <a:latin typeface="Calibri" panose="020F0502020204030204" pitchFamily="34" charset="0"/>
            </a:endParaRPr>
          </a:p>
          <a:p>
            <a:pPr marL="114300" lvl="0">
              <a:buSzPts val="1800"/>
            </a:pPr>
            <a:r>
              <a:rPr lang="pt-BR" sz="1600" dirty="0">
                <a:latin typeface="Calibri" panose="020F0502020204030204" pitchFamily="34" charset="0"/>
              </a:rPr>
              <a:t>E(C-C) =347 kJ/mol</a:t>
            </a:r>
          </a:p>
          <a:p>
            <a:pPr marL="114300" lvl="0">
              <a:buSzPts val="1800"/>
            </a:pPr>
            <a:r>
              <a:rPr lang="pt-BR" sz="1600" dirty="0">
                <a:latin typeface="Calibri" panose="020F0502020204030204" pitchFamily="34" charset="0"/>
              </a:rPr>
              <a:t>E(C-H) =413 kJ/mol</a:t>
            </a:r>
          </a:p>
          <a:p>
            <a:pPr marL="114300" lvl="0">
              <a:buSzPts val="1800"/>
            </a:pPr>
            <a:r>
              <a:rPr lang="pt-BR" sz="1600" dirty="0">
                <a:latin typeface="Calibri" panose="020F0502020204030204" pitchFamily="34" charset="0"/>
              </a:rPr>
              <a:t>E(O=O) =496 kJ/mol</a:t>
            </a:r>
          </a:p>
          <a:p>
            <a:pPr marL="114300" lvl="0">
              <a:buSzPts val="1800"/>
            </a:pPr>
            <a:r>
              <a:rPr lang="pt-BR" sz="1600" dirty="0">
                <a:latin typeface="Calibri" panose="020F0502020204030204" pitchFamily="34" charset="0"/>
              </a:rPr>
              <a:t>E(C=O) =805 kJ/mol</a:t>
            </a:r>
          </a:p>
          <a:p>
            <a:pPr marL="114300" lvl="0">
              <a:buSzPts val="1800"/>
            </a:pPr>
            <a:r>
              <a:rPr lang="pt-BR" sz="1600" dirty="0">
                <a:latin typeface="Calibri" panose="020F0502020204030204" pitchFamily="34" charset="0"/>
              </a:rPr>
              <a:t>E(O-H) =465 kJ/mol</a:t>
            </a:r>
          </a:p>
          <a:p>
            <a:pPr marL="114300" lvl="0">
              <a:buSzPts val="1800"/>
            </a:pPr>
            <a:endParaRPr sz="1600" dirty="0">
              <a:latin typeface="Calibri" panose="020F0502020204030204" pitchFamily="3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3DB95E-CC56-40B8-8C82-64ED8E3EBEC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332" y="3938239"/>
            <a:ext cx="5731510" cy="109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011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933025" y="592925"/>
            <a:ext cx="6305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>
                <a:latin typeface="Calibri" panose="020F0502020204030204" pitchFamily="34" charset="0"/>
              </a:rPr>
              <a:t>Standard enthalpy change of atomisation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Google Shape;118;p26"/>
              <p:cNvSpPr txBox="1"/>
              <p:nvPr/>
            </p:nvSpPr>
            <p:spPr>
              <a:xfrm>
                <a:off x="619473" y="1881762"/>
                <a:ext cx="7330800" cy="249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738188" lvl="0" indent="-285750">
                  <a:lnSpc>
                    <a:spcPct val="113000"/>
                  </a:lnSpc>
                  <a:spcBef>
                    <a:spcPts val="600"/>
                  </a:spcBef>
                  <a:buClr>
                    <a:srgbClr val="434343"/>
                  </a:buClr>
                  <a:buSzPts val="1600"/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Calibri" panose="020F0502020204030204" pitchFamily="34" charset="0"/>
                    <a:ea typeface="Roboto Condensed"/>
                    <a:cs typeface="Calibri" panose="020F0502020204030204" pitchFamily="34" charset="0"/>
                    <a:sym typeface="Roboto Condensed"/>
                  </a:rPr>
                  <a:t>The standard enthalpy change of atomisation is the enthalpy change when 1 mole of gaseous atoms is formed from its elements under standard conditions. </a:t>
                </a:r>
              </a:p>
              <a:p>
                <a:pPr marL="738188" lvl="0" indent="-285750">
                  <a:lnSpc>
                    <a:spcPct val="113000"/>
                  </a:lnSpc>
                  <a:spcBef>
                    <a:spcPts val="600"/>
                  </a:spcBef>
                  <a:buClr>
                    <a:srgbClr val="434343"/>
                  </a:buClr>
                  <a:buSzPts val="1600"/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Calibri" panose="020F0502020204030204" pitchFamily="34" charset="0"/>
                    <a:ea typeface="Roboto Condensed"/>
                    <a:cs typeface="Calibri" panose="020F0502020204030204" pitchFamily="34" charset="0"/>
                    <a:sym typeface="Roboto Condensed"/>
                  </a:rPr>
                  <a:t>The standard enthalpy change of atomisation of sodium and chlorine is given below.</a:t>
                </a:r>
              </a:p>
              <a:p>
                <a:pPr marL="452438" lvl="0" algn="ctr">
                  <a:lnSpc>
                    <a:spcPct val="113000"/>
                  </a:lnSpc>
                  <a:spcBef>
                    <a:spcPts val="600"/>
                  </a:spcBef>
                  <a:buClr>
                    <a:srgbClr val="434343"/>
                  </a:buClr>
                  <a:buSzPts val="1600"/>
                </a:pPr>
                <a:r>
                  <a:rPr lang="en-IN" sz="1600" dirty="0">
                    <a:latin typeface="Calibri" panose="020F0502020204030204" pitchFamily="34" charset="0"/>
                    <a:ea typeface="Roboto Condensed"/>
                    <a:cs typeface="Calibri" panose="020F0502020204030204" pitchFamily="34" charset="0"/>
                    <a:sym typeface="Roboto Condensed"/>
                  </a:rPr>
                  <a:t>Na (s)→Na (g) </a:t>
                </a:r>
                <a:r>
                  <a:rPr lang="el-GR" sz="1600" dirty="0" err="1">
                    <a:latin typeface="Calibri" panose="020F0502020204030204" pitchFamily="34" charset="0"/>
                    <a:ea typeface="Roboto Condensed"/>
                    <a:cs typeface="Calibri" panose="020F0502020204030204" pitchFamily="34" charset="0"/>
                    <a:sym typeface="Roboto Condensed"/>
                  </a:rPr>
                  <a:t>Δ</a:t>
                </a:r>
                <a:r>
                  <a:rPr lang="en-IN" sz="1600" baseline="-25000" dirty="0" err="1">
                    <a:latin typeface="Calibri" panose="020F0502020204030204" pitchFamily="34" charset="0"/>
                    <a:ea typeface="Roboto Condensed"/>
                    <a:cs typeface="Calibri" panose="020F0502020204030204" pitchFamily="34" charset="0"/>
                    <a:sym typeface="Roboto Condensed"/>
                  </a:rPr>
                  <a:t>at</a:t>
                </a:r>
                <a:r>
                  <a:rPr lang="en-IN" sz="1600" dirty="0" err="1">
                    <a:latin typeface="Calibri" panose="020F0502020204030204" pitchFamily="34" charset="0"/>
                    <a:ea typeface="Roboto Condensed"/>
                    <a:cs typeface="Calibri" panose="020F0502020204030204" pitchFamily="34" charset="0"/>
                    <a:sym typeface="Roboto Condensed"/>
                  </a:rPr>
                  <a:t>H</a:t>
                </a:r>
                <a:r>
                  <a:rPr lang="en-IN" sz="1600" dirty="0">
                    <a:latin typeface="Calibri" panose="020F0502020204030204" pitchFamily="34" charset="0"/>
                    <a:ea typeface="Roboto Condensed"/>
                    <a:cs typeface="Calibri" panose="020F0502020204030204" pitchFamily="34" charset="0"/>
                    <a:sym typeface="Roboto Condensed"/>
                  </a:rPr>
                  <a:t>=107 kJ/</a:t>
                </a:r>
                <a:r>
                  <a:rPr lang="en-IN" sz="1600" dirty="0" err="1">
                    <a:latin typeface="Calibri" panose="020F0502020204030204" pitchFamily="34" charset="0"/>
                    <a:ea typeface="Roboto Condensed"/>
                    <a:cs typeface="Calibri" panose="020F0502020204030204" pitchFamily="34" charset="0"/>
                    <a:sym typeface="Roboto Condensed"/>
                  </a:rPr>
                  <a:t>mol</a:t>
                </a:r>
                <a:endParaRPr lang="en-IN" sz="1600" dirty="0">
                  <a:latin typeface="Calibri" panose="020F0502020204030204" pitchFamily="34" charset="0"/>
                  <a:ea typeface="Roboto Condensed"/>
                  <a:cs typeface="Calibri" panose="020F0502020204030204" pitchFamily="34" charset="0"/>
                  <a:sym typeface="Roboto Condensed"/>
                </a:endParaRPr>
              </a:p>
              <a:p>
                <a:pPr marL="452438" lvl="0" algn="ctr">
                  <a:lnSpc>
                    <a:spcPct val="113000"/>
                  </a:lnSpc>
                  <a:spcBef>
                    <a:spcPts val="600"/>
                  </a:spcBef>
                  <a:buClr>
                    <a:srgbClr val="434343"/>
                  </a:buClr>
                  <a:buSzPts val="1600"/>
                </a:pP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ar-AE" sz="1600" i="1">
                            <a:latin typeface="Cambria Math" panose="02040503050406030204" pitchFamily="18" charset="0"/>
                            <a:sym typeface="Roboto Condensed"/>
                          </a:rPr>
                        </m:ctrlPr>
                      </m:fPr>
                      <m:num>
                        <m:r>
                          <a:rPr lang="ar-AE" sz="1600" i="1">
                            <a:latin typeface="Cambria Math" panose="02040503050406030204" pitchFamily="18" charset="0"/>
                            <a:sym typeface="Roboto Condensed"/>
                          </a:rPr>
                          <m:t>1</m:t>
                        </m:r>
                      </m:num>
                      <m:den>
                        <m:r>
                          <a:rPr lang="ar-AE" sz="1600" i="1">
                            <a:latin typeface="Cambria Math" panose="02040503050406030204" pitchFamily="18" charset="0"/>
                            <a:sym typeface="Roboto Condensed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1600" dirty="0">
                    <a:latin typeface="Calibri" panose="020F0502020204030204" pitchFamily="34" charset="0"/>
                    <a:ea typeface="Roboto Condensed"/>
                    <a:cs typeface="Calibri" panose="020F0502020204030204" pitchFamily="34" charset="0"/>
                    <a:sym typeface="Roboto Condensed"/>
                  </a:rPr>
                  <a:t>Cl</a:t>
                </a:r>
                <a:r>
                  <a:rPr lang="en-IN" sz="1600" baseline="-25000" dirty="0">
                    <a:latin typeface="Calibri" panose="020F0502020204030204" pitchFamily="34" charset="0"/>
                    <a:ea typeface="Roboto Condensed"/>
                    <a:cs typeface="Calibri" panose="020F0502020204030204" pitchFamily="34" charset="0"/>
                    <a:sym typeface="Roboto Condensed"/>
                  </a:rPr>
                  <a:t>2</a:t>
                </a:r>
                <a:r>
                  <a:rPr lang="en-IN" sz="1600" dirty="0">
                    <a:latin typeface="Calibri" panose="020F0502020204030204" pitchFamily="34" charset="0"/>
                    <a:ea typeface="Roboto Condensed"/>
                    <a:cs typeface="Calibri" panose="020F0502020204030204" pitchFamily="34" charset="0"/>
                    <a:sym typeface="Roboto Condensed"/>
                  </a:rPr>
                  <a:t> (g)→ Cl (g) </a:t>
                </a:r>
                <a:r>
                  <a:rPr lang="el-GR" sz="1600" dirty="0" err="1">
                    <a:latin typeface="Calibri" panose="020F0502020204030204" pitchFamily="34" charset="0"/>
                    <a:ea typeface="Roboto Condensed"/>
                    <a:cs typeface="Calibri" panose="020F0502020204030204" pitchFamily="34" charset="0"/>
                    <a:sym typeface="Roboto Condensed"/>
                  </a:rPr>
                  <a:t>Δ</a:t>
                </a:r>
                <a:r>
                  <a:rPr lang="en-IN" sz="1600" baseline="-25000" dirty="0" err="1">
                    <a:latin typeface="Calibri" panose="020F0502020204030204" pitchFamily="34" charset="0"/>
                    <a:ea typeface="Roboto Condensed"/>
                    <a:cs typeface="Calibri" panose="020F0502020204030204" pitchFamily="34" charset="0"/>
                    <a:sym typeface="Roboto Condensed"/>
                  </a:rPr>
                  <a:t>at</a:t>
                </a:r>
                <a:r>
                  <a:rPr lang="en-IN" sz="1600" dirty="0" err="1">
                    <a:latin typeface="Calibri" panose="020F0502020204030204" pitchFamily="34" charset="0"/>
                    <a:ea typeface="Roboto Condensed"/>
                    <a:cs typeface="Calibri" panose="020F0502020204030204" pitchFamily="34" charset="0"/>
                    <a:sym typeface="Roboto Condensed"/>
                  </a:rPr>
                  <a:t>H</a:t>
                </a:r>
                <a:r>
                  <a:rPr lang="en-IN" sz="1600" dirty="0">
                    <a:latin typeface="Calibri" panose="020F0502020204030204" pitchFamily="34" charset="0"/>
                    <a:ea typeface="Roboto Condensed"/>
                    <a:cs typeface="Calibri" panose="020F0502020204030204" pitchFamily="34" charset="0"/>
                    <a:sym typeface="Roboto Condensed"/>
                  </a:rPr>
                  <a:t>=122 kJ/</a:t>
                </a:r>
                <a:r>
                  <a:rPr lang="en-IN" sz="1600" dirty="0" err="1">
                    <a:latin typeface="Calibri" panose="020F0502020204030204" pitchFamily="34" charset="0"/>
                    <a:ea typeface="Roboto Condensed"/>
                    <a:cs typeface="Calibri" panose="020F0502020204030204" pitchFamily="34" charset="0"/>
                    <a:sym typeface="Roboto Condensed"/>
                  </a:rPr>
                  <a:t>mol</a:t>
                </a:r>
                <a:endParaRPr lang="en-IN" sz="1600" dirty="0">
                  <a:latin typeface="Calibri" panose="020F0502020204030204" pitchFamily="34" charset="0"/>
                  <a:ea typeface="Roboto Condensed"/>
                  <a:cs typeface="Calibri" panose="020F0502020204030204" pitchFamily="34" charset="0"/>
                  <a:sym typeface="Roboto Condensed"/>
                </a:endParaRPr>
              </a:p>
              <a:p>
                <a:pPr marL="738188" lvl="0" indent="-285750">
                  <a:lnSpc>
                    <a:spcPct val="113000"/>
                  </a:lnSpc>
                  <a:spcBef>
                    <a:spcPts val="600"/>
                  </a:spcBef>
                  <a:buClr>
                    <a:srgbClr val="434343"/>
                  </a:buClr>
                  <a:buSzPts val="1600"/>
                  <a:buFont typeface="Arial" panose="020B0604020202020204" pitchFamily="34" charset="0"/>
                  <a:buChar char="•"/>
                </a:pPr>
                <a:r>
                  <a:rPr lang="en-IN" sz="1600" dirty="0">
                    <a:latin typeface="Calibri" panose="020F0502020204030204" pitchFamily="34" charset="0"/>
                    <a:ea typeface="Roboto Condensed"/>
                    <a:cs typeface="Calibri" panose="020F0502020204030204" pitchFamily="34" charset="0"/>
                    <a:sym typeface="Roboto Condensed"/>
                  </a:rPr>
                  <a:t>The enthalpy change of atomisation is positive as energy is supplied to break the bonds (endothermic).  </a:t>
                </a:r>
              </a:p>
              <a:p>
                <a:pPr marL="450850" algn="just">
                  <a:buNone/>
                </a:pPr>
                <a:endParaRPr lang="en-IN" sz="1600" dirty="0">
                  <a:latin typeface="Calibri" panose="020F0502020204030204" pitchFamily="34" charset="0"/>
                </a:endParaRPr>
              </a:p>
              <a:p>
                <a:pPr marL="114300" lvl="0" algn="just">
                  <a:buSzPts val="1800"/>
                </a:pPr>
                <a:endParaRPr lang="en-IN" sz="1600" dirty="0">
                  <a:latin typeface="Calibri" panose="020F0502020204030204" pitchFamily="34" charset="0"/>
                </a:endParaRPr>
              </a:p>
              <a:p>
                <a:pPr marL="450850" lvl="0" algn="just">
                  <a:spcBef>
                    <a:spcPts val="1000"/>
                  </a:spcBef>
                  <a:buSzPts val="1800"/>
                </a:pPr>
                <a:endParaRPr lang="en" sz="1600" dirty="0">
                  <a:latin typeface="Calibri" panose="020F0502020204030204" pitchFamily="34" charset="0"/>
                </a:endParaRPr>
              </a:p>
              <a:p>
                <a:pPr marL="0" lvl="0" indent="0" algn="l" rtl="0">
                  <a:spcBef>
                    <a:spcPts val="1000"/>
                  </a:spcBef>
                  <a:spcAft>
                    <a:spcPts val="0"/>
                  </a:spcAft>
                  <a:buNone/>
                </a:pPr>
                <a:endParaRPr sz="1600" dirty="0">
                  <a:latin typeface="Calibri" panose="020F050202020403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dirty="0">
                  <a:latin typeface="Calibri" panose="020F0502020204030204" pitchFamily="34" charset="0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8" name="Google Shape;118;p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473" y="1881762"/>
                <a:ext cx="7330800" cy="2492100"/>
              </a:xfrm>
              <a:prstGeom prst="rect">
                <a:avLst/>
              </a:prstGeom>
              <a:blipFill>
                <a:blip r:embed="rId3"/>
                <a:stretch>
                  <a:fillRect r="-166" b="-230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71509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>
            <a:spLocks noGrp="1"/>
          </p:cNvSpPr>
          <p:nvPr>
            <p:ph type="title"/>
          </p:nvPr>
        </p:nvSpPr>
        <p:spPr>
          <a:xfrm>
            <a:off x="933025" y="592925"/>
            <a:ext cx="6305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>
                <a:latin typeface="Calibri" panose="020F0502020204030204" pitchFamily="34" charset="0"/>
              </a:rPr>
              <a:t>Standard enthalpy change of atomisation</a:t>
            </a:r>
          </a:p>
        </p:txBody>
      </p:sp>
      <p:sp>
        <p:nvSpPr>
          <p:cNvPr id="118" name="Google Shape;118;p26"/>
          <p:cNvSpPr txBox="1"/>
          <p:nvPr/>
        </p:nvSpPr>
        <p:spPr>
          <a:xfrm>
            <a:off x="619473" y="1881762"/>
            <a:ext cx="7330800" cy="24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lnSpc>
                <a:spcPct val="113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a solid breaks into its atoms, the following steps may take place:</a:t>
            </a:r>
          </a:p>
          <a:p>
            <a:pPr marL="633413" lvl="1" indent="-285750" algn="just">
              <a:lnSpc>
                <a:spcPct val="113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melting: standard enthalpy of fusion </a:t>
            </a:r>
            <a:r>
              <a:rPr lang="el-GR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IN" sz="1600" baseline="30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⦵</a:t>
            </a:r>
            <a:r>
              <a:rPr lang="en-IN" sz="16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endParaRPr lang="en-IN" sz="1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33413" lvl="1" indent="-285750">
              <a:lnSpc>
                <a:spcPct val="113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vapourisation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standard enthalpy of </a:t>
            </a: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vapourisation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IN" sz="1600" baseline="30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⦵</a:t>
            </a:r>
            <a:r>
              <a:rPr lang="en-IN" sz="16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vap</a:t>
            </a:r>
            <a:endParaRPr lang="en-IN" sz="1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33413" lvl="1" indent="-285750">
              <a:lnSpc>
                <a:spcPct val="113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bonds breaking: sum of bond enthalpies</a:t>
            </a:r>
          </a:p>
          <a:p>
            <a:pPr marL="285750" lvl="0" indent="-285750" algn="just">
              <a:lnSpc>
                <a:spcPct val="113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Therefore,</a:t>
            </a:r>
          </a:p>
          <a:p>
            <a:pPr algn="ctr">
              <a:lnSpc>
                <a:spcPct val="113000"/>
              </a:lnSpc>
              <a:spcBef>
                <a:spcPts val="600"/>
              </a:spcBef>
            </a:pPr>
            <a:r>
              <a:rPr lang="el-GR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IN" sz="1600" baseline="30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⦵</a:t>
            </a:r>
            <a:r>
              <a:rPr lang="en-IN" sz="16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IN" sz="16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IN" sz="16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IN" sz="1600" baseline="30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⦵</a:t>
            </a:r>
            <a:r>
              <a:rPr lang="en-IN" sz="16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IN" sz="16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el-GR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en-IN" sz="16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IN" sz="1600" baseline="30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⦵</a:t>
            </a:r>
            <a:r>
              <a:rPr lang="en-IN" sz="1600" baseline="-25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vap</a:t>
            </a:r>
            <a:r>
              <a:rPr lang="en-IN" sz="16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bond energy terms</a:t>
            </a:r>
          </a:p>
          <a:p>
            <a:pPr marL="285750" lvl="0" indent="-285750" algn="just">
              <a:lnSpc>
                <a:spcPct val="113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standard enthalpy change of a compound is the enthalpy change to convert one mole of the substance in its standard state into gaseous atoms under standard conditions. </a:t>
            </a:r>
          </a:p>
        </p:txBody>
      </p:sp>
    </p:spTree>
    <p:extLst>
      <p:ext uri="{BB962C8B-B14F-4D97-AF65-F5344CB8AC3E}">
        <p14:creationId xmlns:p14="http://schemas.microsoft.com/office/powerpoint/2010/main" val="2126573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>
            <a:spLocks noGrp="1"/>
          </p:cNvSpPr>
          <p:nvPr>
            <p:ph type="title"/>
          </p:nvPr>
        </p:nvSpPr>
        <p:spPr>
          <a:xfrm>
            <a:off x="90900" y="198850"/>
            <a:ext cx="4506500" cy="10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Calculating </a:t>
            </a:r>
            <a:r>
              <a:rPr lang="en-IN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∆H</a:t>
            </a:r>
            <a:r>
              <a:rPr lang="en-IN" sz="2800" baseline="30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28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IN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[NH</a:t>
            </a:r>
            <a:r>
              <a:rPr lang="en-IN" sz="28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IN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 </a:t>
            </a: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Google Shape;124;p27"/>
          <p:cNvSpPr txBox="1">
            <a:spLocks noGrp="1"/>
          </p:cNvSpPr>
          <p:nvPr>
            <p:ph type="body" idx="2"/>
          </p:nvPr>
        </p:nvSpPr>
        <p:spPr>
          <a:xfrm>
            <a:off x="4973367" y="699700"/>
            <a:ext cx="3837000" cy="17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lnSpc>
                <a:spcPct val="113000"/>
              </a:lnSpc>
              <a:buNone/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Calculating the enthalpy change of atomisation of ammonia, NH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using,</a:t>
            </a:r>
          </a:p>
          <a:p>
            <a:pPr marL="285750" indent="-285750" algn="just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[NH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 = -46.0 kJ/mol</a:t>
            </a:r>
          </a:p>
          <a:p>
            <a:pPr marL="285750" indent="-285750" algn="just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[N] = 472.7 kJ/mol</a:t>
            </a:r>
          </a:p>
          <a:p>
            <a:pPr marL="285750" indent="-285750" algn="just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[H] = 218.0 kJ/mol</a:t>
            </a:r>
          </a:p>
          <a:p>
            <a:pPr marL="0" indent="0" algn="just">
              <a:lnSpc>
                <a:spcPct val="113000"/>
              </a:lnSpc>
              <a:buNone/>
            </a:pPr>
            <a:endParaRPr lang="en-IN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13000"/>
              </a:lnSpc>
              <a:buNone/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[NH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 + 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[NH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 = 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[N] + 3 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[H] </a:t>
            </a:r>
          </a:p>
          <a:p>
            <a:pPr marL="0" lvl="0" indent="0" algn="just">
              <a:lnSpc>
                <a:spcPct val="113000"/>
              </a:lnSpc>
              <a:buNone/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-46.0 + 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[NH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 =472.7 + 3×218</a:t>
            </a:r>
          </a:p>
          <a:p>
            <a:pPr marL="0" lvl="0" indent="0" algn="just">
              <a:lnSpc>
                <a:spcPct val="113000"/>
              </a:lnSpc>
              <a:buNone/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[NH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]  = 1172.7 kJ/mol</a:t>
            </a:r>
          </a:p>
          <a:p>
            <a:pPr marL="0" lvl="0" indent="0" algn="just">
              <a:lnSpc>
                <a:spcPct val="113000"/>
              </a:lnSpc>
              <a:buNone/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the enthalpy change of atomisation, the average bond energy is found out, </a:t>
            </a:r>
          </a:p>
          <a:p>
            <a:pPr marL="0" lvl="0" indent="0" algn="just">
              <a:lnSpc>
                <a:spcPct val="113000"/>
              </a:lnSpc>
              <a:buNone/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E(N-H) is, 1172.7/3  = 390.9 kJ/mol </a:t>
            </a:r>
          </a:p>
          <a:p>
            <a:pPr marL="0" indent="0" algn="just">
              <a:lnSpc>
                <a:spcPct val="113000"/>
              </a:lnSpc>
              <a:buNone/>
            </a:pPr>
            <a:endParaRPr lang="en-IN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2342157" y="4718400"/>
            <a:ext cx="20774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1100" dirty="0">
                <a:ea typeface="Calibri" panose="020F0502020204030204" pitchFamily="34" charset="0"/>
                <a:cs typeface="Times New Roman" panose="02020603050405020304" pitchFamily="18" charset="0"/>
              </a:rPr>
              <a:t>Enthalpy cycle for the reaction</a:t>
            </a:r>
            <a:endParaRPr sz="1100" dirty="0">
              <a:solidFill>
                <a:srgbClr val="666666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C1B336-4D39-45AE-A11E-5053E70C9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49" y="2147790"/>
            <a:ext cx="4285008" cy="162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041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>
            <a:spLocks noGrp="1"/>
          </p:cNvSpPr>
          <p:nvPr>
            <p:ph type="title"/>
          </p:nvPr>
        </p:nvSpPr>
        <p:spPr>
          <a:xfrm>
            <a:off x="90900" y="198850"/>
            <a:ext cx="4506500" cy="10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Calculating </a:t>
            </a:r>
            <a:r>
              <a:rPr lang="en-IN" sz="2800" dirty="0">
                <a:solidFill>
                  <a:srgbClr val="000000"/>
                </a:solidFill>
                <a:latin typeface="+mn-lt"/>
              </a:rPr>
              <a:t>average bond energy of O-H bond in H</a:t>
            </a:r>
            <a:r>
              <a:rPr lang="en-IN" sz="2800" baseline="-25000" dirty="0">
                <a:solidFill>
                  <a:srgbClr val="000000"/>
                </a:solidFill>
                <a:latin typeface="+mn-lt"/>
              </a:rPr>
              <a:t>2</a:t>
            </a:r>
            <a:r>
              <a:rPr lang="en-IN" sz="2800" dirty="0">
                <a:solidFill>
                  <a:srgbClr val="000000"/>
                </a:solidFill>
                <a:latin typeface="+mn-lt"/>
              </a:rPr>
              <a:t>O </a:t>
            </a: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Google Shape;124;p27"/>
          <p:cNvSpPr txBox="1">
            <a:spLocks noGrp="1"/>
          </p:cNvSpPr>
          <p:nvPr>
            <p:ph type="body" idx="2"/>
          </p:nvPr>
        </p:nvSpPr>
        <p:spPr>
          <a:xfrm>
            <a:off x="4973367" y="699700"/>
            <a:ext cx="3837000" cy="171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lnSpc>
                <a:spcPct val="113000"/>
              </a:lnSpc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[H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O(l)] = -285.9 kJ/mol</a:t>
            </a:r>
          </a:p>
          <a:p>
            <a:pPr marL="285750" indent="-285750" algn="just">
              <a:lnSpc>
                <a:spcPct val="113000"/>
              </a:lnSpc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vap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[H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O] = +44.1 kJ/mol</a:t>
            </a:r>
          </a:p>
          <a:p>
            <a:pPr marL="285750" indent="-285750" algn="just">
              <a:lnSpc>
                <a:spcPct val="113000"/>
              </a:lnSpc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[H] = +218.0 kJ/mol</a:t>
            </a:r>
          </a:p>
          <a:p>
            <a:pPr marL="285750" indent="-285750" algn="just">
              <a:lnSpc>
                <a:spcPct val="113000"/>
              </a:lnSpc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[O] = +249.2 kJ/mol</a:t>
            </a:r>
          </a:p>
          <a:p>
            <a:pPr marL="0" indent="0" algn="just">
              <a:lnSpc>
                <a:spcPct val="113000"/>
              </a:lnSpc>
              <a:buNone/>
            </a:pPr>
            <a:endParaRPr lang="en-IN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lnSpc>
                <a:spcPct val="113000"/>
              </a:lnSpc>
              <a:buNone/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Calculating enthalpy change of atomisation of H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O,</a:t>
            </a:r>
          </a:p>
          <a:p>
            <a:pPr marL="0" indent="0" algn="just">
              <a:lnSpc>
                <a:spcPct val="113000"/>
              </a:lnSpc>
              <a:buNone/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[H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O(l)] + 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vap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[H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O] + 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[H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O] = 2∆H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[H] + 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[O] </a:t>
            </a:r>
          </a:p>
          <a:p>
            <a:pPr marL="0" lvl="0" indent="0" algn="just">
              <a:lnSpc>
                <a:spcPct val="113000"/>
              </a:lnSpc>
              <a:buNone/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-285.9 + 44.1 + 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[H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O] = 2×218 + 249.2</a:t>
            </a:r>
          </a:p>
          <a:p>
            <a:pPr marL="0" lvl="0" indent="0" algn="just">
              <a:lnSpc>
                <a:spcPct val="113000"/>
              </a:lnSpc>
              <a:buNone/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∆H</a:t>
            </a:r>
            <a:r>
              <a:rPr lang="en-IN" sz="1600" baseline="30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⦵ 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[H</a:t>
            </a:r>
            <a:r>
              <a:rPr lang="en-IN" sz="1600" baseline="-2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O]  = 927 kJ/mol</a:t>
            </a:r>
          </a:p>
          <a:p>
            <a:pPr marL="0" lvl="0" indent="0" algn="just">
              <a:lnSpc>
                <a:spcPct val="113000"/>
              </a:lnSpc>
              <a:buNone/>
            </a:pP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average bond energy, E(O-H) is, 927/2  = 463.5 kJ/mol </a:t>
            </a:r>
          </a:p>
          <a:p>
            <a:pPr marL="0" indent="0" algn="just">
              <a:lnSpc>
                <a:spcPct val="113000"/>
              </a:lnSpc>
              <a:buNone/>
            </a:pPr>
            <a:endParaRPr lang="en-IN" sz="16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7506CF-6316-407A-B2B3-C80A92C81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19" y="1872845"/>
            <a:ext cx="4252270" cy="16052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28B763-C7DE-455A-90E0-B6D23C6A1231}"/>
              </a:ext>
            </a:extLst>
          </p:cNvPr>
          <p:cNvSpPr txBox="1"/>
          <p:nvPr/>
        </p:nvSpPr>
        <p:spPr>
          <a:xfrm>
            <a:off x="54633" y="3780621"/>
            <a:ext cx="4252270" cy="1046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13000"/>
              </a:lnSpc>
              <a:buNone/>
            </a:pP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Because the bonds in H</a:t>
            </a:r>
            <a:r>
              <a:rPr lang="en-IN" sz="1400" baseline="-250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 needs to be broken in gaseous state, rather than in liquid state, which its standard state, we need to include the standard enthalpy change of </a:t>
            </a:r>
            <a:r>
              <a:rPr lang="en-IN" sz="1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vapourisation</a:t>
            </a:r>
            <a:r>
              <a:rPr lang="en-IN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our calculation.</a:t>
            </a:r>
          </a:p>
        </p:txBody>
      </p:sp>
    </p:spTree>
    <p:extLst>
      <p:ext uri="{BB962C8B-B14F-4D97-AF65-F5344CB8AC3E}">
        <p14:creationId xmlns:p14="http://schemas.microsoft.com/office/powerpoint/2010/main" val="14446789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2828</Words>
  <Application>Microsoft Office PowerPoint</Application>
  <PresentationFormat>On-screen Show (16:9)</PresentationFormat>
  <Paragraphs>252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Cambria Math</vt:lpstr>
      <vt:lpstr>Arial</vt:lpstr>
      <vt:lpstr>Roboto</vt:lpstr>
      <vt:lpstr>Wingdings</vt:lpstr>
      <vt:lpstr>Calibri</vt:lpstr>
      <vt:lpstr>Simple Light</vt:lpstr>
      <vt:lpstr>Material</vt:lpstr>
      <vt:lpstr>Chemical energetics</vt:lpstr>
      <vt:lpstr>Introduction</vt:lpstr>
      <vt:lpstr>Enthalpy changes and enthalpy profile diagrams</vt:lpstr>
      <vt:lpstr>Enthalpy changes and enthalpy profile diagrams</vt:lpstr>
      <vt:lpstr>Enthalpy changes and enthalpy profile diagrams</vt:lpstr>
      <vt:lpstr>Activation energy</vt:lpstr>
      <vt:lpstr>Standard change of enthalpy </vt:lpstr>
      <vt:lpstr>Standard enthalpy change of reaction</vt:lpstr>
      <vt:lpstr>Standard enthalpy change of formation</vt:lpstr>
      <vt:lpstr>Standard enthalpy change of combustion</vt:lpstr>
      <vt:lpstr>Standard enthalpy change of neutralisation</vt:lpstr>
      <vt:lpstr>Measuring enthalpy changes experimentally using calorimetry</vt:lpstr>
      <vt:lpstr>Measuring enthalpy changes experimentally using calorimetry</vt:lpstr>
      <vt:lpstr>Finding enthalpy change of neutralisation using calorimetry</vt:lpstr>
      <vt:lpstr>Finding enthalpy change of neutralisation using calorimetry</vt:lpstr>
      <vt:lpstr>Finding enthalpy change of neutralisation using calorimetry</vt:lpstr>
      <vt:lpstr>Bond enthalpies</vt:lpstr>
      <vt:lpstr>Bond enthalpies</vt:lpstr>
      <vt:lpstr>Bond enthalpies</vt:lpstr>
      <vt:lpstr>Hess’s law and enthalpy cycles </vt:lpstr>
      <vt:lpstr>Hess’s law and enthalpy cycles </vt:lpstr>
      <vt:lpstr>∆Hf from ∆H⦵c</vt:lpstr>
      <vt:lpstr>Hess’s law and enthalpy cycles </vt:lpstr>
      <vt:lpstr>ΔHr from ΔH⦵f</vt:lpstr>
      <vt:lpstr>Calculating enthalpy changes of reaction using average bond enthalpies</vt:lpstr>
      <vt:lpstr>Calculating enthalpy changes using average bond enthalpies: Example</vt:lpstr>
      <vt:lpstr>Standard enthalpy change of atomisation</vt:lpstr>
      <vt:lpstr>Standard enthalpy change of atomisation</vt:lpstr>
      <vt:lpstr>Calculating ∆H ⦵ at[NH3] </vt:lpstr>
      <vt:lpstr>Calculating average bond energy of O-H bond in H2O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Lattice enthalpy</dc:title>
  <cp:lastModifiedBy>SUTHAN SELVARAJ</cp:lastModifiedBy>
  <cp:revision>32</cp:revision>
  <dcterms:modified xsi:type="dcterms:W3CDTF">2021-04-21T08:55:58Z</dcterms:modified>
</cp:coreProperties>
</file>