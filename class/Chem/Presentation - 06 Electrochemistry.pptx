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27"/>
  </p:notesMasterIdLst>
  <p:sldIdLst>
    <p:sldId id="256" r:id="rId3"/>
    <p:sldId id="283" r:id="rId4"/>
    <p:sldId id="284" r:id="rId5"/>
    <p:sldId id="285" r:id="rId6"/>
    <p:sldId id="286" r:id="rId7"/>
    <p:sldId id="287" r:id="rId8"/>
    <p:sldId id="288" r:id="rId9"/>
    <p:sldId id="289" r:id="rId10"/>
    <p:sldId id="290" r:id="rId11"/>
    <p:sldId id="291" r:id="rId12"/>
    <p:sldId id="292" r:id="rId13"/>
    <p:sldId id="293" r:id="rId14"/>
    <p:sldId id="294" r:id="rId15"/>
    <p:sldId id="295" r:id="rId16"/>
    <p:sldId id="296" r:id="rId17"/>
    <p:sldId id="297" r:id="rId18"/>
    <p:sldId id="298" r:id="rId19"/>
    <p:sldId id="299" r:id="rId20"/>
    <p:sldId id="300" r:id="rId21"/>
    <p:sldId id="301" r:id="rId22"/>
    <p:sldId id="302" r:id="rId23"/>
    <p:sldId id="303" r:id="rId24"/>
    <p:sldId id="304" r:id="rId25"/>
    <p:sldId id="305" r:id="rId26"/>
  </p:sldIdLst>
  <p:sldSz cx="9144000" cy="5143500" type="screen16x9"/>
  <p:notesSz cx="6858000" cy="9144000"/>
  <p:embeddedFontLst>
    <p:embeddedFont>
      <p:font typeface="Calibri" panose="020F0502020204030204" pitchFamily="34" charset="0"/>
      <p:regular r:id="rId28"/>
      <p:bold r:id="rId29"/>
      <p:italic r:id="rId30"/>
      <p:boldItalic r:id="rId31"/>
    </p:embeddedFont>
    <p:embeddedFont>
      <p:font typeface="Roboto" panose="020B060402020202020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7AE60"/>
    <a:srgbClr val="46ED9C"/>
    <a:srgbClr val="84F3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18"/>
    <p:restoredTop sz="93921" autoAdjust="0"/>
  </p:normalViewPr>
  <p:slideViewPr>
    <p:cSldViewPr snapToGrid="0">
      <p:cViewPr varScale="1">
        <p:scale>
          <a:sx n="84" d="100"/>
          <a:sy n="84" d="100"/>
        </p:scale>
        <p:origin x="1020" y="9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7.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6.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5.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7044428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94e51d7b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94e51d7b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1960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1392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0917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85229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9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5324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3885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5562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2555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1593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08523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78417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57796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51278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31263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30689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24664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8555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26821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58120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39342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37900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21907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4324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4"/>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4"/>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8" name="Google Shape;58;p14"/>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59" name="Google Shape;59;p1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62" name="Google Shape;62;p1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3"/>
        <p:cNvGrpSpPr/>
        <p:nvPr/>
      </p:nvGrpSpPr>
      <p:grpSpPr>
        <a:xfrm>
          <a:off x="0" y="0"/>
          <a:ext cx="0" cy="0"/>
          <a:chOff x="0" y="0"/>
          <a:chExt cx="0" cy="0"/>
        </a:xfrm>
      </p:grpSpPr>
      <p:sp>
        <p:nvSpPr>
          <p:cNvPr id="64" name="Google Shape;64;p16"/>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6"/>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67" name="Google Shape;67;p16"/>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68" name="Google Shape;68;p1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9"/>
        <p:cNvGrpSpPr/>
        <p:nvPr/>
      </p:nvGrpSpPr>
      <p:grpSpPr>
        <a:xfrm>
          <a:off x="0" y="0"/>
          <a:ext cx="0" cy="0"/>
          <a:chOff x="0" y="0"/>
          <a:chExt cx="0" cy="0"/>
        </a:xfrm>
      </p:grpSpPr>
      <p:sp>
        <p:nvSpPr>
          <p:cNvPr id="70" name="Google Shape;70;p17"/>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7"/>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73" name="Google Shape;73;p17"/>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4" name="Google Shape;74;p17"/>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5" name="Google Shape;75;p1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18"/>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8"/>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8"/>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80" name="Google Shape;80;p1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7"/>
        <p:cNvGrpSpPr/>
        <p:nvPr/>
      </p:nvGrpSpPr>
      <p:grpSpPr>
        <a:xfrm>
          <a:off x="0" y="0"/>
          <a:ext cx="0" cy="0"/>
          <a:chOff x="0" y="0"/>
          <a:chExt cx="0" cy="0"/>
        </a:xfrm>
      </p:grpSpPr>
      <p:sp>
        <p:nvSpPr>
          <p:cNvPr id="88" name="Google Shape;88;p20"/>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endParaRPr/>
          </a:p>
        </p:txBody>
      </p:sp>
      <p:sp>
        <p:nvSpPr>
          <p:cNvPr id="89" name="Google Shape;89;p2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7"/>
        <p:cNvGrpSpPr/>
        <p:nvPr/>
      </p:nvGrpSpPr>
      <p:grpSpPr>
        <a:xfrm>
          <a:off x="0" y="0"/>
          <a:ext cx="0" cy="0"/>
          <a:chOff x="0" y="0"/>
          <a:chExt cx="0" cy="0"/>
        </a:xfrm>
      </p:grpSpPr>
      <p:sp>
        <p:nvSpPr>
          <p:cNvPr id="98" name="Google Shape;98;p22"/>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2"/>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lstStyle>
            <a:lvl1pPr marL="457200" lvl="0" indent="-228600" rtl="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101" name="Google Shape;101;p2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2"/>
        <p:cNvGrpSpPr/>
        <p:nvPr/>
      </p:nvGrpSpPr>
      <p:grpSpPr>
        <a:xfrm>
          <a:off x="0" y="0"/>
          <a:ext cx="0" cy="0"/>
          <a:chOff x="0" y="0"/>
          <a:chExt cx="0" cy="0"/>
        </a:xfrm>
      </p:grpSpPr>
      <p:sp>
        <p:nvSpPr>
          <p:cNvPr id="103" name="Google Shape;103;p23"/>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lstStyle>
            <a:lvl1pPr lvl="0" algn="ctr" rtl="0">
              <a:spcBef>
                <a:spcPts val="0"/>
              </a:spcBef>
              <a:spcAft>
                <a:spcPts val="0"/>
              </a:spcAft>
              <a:buClr>
                <a:schemeClr val="dk2"/>
              </a:buClr>
              <a:buSzPts val="12000"/>
              <a:buNone/>
              <a:defRPr sz="12000">
                <a:solidFill>
                  <a:schemeClr val="dk2"/>
                </a:solidFill>
              </a:defRPr>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104" name="Google Shape;104;p23"/>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05" name="Google Shape;105;p2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6"/>
        <p:cNvGrpSpPr/>
        <p:nvPr/>
      </p:nvGrpSpPr>
      <p:grpSpPr>
        <a:xfrm>
          <a:off x="0" y="0"/>
          <a:ext cx="0" cy="0"/>
          <a:chOff x="0" y="0"/>
          <a:chExt cx="0" cy="0"/>
        </a:xfrm>
      </p:grpSpPr>
      <p:sp>
        <p:nvSpPr>
          <p:cNvPr id="107" name="Google Shape;107;p2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rgbClr val="27AE60"/>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lstStyle>
            <a:lvl1pPr lvl="0"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52" name="Google Shape;52;p13"/>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lstStyle>
            <a:lvl1pPr marL="457200" lvl="0" indent="-342900" rtl="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rtl="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53" name="Google Shape;53;p13"/>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lt2"/>
                </a:solidFill>
                <a:latin typeface="Roboto"/>
                <a:ea typeface="Roboto"/>
                <a:cs typeface="Roboto"/>
                <a:sym typeface="Roboto"/>
              </a:defRPr>
            </a:lvl1pPr>
            <a:lvl2pPr lvl="1" algn="r" rtl="0">
              <a:buNone/>
              <a:defRPr sz="1000">
                <a:solidFill>
                  <a:schemeClr val="lt2"/>
                </a:solidFill>
                <a:latin typeface="Roboto"/>
                <a:ea typeface="Roboto"/>
                <a:cs typeface="Roboto"/>
                <a:sym typeface="Roboto"/>
              </a:defRPr>
            </a:lvl2pPr>
            <a:lvl3pPr lvl="2" algn="r" rtl="0">
              <a:buNone/>
              <a:defRPr sz="1000">
                <a:solidFill>
                  <a:schemeClr val="lt2"/>
                </a:solidFill>
                <a:latin typeface="Roboto"/>
                <a:ea typeface="Roboto"/>
                <a:cs typeface="Roboto"/>
                <a:sym typeface="Roboto"/>
              </a:defRPr>
            </a:lvl3pPr>
            <a:lvl4pPr lvl="3" algn="r" rtl="0">
              <a:buNone/>
              <a:defRPr sz="1000">
                <a:solidFill>
                  <a:schemeClr val="lt2"/>
                </a:solidFill>
                <a:latin typeface="Roboto"/>
                <a:ea typeface="Roboto"/>
                <a:cs typeface="Roboto"/>
                <a:sym typeface="Roboto"/>
              </a:defRPr>
            </a:lvl4pPr>
            <a:lvl5pPr lvl="4" algn="r" rtl="0">
              <a:buNone/>
              <a:defRPr sz="1000">
                <a:solidFill>
                  <a:schemeClr val="lt2"/>
                </a:solidFill>
                <a:latin typeface="Roboto"/>
                <a:ea typeface="Roboto"/>
                <a:cs typeface="Roboto"/>
                <a:sym typeface="Roboto"/>
              </a:defRPr>
            </a:lvl5pPr>
            <a:lvl6pPr lvl="5" algn="r" rtl="0">
              <a:buNone/>
              <a:defRPr sz="1000">
                <a:solidFill>
                  <a:schemeClr val="lt2"/>
                </a:solidFill>
                <a:latin typeface="Roboto"/>
                <a:ea typeface="Roboto"/>
                <a:cs typeface="Roboto"/>
                <a:sym typeface="Roboto"/>
              </a:defRPr>
            </a:lvl6pPr>
            <a:lvl7pPr lvl="6" algn="r" rtl="0">
              <a:buNone/>
              <a:defRPr sz="1000">
                <a:solidFill>
                  <a:schemeClr val="lt2"/>
                </a:solidFill>
                <a:latin typeface="Roboto"/>
                <a:ea typeface="Roboto"/>
                <a:cs typeface="Roboto"/>
                <a:sym typeface="Roboto"/>
              </a:defRPr>
            </a:lvl7pPr>
            <a:lvl8pPr lvl="7" algn="r" rtl="0">
              <a:buNone/>
              <a:defRPr sz="1000">
                <a:solidFill>
                  <a:schemeClr val="lt2"/>
                </a:solidFill>
                <a:latin typeface="Roboto"/>
                <a:ea typeface="Roboto"/>
                <a:cs typeface="Roboto"/>
                <a:sym typeface="Roboto"/>
              </a:defRPr>
            </a:lvl8pPr>
            <a:lvl9pPr lvl="8" algn="r" rtl="0">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5" r:id="rId6"/>
    <p:sldLayoutId id="2147483667" r:id="rId7"/>
    <p:sldLayoutId id="2147483668" r:id="rId8"/>
    <p:sldLayoutId id="214748366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5"/>
          <p:cNvSpPr txBox="1">
            <a:spLocks noGrp="1"/>
          </p:cNvSpPr>
          <p:nvPr>
            <p:ph type="ctrTitle"/>
          </p:nvPr>
        </p:nvSpPr>
        <p:spPr>
          <a:xfrm>
            <a:off x="460950" y="1169700"/>
            <a:ext cx="8222100" cy="9336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Electrochemistry</a:t>
            </a:r>
          </a:p>
        </p:txBody>
      </p:sp>
      <p:sp>
        <p:nvSpPr>
          <p:cNvPr id="3" name="Google Shape;118;p26"/>
          <p:cNvSpPr txBox="1"/>
          <p:nvPr/>
        </p:nvSpPr>
        <p:spPr>
          <a:xfrm>
            <a:off x="702599" y="2028225"/>
            <a:ext cx="7358035" cy="2492100"/>
          </a:xfrm>
          <a:prstGeom prst="rect">
            <a:avLst/>
          </a:prstGeom>
          <a:noFill/>
          <a:ln>
            <a:noFill/>
          </a:ln>
        </p:spPr>
        <p:txBody>
          <a:bodyPr spcFirstLastPara="1" wrap="square" lIns="91425" tIns="91425" rIns="91425" bIns="91425" anchor="t" anchorCtr="0">
            <a:noAutofit/>
          </a:bodyPr>
          <a:lstStyle/>
          <a:p>
            <a:pPr marL="400050" indent="-285750">
              <a:buClr>
                <a:schemeClr val="bg1"/>
              </a:buClr>
              <a:buSzPts val="1800"/>
              <a:buFont typeface="Arial" panose="020B0604020202020204" pitchFamily="34" charset="0"/>
              <a:buChar char="•"/>
            </a:pPr>
            <a:r>
              <a:rPr lang="en-US" sz="1800" dirty="0">
                <a:solidFill>
                  <a:schemeClr val="bg1"/>
                </a:solidFill>
                <a:latin typeface="Calibri" panose="020F0502020204030204" pitchFamily="34" charset="0"/>
              </a:rPr>
              <a:t>6.1 Redox processes: electron transfer and changes in oxidation number (oxidation state)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latin typeface="Calibri" panose="020F0502020204030204" pitchFamily="34" charset="0"/>
              </a:rPr>
              <a:t>Introduction</a:t>
            </a:r>
            <a:endParaRPr dirty="0">
              <a:latin typeface="Calibri" panose="020F0502020204030204" pitchFamily="34" charset="0"/>
            </a:endParaRPr>
          </a:p>
        </p:txBody>
      </p:sp>
      <p:sp>
        <p:nvSpPr>
          <p:cNvPr id="118" name="Google Shape;118;p26"/>
          <p:cNvSpPr txBox="1"/>
          <p:nvPr/>
        </p:nvSpPr>
        <p:spPr>
          <a:xfrm>
            <a:off x="702599" y="2028225"/>
            <a:ext cx="7714287"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spcBef>
                <a:spcPts val="600"/>
              </a:spcBef>
              <a:buSzPts val="1800"/>
              <a:buFont typeface="Arial" panose="020B0604020202020204" pitchFamily="34" charset="0"/>
              <a:buChar char="•"/>
            </a:pPr>
            <a:r>
              <a:rPr lang="en-MY" sz="1600" dirty="0">
                <a:latin typeface="Calibri" panose="020F0502020204030204" pitchFamily="34" charset="0"/>
              </a:rPr>
              <a:t>Oxidation is the process of combining with oxygen. </a:t>
            </a:r>
          </a:p>
          <a:p>
            <a:pPr marL="400050" lvl="0" indent="-285750">
              <a:lnSpc>
                <a:spcPct val="114000"/>
              </a:lnSpc>
              <a:spcBef>
                <a:spcPts val="600"/>
              </a:spcBef>
              <a:buSzPts val="1800"/>
              <a:buFont typeface="Arial" panose="020B0604020202020204" pitchFamily="34" charset="0"/>
              <a:buChar char="•"/>
            </a:pPr>
            <a:r>
              <a:rPr lang="en-MY" sz="1600" dirty="0">
                <a:latin typeface="Calibri" panose="020F0502020204030204" pitchFamily="34" charset="0"/>
              </a:rPr>
              <a:t>Reduction is loss of oxygen. Redox reaction is a combination of oxidation and reduction.</a:t>
            </a:r>
          </a:p>
          <a:p>
            <a:pPr marL="400050" lvl="0" indent="-285750">
              <a:lnSpc>
                <a:spcPct val="114000"/>
              </a:lnSpc>
              <a:spcBef>
                <a:spcPts val="600"/>
              </a:spcBef>
              <a:buSzPts val="1800"/>
              <a:buFont typeface="Arial" panose="020B0604020202020204" pitchFamily="34" charset="0"/>
              <a:buChar char="•"/>
            </a:pPr>
            <a:r>
              <a:rPr lang="en-MY" sz="1600" dirty="0">
                <a:latin typeface="Calibri" panose="020F0502020204030204" pitchFamily="34" charset="0"/>
              </a:rPr>
              <a:t>In this presentation, the basics of oxidation and reduction are explained with respect to loss and gain of electrons. </a:t>
            </a:r>
          </a:p>
          <a:p>
            <a:pPr marL="400050" lvl="0" indent="-285750">
              <a:lnSpc>
                <a:spcPct val="114000"/>
              </a:lnSpc>
              <a:spcBef>
                <a:spcPts val="600"/>
              </a:spcBef>
              <a:buSzPts val="1800"/>
              <a:buFont typeface="Arial" panose="020B0604020202020204" pitchFamily="34" charset="0"/>
              <a:buChar char="•"/>
            </a:pPr>
            <a:r>
              <a:rPr lang="en-MY" sz="1600" dirty="0">
                <a:latin typeface="Calibri" panose="020F0502020204030204" pitchFamily="34" charset="0"/>
              </a:rPr>
              <a:t>Each atom and ion has an oxidation number. The rules of assigning oxidation numbers are explained in brief. </a:t>
            </a:r>
          </a:p>
          <a:p>
            <a:pPr marL="400050" lvl="0" indent="-285750">
              <a:lnSpc>
                <a:spcPct val="114000"/>
              </a:lnSpc>
              <a:spcBef>
                <a:spcPts val="600"/>
              </a:spcBef>
              <a:buSzPts val="1800"/>
              <a:buFont typeface="Arial" panose="020B0604020202020204" pitchFamily="34" charset="0"/>
              <a:buChar char="•"/>
            </a:pPr>
            <a:r>
              <a:rPr lang="en-MY" sz="1600" dirty="0">
                <a:latin typeface="Calibri" panose="020F0502020204030204" pitchFamily="34" charset="0"/>
              </a:rPr>
              <a:t>How the oxidation number changes in a reaction is  also explained using examples.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Redox Reactions </a:t>
            </a:r>
          </a:p>
        </p:txBody>
      </p:sp>
      <p:sp>
        <p:nvSpPr>
          <p:cNvPr id="118" name="Google Shape;118;p26"/>
          <p:cNvSpPr txBox="1"/>
          <p:nvPr/>
        </p:nvSpPr>
        <p:spPr>
          <a:xfrm>
            <a:off x="702599" y="2028225"/>
            <a:ext cx="7714287" cy="2492100"/>
          </a:xfrm>
          <a:prstGeom prst="rect">
            <a:avLst/>
          </a:prstGeom>
          <a:noFill/>
          <a:ln>
            <a:noFill/>
          </a:ln>
        </p:spPr>
        <p:txBody>
          <a:bodyPr spcFirstLastPara="1" wrap="square" lIns="91425" tIns="91425" rIns="91425" bIns="91425" anchor="t" anchorCtr="0">
            <a:noAutofit/>
          </a:bodyPr>
          <a:lstStyle/>
          <a:p>
            <a:pPr marL="285750" indent="-285750" algn="just">
              <a:lnSpc>
                <a:spcPct val="114000"/>
              </a:lnSpc>
              <a:spcBef>
                <a:spcPts val="600"/>
              </a:spcBef>
              <a:buFont typeface="Arial" panose="020B0604020202020204" pitchFamily="34" charset="0"/>
              <a:buChar char="•"/>
            </a:pPr>
            <a:r>
              <a:rPr lang="en-IN" sz="1600" dirty="0">
                <a:latin typeface="Calibri" panose="020F0502020204030204" pitchFamily="34" charset="0"/>
              </a:rPr>
              <a:t>Oxidation is gain of oxygen by an element. Reduction is the loss of oxygen by an element. In the reaction between magnesium and carbon dioxide, magnesium oxide and carbon are formed.</a:t>
            </a:r>
            <a:endParaRPr lang="en-MY" sz="1600" dirty="0">
              <a:latin typeface="Calibri" panose="020F0502020204030204" pitchFamily="34" charset="0"/>
            </a:endParaRPr>
          </a:p>
          <a:p>
            <a:pPr marL="0" indent="0" algn="ctr">
              <a:lnSpc>
                <a:spcPct val="114000"/>
              </a:lnSpc>
              <a:spcBef>
                <a:spcPts val="600"/>
              </a:spcBef>
              <a:buNone/>
            </a:pPr>
            <a:r>
              <a:rPr lang="en-IN" sz="1600" dirty="0">
                <a:latin typeface="Calibri" panose="020F0502020204030204" pitchFamily="34" charset="0"/>
              </a:rPr>
              <a:t>2Mg +CO</a:t>
            </a:r>
            <a:r>
              <a:rPr lang="en-IN" sz="1600" baseline="-25000" dirty="0">
                <a:latin typeface="Calibri" panose="020F0502020204030204" pitchFamily="34" charset="0"/>
              </a:rPr>
              <a:t>2</a:t>
            </a:r>
            <a:r>
              <a:rPr lang="en-IN" sz="1600" dirty="0">
                <a:latin typeface="Calibri" panose="020F0502020204030204" pitchFamily="34" charset="0"/>
              </a:rPr>
              <a:t>→2MgO+C</a:t>
            </a:r>
            <a:endParaRPr lang="en-MY" sz="1600" dirty="0">
              <a:latin typeface="Calibri" panose="020F0502020204030204" pitchFamily="34" charset="0"/>
            </a:endParaRPr>
          </a:p>
          <a:p>
            <a:pPr marL="285750" indent="-285750" algn="just">
              <a:lnSpc>
                <a:spcPct val="114000"/>
              </a:lnSpc>
              <a:spcBef>
                <a:spcPts val="600"/>
              </a:spcBef>
              <a:buFont typeface="Arial" panose="020B0604020202020204" pitchFamily="34" charset="0"/>
              <a:buChar char="•"/>
            </a:pPr>
            <a:r>
              <a:rPr lang="en-IN" sz="1600" dirty="0">
                <a:latin typeface="Calibri" panose="020F0502020204030204" pitchFamily="34" charset="0"/>
              </a:rPr>
              <a:t>Magnesium gains oxygen atoms and forms magnesium oxide and is hence, oxidised. </a:t>
            </a:r>
          </a:p>
          <a:p>
            <a:pPr marL="285750" indent="-285750" algn="just">
              <a:lnSpc>
                <a:spcPct val="114000"/>
              </a:lnSpc>
              <a:spcBef>
                <a:spcPts val="600"/>
              </a:spcBef>
              <a:buFont typeface="Arial" panose="020B0604020202020204" pitchFamily="34" charset="0"/>
              <a:buChar char="•"/>
            </a:pPr>
            <a:r>
              <a:rPr lang="en-IN" sz="1600" dirty="0">
                <a:latin typeface="Calibri" panose="020F0502020204030204" pitchFamily="34" charset="0"/>
              </a:rPr>
              <a:t>Carbon loses its oxygen atoms and is hence, reduced. </a:t>
            </a:r>
          </a:p>
          <a:p>
            <a:pPr marL="285750" indent="-285750" algn="just">
              <a:lnSpc>
                <a:spcPct val="114000"/>
              </a:lnSpc>
              <a:spcBef>
                <a:spcPts val="600"/>
              </a:spcBef>
              <a:buFont typeface="Arial" panose="020B0604020202020204" pitchFamily="34" charset="0"/>
              <a:buChar char="•"/>
            </a:pPr>
            <a:r>
              <a:rPr lang="en-IN" sz="1600" dirty="0">
                <a:latin typeface="Calibri" panose="020F0502020204030204" pitchFamily="34" charset="0"/>
              </a:rPr>
              <a:t>Reactions like these, in which oxidation and reduction take place together, are called as redox reactions.</a:t>
            </a:r>
          </a:p>
        </p:txBody>
      </p:sp>
    </p:spTree>
    <p:extLst>
      <p:ext uri="{BB962C8B-B14F-4D97-AF65-F5344CB8AC3E}">
        <p14:creationId xmlns:p14="http://schemas.microsoft.com/office/powerpoint/2010/main" val="678735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Redox and Electron Transfer</a:t>
            </a:r>
          </a:p>
        </p:txBody>
      </p:sp>
      <p:sp>
        <p:nvSpPr>
          <p:cNvPr id="118" name="Google Shape;118;p26"/>
          <p:cNvSpPr txBox="1"/>
          <p:nvPr/>
        </p:nvSpPr>
        <p:spPr>
          <a:xfrm>
            <a:off x="702600" y="2028225"/>
            <a:ext cx="4188890" cy="2588380"/>
          </a:xfrm>
          <a:prstGeom prst="rect">
            <a:avLst/>
          </a:prstGeom>
          <a:noFill/>
          <a:ln>
            <a:noFill/>
          </a:ln>
        </p:spPr>
        <p:txBody>
          <a:bodyPr spcFirstLastPara="1" wrap="square" lIns="91425" tIns="91425" rIns="91425" bIns="91425" anchor="t" anchorCtr="0">
            <a:noAutofit/>
          </a:bodyPr>
          <a:lstStyle/>
          <a:p>
            <a:pPr marL="285750" indent="-285750" algn="just">
              <a:lnSpc>
                <a:spcPct val="114000"/>
              </a:lnSpc>
              <a:spcBef>
                <a:spcPts val="600"/>
              </a:spcBef>
              <a:buFont typeface="Arial" panose="020B0604020202020204" pitchFamily="34" charset="0"/>
              <a:buChar char="•"/>
            </a:pPr>
            <a:r>
              <a:rPr lang="en-MY" sz="1600" dirty="0">
                <a:latin typeface="Calibri" panose="020F0502020204030204" pitchFamily="34" charset="0"/>
              </a:rPr>
              <a:t>Oxidation and reduction can also be defined according to electron transfer. </a:t>
            </a:r>
          </a:p>
          <a:p>
            <a:pPr marL="285750" indent="-285750" algn="just">
              <a:lnSpc>
                <a:spcPct val="114000"/>
              </a:lnSpc>
              <a:spcBef>
                <a:spcPts val="600"/>
              </a:spcBef>
              <a:buFont typeface="Arial" panose="020B0604020202020204" pitchFamily="34" charset="0"/>
              <a:buChar char="•"/>
            </a:pPr>
            <a:r>
              <a:rPr lang="en-MY" sz="1600" dirty="0">
                <a:latin typeface="Calibri" panose="020F0502020204030204" pitchFamily="34" charset="0"/>
              </a:rPr>
              <a:t>Oxidation is the loss of electrons. Reduction is the gain of electrons. </a:t>
            </a:r>
          </a:p>
          <a:p>
            <a:pPr marL="285750" indent="-285750" algn="just">
              <a:lnSpc>
                <a:spcPct val="114000"/>
              </a:lnSpc>
              <a:spcBef>
                <a:spcPts val="600"/>
              </a:spcBef>
              <a:buFont typeface="Arial" panose="020B0604020202020204" pitchFamily="34" charset="0"/>
              <a:buChar char="•"/>
            </a:pPr>
            <a:r>
              <a:rPr lang="en-MY" sz="1600" dirty="0">
                <a:latin typeface="Calibri" panose="020F0502020204030204" pitchFamily="34" charset="0"/>
              </a:rPr>
              <a:t>The acronym </a:t>
            </a:r>
            <a:r>
              <a:rPr lang="en-MY" sz="1600" b="1" dirty="0">
                <a:latin typeface="Calibri" panose="020F0502020204030204" pitchFamily="34" charset="0"/>
              </a:rPr>
              <a:t>OIL RIG </a:t>
            </a:r>
            <a:r>
              <a:rPr lang="en-MY" sz="1600" dirty="0">
                <a:latin typeface="Calibri" panose="020F0502020204030204" pitchFamily="34" charset="0"/>
              </a:rPr>
              <a:t>(Oxidation is loss and reduction is gain) is used to memorise the above definitions.</a:t>
            </a:r>
          </a:p>
          <a:p>
            <a:pPr marL="285750" indent="-285750" algn="just">
              <a:lnSpc>
                <a:spcPct val="114000"/>
              </a:lnSpc>
              <a:spcBef>
                <a:spcPts val="600"/>
              </a:spcBef>
              <a:buFont typeface="Arial" panose="020B0604020202020204" pitchFamily="34" charset="0"/>
              <a:buChar char="•"/>
            </a:pPr>
            <a:endParaRPr lang="en-MY" sz="1600" dirty="0">
              <a:latin typeface="Calibri" panose="020F0502020204030204" pitchFamily="34" charset="0"/>
            </a:endParaRPr>
          </a:p>
          <a:p>
            <a:pPr algn="just">
              <a:lnSpc>
                <a:spcPct val="114000"/>
              </a:lnSpc>
              <a:spcBef>
                <a:spcPts val="600"/>
              </a:spcBef>
            </a:pPr>
            <a:endParaRPr lang="en-MY" sz="1600" dirty="0">
              <a:latin typeface="Calibri" panose="020F0502020204030204" pitchFamily="34" charset="0"/>
            </a:endParaRPr>
          </a:p>
        </p:txBody>
      </p:sp>
      <p:pic>
        <p:nvPicPr>
          <p:cNvPr id="4" name="Picture 3"/>
          <p:cNvPicPr/>
          <p:nvPr/>
        </p:nvPicPr>
        <p:blipFill>
          <a:blip r:embed="rId3">
            <a:extLst>
              <a:ext uri="{28A0092B-C50C-407E-A947-70E740481C1C}">
                <a14:useLocalDpi xmlns:a14="http://schemas.microsoft.com/office/drawing/2010/main" val="0"/>
              </a:ext>
            </a:extLst>
          </a:blip>
          <a:stretch>
            <a:fillRect/>
          </a:stretch>
        </p:blipFill>
        <p:spPr>
          <a:xfrm>
            <a:off x="5775085" y="2075575"/>
            <a:ext cx="2926080" cy="2444750"/>
          </a:xfrm>
          <a:prstGeom prst="rect">
            <a:avLst/>
          </a:prstGeom>
        </p:spPr>
      </p:pic>
    </p:spTree>
    <p:extLst>
      <p:ext uri="{BB962C8B-B14F-4D97-AF65-F5344CB8AC3E}">
        <p14:creationId xmlns:p14="http://schemas.microsoft.com/office/powerpoint/2010/main" val="2930797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Redox and Electron Transfer</a:t>
            </a:r>
          </a:p>
        </p:txBody>
      </p:sp>
      <p:sp>
        <p:nvSpPr>
          <p:cNvPr id="118" name="Google Shape;118;p26"/>
          <p:cNvSpPr txBox="1"/>
          <p:nvPr/>
        </p:nvSpPr>
        <p:spPr>
          <a:xfrm>
            <a:off x="523875" y="1805340"/>
            <a:ext cx="8296275" cy="2310895"/>
          </a:xfrm>
          <a:prstGeom prst="rect">
            <a:avLst/>
          </a:prstGeom>
          <a:noFill/>
          <a:ln>
            <a:noFill/>
          </a:ln>
        </p:spPr>
        <p:txBody>
          <a:bodyPr spcFirstLastPara="1" wrap="square" lIns="91425" tIns="91425" rIns="91425" bIns="91425" anchor="t" anchorCtr="0">
            <a:noAutofit/>
          </a:bodyPr>
          <a:lstStyle/>
          <a:p>
            <a:pPr marL="127000" lvl="1">
              <a:lnSpc>
                <a:spcPct val="114000"/>
              </a:lnSpc>
              <a:spcBef>
                <a:spcPts val="600"/>
              </a:spcBef>
            </a:pPr>
            <a:r>
              <a:rPr lang="en-IN" sz="1600" b="1" dirty="0">
                <a:latin typeface="Calibri" panose="020F0502020204030204" pitchFamily="34" charset="0"/>
                <a:cs typeface="Calibri" panose="020F0502020204030204" pitchFamily="34" charset="0"/>
              </a:rPr>
              <a:t>Magnesium burns in the presence of oxygen to form magnesium oxide.</a:t>
            </a:r>
            <a:endParaRPr lang="en-MY" sz="1600" b="1" dirty="0">
              <a:latin typeface="Calibri" panose="020F0502020204030204" pitchFamily="34" charset="0"/>
              <a:cs typeface="Calibri" panose="020F0502020204030204" pitchFamily="34" charset="0"/>
            </a:endParaRPr>
          </a:p>
          <a:p>
            <a:pPr marL="127000" lvl="1" algn="ctr">
              <a:lnSpc>
                <a:spcPct val="114000"/>
              </a:lnSpc>
              <a:spcBef>
                <a:spcPts val="600"/>
              </a:spcBef>
              <a:spcAft>
                <a:spcPts val="600"/>
              </a:spcAft>
            </a:pPr>
            <a:r>
              <a:rPr lang="en-IN" sz="1600" b="1" dirty="0">
                <a:latin typeface="Calibri" panose="020F0502020204030204" pitchFamily="34" charset="0"/>
                <a:cs typeface="Calibri" panose="020F0502020204030204" pitchFamily="34" charset="0"/>
              </a:rPr>
              <a:t>2Mg+O</a:t>
            </a:r>
            <a:r>
              <a:rPr lang="en-IN" sz="1600" b="1" baseline="-25000" dirty="0">
                <a:latin typeface="Calibri" panose="020F0502020204030204" pitchFamily="34" charset="0"/>
                <a:cs typeface="Calibri" panose="020F0502020204030204" pitchFamily="34" charset="0"/>
              </a:rPr>
              <a:t>2</a:t>
            </a:r>
            <a:r>
              <a:rPr lang="en-IN" sz="1600" b="1" dirty="0">
                <a:latin typeface="Calibri" panose="020F0502020204030204" pitchFamily="34" charset="0"/>
                <a:cs typeface="Calibri" panose="020F0502020204030204" pitchFamily="34" charset="0"/>
              </a:rPr>
              <a:t>→2MgO</a:t>
            </a:r>
            <a:endParaRPr lang="en-MY" sz="1600" b="1" dirty="0">
              <a:latin typeface="Calibri" panose="020F0502020204030204" pitchFamily="34" charset="0"/>
              <a:cs typeface="Calibri" panose="020F0502020204030204" pitchFamily="34" charset="0"/>
            </a:endParaRPr>
          </a:p>
          <a:p>
            <a:pPr marL="412750" lvl="1" indent="-285750">
              <a:lnSpc>
                <a:spcPct val="114000"/>
              </a:lnSpc>
              <a:spcBef>
                <a:spcPts val="600"/>
              </a:spcBef>
              <a:buFont typeface="Arial" panose="020B0604020202020204" pitchFamily="34" charset="0"/>
              <a:buChar char="•"/>
            </a:pPr>
            <a:r>
              <a:rPr lang="en-US" sz="1600" dirty="0">
                <a:latin typeface="Calibri" panose="020F0502020204030204" pitchFamily="34" charset="0"/>
                <a:cs typeface="Calibri" panose="020F0502020204030204" pitchFamily="34" charset="0"/>
              </a:rPr>
              <a:t>The half-equations for magnesium and oxygen are:</a:t>
            </a:r>
          </a:p>
          <a:p>
            <a:pPr marL="127000" lvl="1" algn="ctr">
              <a:lnSpc>
                <a:spcPct val="114000"/>
              </a:lnSpc>
              <a:spcBef>
                <a:spcPts val="600"/>
              </a:spcBef>
            </a:pPr>
            <a:r>
              <a:rPr lang="en-IN" sz="1600" dirty="0">
                <a:latin typeface="Calibri" panose="020F0502020204030204" pitchFamily="34" charset="0"/>
                <a:cs typeface="Calibri" panose="020F0502020204030204" pitchFamily="34" charset="0"/>
              </a:rPr>
              <a:t>Mg→Mg</a:t>
            </a:r>
            <a:r>
              <a:rPr lang="en-IN" sz="1600" baseline="30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+2e</a:t>
            </a:r>
            <a:r>
              <a:rPr lang="en-IN" sz="1600" baseline="30000" dirty="0">
                <a:latin typeface="Calibri" panose="020F0502020204030204" pitchFamily="34" charset="0"/>
                <a:cs typeface="Calibri" panose="020F0502020204030204" pitchFamily="34" charset="0"/>
              </a:rPr>
              <a:t>-   </a:t>
            </a:r>
            <a:r>
              <a:rPr lang="en-IN" sz="1600" dirty="0">
                <a:latin typeface="Calibri" panose="020F0502020204030204" pitchFamily="34" charset="0"/>
                <a:cs typeface="Calibri" panose="020F0502020204030204" pitchFamily="34" charset="0"/>
              </a:rPr>
              <a:t>&amp;   O</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+4e</a:t>
            </a:r>
            <a:r>
              <a:rPr lang="en-IN" sz="1600" baseline="30000" dirty="0">
                <a:latin typeface="Calibri" panose="020F0502020204030204" pitchFamily="34" charset="0"/>
                <a:cs typeface="Calibri" panose="020F0502020204030204" pitchFamily="34" charset="0"/>
              </a:rPr>
              <a:t>-</a:t>
            </a:r>
            <a:r>
              <a:rPr lang="en-IN" sz="1600" dirty="0">
                <a:latin typeface="Calibri" panose="020F0502020204030204" pitchFamily="34" charset="0"/>
                <a:cs typeface="Calibri" panose="020F0502020204030204" pitchFamily="34" charset="0"/>
              </a:rPr>
              <a:t>→2O</a:t>
            </a:r>
            <a:r>
              <a:rPr lang="en-IN" sz="1600" baseline="30000" dirty="0">
                <a:latin typeface="Calibri" panose="020F0502020204030204" pitchFamily="34" charset="0"/>
                <a:cs typeface="Calibri" panose="020F0502020204030204" pitchFamily="34" charset="0"/>
              </a:rPr>
              <a:t>2-</a:t>
            </a:r>
          </a:p>
          <a:p>
            <a:pPr marL="412750" lvl="1" indent="-285750">
              <a:lnSpc>
                <a:spcPct val="114000"/>
              </a:lnSpc>
              <a:spcBef>
                <a:spcPts val="600"/>
              </a:spcBef>
              <a:buFont typeface="Arial" panose="020B0604020202020204" pitchFamily="34" charset="0"/>
              <a:buChar char="•"/>
            </a:pPr>
            <a:r>
              <a:rPr lang="en-US" sz="1600" dirty="0">
                <a:latin typeface="Calibri" panose="020F0502020204030204" pitchFamily="34" charset="0"/>
                <a:cs typeface="Calibri" panose="020F0502020204030204" pitchFamily="34" charset="0"/>
              </a:rPr>
              <a:t>A magnesium atom loses two electrons and hence, is </a:t>
            </a:r>
            <a:r>
              <a:rPr lang="en-US" sz="1600" dirty="0" err="1">
                <a:latin typeface="Calibri" panose="020F0502020204030204" pitchFamily="34" charset="0"/>
                <a:cs typeface="Calibri" panose="020F0502020204030204" pitchFamily="34" charset="0"/>
              </a:rPr>
              <a:t>oxidised</a:t>
            </a:r>
            <a:r>
              <a:rPr lang="en-US" sz="1600" dirty="0">
                <a:latin typeface="Calibri" panose="020F0502020204030204" pitchFamily="34" charset="0"/>
                <a:cs typeface="Calibri" panose="020F0502020204030204" pitchFamily="34" charset="0"/>
              </a:rPr>
              <a:t>. </a:t>
            </a:r>
          </a:p>
          <a:p>
            <a:pPr marL="412750" lvl="1" indent="-285750">
              <a:lnSpc>
                <a:spcPct val="114000"/>
              </a:lnSpc>
              <a:spcBef>
                <a:spcPts val="600"/>
              </a:spcBef>
              <a:buFont typeface="Arial" panose="020B0604020202020204" pitchFamily="34" charset="0"/>
              <a:buChar char="•"/>
            </a:pPr>
            <a:r>
              <a:rPr lang="en-US" sz="1600" dirty="0">
                <a:latin typeface="Calibri" panose="020F0502020204030204" pitchFamily="34" charset="0"/>
                <a:cs typeface="Calibri" panose="020F0502020204030204" pitchFamily="34" charset="0"/>
              </a:rPr>
              <a:t>Oxygen is the </a:t>
            </a:r>
            <a:r>
              <a:rPr lang="en-US" sz="1600" dirty="0" err="1">
                <a:latin typeface="Calibri" panose="020F0502020204030204" pitchFamily="34" charset="0"/>
                <a:cs typeface="Calibri" panose="020F0502020204030204" pitchFamily="34" charset="0"/>
              </a:rPr>
              <a:t>oxidising</a:t>
            </a:r>
            <a:r>
              <a:rPr lang="en-US" sz="1600" dirty="0">
                <a:latin typeface="Calibri" panose="020F0502020204030204" pitchFamily="34" charset="0"/>
                <a:cs typeface="Calibri" panose="020F0502020204030204" pitchFamily="34" charset="0"/>
              </a:rPr>
              <a:t> agent. An oxygen atom gains two electrons and hence, is reduced. An oxygen molecule is made of two oxygen atoms. Therefore, an oxygen molecule gains 4 electrons. </a:t>
            </a:r>
          </a:p>
          <a:p>
            <a:pPr marL="412750" lvl="1" indent="-285750">
              <a:lnSpc>
                <a:spcPct val="114000"/>
              </a:lnSpc>
              <a:spcBef>
                <a:spcPts val="600"/>
              </a:spcBef>
              <a:buFont typeface="Arial" panose="020B0604020202020204" pitchFamily="34" charset="0"/>
              <a:buChar char="•"/>
            </a:pPr>
            <a:r>
              <a:rPr lang="en-US" sz="1600" dirty="0">
                <a:latin typeface="Calibri" panose="020F0502020204030204" pitchFamily="34" charset="0"/>
                <a:cs typeface="Calibri" panose="020F0502020204030204" pitchFamily="34" charset="0"/>
              </a:rPr>
              <a:t>The electrons lost by one magnesium atom and an oxygen molecule are not the same. </a:t>
            </a:r>
          </a:p>
        </p:txBody>
      </p:sp>
    </p:spTree>
    <p:extLst>
      <p:ext uri="{BB962C8B-B14F-4D97-AF65-F5344CB8AC3E}">
        <p14:creationId xmlns:p14="http://schemas.microsoft.com/office/powerpoint/2010/main" val="2548877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Redox and Electron Transfer</a:t>
            </a:r>
          </a:p>
        </p:txBody>
      </p:sp>
      <p:sp>
        <p:nvSpPr>
          <p:cNvPr id="118" name="Google Shape;118;p26"/>
          <p:cNvSpPr txBox="1"/>
          <p:nvPr/>
        </p:nvSpPr>
        <p:spPr>
          <a:xfrm>
            <a:off x="523875" y="2079660"/>
            <a:ext cx="8296275" cy="2310895"/>
          </a:xfrm>
          <a:prstGeom prst="rect">
            <a:avLst/>
          </a:prstGeom>
          <a:noFill/>
          <a:ln>
            <a:noFill/>
          </a:ln>
        </p:spPr>
        <p:txBody>
          <a:bodyPr spcFirstLastPara="1" wrap="square" lIns="91425" tIns="91425" rIns="91425" bIns="91425" anchor="t" anchorCtr="0">
            <a:noAutofit/>
          </a:bodyPr>
          <a:lstStyle/>
          <a:p>
            <a:pPr marL="127000">
              <a:lnSpc>
                <a:spcPct val="114000"/>
              </a:lnSpc>
              <a:spcBef>
                <a:spcPts val="600"/>
              </a:spcBef>
            </a:pPr>
            <a:r>
              <a:rPr lang="en-IN" sz="1600" b="1" dirty="0">
                <a:latin typeface="Calibri" panose="020F0502020204030204" pitchFamily="34" charset="0"/>
                <a:cs typeface="Calibri" panose="020F0502020204030204" pitchFamily="34" charset="0"/>
              </a:rPr>
              <a:t>Magnesium burns in the presence of oxygen to form magnesium oxide.</a:t>
            </a:r>
            <a:endParaRPr lang="en-MY" sz="1600" b="1" dirty="0">
              <a:latin typeface="Calibri" panose="020F0502020204030204" pitchFamily="34" charset="0"/>
              <a:cs typeface="Calibri" panose="020F0502020204030204" pitchFamily="34" charset="0"/>
            </a:endParaRPr>
          </a:p>
          <a:p>
            <a:pPr marL="127000" indent="0" algn="ctr">
              <a:lnSpc>
                <a:spcPct val="114000"/>
              </a:lnSpc>
              <a:spcBef>
                <a:spcPts val="600"/>
              </a:spcBef>
              <a:spcAft>
                <a:spcPts val="600"/>
              </a:spcAft>
              <a:buNone/>
            </a:pPr>
            <a:r>
              <a:rPr lang="en-IN" sz="1600" b="1" dirty="0">
                <a:latin typeface="Calibri" panose="020F0502020204030204" pitchFamily="34" charset="0"/>
                <a:cs typeface="Calibri" panose="020F0502020204030204" pitchFamily="34" charset="0"/>
              </a:rPr>
              <a:t>2Mg+O</a:t>
            </a:r>
            <a:r>
              <a:rPr lang="en-IN" sz="1600" b="1" baseline="-25000" dirty="0">
                <a:latin typeface="Calibri" panose="020F0502020204030204" pitchFamily="34" charset="0"/>
                <a:cs typeface="Calibri" panose="020F0502020204030204" pitchFamily="34" charset="0"/>
              </a:rPr>
              <a:t>2</a:t>
            </a:r>
            <a:r>
              <a:rPr lang="en-IN" sz="1600" b="1" dirty="0">
                <a:latin typeface="Calibri" panose="020F0502020204030204" pitchFamily="34" charset="0"/>
                <a:cs typeface="Calibri" panose="020F0502020204030204" pitchFamily="34" charset="0"/>
              </a:rPr>
              <a:t>→2MgO</a:t>
            </a:r>
            <a:endParaRPr lang="en-MY" sz="1600" b="1" dirty="0">
              <a:latin typeface="Calibri" panose="020F0502020204030204" pitchFamily="34" charset="0"/>
              <a:cs typeface="Calibri" panose="020F0502020204030204" pitchFamily="34" charset="0"/>
            </a:endParaRPr>
          </a:p>
          <a:p>
            <a:pPr marL="412750" indent="-285750">
              <a:lnSpc>
                <a:spcPct val="114000"/>
              </a:lnSpc>
              <a:spcBef>
                <a:spcPts val="600"/>
              </a:spcBef>
              <a:buFont typeface="Arial" panose="020B0604020202020204" pitchFamily="34" charset="0"/>
              <a:buChar char="•"/>
            </a:pPr>
            <a:r>
              <a:rPr lang="en-US" sz="1600" dirty="0">
                <a:latin typeface="Calibri" panose="020F0502020204030204" pitchFamily="34" charset="0"/>
                <a:cs typeface="Calibri" panose="020F0502020204030204" pitchFamily="34" charset="0"/>
              </a:rPr>
              <a:t>Balancing the number of electrons lost and number of electrons gained in the two half-equations,</a:t>
            </a:r>
          </a:p>
          <a:p>
            <a:pPr marL="127000" lvl="0" algn="ctr">
              <a:lnSpc>
                <a:spcPct val="114000"/>
              </a:lnSpc>
              <a:spcBef>
                <a:spcPts val="600"/>
              </a:spcBef>
            </a:pPr>
            <a:r>
              <a:rPr lang="en-IN" sz="1600" dirty="0">
                <a:latin typeface="Calibri" panose="020F0502020204030204" pitchFamily="34" charset="0"/>
                <a:cs typeface="Calibri" panose="020F0502020204030204" pitchFamily="34" charset="0"/>
              </a:rPr>
              <a:t>2Mg→2Mg</a:t>
            </a:r>
            <a:r>
              <a:rPr lang="en-IN" sz="1600" baseline="30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+4e</a:t>
            </a:r>
            <a:r>
              <a:rPr lang="en-IN" sz="1600" baseline="30000" dirty="0">
                <a:latin typeface="Calibri" panose="020F0502020204030204" pitchFamily="34" charset="0"/>
                <a:cs typeface="Calibri" panose="020F0502020204030204" pitchFamily="34" charset="0"/>
              </a:rPr>
              <a:t>-   </a:t>
            </a:r>
            <a:r>
              <a:rPr lang="en-IN" sz="1600" dirty="0">
                <a:latin typeface="Calibri" panose="020F0502020204030204" pitchFamily="34" charset="0"/>
                <a:cs typeface="Calibri" panose="020F0502020204030204" pitchFamily="34" charset="0"/>
              </a:rPr>
              <a:t>&amp;   O</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+4e</a:t>
            </a:r>
            <a:r>
              <a:rPr lang="en-IN" sz="1600" baseline="30000" dirty="0">
                <a:latin typeface="Calibri" panose="020F0502020204030204" pitchFamily="34" charset="0"/>
                <a:cs typeface="Calibri" panose="020F0502020204030204" pitchFamily="34" charset="0"/>
              </a:rPr>
              <a:t>-</a:t>
            </a:r>
            <a:r>
              <a:rPr lang="en-IN" sz="1600" dirty="0">
                <a:latin typeface="Calibri" panose="020F0502020204030204" pitchFamily="34" charset="0"/>
                <a:cs typeface="Calibri" panose="020F0502020204030204" pitchFamily="34" charset="0"/>
              </a:rPr>
              <a:t>→2O</a:t>
            </a:r>
            <a:r>
              <a:rPr lang="en-IN" sz="1600" baseline="30000" dirty="0">
                <a:latin typeface="Calibri" panose="020F0502020204030204" pitchFamily="34" charset="0"/>
                <a:cs typeface="Calibri" panose="020F0502020204030204" pitchFamily="34" charset="0"/>
              </a:rPr>
              <a:t>2-</a:t>
            </a:r>
          </a:p>
          <a:p>
            <a:pPr marL="412750" indent="-285750">
              <a:lnSpc>
                <a:spcPct val="114000"/>
              </a:lnSpc>
              <a:spcBef>
                <a:spcPts val="600"/>
              </a:spcBef>
              <a:buFont typeface="Arial" panose="020B0604020202020204" pitchFamily="34" charset="0"/>
              <a:buChar char="•"/>
            </a:pPr>
            <a:r>
              <a:rPr lang="en-US" sz="1600" dirty="0">
                <a:latin typeface="Calibri" panose="020F0502020204030204" pitchFamily="34" charset="0"/>
                <a:cs typeface="Calibri" panose="020F0502020204030204" pitchFamily="34" charset="0"/>
              </a:rPr>
              <a:t>Adding the above two half-equations, we get the original equation.</a:t>
            </a:r>
          </a:p>
          <a:p>
            <a:pPr marL="412750" indent="-285750">
              <a:lnSpc>
                <a:spcPct val="114000"/>
              </a:lnSpc>
              <a:spcBef>
                <a:spcPts val="600"/>
              </a:spcBef>
              <a:buFont typeface="Arial" panose="020B0604020202020204" pitchFamily="34" charset="0"/>
              <a:buChar char="•"/>
            </a:pPr>
            <a:r>
              <a:rPr lang="en-US" sz="1600" dirty="0" err="1">
                <a:latin typeface="Calibri" panose="020F0502020204030204" pitchFamily="34" charset="0"/>
                <a:cs typeface="Calibri" panose="020F0502020204030204" pitchFamily="34" charset="0"/>
              </a:rPr>
              <a:t>Oxidising</a:t>
            </a:r>
            <a:r>
              <a:rPr lang="en-US" sz="1600" dirty="0">
                <a:latin typeface="Calibri" panose="020F0502020204030204" pitchFamily="34" charset="0"/>
                <a:cs typeface="Calibri" panose="020F0502020204030204" pitchFamily="34" charset="0"/>
              </a:rPr>
              <a:t> agents are electron acceptors. Reducing agents are electron donors.</a:t>
            </a:r>
          </a:p>
          <a:p>
            <a:pPr marL="412750" indent="-285750">
              <a:lnSpc>
                <a:spcPct val="114000"/>
              </a:lnSpc>
              <a:spcBef>
                <a:spcPts val="600"/>
              </a:spcBef>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53165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Oxidation Numbers</a:t>
            </a:r>
          </a:p>
        </p:txBody>
      </p:sp>
      <p:sp>
        <p:nvSpPr>
          <p:cNvPr id="118" name="Google Shape;118;p26"/>
          <p:cNvSpPr txBox="1"/>
          <p:nvPr/>
        </p:nvSpPr>
        <p:spPr>
          <a:xfrm>
            <a:off x="523875" y="1885350"/>
            <a:ext cx="8296275" cy="2926680"/>
          </a:xfrm>
          <a:prstGeom prst="rect">
            <a:avLst/>
          </a:prstGeom>
          <a:noFill/>
          <a:ln>
            <a:noFill/>
          </a:ln>
        </p:spPr>
        <p:txBody>
          <a:bodyPr spcFirstLastPara="1" wrap="square" lIns="91425" tIns="91425" rIns="91425" bIns="91425" anchor="t" anchorCtr="0">
            <a:noAutofit/>
          </a:bodyPr>
          <a:lstStyle/>
          <a:p>
            <a:pPr marL="412750" indent="-285750">
              <a:lnSpc>
                <a:spcPct val="114000"/>
              </a:lnSpc>
              <a:spcBef>
                <a:spcPts val="600"/>
              </a:spcBef>
              <a:buFont typeface="Arial" panose="020B0604020202020204" pitchFamily="34" charset="0"/>
              <a:buChar char="•"/>
            </a:pPr>
            <a:r>
              <a:rPr lang="en-IN" sz="1600" dirty="0">
                <a:latin typeface="Calibri" panose="020F0502020204030204" pitchFamily="34" charset="0"/>
              </a:rPr>
              <a:t>Every atom and ion has an oxidation number that shows the degree of oxidation. This number can be positive, negative or zero. </a:t>
            </a:r>
          </a:p>
          <a:p>
            <a:pPr marL="412750" indent="-285750">
              <a:lnSpc>
                <a:spcPct val="114000"/>
              </a:lnSpc>
              <a:spcBef>
                <a:spcPts val="600"/>
              </a:spcBef>
              <a:buFont typeface="Arial" panose="020B0604020202020204" pitchFamily="34" charset="0"/>
              <a:buChar char="•"/>
            </a:pPr>
            <a:r>
              <a:rPr lang="en-IN" sz="1600" dirty="0">
                <a:latin typeface="Calibri" panose="020F0502020204030204" pitchFamily="34" charset="0"/>
              </a:rPr>
              <a:t>Higher positive oxidation number denotes that the atom is more oxidised. A negative oxidation number denotes that an atom is reduced.</a:t>
            </a:r>
            <a:endParaRPr lang="en-MY" sz="1600" dirty="0">
              <a:latin typeface="Calibri" panose="020F0502020204030204" pitchFamily="34" charset="0"/>
            </a:endParaRPr>
          </a:p>
          <a:p>
            <a:pPr marL="412750" indent="-285750">
              <a:lnSpc>
                <a:spcPct val="114000"/>
              </a:lnSpc>
              <a:spcBef>
                <a:spcPts val="600"/>
              </a:spcBef>
              <a:buFont typeface="Arial" panose="020B0604020202020204" pitchFamily="34" charset="0"/>
              <a:buChar char="•"/>
            </a:pPr>
            <a:r>
              <a:rPr lang="en-IN" sz="1600" dirty="0">
                <a:latin typeface="Calibri" panose="020F0502020204030204" pitchFamily="34" charset="0"/>
              </a:rPr>
              <a:t>Rules for providing the oxidation numbers are:</a:t>
            </a:r>
            <a:endParaRPr lang="en-MY" sz="1600" dirty="0">
              <a:latin typeface="Calibri" panose="020F0502020204030204" pitchFamily="34" charset="0"/>
            </a:endParaRPr>
          </a:p>
          <a:p>
            <a:pPr marL="892175" lvl="0" indent="-400050">
              <a:lnSpc>
                <a:spcPct val="114000"/>
              </a:lnSpc>
              <a:spcBef>
                <a:spcPts val="600"/>
              </a:spcBef>
              <a:buFont typeface="+mj-lt"/>
              <a:buAutoNum type="romanUcPeriod"/>
            </a:pPr>
            <a:r>
              <a:rPr lang="en-IN" sz="1600" dirty="0">
                <a:latin typeface="Calibri" panose="020F0502020204030204" pitchFamily="34" charset="0"/>
              </a:rPr>
              <a:t>The oxidation number of an </a:t>
            </a:r>
            <a:r>
              <a:rPr lang="en-IN" sz="1600" dirty="0" err="1">
                <a:latin typeface="Calibri" panose="020F0502020204030204" pitchFamily="34" charset="0"/>
              </a:rPr>
              <a:t>uncombined</a:t>
            </a:r>
            <a:r>
              <a:rPr lang="en-IN" sz="1600" dirty="0">
                <a:latin typeface="Calibri" panose="020F0502020204030204" pitchFamily="34" charset="0"/>
              </a:rPr>
              <a:t> element is always 0. </a:t>
            </a:r>
            <a:r>
              <a:rPr lang="en-IN" sz="1600" dirty="0" err="1">
                <a:latin typeface="Calibri" panose="020F0502020204030204" pitchFamily="34" charset="0"/>
              </a:rPr>
              <a:t>Ar</a:t>
            </a:r>
            <a:r>
              <a:rPr lang="en-IN" sz="1600" dirty="0">
                <a:latin typeface="Calibri" panose="020F0502020204030204" pitchFamily="34" charset="0"/>
              </a:rPr>
              <a:t>, O</a:t>
            </a:r>
            <a:r>
              <a:rPr lang="en-IN" sz="1600" baseline="-25000" dirty="0">
                <a:latin typeface="Calibri" panose="020F0502020204030204" pitchFamily="34" charset="0"/>
              </a:rPr>
              <a:t>2</a:t>
            </a:r>
            <a:r>
              <a:rPr lang="en-IN" sz="1600" dirty="0">
                <a:latin typeface="Calibri" panose="020F0502020204030204" pitchFamily="34" charset="0"/>
              </a:rPr>
              <a:t> and Zn are examples of elements whose oxidation number is 0.</a:t>
            </a:r>
            <a:endParaRPr lang="en-MY" sz="1600" dirty="0">
              <a:latin typeface="Calibri" panose="020F0502020204030204" pitchFamily="34" charset="0"/>
            </a:endParaRPr>
          </a:p>
          <a:p>
            <a:pPr marL="892175" lvl="0" indent="-400050">
              <a:lnSpc>
                <a:spcPct val="114000"/>
              </a:lnSpc>
              <a:spcBef>
                <a:spcPts val="600"/>
              </a:spcBef>
              <a:buFont typeface="+mj-lt"/>
              <a:buAutoNum type="romanUcPeriod"/>
            </a:pPr>
            <a:r>
              <a:rPr lang="en-IN" sz="1600" dirty="0">
                <a:latin typeface="Calibri" panose="020F0502020204030204" pitchFamily="34" charset="0"/>
              </a:rPr>
              <a:t>In compounds, many ions and atoms have fixed oxidation states. </a:t>
            </a:r>
            <a:endParaRPr lang="en-MY" sz="1600" dirty="0">
              <a:latin typeface="Calibri" panose="020F0502020204030204" pitchFamily="34" charset="0"/>
            </a:endParaRPr>
          </a:p>
        </p:txBody>
      </p:sp>
    </p:spTree>
    <p:extLst>
      <p:ext uri="{BB962C8B-B14F-4D97-AF65-F5344CB8AC3E}">
        <p14:creationId xmlns:p14="http://schemas.microsoft.com/office/powerpoint/2010/main" val="1421357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Oxidation Numbers</a:t>
            </a:r>
          </a:p>
        </p:txBody>
      </p:sp>
      <p:graphicFrame>
        <p:nvGraphicFramePr>
          <p:cNvPr id="4" name="Table 3"/>
          <p:cNvGraphicFramePr>
            <a:graphicFrameLocks noGrp="1"/>
          </p:cNvGraphicFramePr>
          <p:nvPr/>
        </p:nvGraphicFramePr>
        <p:xfrm>
          <a:off x="1074420" y="1828760"/>
          <a:ext cx="7212330" cy="3063280"/>
        </p:xfrm>
        <a:graphic>
          <a:graphicData uri="http://schemas.openxmlformats.org/drawingml/2006/table">
            <a:tbl>
              <a:tblPr firstRow="1" firstCol="1" bandRow="1">
                <a:tableStyleId>{5C22544A-7EE6-4342-B048-85BDC9FD1C3A}</a:tableStyleId>
              </a:tblPr>
              <a:tblGrid>
                <a:gridCol w="2658677">
                  <a:extLst>
                    <a:ext uri="{9D8B030D-6E8A-4147-A177-3AD203B41FA5}">
                      <a16:colId xmlns:a16="http://schemas.microsoft.com/office/drawing/2014/main" val="20000"/>
                    </a:ext>
                  </a:extLst>
                </a:gridCol>
                <a:gridCol w="4553653">
                  <a:extLst>
                    <a:ext uri="{9D8B030D-6E8A-4147-A177-3AD203B41FA5}">
                      <a16:colId xmlns:a16="http://schemas.microsoft.com/office/drawing/2014/main" val="20001"/>
                    </a:ext>
                  </a:extLst>
                </a:gridCol>
              </a:tblGrid>
              <a:tr h="278480">
                <a:tc>
                  <a:txBody>
                    <a:bodyPr/>
                    <a:lstStyle/>
                    <a:p>
                      <a:pPr marL="0" indent="0" algn="ctr">
                        <a:lnSpc>
                          <a:spcPct val="115000"/>
                        </a:lnSpc>
                        <a:spcAft>
                          <a:spcPts val="0"/>
                        </a:spcAft>
                      </a:pPr>
                      <a:r>
                        <a:rPr lang="en-IN" sz="1400" b="0" dirty="0">
                          <a:solidFill>
                            <a:schemeClr val="bg1"/>
                          </a:solidFill>
                          <a:effectLst/>
                        </a:rPr>
                        <a:t>Element</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27AE60"/>
                    </a:solidFill>
                  </a:tcPr>
                </a:tc>
                <a:tc>
                  <a:txBody>
                    <a:bodyPr/>
                    <a:lstStyle/>
                    <a:p>
                      <a:pPr marL="0" indent="0" algn="ctr">
                        <a:lnSpc>
                          <a:spcPct val="115000"/>
                        </a:lnSpc>
                        <a:spcAft>
                          <a:spcPts val="0"/>
                        </a:spcAft>
                      </a:pPr>
                      <a:r>
                        <a:rPr lang="en-IN" sz="1400" b="0" dirty="0">
                          <a:solidFill>
                            <a:schemeClr val="bg1"/>
                          </a:solidFill>
                          <a:effectLst/>
                        </a:rPr>
                        <a:t>Oxidation number</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27AE60"/>
                    </a:solidFill>
                  </a:tcPr>
                </a:tc>
                <a:extLst>
                  <a:ext uri="{0D108BD9-81ED-4DB2-BD59-A6C34878D82A}">
                    <a16:rowId xmlns:a16="http://schemas.microsoft.com/office/drawing/2014/main" val="10000"/>
                  </a:ext>
                </a:extLst>
              </a:tr>
              <a:tr h="278480">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n-lt"/>
                          <a:ea typeface="+mn-ea"/>
                          <a:cs typeface="+mn-cs"/>
                          <a:sym typeface="Arial"/>
                        </a:rPr>
                        <a:t>Group 1 elements </a:t>
                      </a:r>
                      <a:endParaRPr lang="en-MY" sz="14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n-lt"/>
                          <a:ea typeface="+mn-ea"/>
                          <a:cs typeface="+mn-cs"/>
                          <a:sym typeface="Arial"/>
                        </a:rPr>
                        <a:t>+1</a:t>
                      </a:r>
                      <a:endParaRPr lang="en-MY" sz="1400" b="0" i="0" u="none" strike="noStrike" cap="none">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78480">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n-lt"/>
                          <a:ea typeface="+mn-ea"/>
                          <a:cs typeface="+mn-cs"/>
                          <a:sym typeface="Arial"/>
                        </a:rPr>
                        <a:t>Group 2 elements </a:t>
                      </a:r>
                      <a:endParaRPr lang="en-MY" sz="14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n-lt"/>
                          <a:ea typeface="+mn-ea"/>
                          <a:cs typeface="+mn-cs"/>
                          <a:sym typeface="Arial"/>
                        </a:rPr>
                        <a:t>+2</a:t>
                      </a:r>
                      <a:endParaRPr lang="en-MY" sz="1400" b="0" i="0" u="none" strike="noStrike" cap="none">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78480">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n-lt"/>
                          <a:ea typeface="+mn-ea"/>
                          <a:cs typeface="+mn-cs"/>
                          <a:sym typeface="Arial"/>
                        </a:rPr>
                        <a:t>Aluminium</a:t>
                      </a:r>
                      <a:endParaRPr lang="en-MY" sz="14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n-lt"/>
                          <a:ea typeface="+mn-ea"/>
                          <a:cs typeface="+mn-cs"/>
                          <a:sym typeface="Arial"/>
                        </a:rPr>
                        <a:t>+3</a:t>
                      </a:r>
                      <a:endParaRPr lang="en-MY" sz="14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78480">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n-lt"/>
                          <a:ea typeface="+mn-ea"/>
                          <a:cs typeface="+mn-cs"/>
                          <a:sym typeface="Arial"/>
                        </a:rPr>
                        <a:t>Fluorine</a:t>
                      </a:r>
                      <a:endParaRPr lang="en-MY" sz="14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n-lt"/>
                          <a:ea typeface="+mn-ea"/>
                          <a:cs typeface="+mn-cs"/>
                          <a:sym typeface="Arial"/>
                        </a:rPr>
                        <a:t>-1</a:t>
                      </a:r>
                      <a:endParaRPr lang="en-MY" sz="14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78480">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n-lt"/>
                          <a:ea typeface="+mn-ea"/>
                          <a:cs typeface="+mn-cs"/>
                          <a:sym typeface="Arial"/>
                        </a:rPr>
                        <a:t>Chlorine</a:t>
                      </a:r>
                      <a:endParaRPr lang="en-MY" sz="14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n-lt"/>
                          <a:ea typeface="+mn-ea"/>
                          <a:cs typeface="+mn-cs"/>
                          <a:sym typeface="Arial"/>
                        </a:rPr>
                        <a:t>-1 except in compounds with oxygen and fluorine</a:t>
                      </a:r>
                      <a:endParaRPr lang="en-MY" sz="14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78480">
                <a:tc rowSpan="2">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n-lt"/>
                          <a:ea typeface="+mn-ea"/>
                          <a:cs typeface="+mn-cs"/>
                          <a:sym typeface="Arial"/>
                        </a:rPr>
                        <a:t>Hydrogen</a:t>
                      </a:r>
                      <a:endParaRPr lang="en-MY" sz="14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n-lt"/>
                          <a:ea typeface="+mn-ea"/>
                          <a:cs typeface="+mn-cs"/>
                          <a:sym typeface="Arial"/>
                        </a:rPr>
                        <a:t>+1 except in metal hydrides</a:t>
                      </a:r>
                      <a:endParaRPr lang="en-MY" sz="14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78480">
                <a:tc vMerge="1">
                  <a:txBody>
                    <a:bodyPr/>
                    <a:lstStyle/>
                    <a:p>
                      <a:endParaRPr lang="en-MY"/>
                    </a:p>
                  </a:txBody>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n-lt"/>
                          <a:ea typeface="+mn-ea"/>
                          <a:cs typeface="+mn-cs"/>
                          <a:sym typeface="Arial"/>
                        </a:rPr>
                        <a:t>-1 in metal hydrides  (For example: </a:t>
                      </a:r>
                      <a:r>
                        <a:rPr lang="en-IN" sz="1400" b="0" i="0" u="none" strike="noStrike" cap="none" dirty="0" err="1">
                          <a:solidFill>
                            <a:sysClr val="windowText" lastClr="000000"/>
                          </a:solidFill>
                          <a:effectLst/>
                          <a:latin typeface="+mn-lt"/>
                          <a:ea typeface="+mn-ea"/>
                          <a:cs typeface="+mn-cs"/>
                          <a:sym typeface="Arial"/>
                        </a:rPr>
                        <a:t>NaH</a:t>
                      </a:r>
                      <a:r>
                        <a:rPr lang="en-IN" sz="1400" b="0" i="0" u="none" strike="noStrike" cap="none" dirty="0">
                          <a:solidFill>
                            <a:sysClr val="windowText" lastClr="000000"/>
                          </a:solidFill>
                          <a:effectLst/>
                          <a:latin typeface="+mn-lt"/>
                          <a:ea typeface="+mn-ea"/>
                          <a:cs typeface="+mn-cs"/>
                          <a:sym typeface="Arial"/>
                        </a:rPr>
                        <a:t> where it is -1)</a:t>
                      </a:r>
                      <a:endParaRPr lang="en-MY" sz="14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278480">
                <a:tc rowSpan="3">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n-lt"/>
                          <a:ea typeface="+mn-ea"/>
                          <a:cs typeface="+mn-cs"/>
                          <a:sym typeface="Arial"/>
                        </a:rPr>
                        <a:t>Oxygen</a:t>
                      </a:r>
                      <a:endParaRPr lang="en-MY" sz="14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n-lt"/>
                          <a:ea typeface="+mn-ea"/>
                          <a:cs typeface="+mn-cs"/>
                          <a:sym typeface="Arial"/>
                        </a:rPr>
                        <a:t>-2  except in peroxides and OF</a:t>
                      </a:r>
                      <a:r>
                        <a:rPr lang="en-IN" sz="1400" b="0" i="0" u="none" strike="noStrike" cap="none" baseline="-25000" dirty="0">
                          <a:solidFill>
                            <a:sysClr val="windowText" lastClr="000000"/>
                          </a:solidFill>
                          <a:effectLst/>
                          <a:latin typeface="+mn-lt"/>
                          <a:ea typeface="+mn-ea"/>
                          <a:cs typeface="+mn-cs"/>
                          <a:sym typeface="Arial"/>
                        </a:rPr>
                        <a:t>2</a:t>
                      </a:r>
                      <a:endParaRPr lang="en-MY" sz="1400" b="0" i="0" u="none" strike="noStrike" cap="none" baseline="-25000"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278480">
                <a:tc vMerge="1">
                  <a:txBody>
                    <a:bodyPr/>
                    <a:lstStyle/>
                    <a:p>
                      <a:endParaRPr lang="en-MY"/>
                    </a:p>
                  </a:txBody>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n-lt"/>
                          <a:ea typeface="+mn-ea"/>
                          <a:cs typeface="+mn-cs"/>
                          <a:sym typeface="Arial"/>
                        </a:rPr>
                        <a:t>-1 in peroxides (For example: H</a:t>
                      </a:r>
                      <a:r>
                        <a:rPr lang="en-IN" sz="1400" b="0" i="0" u="none" strike="noStrike" cap="none" baseline="-25000" dirty="0">
                          <a:solidFill>
                            <a:sysClr val="windowText" lastClr="000000"/>
                          </a:solidFill>
                          <a:effectLst/>
                          <a:latin typeface="+mn-lt"/>
                          <a:ea typeface="+mn-ea"/>
                          <a:cs typeface="+mn-cs"/>
                          <a:sym typeface="Arial"/>
                        </a:rPr>
                        <a:t>2</a:t>
                      </a:r>
                      <a:r>
                        <a:rPr lang="en-IN" sz="1400" b="0" i="0" u="none" strike="noStrike" cap="none" dirty="0">
                          <a:solidFill>
                            <a:sysClr val="windowText" lastClr="000000"/>
                          </a:solidFill>
                          <a:effectLst/>
                          <a:latin typeface="+mn-lt"/>
                          <a:ea typeface="+mn-ea"/>
                          <a:cs typeface="+mn-cs"/>
                          <a:sym typeface="Arial"/>
                        </a:rPr>
                        <a:t>O</a:t>
                      </a:r>
                      <a:r>
                        <a:rPr lang="en-IN" sz="1400" b="0" i="0" u="none" strike="noStrike" cap="none" baseline="-25000" dirty="0">
                          <a:solidFill>
                            <a:sysClr val="windowText" lastClr="000000"/>
                          </a:solidFill>
                          <a:effectLst/>
                          <a:latin typeface="+mn-lt"/>
                          <a:ea typeface="+mn-ea"/>
                          <a:cs typeface="+mn-cs"/>
                          <a:sym typeface="Arial"/>
                        </a:rPr>
                        <a:t>2</a:t>
                      </a:r>
                      <a:r>
                        <a:rPr lang="en-IN" sz="1400" b="0" i="0" u="none" strike="noStrike" cap="none" dirty="0">
                          <a:solidFill>
                            <a:sysClr val="windowText" lastClr="000000"/>
                          </a:solidFill>
                          <a:effectLst/>
                          <a:latin typeface="+mn-lt"/>
                          <a:ea typeface="+mn-ea"/>
                          <a:cs typeface="+mn-cs"/>
                          <a:sym typeface="Arial"/>
                        </a:rPr>
                        <a:t>)</a:t>
                      </a:r>
                      <a:endParaRPr lang="en-MY" sz="14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278480">
                <a:tc vMerge="1">
                  <a:txBody>
                    <a:bodyPr/>
                    <a:lstStyle/>
                    <a:p>
                      <a:endParaRPr lang="en-MY"/>
                    </a:p>
                  </a:txBody>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n-lt"/>
                          <a:ea typeface="+mn-ea"/>
                          <a:cs typeface="+mn-cs"/>
                          <a:sym typeface="Arial"/>
                        </a:rPr>
                        <a:t>+2 in OF</a:t>
                      </a:r>
                      <a:r>
                        <a:rPr lang="en-IN" sz="1400" b="0" i="0" u="none" strike="noStrike" cap="none" baseline="-25000" dirty="0">
                          <a:solidFill>
                            <a:sysClr val="windowText" lastClr="000000"/>
                          </a:solidFill>
                          <a:effectLst/>
                          <a:latin typeface="+mn-lt"/>
                          <a:ea typeface="+mn-ea"/>
                          <a:cs typeface="+mn-cs"/>
                          <a:sym typeface="Arial"/>
                        </a:rPr>
                        <a:t>2</a:t>
                      </a:r>
                      <a:endParaRPr lang="en-MY" sz="14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666790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Oxidation Numbers</a:t>
            </a:r>
          </a:p>
        </p:txBody>
      </p:sp>
      <p:sp>
        <p:nvSpPr>
          <p:cNvPr id="5" name="Google Shape;118;p26"/>
          <p:cNvSpPr txBox="1"/>
          <p:nvPr/>
        </p:nvSpPr>
        <p:spPr>
          <a:xfrm>
            <a:off x="523875" y="1885350"/>
            <a:ext cx="8296275" cy="2665225"/>
          </a:xfrm>
          <a:prstGeom prst="rect">
            <a:avLst/>
          </a:prstGeom>
          <a:noFill/>
          <a:ln>
            <a:noFill/>
          </a:ln>
        </p:spPr>
        <p:txBody>
          <a:bodyPr spcFirstLastPara="1" wrap="square" lIns="91425" tIns="91425" rIns="91425" bIns="91425" anchor="t" anchorCtr="0">
            <a:noAutofit/>
          </a:bodyPr>
          <a:lstStyle/>
          <a:p>
            <a:pPr marL="527050" lvl="0" indent="-400050">
              <a:lnSpc>
                <a:spcPct val="114000"/>
              </a:lnSpc>
              <a:spcBef>
                <a:spcPts val="600"/>
              </a:spcBef>
              <a:buFont typeface="+mj-lt"/>
              <a:buAutoNum type="romanUcPeriod" startAt="3"/>
            </a:pPr>
            <a:r>
              <a:rPr lang="en-IN" sz="1600" dirty="0">
                <a:latin typeface="Calibri" panose="020F0502020204030204" pitchFamily="34" charset="0"/>
              </a:rPr>
              <a:t>The oxidation number of monoatomic ion is always same as the charge. For example: Oxidation number of Cu</a:t>
            </a:r>
            <a:r>
              <a:rPr lang="en-IN" sz="1600" baseline="30000" dirty="0">
                <a:latin typeface="Calibri" panose="020F0502020204030204" pitchFamily="34" charset="0"/>
              </a:rPr>
              <a:t>2+ </a:t>
            </a:r>
            <a:r>
              <a:rPr lang="en-IN" sz="1600" dirty="0">
                <a:latin typeface="Calibri" panose="020F0502020204030204" pitchFamily="34" charset="0"/>
              </a:rPr>
              <a:t>is 2.</a:t>
            </a:r>
            <a:endParaRPr lang="en-MY" sz="1600" dirty="0">
              <a:latin typeface="Calibri" panose="020F0502020204030204" pitchFamily="34" charset="0"/>
            </a:endParaRPr>
          </a:p>
          <a:p>
            <a:pPr marL="527050" lvl="0" indent="-400050">
              <a:lnSpc>
                <a:spcPct val="114000"/>
              </a:lnSpc>
              <a:spcBef>
                <a:spcPts val="600"/>
              </a:spcBef>
              <a:buFont typeface="+mj-lt"/>
              <a:buAutoNum type="romanUcPeriod" startAt="3"/>
            </a:pPr>
            <a:r>
              <a:rPr lang="en-IN" sz="1600" dirty="0">
                <a:latin typeface="Calibri" panose="020F0502020204030204" pitchFamily="34" charset="0"/>
              </a:rPr>
              <a:t>The sum of oxidation numbers of all elements that form a compound is 0.</a:t>
            </a:r>
            <a:endParaRPr lang="en-MY" sz="1600" dirty="0">
              <a:latin typeface="Calibri" panose="020F0502020204030204" pitchFamily="34" charset="0"/>
            </a:endParaRPr>
          </a:p>
          <a:p>
            <a:pPr marL="527050" lvl="0" indent="-400050">
              <a:lnSpc>
                <a:spcPct val="114000"/>
              </a:lnSpc>
              <a:spcBef>
                <a:spcPts val="600"/>
              </a:spcBef>
              <a:buFont typeface="+mj-lt"/>
              <a:buAutoNum type="romanUcPeriod" startAt="3"/>
            </a:pPr>
            <a:r>
              <a:rPr lang="en-IN" sz="1600" dirty="0">
                <a:latin typeface="Calibri" panose="020F0502020204030204" pitchFamily="34" charset="0"/>
              </a:rPr>
              <a:t>The sum of oxidation numbers of all elements that form a polyatomic ion is equal to the charge.</a:t>
            </a:r>
            <a:endParaRPr lang="en-MY" sz="1600" dirty="0">
              <a:latin typeface="Calibri" panose="020F0502020204030204" pitchFamily="34" charset="0"/>
            </a:endParaRPr>
          </a:p>
          <a:p>
            <a:pPr marL="527050" lvl="0" indent="-400050">
              <a:lnSpc>
                <a:spcPct val="114000"/>
              </a:lnSpc>
              <a:spcBef>
                <a:spcPts val="600"/>
              </a:spcBef>
              <a:buFont typeface="+mj-lt"/>
              <a:buAutoNum type="romanUcPeriod" startAt="3"/>
            </a:pPr>
            <a:r>
              <a:rPr lang="en-IN" sz="1600" dirty="0">
                <a:latin typeface="Calibri" panose="020F0502020204030204" pitchFamily="34" charset="0"/>
              </a:rPr>
              <a:t>The more electronegative element has the negative oxidation number in a compound or ion.</a:t>
            </a:r>
          </a:p>
        </p:txBody>
      </p:sp>
    </p:spTree>
    <p:extLst>
      <p:ext uri="{BB962C8B-B14F-4D97-AF65-F5344CB8AC3E}">
        <p14:creationId xmlns:p14="http://schemas.microsoft.com/office/powerpoint/2010/main" val="4138452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Calculating Oxidation Numbers</a:t>
            </a:r>
          </a:p>
        </p:txBody>
      </p:sp>
      <p:sp>
        <p:nvSpPr>
          <p:cNvPr id="5" name="Google Shape;118;p26"/>
          <p:cNvSpPr txBox="1"/>
          <p:nvPr/>
        </p:nvSpPr>
        <p:spPr>
          <a:xfrm>
            <a:off x="423862" y="1771050"/>
            <a:ext cx="8296275" cy="3258150"/>
          </a:xfrm>
          <a:prstGeom prst="rect">
            <a:avLst/>
          </a:prstGeom>
          <a:noFill/>
          <a:ln>
            <a:noFill/>
          </a:ln>
        </p:spPr>
        <p:txBody>
          <a:bodyPr spcFirstLastPara="1" wrap="square" lIns="91425" tIns="91425" rIns="91425" bIns="91425" anchor="t" anchorCtr="0">
            <a:noAutofit/>
          </a:bodyPr>
          <a:lstStyle/>
          <a:p>
            <a:pPr marL="412750" indent="-285750">
              <a:lnSpc>
                <a:spcPct val="114000"/>
              </a:lnSpc>
              <a:buFont typeface="Arial" panose="020B0604020202020204" pitchFamily="34" charset="0"/>
              <a:buChar char="•"/>
            </a:pPr>
            <a:r>
              <a:rPr lang="en-IN" sz="1600" dirty="0">
                <a:latin typeface="Calibri" panose="020F0502020204030204" pitchFamily="34" charset="0"/>
              </a:rPr>
              <a:t>Unknown oxidation numbers for elements in a compound or ion can be calculated by using known oxidation numbers or rule iv and v.</a:t>
            </a:r>
            <a:endParaRPr lang="en-MY" sz="1600" dirty="0">
              <a:latin typeface="Calibri" panose="020F0502020204030204" pitchFamily="34" charset="0"/>
            </a:endParaRPr>
          </a:p>
          <a:p>
            <a:pPr marL="127000" indent="0">
              <a:lnSpc>
                <a:spcPct val="114000"/>
              </a:lnSpc>
              <a:spcBef>
                <a:spcPts val="1200"/>
              </a:spcBef>
              <a:buNone/>
            </a:pPr>
            <a:r>
              <a:rPr lang="en-IN" sz="1600" b="1" dirty="0">
                <a:latin typeface="Calibri" panose="020F0502020204030204" pitchFamily="34" charset="0"/>
              </a:rPr>
              <a:t>Example 1:</a:t>
            </a:r>
            <a:r>
              <a:rPr lang="en-IN" sz="1600" dirty="0">
                <a:latin typeface="Calibri" panose="020F0502020204030204" pitchFamily="34" charset="0"/>
              </a:rPr>
              <a:t> Calculate the oxidation number of phosphorous in P</a:t>
            </a:r>
            <a:r>
              <a:rPr lang="en-IN" sz="1600" baseline="-25000" dirty="0">
                <a:latin typeface="Calibri" panose="020F0502020204030204" pitchFamily="34" charset="0"/>
              </a:rPr>
              <a:t>2</a:t>
            </a:r>
            <a:r>
              <a:rPr lang="en-IN" sz="1600" dirty="0">
                <a:latin typeface="Calibri" panose="020F0502020204030204" pitchFamily="34" charset="0"/>
              </a:rPr>
              <a:t>O</a:t>
            </a:r>
            <a:r>
              <a:rPr lang="en-IN" sz="1600" baseline="-25000" dirty="0">
                <a:latin typeface="Calibri" panose="020F0502020204030204" pitchFamily="34" charset="0"/>
              </a:rPr>
              <a:t>5</a:t>
            </a:r>
            <a:r>
              <a:rPr lang="en-IN" sz="1600" dirty="0">
                <a:latin typeface="Calibri" panose="020F0502020204030204" pitchFamily="34" charset="0"/>
              </a:rPr>
              <a:t>.</a:t>
            </a:r>
            <a:endParaRPr lang="en-MY" sz="1600" dirty="0">
              <a:latin typeface="Calibri" panose="020F0502020204030204" pitchFamily="34" charset="0"/>
            </a:endParaRPr>
          </a:p>
          <a:p>
            <a:pPr marL="127000" indent="0">
              <a:lnSpc>
                <a:spcPct val="114000"/>
              </a:lnSpc>
              <a:buNone/>
            </a:pPr>
            <a:r>
              <a:rPr lang="en-IN" sz="1600" b="1" dirty="0">
                <a:latin typeface="Calibri" panose="020F0502020204030204" pitchFamily="34" charset="0"/>
              </a:rPr>
              <a:t>Solution:  </a:t>
            </a:r>
            <a:r>
              <a:rPr lang="en-IN" sz="1600" dirty="0">
                <a:latin typeface="Calibri" panose="020F0502020204030204" pitchFamily="34" charset="0"/>
              </a:rPr>
              <a:t>The oxidation number of oxygen is -2. The sum of oxidation numbers of phosphorous and oxygen in P</a:t>
            </a:r>
            <a:r>
              <a:rPr lang="en-IN" sz="1600" baseline="-25000" dirty="0">
                <a:latin typeface="Calibri" panose="020F0502020204030204" pitchFamily="34" charset="0"/>
              </a:rPr>
              <a:t>2</a:t>
            </a:r>
            <a:r>
              <a:rPr lang="en-IN" sz="1600" dirty="0">
                <a:latin typeface="Calibri" panose="020F0502020204030204" pitchFamily="34" charset="0"/>
              </a:rPr>
              <a:t>O</a:t>
            </a:r>
            <a:r>
              <a:rPr lang="en-IN" sz="1600" baseline="-25000" dirty="0">
                <a:latin typeface="Calibri" panose="020F0502020204030204" pitchFamily="34" charset="0"/>
              </a:rPr>
              <a:t>5</a:t>
            </a:r>
            <a:r>
              <a:rPr lang="en-IN" sz="1600" dirty="0">
                <a:latin typeface="Calibri" panose="020F0502020204030204" pitchFamily="34" charset="0"/>
              </a:rPr>
              <a:t> must be 0. Let oxidation number of phosphorus be p.</a:t>
            </a:r>
            <a:endParaRPr lang="en-MY" sz="1600" dirty="0">
              <a:latin typeface="Calibri" panose="020F0502020204030204" pitchFamily="34" charset="0"/>
            </a:endParaRPr>
          </a:p>
          <a:p>
            <a:pPr marL="127000" indent="0">
              <a:lnSpc>
                <a:spcPct val="114000"/>
              </a:lnSpc>
              <a:buNone/>
            </a:pPr>
            <a:r>
              <a:rPr lang="en-IN" sz="1600" dirty="0">
                <a:latin typeface="Calibri" panose="020F0502020204030204" pitchFamily="34" charset="0"/>
              </a:rPr>
              <a:t>Therefore, 2p +(-2×5)=0 and p=5.</a:t>
            </a:r>
            <a:endParaRPr lang="en-MY" sz="1600" dirty="0">
              <a:latin typeface="Calibri" panose="020F0502020204030204" pitchFamily="34" charset="0"/>
            </a:endParaRPr>
          </a:p>
          <a:p>
            <a:pPr marL="127000">
              <a:lnSpc>
                <a:spcPct val="114000"/>
              </a:lnSpc>
            </a:pPr>
            <a:r>
              <a:rPr lang="en-IN" sz="1600" dirty="0">
                <a:latin typeface="Calibri" panose="020F0502020204030204" pitchFamily="34" charset="0"/>
              </a:rPr>
              <a:t> </a:t>
            </a:r>
            <a:endParaRPr lang="en-MY" sz="1600" dirty="0">
              <a:latin typeface="Calibri" panose="020F0502020204030204" pitchFamily="34" charset="0"/>
            </a:endParaRPr>
          </a:p>
          <a:p>
            <a:pPr marL="127000" indent="0">
              <a:lnSpc>
                <a:spcPct val="114000"/>
              </a:lnSpc>
              <a:buNone/>
            </a:pPr>
            <a:r>
              <a:rPr lang="en-IN" sz="1600" b="1" dirty="0">
                <a:latin typeface="Calibri" panose="020F0502020204030204" pitchFamily="34" charset="0"/>
              </a:rPr>
              <a:t>Example 2:</a:t>
            </a:r>
            <a:r>
              <a:rPr lang="en-IN" sz="1600" dirty="0">
                <a:latin typeface="Calibri" panose="020F0502020204030204" pitchFamily="34" charset="0"/>
              </a:rPr>
              <a:t> Calculate the oxidation number of nitrogen in NH</a:t>
            </a:r>
            <a:r>
              <a:rPr lang="en-IN" sz="1600" baseline="-25000" dirty="0">
                <a:latin typeface="Calibri" panose="020F0502020204030204" pitchFamily="34" charset="0"/>
              </a:rPr>
              <a:t>3</a:t>
            </a:r>
            <a:r>
              <a:rPr lang="en-IN" sz="1600" dirty="0">
                <a:latin typeface="Calibri" panose="020F0502020204030204" pitchFamily="34" charset="0"/>
              </a:rPr>
              <a:t>.</a:t>
            </a:r>
            <a:endParaRPr lang="en-MY" sz="1600" dirty="0">
              <a:latin typeface="Calibri" panose="020F0502020204030204" pitchFamily="34" charset="0"/>
            </a:endParaRPr>
          </a:p>
          <a:p>
            <a:pPr marL="127000" indent="0">
              <a:lnSpc>
                <a:spcPct val="114000"/>
              </a:lnSpc>
              <a:buNone/>
            </a:pPr>
            <a:r>
              <a:rPr lang="en-IN" sz="1600" b="1" dirty="0">
                <a:latin typeface="Calibri" panose="020F0502020204030204" pitchFamily="34" charset="0"/>
              </a:rPr>
              <a:t>Solution: </a:t>
            </a:r>
            <a:r>
              <a:rPr lang="en-IN" sz="1600" dirty="0">
                <a:latin typeface="Calibri" panose="020F0502020204030204" pitchFamily="34" charset="0"/>
              </a:rPr>
              <a:t>Nitrogen is more electronegative than Hydrogen. The oxidation number of Hydrogen is +1. Therefore, oxidation number of nitrogen is -3.</a:t>
            </a:r>
          </a:p>
        </p:txBody>
      </p:sp>
    </p:spTree>
    <p:extLst>
      <p:ext uri="{BB962C8B-B14F-4D97-AF65-F5344CB8AC3E}">
        <p14:creationId xmlns:p14="http://schemas.microsoft.com/office/powerpoint/2010/main" val="892786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8007775"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Writing Formulae Using Oxidation Numbers</a:t>
            </a:r>
          </a:p>
        </p:txBody>
      </p:sp>
      <p:sp>
        <p:nvSpPr>
          <p:cNvPr id="5" name="Google Shape;118;p26"/>
          <p:cNvSpPr txBox="1"/>
          <p:nvPr/>
        </p:nvSpPr>
        <p:spPr>
          <a:xfrm>
            <a:off x="523875" y="1754722"/>
            <a:ext cx="8296275" cy="3258150"/>
          </a:xfrm>
          <a:prstGeom prst="rect">
            <a:avLst/>
          </a:prstGeom>
          <a:noFill/>
          <a:ln>
            <a:noFill/>
          </a:ln>
        </p:spPr>
        <p:txBody>
          <a:bodyPr spcFirstLastPara="1" wrap="square" lIns="91425" tIns="91425" rIns="91425" bIns="91425" anchor="t" anchorCtr="0">
            <a:noAutofit/>
          </a:bodyPr>
          <a:lstStyle/>
          <a:p>
            <a:pPr marL="412750" indent="-285750">
              <a:lnSpc>
                <a:spcPct val="114000"/>
              </a:lnSpc>
              <a:spcBef>
                <a:spcPts val="600"/>
              </a:spcBef>
              <a:buFont typeface="Arial" panose="020B0604020202020204" pitchFamily="34" charset="0"/>
              <a:buChar char="•"/>
            </a:pPr>
            <a:r>
              <a:rPr lang="en-IN" sz="1600" dirty="0">
                <a:latin typeface="Calibri" panose="020F0502020204030204" pitchFamily="34" charset="0"/>
              </a:rPr>
              <a:t>Metal elements from group 1 and group 2 have constant oxidation numbers of +1 and +2 respectively. There are some elements that form different type of ions such as iron, copper, nitrogen, etc. In such cases, the oxidation number is given in roman numerical in brackets.</a:t>
            </a:r>
            <a:endParaRPr lang="en-MY" sz="1600" dirty="0">
              <a:latin typeface="Calibri" panose="020F0502020204030204" pitchFamily="34" charset="0"/>
            </a:endParaRPr>
          </a:p>
          <a:p>
            <a:pPr marL="527050" lvl="0" indent="-400050">
              <a:lnSpc>
                <a:spcPct val="114000"/>
              </a:lnSpc>
              <a:spcBef>
                <a:spcPts val="600"/>
              </a:spcBef>
              <a:buFont typeface="+mj-lt"/>
              <a:buAutoNum type="romanUcPeriod"/>
            </a:pPr>
            <a:r>
              <a:rPr lang="en-IN" sz="1600" b="1" dirty="0">
                <a:latin typeface="Calibri" panose="020F0502020204030204" pitchFamily="34" charset="0"/>
              </a:rPr>
              <a:t>Copper</a:t>
            </a:r>
            <a:endParaRPr lang="en-MY" sz="1600" b="1" dirty="0">
              <a:latin typeface="Calibri" panose="020F0502020204030204" pitchFamily="34" charset="0"/>
            </a:endParaRPr>
          </a:p>
          <a:p>
            <a:pPr marL="533400">
              <a:lnSpc>
                <a:spcPct val="114000"/>
              </a:lnSpc>
              <a:spcBef>
                <a:spcPts val="600"/>
              </a:spcBef>
            </a:pPr>
            <a:r>
              <a:rPr lang="en-IN" sz="1600" dirty="0">
                <a:latin typeface="Calibri" panose="020F0502020204030204" pitchFamily="34" charset="0"/>
              </a:rPr>
              <a:t>Oxidation number of +1: Cu</a:t>
            </a:r>
            <a:r>
              <a:rPr lang="en-IN" sz="1600" baseline="-25000" dirty="0">
                <a:latin typeface="Calibri" panose="020F0502020204030204" pitchFamily="34" charset="0"/>
              </a:rPr>
              <a:t>2</a:t>
            </a:r>
            <a:r>
              <a:rPr lang="en-IN" sz="1600" dirty="0">
                <a:latin typeface="Calibri" panose="020F0502020204030204" pitchFamily="34" charset="0"/>
              </a:rPr>
              <a:t>O is named as Copper (I) oxide or Cuprous oxide</a:t>
            </a:r>
            <a:endParaRPr lang="en-MY" sz="1600" dirty="0">
              <a:latin typeface="Calibri" panose="020F0502020204030204" pitchFamily="34" charset="0"/>
            </a:endParaRPr>
          </a:p>
          <a:p>
            <a:pPr marL="533400">
              <a:lnSpc>
                <a:spcPct val="114000"/>
              </a:lnSpc>
              <a:spcBef>
                <a:spcPts val="600"/>
              </a:spcBef>
            </a:pPr>
            <a:r>
              <a:rPr lang="en-IN" sz="1600" dirty="0">
                <a:latin typeface="Calibri" panose="020F0502020204030204" pitchFamily="34" charset="0"/>
              </a:rPr>
              <a:t>Oxidation number of +2: </a:t>
            </a:r>
            <a:r>
              <a:rPr lang="en-IN" sz="1600" dirty="0" err="1">
                <a:latin typeface="Calibri" panose="020F0502020204030204" pitchFamily="34" charset="0"/>
              </a:rPr>
              <a:t>CuO</a:t>
            </a:r>
            <a:r>
              <a:rPr lang="en-IN" sz="1600" dirty="0">
                <a:latin typeface="Calibri" panose="020F0502020204030204" pitchFamily="34" charset="0"/>
              </a:rPr>
              <a:t> is named as Copper (II) oxide or Cupric oxide</a:t>
            </a:r>
            <a:endParaRPr lang="en-MY" sz="1600" dirty="0">
              <a:latin typeface="Calibri" panose="020F0502020204030204" pitchFamily="34" charset="0"/>
            </a:endParaRPr>
          </a:p>
          <a:p>
            <a:pPr marL="527050" lvl="0" indent="-400050">
              <a:lnSpc>
                <a:spcPct val="114000"/>
              </a:lnSpc>
              <a:spcBef>
                <a:spcPts val="600"/>
              </a:spcBef>
              <a:buFont typeface="+mj-lt"/>
              <a:buAutoNum type="romanUcPeriod" startAt="2"/>
            </a:pPr>
            <a:r>
              <a:rPr lang="en-IN" sz="1600" b="1" dirty="0">
                <a:latin typeface="Calibri" panose="020F0502020204030204" pitchFamily="34" charset="0"/>
              </a:rPr>
              <a:t>Iron</a:t>
            </a:r>
            <a:endParaRPr lang="en-MY" sz="1600" b="1" dirty="0">
              <a:latin typeface="Calibri" panose="020F0502020204030204" pitchFamily="34" charset="0"/>
            </a:endParaRPr>
          </a:p>
          <a:p>
            <a:pPr marL="533400">
              <a:lnSpc>
                <a:spcPct val="114000"/>
              </a:lnSpc>
              <a:spcBef>
                <a:spcPts val="600"/>
              </a:spcBef>
            </a:pPr>
            <a:r>
              <a:rPr lang="en-IN" sz="1600" dirty="0">
                <a:latin typeface="Calibri" panose="020F0502020204030204" pitchFamily="34" charset="0"/>
              </a:rPr>
              <a:t>Oxidation number of +2: </a:t>
            </a:r>
            <a:r>
              <a:rPr lang="en-IN" sz="1600" dirty="0" err="1">
                <a:latin typeface="Calibri" panose="020F0502020204030204" pitchFamily="34" charset="0"/>
              </a:rPr>
              <a:t>FeO</a:t>
            </a:r>
            <a:r>
              <a:rPr lang="en-IN" sz="1600" dirty="0">
                <a:latin typeface="Calibri" panose="020F0502020204030204" pitchFamily="34" charset="0"/>
              </a:rPr>
              <a:t> is named as Iron(II) oxide</a:t>
            </a:r>
            <a:endParaRPr lang="en-MY" sz="1600" dirty="0">
              <a:latin typeface="Calibri" panose="020F0502020204030204" pitchFamily="34" charset="0"/>
            </a:endParaRPr>
          </a:p>
          <a:p>
            <a:pPr marL="533400">
              <a:lnSpc>
                <a:spcPct val="114000"/>
              </a:lnSpc>
              <a:spcBef>
                <a:spcPts val="600"/>
              </a:spcBef>
            </a:pPr>
            <a:r>
              <a:rPr lang="en-IN" sz="1600" dirty="0">
                <a:latin typeface="Calibri" panose="020F0502020204030204" pitchFamily="34" charset="0"/>
              </a:rPr>
              <a:t>Oxidation number of +3: Fe</a:t>
            </a:r>
            <a:r>
              <a:rPr lang="en-IN" sz="1600" baseline="-25000" dirty="0">
                <a:latin typeface="Calibri" panose="020F0502020204030204" pitchFamily="34" charset="0"/>
              </a:rPr>
              <a:t>2</a:t>
            </a:r>
            <a:r>
              <a:rPr lang="en-IN" sz="1600" dirty="0">
                <a:latin typeface="Calibri" panose="020F0502020204030204" pitchFamily="34" charset="0"/>
              </a:rPr>
              <a:t>O</a:t>
            </a:r>
            <a:r>
              <a:rPr lang="en-IN" sz="1600" baseline="-25000" dirty="0">
                <a:latin typeface="Calibri" panose="020F0502020204030204" pitchFamily="34" charset="0"/>
              </a:rPr>
              <a:t>3</a:t>
            </a:r>
            <a:r>
              <a:rPr lang="en-IN" sz="1600" dirty="0">
                <a:latin typeface="Calibri" panose="020F0502020204030204" pitchFamily="34" charset="0"/>
              </a:rPr>
              <a:t> named as Iron(III) oxide </a:t>
            </a:r>
          </a:p>
          <a:p>
            <a:pPr marL="533400">
              <a:lnSpc>
                <a:spcPct val="114000"/>
              </a:lnSpc>
              <a:spcBef>
                <a:spcPts val="600"/>
              </a:spcBef>
            </a:pPr>
            <a:endParaRPr lang="en-MY" sz="1600" dirty="0">
              <a:latin typeface="Calibri" panose="020F0502020204030204" pitchFamily="34" charset="0"/>
            </a:endParaRPr>
          </a:p>
        </p:txBody>
      </p:sp>
    </p:spTree>
    <p:extLst>
      <p:ext uri="{BB962C8B-B14F-4D97-AF65-F5344CB8AC3E}">
        <p14:creationId xmlns:p14="http://schemas.microsoft.com/office/powerpoint/2010/main" val="52341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8007775"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Writing Formulae Using Oxidation Numbers</a:t>
            </a:r>
          </a:p>
        </p:txBody>
      </p:sp>
      <p:sp>
        <p:nvSpPr>
          <p:cNvPr id="5" name="Google Shape;118;p26"/>
          <p:cNvSpPr txBox="1"/>
          <p:nvPr/>
        </p:nvSpPr>
        <p:spPr>
          <a:xfrm>
            <a:off x="523875" y="1885350"/>
            <a:ext cx="8296275" cy="2812380"/>
          </a:xfrm>
          <a:prstGeom prst="rect">
            <a:avLst/>
          </a:prstGeom>
          <a:noFill/>
          <a:ln>
            <a:noFill/>
          </a:ln>
        </p:spPr>
        <p:txBody>
          <a:bodyPr spcFirstLastPara="1" wrap="square" lIns="91425" tIns="91425" rIns="91425" bIns="91425" anchor="t" anchorCtr="0">
            <a:noAutofit/>
          </a:bodyPr>
          <a:lstStyle/>
          <a:p>
            <a:pPr marL="527050" lvl="0" indent="-400050">
              <a:lnSpc>
                <a:spcPct val="114000"/>
              </a:lnSpc>
              <a:spcBef>
                <a:spcPts val="600"/>
              </a:spcBef>
              <a:buFont typeface="+mj-lt"/>
              <a:buAutoNum type="romanUcPeriod" startAt="3"/>
            </a:pPr>
            <a:r>
              <a:rPr lang="en-IN" sz="1600" b="1" dirty="0">
                <a:latin typeface="Calibri" panose="020F0502020204030204" pitchFamily="34" charset="0"/>
              </a:rPr>
              <a:t>Nitrogen</a:t>
            </a:r>
            <a:endParaRPr lang="en-MY" sz="1600" b="1" dirty="0">
              <a:latin typeface="Calibri" panose="020F0502020204030204" pitchFamily="34" charset="0"/>
            </a:endParaRPr>
          </a:p>
          <a:p>
            <a:pPr marL="536575">
              <a:lnSpc>
                <a:spcPct val="114000"/>
              </a:lnSpc>
              <a:spcBef>
                <a:spcPts val="600"/>
              </a:spcBef>
            </a:pPr>
            <a:r>
              <a:rPr lang="en-IN" sz="1600" dirty="0">
                <a:latin typeface="Calibri" panose="020F0502020204030204" pitchFamily="34" charset="0"/>
              </a:rPr>
              <a:t>Oxidation number of +1: N</a:t>
            </a:r>
            <a:r>
              <a:rPr lang="en-IN" sz="1600" baseline="-25000" dirty="0">
                <a:latin typeface="Calibri" panose="020F0502020204030204" pitchFamily="34" charset="0"/>
              </a:rPr>
              <a:t>2</a:t>
            </a:r>
            <a:r>
              <a:rPr lang="en-IN" sz="1600" dirty="0">
                <a:latin typeface="Calibri" panose="020F0502020204030204" pitchFamily="34" charset="0"/>
              </a:rPr>
              <a:t>O is named as nitrogen (I) oxide</a:t>
            </a:r>
            <a:endParaRPr lang="en-MY" sz="1600" dirty="0">
              <a:latin typeface="Calibri" panose="020F0502020204030204" pitchFamily="34" charset="0"/>
            </a:endParaRPr>
          </a:p>
          <a:p>
            <a:pPr marL="536575">
              <a:lnSpc>
                <a:spcPct val="114000"/>
              </a:lnSpc>
              <a:spcBef>
                <a:spcPts val="600"/>
              </a:spcBef>
            </a:pPr>
            <a:r>
              <a:rPr lang="en-IN" sz="1600" dirty="0">
                <a:latin typeface="Calibri" panose="020F0502020204030204" pitchFamily="34" charset="0"/>
              </a:rPr>
              <a:t>Oxidation number of +2: NO is named as nitrogen (II) oxide</a:t>
            </a:r>
            <a:endParaRPr lang="en-MY" sz="1600" dirty="0">
              <a:latin typeface="Calibri" panose="020F0502020204030204" pitchFamily="34" charset="0"/>
            </a:endParaRPr>
          </a:p>
          <a:p>
            <a:pPr marL="536575">
              <a:lnSpc>
                <a:spcPct val="114000"/>
              </a:lnSpc>
              <a:spcBef>
                <a:spcPts val="600"/>
              </a:spcBef>
            </a:pPr>
            <a:r>
              <a:rPr lang="en-IN" sz="1600" dirty="0">
                <a:latin typeface="Calibri" panose="020F0502020204030204" pitchFamily="34" charset="0"/>
              </a:rPr>
              <a:t>Oxidation number of +4: NO</a:t>
            </a:r>
            <a:r>
              <a:rPr lang="en-IN" sz="1600" baseline="-25000" dirty="0">
                <a:latin typeface="Calibri" panose="020F0502020204030204" pitchFamily="34" charset="0"/>
              </a:rPr>
              <a:t>2</a:t>
            </a:r>
            <a:r>
              <a:rPr lang="en-IN" sz="1600" dirty="0">
                <a:latin typeface="Calibri" panose="020F0502020204030204" pitchFamily="34" charset="0"/>
              </a:rPr>
              <a:t> is named as nitrogen (IV) oxide</a:t>
            </a:r>
            <a:endParaRPr lang="en-MY" sz="1600" dirty="0">
              <a:latin typeface="Calibri" panose="020F0502020204030204" pitchFamily="34" charset="0"/>
            </a:endParaRPr>
          </a:p>
          <a:p>
            <a:pPr marL="527050" lvl="0" indent="-400050">
              <a:lnSpc>
                <a:spcPct val="114000"/>
              </a:lnSpc>
              <a:spcBef>
                <a:spcPts val="600"/>
              </a:spcBef>
              <a:buFont typeface="+mj-lt"/>
              <a:buAutoNum type="romanUcPeriod" startAt="4"/>
            </a:pPr>
            <a:r>
              <a:rPr lang="en-IN" sz="1600" b="1" dirty="0">
                <a:latin typeface="Calibri" panose="020F0502020204030204" pitchFamily="34" charset="0"/>
              </a:rPr>
              <a:t>Nitrate ions</a:t>
            </a:r>
            <a:endParaRPr lang="en-MY" sz="1600" b="1" dirty="0">
              <a:latin typeface="Calibri" panose="020F0502020204030204" pitchFamily="34" charset="0"/>
            </a:endParaRPr>
          </a:p>
          <a:p>
            <a:pPr marL="536575">
              <a:lnSpc>
                <a:spcPct val="114000"/>
              </a:lnSpc>
              <a:spcBef>
                <a:spcPts val="600"/>
              </a:spcBef>
            </a:pPr>
            <a:r>
              <a:rPr lang="en-IN" sz="1600" dirty="0">
                <a:latin typeface="Calibri" panose="020F0502020204030204" pitchFamily="34" charset="0"/>
              </a:rPr>
              <a:t>Oxidation number of N is +3 in NO</a:t>
            </a:r>
            <a:r>
              <a:rPr lang="en-IN" sz="1600" baseline="-25000" dirty="0">
                <a:latin typeface="Calibri" panose="020F0502020204030204" pitchFamily="34" charset="0"/>
              </a:rPr>
              <a:t>2</a:t>
            </a:r>
            <a:r>
              <a:rPr lang="en-IN" sz="1600" dirty="0">
                <a:latin typeface="Calibri" panose="020F0502020204030204" pitchFamily="34" charset="0"/>
              </a:rPr>
              <a:t>-: NaNO</a:t>
            </a:r>
            <a:r>
              <a:rPr lang="en-IN" sz="1600" baseline="-25000" dirty="0">
                <a:latin typeface="Calibri" panose="020F0502020204030204" pitchFamily="34" charset="0"/>
              </a:rPr>
              <a:t>2</a:t>
            </a:r>
            <a:r>
              <a:rPr lang="en-IN" sz="1600" dirty="0">
                <a:latin typeface="Calibri" panose="020F0502020204030204" pitchFamily="34" charset="0"/>
              </a:rPr>
              <a:t> is named as sodium nitrate (III) </a:t>
            </a:r>
            <a:endParaRPr lang="en-MY" sz="1600" dirty="0">
              <a:latin typeface="Calibri" panose="020F0502020204030204" pitchFamily="34" charset="0"/>
            </a:endParaRPr>
          </a:p>
          <a:p>
            <a:pPr marL="536575">
              <a:lnSpc>
                <a:spcPct val="114000"/>
              </a:lnSpc>
              <a:spcBef>
                <a:spcPts val="600"/>
              </a:spcBef>
            </a:pPr>
            <a:r>
              <a:rPr lang="en-IN" sz="1600" dirty="0">
                <a:latin typeface="Calibri" panose="020F0502020204030204" pitchFamily="34" charset="0"/>
              </a:rPr>
              <a:t>Oxidation number of N is +5 in NO</a:t>
            </a:r>
            <a:r>
              <a:rPr lang="en-IN" sz="1600" baseline="-25000" dirty="0">
                <a:latin typeface="Calibri" panose="020F0502020204030204" pitchFamily="34" charset="0"/>
              </a:rPr>
              <a:t>3</a:t>
            </a:r>
            <a:r>
              <a:rPr lang="en-IN" sz="1600" dirty="0">
                <a:latin typeface="Calibri" panose="020F0502020204030204" pitchFamily="34" charset="0"/>
              </a:rPr>
              <a:t>-: NaNO</a:t>
            </a:r>
            <a:r>
              <a:rPr lang="en-IN" sz="1600" baseline="-25000" dirty="0">
                <a:latin typeface="Calibri" panose="020F0502020204030204" pitchFamily="34" charset="0"/>
              </a:rPr>
              <a:t>3</a:t>
            </a:r>
            <a:r>
              <a:rPr lang="en-IN" sz="1600" dirty="0">
                <a:latin typeface="Calibri" panose="020F0502020204030204" pitchFamily="34" charset="0"/>
              </a:rPr>
              <a:t> is named as sodium nitrate (V) </a:t>
            </a:r>
            <a:endParaRPr lang="en-MY" sz="1600" dirty="0">
              <a:latin typeface="Calibri" panose="020F0502020204030204" pitchFamily="34" charset="0"/>
            </a:endParaRPr>
          </a:p>
          <a:p>
            <a:pPr marL="533400">
              <a:lnSpc>
                <a:spcPct val="114000"/>
              </a:lnSpc>
              <a:spcBef>
                <a:spcPts val="600"/>
              </a:spcBef>
            </a:pPr>
            <a:endParaRPr lang="en-MY" sz="1600" dirty="0">
              <a:latin typeface="Calibri" panose="020F0502020204030204" pitchFamily="34" charset="0"/>
            </a:endParaRPr>
          </a:p>
        </p:txBody>
      </p:sp>
    </p:spTree>
    <p:extLst>
      <p:ext uri="{BB962C8B-B14F-4D97-AF65-F5344CB8AC3E}">
        <p14:creationId xmlns:p14="http://schemas.microsoft.com/office/powerpoint/2010/main" val="963150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8007775"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Writing Formulae Using Oxidation Numbers</a:t>
            </a:r>
          </a:p>
        </p:txBody>
      </p:sp>
      <p:sp>
        <p:nvSpPr>
          <p:cNvPr id="5" name="Google Shape;118;p26"/>
          <p:cNvSpPr txBox="1"/>
          <p:nvPr/>
        </p:nvSpPr>
        <p:spPr>
          <a:xfrm>
            <a:off x="523875" y="1885350"/>
            <a:ext cx="8296275" cy="2800950"/>
          </a:xfrm>
          <a:prstGeom prst="rect">
            <a:avLst/>
          </a:prstGeom>
          <a:noFill/>
          <a:ln>
            <a:noFill/>
          </a:ln>
        </p:spPr>
        <p:txBody>
          <a:bodyPr spcFirstLastPara="1" wrap="square" lIns="91425" tIns="91425" rIns="91425" bIns="91425" anchor="t" anchorCtr="0">
            <a:noAutofit/>
          </a:bodyPr>
          <a:lstStyle/>
          <a:p>
            <a:pPr marL="527050" lvl="0" indent="-400050">
              <a:lnSpc>
                <a:spcPct val="114000"/>
              </a:lnSpc>
              <a:spcBef>
                <a:spcPts val="600"/>
              </a:spcBef>
              <a:buFont typeface="+mj-lt"/>
              <a:buAutoNum type="romanUcPeriod" startAt="5"/>
            </a:pPr>
            <a:r>
              <a:rPr lang="en-IN" sz="1600" b="1" dirty="0">
                <a:latin typeface="Calibri" panose="020F0502020204030204" pitchFamily="34" charset="0"/>
              </a:rPr>
              <a:t>Chlorate ions</a:t>
            </a:r>
            <a:endParaRPr lang="en-MY" sz="1600" b="1" dirty="0">
              <a:latin typeface="Calibri" panose="020F0502020204030204" pitchFamily="34" charset="0"/>
            </a:endParaRPr>
          </a:p>
          <a:p>
            <a:pPr marL="536575">
              <a:lnSpc>
                <a:spcPct val="114000"/>
              </a:lnSpc>
              <a:spcBef>
                <a:spcPts val="600"/>
              </a:spcBef>
            </a:pPr>
            <a:r>
              <a:rPr lang="en-IN" sz="1600" dirty="0">
                <a:latin typeface="Calibri" panose="020F0502020204030204" pitchFamily="34" charset="0"/>
              </a:rPr>
              <a:t>Oxidation number of Cl is +1 in </a:t>
            </a:r>
            <a:r>
              <a:rPr lang="en-IN" sz="1600" dirty="0" err="1">
                <a:latin typeface="Calibri" panose="020F0502020204030204" pitchFamily="34" charset="0"/>
              </a:rPr>
              <a:t>ClO</a:t>
            </a:r>
            <a:r>
              <a:rPr lang="en-IN" sz="1600" baseline="30000" dirty="0">
                <a:latin typeface="Calibri" panose="020F0502020204030204" pitchFamily="34" charset="0"/>
              </a:rPr>
              <a:t>-</a:t>
            </a:r>
            <a:r>
              <a:rPr lang="en-IN" sz="1600" dirty="0">
                <a:latin typeface="Calibri" panose="020F0502020204030204" pitchFamily="34" charset="0"/>
              </a:rPr>
              <a:t>: Chlorate (I)</a:t>
            </a:r>
            <a:endParaRPr lang="en-MY" sz="1600" dirty="0">
              <a:latin typeface="Calibri" panose="020F0502020204030204" pitchFamily="34" charset="0"/>
            </a:endParaRPr>
          </a:p>
          <a:p>
            <a:pPr marL="536575">
              <a:lnSpc>
                <a:spcPct val="114000"/>
              </a:lnSpc>
              <a:spcBef>
                <a:spcPts val="600"/>
              </a:spcBef>
            </a:pPr>
            <a:r>
              <a:rPr lang="en-IN" sz="1600" dirty="0">
                <a:latin typeface="Calibri" panose="020F0502020204030204" pitchFamily="34" charset="0"/>
              </a:rPr>
              <a:t>Oxidation number of Cl is +3 in ClO</a:t>
            </a:r>
            <a:r>
              <a:rPr lang="en-IN" sz="1600" baseline="-25000" dirty="0">
                <a:latin typeface="Calibri" panose="020F0502020204030204" pitchFamily="34" charset="0"/>
              </a:rPr>
              <a:t>2</a:t>
            </a:r>
            <a:r>
              <a:rPr lang="en-IN" sz="1600" baseline="30000" dirty="0">
                <a:latin typeface="Calibri" panose="020F0502020204030204" pitchFamily="34" charset="0"/>
              </a:rPr>
              <a:t>-</a:t>
            </a:r>
            <a:r>
              <a:rPr lang="en-IN" sz="1600" dirty="0">
                <a:latin typeface="Calibri" panose="020F0502020204030204" pitchFamily="34" charset="0"/>
              </a:rPr>
              <a:t>: Chlorate (III)</a:t>
            </a:r>
            <a:endParaRPr lang="en-MY" sz="1600" dirty="0">
              <a:latin typeface="Calibri" panose="020F0502020204030204" pitchFamily="34" charset="0"/>
            </a:endParaRPr>
          </a:p>
          <a:p>
            <a:pPr marL="536575">
              <a:lnSpc>
                <a:spcPct val="114000"/>
              </a:lnSpc>
              <a:spcBef>
                <a:spcPts val="600"/>
              </a:spcBef>
            </a:pPr>
            <a:r>
              <a:rPr lang="en-IN" sz="1600" dirty="0">
                <a:latin typeface="Calibri" panose="020F0502020204030204" pitchFamily="34" charset="0"/>
              </a:rPr>
              <a:t>Oxidation number of Cl is +5 in ClO</a:t>
            </a:r>
            <a:r>
              <a:rPr lang="en-IN" sz="1600" baseline="-25000" dirty="0">
                <a:latin typeface="Calibri" panose="020F0502020204030204" pitchFamily="34" charset="0"/>
              </a:rPr>
              <a:t>3</a:t>
            </a:r>
            <a:r>
              <a:rPr lang="en-IN" sz="1600" baseline="30000" dirty="0">
                <a:latin typeface="Calibri" panose="020F0502020204030204" pitchFamily="34" charset="0"/>
              </a:rPr>
              <a:t>-</a:t>
            </a:r>
            <a:r>
              <a:rPr lang="en-IN" sz="1600" dirty="0">
                <a:latin typeface="Calibri" panose="020F0502020204030204" pitchFamily="34" charset="0"/>
              </a:rPr>
              <a:t>: Chlorate (V)</a:t>
            </a:r>
            <a:endParaRPr lang="en-MY" sz="1600" dirty="0">
              <a:latin typeface="Calibri" panose="020F0502020204030204" pitchFamily="34" charset="0"/>
            </a:endParaRPr>
          </a:p>
          <a:p>
            <a:pPr marL="536575">
              <a:lnSpc>
                <a:spcPct val="114000"/>
              </a:lnSpc>
              <a:spcBef>
                <a:spcPts val="600"/>
              </a:spcBef>
            </a:pPr>
            <a:r>
              <a:rPr lang="en-IN" sz="1600" dirty="0">
                <a:latin typeface="Calibri" panose="020F0502020204030204" pitchFamily="34" charset="0"/>
              </a:rPr>
              <a:t>Oxidation number of Cl is +7 in ClO</a:t>
            </a:r>
            <a:r>
              <a:rPr lang="en-IN" sz="1600" baseline="-25000" dirty="0">
                <a:latin typeface="Calibri" panose="020F0502020204030204" pitchFamily="34" charset="0"/>
              </a:rPr>
              <a:t>4</a:t>
            </a:r>
            <a:r>
              <a:rPr lang="en-IN" sz="1600" baseline="30000" dirty="0">
                <a:latin typeface="Calibri" panose="020F0502020204030204" pitchFamily="34" charset="0"/>
              </a:rPr>
              <a:t>-</a:t>
            </a:r>
            <a:r>
              <a:rPr lang="en-IN" sz="1600" dirty="0">
                <a:latin typeface="Calibri" panose="020F0502020204030204" pitchFamily="34" charset="0"/>
              </a:rPr>
              <a:t>: Chlorate (VII)</a:t>
            </a:r>
            <a:endParaRPr lang="en-MY" sz="1600" dirty="0">
              <a:latin typeface="Calibri" panose="020F0502020204030204" pitchFamily="34" charset="0"/>
            </a:endParaRPr>
          </a:p>
          <a:p>
            <a:pPr marL="536575">
              <a:lnSpc>
                <a:spcPct val="114000"/>
              </a:lnSpc>
              <a:spcBef>
                <a:spcPts val="600"/>
              </a:spcBef>
            </a:pPr>
            <a:r>
              <a:rPr lang="en-IN" sz="1600" dirty="0">
                <a:latin typeface="Calibri" panose="020F0502020204030204" pitchFamily="34" charset="0"/>
              </a:rPr>
              <a:t>The number of oxygen atom varies in chlorate ion according to the oxidation number of chlorine. </a:t>
            </a:r>
            <a:endParaRPr lang="en-MY" sz="1600" dirty="0">
              <a:latin typeface="Calibri" panose="020F0502020204030204" pitchFamily="34" charset="0"/>
            </a:endParaRPr>
          </a:p>
        </p:txBody>
      </p:sp>
    </p:spTree>
    <p:extLst>
      <p:ext uri="{BB962C8B-B14F-4D97-AF65-F5344CB8AC3E}">
        <p14:creationId xmlns:p14="http://schemas.microsoft.com/office/powerpoint/2010/main" val="795766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8007775"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Writing Formulae Using Oxidation Numbers</a:t>
            </a:r>
          </a:p>
        </p:txBody>
      </p:sp>
      <p:sp>
        <p:nvSpPr>
          <p:cNvPr id="5" name="Google Shape;118;p26"/>
          <p:cNvSpPr txBox="1"/>
          <p:nvPr/>
        </p:nvSpPr>
        <p:spPr>
          <a:xfrm>
            <a:off x="523875" y="2067686"/>
            <a:ext cx="8296275" cy="2732914"/>
          </a:xfrm>
          <a:prstGeom prst="rect">
            <a:avLst/>
          </a:prstGeom>
          <a:noFill/>
          <a:ln>
            <a:noFill/>
          </a:ln>
        </p:spPr>
        <p:txBody>
          <a:bodyPr spcFirstLastPara="1" wrap="square" lIns="91425" tIns="91425" rIns="91425" bIns="91425" anchor="t" anchorCtr="0">
            <a:noAutofit/>
          </a:bodyPr>
          <a:lstStyle/>
          <a:p>
            <a:pPr marL="527050" indent="-400050">
              <a:lnSpc>
                <a:spcPct val="114000"/>
              </a:lnSpc>
              <a:spcBef>
                <a:spcPts val="600"/>
              </a:spcBef>
              <a:buFont typeface="+mj-lt"/>
              <a:buAutoNum type="romanUcPeriod" startAt="6"/>
            </a:pPr>
            <a:r>
              <a:rPr lang="en-IN" sz="1600" b="1" dirty="0">
                <a:latin typeface="Calibri" panose="020F0502020204030204" pitchFamily="34" charset="0"/>
              </a:rPr>
              <a:t>Inorganic acids</a:t>
            </a:r>
            <a:endParaRPr lang="en-MY" sz="1600" b="1" dirty="0">
              <a:latin typeface="Calibri" panose="020F0502020204030204" pitchFamily="34" charset="0"/>
            </a:endParaRPr>
          </a:p>
          <a:p>
            <a:pPr marL="536575">
              <a:lnSpc>
                <a:spcPct val="114000"/>
              </a:lnSpc>
              <a:spcBef>
                <a:spcPts val="600"/>
              </a:spcBef>
            </a:pPr>
            <a:r>
              <a:rPr lang="en-IN" sz="1600" dirty="0">
                <a:latin typeface="Calibri" panose="020F0502020204030204" pitchFamily="34" charset="0"/>
              </a:rPr>
              <a:t>Names of acids containing oxygen end with –</a:t>
            </a:r>
            <a:r>
              <a:rPr lang="en-IN" sz="1600" dirty="0" err="1">
                <a:latin typeface="Calibri" panose="020F0502020204030204" pitchFamily="34" charset="0"/>
              </a:rPr>
              <a:t>ic</a:t>
            </a:r>
            <a:r>
              <a:rPr lang="en-IN" sz="1600" dirty="0">
                <a:latin typeface="Calibri" panose="020F0502020204030204" pitchFamily="34" charset="0"/>
              </a:rPr>
              <a:t>. Roman numerals are placed after the ions containing oxygen and other element.</a:t>
            </a:r>
            <a:endParaRPr lang="en-MY" sz="1600" dirty="0">
              <a:latin typeface="Calibri" panose="020F0502020204030204" pitchFamily="34" charset="0"/>
            </a:endParaRPr>
          </a:p>
          <a:p>
            <a:pPr marL="536575">
              <a:lnSpc>
                <a:spcPct val="114000"/>
              </a:lnSpc>
              <a:spcBef>
                <a:spcPts val="600"/>
              </a:spcBef>
            </a:pPr>
            <a:r>
              <a:rPr lang="en-IN" sz="1600" dirty="0">
                <a:latin typeface="Calibri" panose="020F0502020204030204" pitchFamily="34" charset="0"/>
              </a:rPr>
              <a:t>Oxidation number of phosphorous is +3 in H</a:t>
            </a:r>
            <a:r>
              <a:rPr lang="en-IN" sz="1600" baseline="-25000" dirty="0">
                <a:latin typeface="Calibri" panose="020F0502020204030204" pitchFamily="34" charset="0"/>
              </a:rPr>
              <a:t>3</a:t>
            </a:r>
            <a:r>
              <a:rPr lang="en-IN" sz="1600" dirty="0">
                <a:latin typeface="Calibri" panose="020F0502020204030204" pitchFamily="34" charset="0"/>
              </a:rPr>
              <a:t>PO</a:t>
            </a:r>
            <a:r>
              <a:rPr lang="en-IN" sz="1600" baseline="-25000" dirty="0">
                <a:latin typeface="Calibri" panose="020F0502020204030204" pitchFamily="34" charset="0"/>
              </a:rPr>
              <a:t>3</a:t>
            </a:r>
            <a:r>
              <a:rPr lang="en-IN" sz="1600" dirty="0">
                <a:latin typeface="Calibri" panose="020F0502020204030204" pitchFamily="34" charset="0"/>
              </a:rPr>
              <a:t>: phosphoric (III) acid </a:t>
            </a:r>
            <a:endParaRPr lang="en-MY" sz="1600" dirty="0">
              <a:latin typeface="Calibri" panose="020F0502020204030204" pitchFamily="34" charset="0"/>
            </a:endParaRPr>
          </a:p>
          <a:p>
            <a:pPr marL="536575">
              <a:lnSpc>
                <a:spcPct val="114000"/>
              </a:lnSpc>
              <a:spcBef>
                <a:spcPts val="600"/>
              </a:spcBef>
            </a:pPr>
            <a:r>
              <a:rPr lang="en-IN" sz="1600" dirty="0">
                <a:latin typeface="Calibri" panose="020F0502020204030204" pitchFamily="34" charset="0"/>
              </a:rPr>
              <a:t>Oxidation number of chlorine is +7 in HClO</a:t>
            </a:r>
            <a:r>
              <a:rPr lang="en-IN" sz="1600" baseline="-25000" dirty="0">
                <a:latin typeface="Calibri" panose="020F0502020204030204" pitchFamily="34" charset="0"/>
              </a:rPr>
              <a:t>4</a:t>
            </a:r>
            <a:r>
              <a:rPr lang="en-IN" sz="1600" dirty="0">
                <a:latin typeface="Calibri" panose="020F0502020204030204" pitchFamily="34" charset="0"/>
              </a:rPr>
              <a:t>: Chloric (VII) acid </a:t>
            </a:r>
            <a:endParaRPr lang="en-MY" sz="1600" dirty="0">
              <a:latin typeface="Calibri" panose="020F0502020204030204" pitchFamily="34" charset="0"/>
            </a:endParaRPr>
          </a:p>
        </p:txBody>
      </p:sp>
    </p:spTree>
    <p:extLst>
      <p:ext uri="{BB962C8B-B14F-4D97-AF65-F5344CB8AC3E}">
        <p14:creationId xmlns:p14="http://schemas.microsoft.com/office/powerpoint/2010/main" val="2821157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8007775"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Writing Formulae Using Oxidation Numbers</a:t>
            </a:r>
          </a:p>
        </p:txBody>
      </p:sp>
      <p:sp>
        <p:nvSpPr>
          <p:cNvPr id="5" name="Google Shape;118;p26"/>
          <p:cNvSpPr txBox="1"/>
          <p:nvPr/>
        </p:nvSpPr>
        <p:spPr>
          <a:xfrm>
            <a:off x="523875" y="1783750"/>
            <a:ext cx="8296275" cy="3258150"/>
          </a:xfrm>
          <a:prstGeom prst="rect">
            <a:avLst/>
          </a:prstGeom>
          <a:noFill/>
          <a:ln>
            <a:noFill/>
          </a:ln>
        </p:spPr>
        <p:txBody>
          <a:bodyPr spcFirstLastPara="1" wrap="square" lIns="91425" tIns="91425" rIns="91425" bIns="91425" anchor="t" anchorCtr="0">
            <a:noAutofit/>
          </a:bodyPr>
          <a:lstStyle/>
          <a:p>
            <a:pPr marL="127000">
              <a:lnSpc>
                <a:spcPct val="114000"/>
              </a:lnSpc>
              <a:spcBef>
                <a:spcPts val="600"/>
              </a:spcBef>
            </a:pPr>
            <a:r>
              <a:rPr lang="en-IN" sz="1600" dirty="0">
                <a:latin typeface="Calibri" panose="020F0502020204030204" pitchFamily="34" charset="0"/>
              </a:rPr>
              <a:t>Here are few examples about naming compounds.</a:t>
            </a:r>
            <a:endParaRPr lang="en-MY" sz="1600" dirty="0">
              <a:latin typeface="Calibri" panose="020F0502020204030204" pitchFamily="34" charset="0"/>
            </a:endParaRPr>
          </a:p>
          <a:p>
            <a:pPr marL="127000">
              <a:lnSpc>
                <a:spcPct val="114000"/>
              </a:lnSpc>
              <a:spcBef>
                <a:spcPts val="600"/>
              </a:spcBef>
            </a:pPr>
            <a:endParaRPr lang="en-IN" sz="1600" b="1" dirty="0">
              <a:latin typeface="Calibri" panose="020F0502020204030204" pitchFamily="34" charset="0"/>
            </a:endParaRPr>
          </a:p>
          <a:p>
            <a:pPr marL="127000">
              <a:lnSpc>
                <a:spcPct val="114000"/>
              </a:lnSpc>
              <a:spcBef>
                <a:spcPts val="600"/>
              </a:spcBef>
            </a:pPr>
            <a:r>
              <a:rPr lang="en-IN" sz="1600" b="1" dirty="0">
                <a:latin typeface="Calibri" panose="020F0502020204030204" pitchFamily="34" charset="0"/>
              </a:rPr>
              <a:t>Example 1: </a:t>
            </a:r>
            <a:r>
              <a:rPr lang="en-IN" sz="1600" dirty="0">
                <a:latin typeface="Calibri" panose="020F0502020204030204" pitchFamily="34" charset="0"/>
              </a:rPr>
              <a:t>What is the name of Fe(NO</a:t>
            </a:r>
            <a:r>
              <a:rPr lang="en-IN" sz="1600" baseline="-25000" dirty="0">
                <a:latin typeface="Calibri" panose="020F0502020204030204" pitchFamily="34" charset="0"/>
              </a:rPr>
              <a:t>3</a:t>
            </a:r>
            <a:r>
              <a:rPr lang="en-IN" sz="1600" dirty="0">
                <a:latin typeface="Calibri" panose="020F0502020204030204" pitchFamily="34" charset="0"/>
              </a:rPr>
              <a:t>)</a:t>
            </a:r>
            <a:r>
              <a:rPr lang="en-IN" sz="1600" baseline="-25000" dirty="0">
                <a:latin typeface="Calibri" panose="020F0502020204030204" pitchFamily="34" charset="0"/>
              </a:rPr>
              <a:t>3</a:t>
            </a:r>
            <a:r>
              <a:rPr lang="en-IN" sz="1600" dirty="0">
                <a:latin typeface="Calibri" panose="020F0502020204030204" pitchFamily="34" charset="0"/>
              </a:rPr>
              <a:t>?</a:t>
            </a:r>
            <a:endParaRPr lang="en-IN" sz="1600" b="1" dirty="0">
              <a:latin typeface="Calibri" panose="020F0502020204030204" pitchFamily="34" charset="0"/>
            </a:endParaRPr>
          </a:p>
          <a:p>
            <a:pPr marL="127000">
              <a:lnSpc>
                <a:spcPct val="114000"/>
              </a:lnSpc>
              <a:spcBef>
                <a:spcPts val="600"/>
              </a:spcBef>
            </a:pPr>
            <a:r>
              <a:rPr lang="en-IN" sz="1600" b="1" dirty="0">
                <a:latin typeface="Calibri" panose="020F0502020204030204" pitchFamily="34" charset="0"/>
              </a:rPr>
              <a:t>Solution: </a:t>
            </a:r>
            <a:r>
              <a:rPr lang="en-IN" sz="1600" dirty="0">
                <a:latin typeface="Calibri" panose="020F0502020204030204" pitchFamily="34" charset="0"/>
              </a:rPr>
              <a:t>Fe(NO</a:t>
            </a:r>
            <a:r>
              <a:rPr lang="en-IN" sz="1600" baseline="-25000" dirty="0">
                <a:latin typeface="Calibri" panose="020F0502020204030204" pitchFamily="34" charset="0"/>
              </a:rPr>
              <a:t>3</a:t>
            </a:r>
            <a:r>
              <a:rPr lang="en-IN" sz="1600" dirty="0">
                <a:latin typeface="Calibri" panose="020F0502020204030204" pitchFamily="34" charset="0"/>
              </a:rPr>
              <a:t>)</a:t>
            </a:r>
            <a:r>
              <a:rPr lang="en-IN" sz="1600" baseline="-25000" dirty="0">
                <a:latin typeface="Calibri" panose="020F0502020204030204" pitchFamily="34" charset="0"/>
              </a:rPr>
              <a:t>3</a:t>
            </a:r>
            <a:r>
              <a:rPr lang="en-IN" sz="1600" dirty="0">
                <a:latin typeface="Calibri" panose="020F0502020204030204" pitchFamily="34" charset="0"/>
              </a:rPr>
              <a:t> is a form of Iron nitrate. Oxidation number of nitrate is -1. Finding the oxidation number of iron,</a:t>
            </a:r>
            <a:endParaRPr lang="en-MY" sz="1600" dirty="0">
              <a:latin typeface="Calibri" panose="020F0502020204030204" pitchFamily="34" charset="0"/>
            </a:endParaRPr>
          </a:p>
          <a:p>
            <a:pPr marL="127000">
              <a:lnSpc>
                <a:spcPct val="114000"/>
              </a:lnSpc>
              <a:spcBef>
                <a:spcPts val="600"/>
              </a:spcBef>
            </a:pPr>
            <a:r>
              <a:rPr lang="en-IN" sz="1600" dirty="0">
                <a:latin typeface="Calibri" panose="020F0502020204030204" pitchFamily="34" charset="0"/>
              </a:rPr>
              <a:t>Oxidation number of Fe + (-3)=0</a:t>
            </a:r>
            <a:endParaRPr lang="en-MY" sz="1600" dirty="0">
              <a:latin typeface="Calibri" panose="020F0502020204030204" pitchFamily="34" charset="0"/>
            </a:endParaRPr>
          </a:p>
          <a:p>
            <a:pPr marL="127000">
              <a:lnSpc>
                <a:spcPct val="114000"/>
              </a:lnSpc>
              <a:spcBef>
                <a:spcPts val="600"/>
              </a:spcBef>
            </a:pPr>
            <a:r>
              <a:rPr lang="en-IN" sz="1600" dirty="0">
                <a:latin typeface="Calibri" panose="020F0502020204030204" pitchFamily="34" charset="0"/>
              </a:rPr>
              <a:t>Therefore, oxidation number of Fe is +3. So, Fe(NO</a:t>
            </a:r>
            <a:r>
              <a:rPr lang="en-IN" sz="1600" baseline="-25000" dirty="0">
                <a:latin typeface="Calibri" panose="020F0502020204030204" pitchFamily="34" charset="0"/>
              </a:rPr>
              <a:t>3</a:t>
            </a:r>
            <a:r>
              <a:rPr lang="en-IN" sz="1600" dirty="0">
                <a:latin typeface="Calibri" panose="020F0502020204030204" pitchFamily="34" charset="0"/>
              </a:rPr>
              <a:t>)</a:t>
            </a:r>
            <a:r>
              <a:rPr lang="en-IN" sz="1600" baseline="-25000" dirty="0">
                <a:latin typeface="Calibri" panose="020F0502020204030204" pitchFamily="34" charset="0"/>
              </a:rPr>
              <a:t>3</a:t>
            </a:r>
            <a:r>
              <a:rPr lang="en-IN" sz="1600" dirty="0">
                <a:latin typeface="Calibri" panose="020F0502020204030204" pitchFamily="34" charset="0"/>
              </a:rPr>
              <a:t> is Iron (III) nitrate.</a:t>
            </a:r>
            <a:endParaRPr lang="en-MY" sz="1600" dirty="0">
              <a:latin typeface="Calibri" panose="020F0502020204030204" pitchFamily="34" charset="0"/>
            </a:endParaRPr>
          </a:p>
        </p:txBody>
      </p:sp>
    </p:spTree>
    <p:extLst>
      <p:ext uri="{BB962C8B-B14F-4D97-AF65-F5344CB8AC3E}">
        <p14:creationId xmlns:p14="http://schemas.microsoft.com/office/powerpoint/2010/main" val="326079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8007775"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Writing Formulae Using Oxidation Numbers</a:t>
            </a:r>
          </a:p>
        </p:txBody>
      </p:sp>
      <p:sp>
        <p:nvSpPr>
          <p:cNvPr id="5" name="Google Shape;118;p26"/>
          <p:cNvSpPr txBox="1"/>
          <p:nvPr/>
        </p:nvSpPr>
        <p:spPr>
          <a:xfrm>
            <a:off x="523875" y="1783750"/>
            <a:ext cx="8296275" cy="3258150"/>
          </a:xfrm>
          <a:prstGeom prst="rect">
            <a:avLst/>
          </a:prstGeom>
          <a:noFill/>
          <a:ln>
            <a:noFill/>
          </a:ln>
        </p:spPr>
        <p:txBody>
          <a:bodyPr spcFirstLastPara="1" wrap="square" lIns="91425" tIns="91425" rIns="91425" bIns="91425" anchor="t" anchorCtr="0">
            <a:noAutofit/>
          </a:bodyPr>
          <a:lstStyle/>
          <a:p>
            <a:pPr marL="127000">
              <a:lnSpc>
                <a:spcPct val="114000"/>
              </a:lnSpc>
              <a:spcBef>
                <a:spcPts val="600"/>
              </a:spcBef>
            </a:pPr>
            <a:r>
              <a:rPr lang="en-IN" sz="1600" b="1" dirty="0">
                <a:latin typeface="Calibri" panose="020F0502020204030204" pitchFamily="34" charset="0"/>
              </a:rPr>
              <a:t>Example 2: </a:t>
            </a:r>
            <a:r>
              <a:rPr lang="en-IN" sz="1600" dirty="0">
                <a:latin typeface="Calibri" panose="020F0502020204030204" pitchFamily="34" charset="0"/>
              </a:rPr>
              <a:t>What is the formula for Potassium Chlorate (I)?</a:t>
            </a:r>
            <a:endParaRPr lang="en-IN" sz="1600" b="1" dirty="0">
              <a:latin typeface="Calibri" panose="020F0502020204030204" pitchFamily="34" charset="0"/>
            </a:endParaRPr>
          </a:p>
          <a:p>
            <a:pPr marL="127000">
              <a:lnSpc>
                <a:spcPct val="114000"/>
              </a:lnSpc>
              <a:spcBef>
                <a:spcPts val="600"/>
              </a:spcBef>
            </a:pPr>
            <a:r>
              <a:rPr lang="en-IN" sz="1600" b="1" dirty="0">
                <a:latin typeface="Calibri" panose="020F0502020204030204" pitchFamily="34" charset="0"/>
              </a:rPr>
              <a:t>Solution:</a:t>
            </a:r>
            <a:r>
              <a:rPr lang="en-IN" sz="1600" dirty="0">
                <a:latin typeface="Calibri" panose="020F0502020204030204" pitchFamily="34" charset="0"/>
              </a:rPr>
              <a:t> </a:t>
            </a:r>
            <a:endParaRPr lang="en-MY" sz="1600" dirty="0">
              <a:latin typeface="Calibri" panose="020F0502020204030204" pitchFamily="34" charset="0"/>
            </a:endParaRPr>
          </a:p>
          <a:p>
            <a:pPr marL="127000">
              <a:lnSpc>
                <a:spcPct val="114000"/>
              </a:lnSpc>
              <a:spcBef>
                <a:spcPts val="600"/>
              </a:spcBef>
            </a:pPr>
            <a:r>
              <a:rPr lang="en-IN" sz="1600" dirty="0">
                <a:latin typeface="Calibri" panose="020F0502020204030204" pitchFamily="34" charset="0"/>
              </a:rPr>
              <a:t>Oxidation numbers:</a:t>
            </a:r>
            <a:r>
              <a:rPr lang="en-MY" sz="1600" dirty="0">
                <a:latin typeface="Calibri" panose="020F0502020204030204" pitchFamily="34" charset="0"/>
              </a:rPr>
              <a:t> </a:t>
            </a:r>
            <a:r>
              <a:rPr lang="en-IN" sz="1600" dirty="0">
                <a:latin typeface="Calibri" panose="020F0502020204030204" pitchFamily="34" charset="0"/>
              </a:rPr>
              <a:t>Potassium is +1 (Group 1 element)</a:t>
            </a:r>
            <a:r>
              <a:rPr lang="en-MY" sz="1600" dirty="0">
                <a:latin typeface="Calibri" panose="020F0502020204030204" pitchFamily="34" charset="0"/>
              </a:rPr>
              <a:t>, </a:t>
            </a:r>
            <a:r>
              <a:rPr lang="en-IN" sz="1600" dirty="0">
                <a:latin typeface="Calibri" panose="020F0502020204030204" pitchFamily="34" charset="0"/>
              </a:rPr>
              <a:t>Oxygen is -2 and Chlorine is +1 (given in roman numerals)</a:t>
            </a:r>
            <a:endParaRPr lang="en-MY" sz="1600" dirty="0">
              <a:latin typeface="Calibri" panose="020F0502020204030204" pitchFamily="34" charset="0"/>
            </a:endParaRPr>
          </a:p>
          <a:p>
            <a:pPr marL="127000">
              <a:lnSpc>
                <a:spcPct val="114000"/>
              </a:lnSpc>
              <a:spcBef>
                <a:spcPts val="600"/>
              </a:spcBef>
            </a:pPr>
            <a:r>
              <a:rPr lang="en-IN" sz="1600" dirty="0">
                <a:latin typeface="Calibri" panose="020F0502020204030204" pitchFamily="34" charset="0"/>
              </a:rPr>
              <a:t>Let n be the number of oxygen atoms. Using rule number iv, sum of oxidation numbers of all elements in a compound is 0. </a:t>
            </a:r>
            <a:endParaRPr lang="en-MY" sz="1600" dirty="0">
              <a:latin typeface="Calibri" panose="020F0502020204030204" pitchFamily="34" charset="0"/>
            </a:endParaRPr>
          </a:p>
          <a:p>
            <a:pPr marL="127000">
              <a:lnSpc>
                <a:spcPct val="114000"/>
              </a:lnSpc>
              <a:spcBef>
                <a:spcPts val="600"/>
              </a:spcBef>
            </a:pPr>
            <a:r>
              <a:rPr lang="en-IN" sz="1600" dirty="0">
                <a:latin typeface="Calibri" panose="020F0502020204030204" pitchFamily="34" charset="0"/>
              </a:rPr>
              <a:t>Therefore,  (+1)+ (+1) + (n×-2) =0</a:t>
            </a:r>
            <a:endParaRPr lang="en-MY" sz="1600" dirty="0">
              <a:latin typeface="Calibri" panose="020F0502020204030204" pitchFamily="34" charset="0"/>
            </a:endParaRPr>
          </a:p>
          <a:p>
            <a:pPr marL="127000">
              <a:lnSpc>
                <a:spcPct val="114000"/>
              </a:lnSpc>
              <a:spcBef>
                <a:spcPts val="600"/>
              </a:spcBef>
            </a:pPr>
            <a:r>
              <a:rPr lang="en-IN" sz="1600" dirty="0">
                <a:latin typeface="Calibri" panose="020F0502020204030204" pitchFamily="34" charset="0"/>
              </a:rPr>
              <a:t>n=1</a:t>
            </a:r>
            <a:endParaRPr lang="en-MY" sz="1600" dirty="0">
              <a:latin typeface="Calibri" panose="020F0502020204030204" pitchFamily="34" charset="0"/>
            </a:endParaRPr>
          </a:p>
          <a:p>
            <a:pPr marL="127000">
              <a:lnSpc>
                <a:spcPct val="114000"/>
              </a:lnSpc>
              <a:spcBef>
                <a:spcPts val="600"/>
              </a:spcBef>
            </a:pPr>
            <a:r>
              <a:rPr lang="en-IN" sz="1600" dirty="0">
                <a:latin typeface="Calibri" panose="020F0502020204030204" pitchFamily="34" charset="0"/>
              </a:rPr>
              <a:t>So, the formula for potassium chlorate (I) is </a:t>
            </a:r>
            <a:r>
              <a:rPr lang="en-IN" sz="1600" dirty="0" err="1">
                <a:latin typeface="Calibri" panose="020F0502020204030204" pitchFamily="34" charset="0"/>
              </a:rPr>
              <a:t>KClO</a:t>
            </a:r>
            <a:r>
              <a:rPr lang="en-IN" sz="1600" dirty="0">
                <a:latin typeface="Calibri" panose="020F0502020204030204" pitchFamily="34" charset="0"/>
              </a:rPr>
              <a:t>.</a:t>
            </a:r>
            <a:endParaRPr lang="en-MY" sz="1600" dirty="0">
              <a:latin typeface="Calibri" panose="020F0502020204030204" pitchFamily="34" charset="0"/>
            </a:endParaRPr>
          </a:p>
        </p:txBody>
      </p:sp>
    </p:spTree>
    <p:extLst>
      <p:ext uri="{BB962C8B-B14F-4D97-AF65-F5344CB8AC3E}">
        <p14:creationId xmlns:p14="http://schemas.microsoft.com/office/powerpoint/2010/main" val="1644226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8007775"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Redox and Changes In Oxidation Number</a:t>
            </a:r>
          </a:p>
        </p:txBody>
      </p:sp>
      <p:sp>
        <p:nvSpPr>
          <p:cNvPr id="5" name="Google Shape;118;p26"/>
          <p:cNvSpPr txBox="1"/>
          <p:nvPr/>
        </p:nvSpPr>
        <p:spPr>
          <a:xfrm>
            <a:off x="523875" y="2080260"/>
            <a:ext cx="8296275" cy="2720340"/>
          </a:xfrm>
          <a:prstGeom prst="rect">
            <a:avLst/>
          </a:prstGeom>
          <a:noFill/>
          <a:ln>
            <a:noFill/>
          </a:ln>
        </p:spPr>
        <p:txBody>
          <a:bodyPr spcFirstLastPara="1" wrap="square" lIns="91425" tIns="91425" rIns="91425" bIns="91425" anchor="t" anchorCtr="0">
            <a:noAutofit/>
          </a:bodyPr>
          <a:lstStyle/>
          <a:p>
            <a:pPr marL="127000" indent="0">
              <a:lnSpc>
                <a:spcPct val="114000"/>
              </a:lnSpc>
              <a:spcBef>
                <a:spcPts val="600"/>
              </a:spcBef>
              <a:buNone/>
            </a:pPr>
            <a:r>
              <a:rPr lang="en-IN" sz="1600" dirty="0">
                <a:latin typeface="Calibri" panose="020F0502020204030204" pitchFamily="34" charset="0"/>
              </a:rPr>
              <a:t>In a reaction, if the oxidation number of an element increases, it is called as oxidation. If the oxidation number of an element decreases, it is called as reduction. </a:t>
            </a:r>
            <a:endParaRPr lang="en-MY" sz="1600" dirty="0">
              <a:latin typeface="Calibri" panose="020F0502020204030204" pitchFamily="34" charset="0"/>
            </a:endParaRPr>
          </a:p>
          <a:p>
            <a:pPr marL="127000" indent="0">
              <a:lnSpc>
                <a:spcPct val="114000"/>
              </a:lnSpc>
              <a:spcBef>
                <a:spcPts val="600"/>
              </a:spcBef>
              <a:buNone/>
            </a:pPr>
            <a:endParaRPr lang="en-IN" sz="1600" b="1" dirty="0">
              <a:latin typeface="Calibri" panose="020F0502020204030204" pitchFamily="34" charset="0"/>
            </a:endParaRPr>
          </a:p>
          <a:p>
            <a:pPr marL="127000" indent="0">
              <a:lnSpc>
                <a:spcPct val="114000"/>
              </a:lnSpc>
              <a:spcBef>
                <a:spcPts val="600"/>
              </a:spcBef>
              <a:buNone/>
            </a:pPr>
            <a:r>
              <a:rPr lang="en-IN" sz="1600" b="1" dirty="0">
                <a:latin typeface="Calibri" panose="020F0502020204030204" pitchFamily="34" charset="0"/>
              </a:rPr>
              <a:t>Example 3:</a:t>
            </a:r>
            <a:r>
              <a:rPr lang="en-IN" sz="1600" dirty="0">
                <a:latin typeface="Calibri" panose="020F0502020204030204" pitchFamily="34" charset="0"/>
              </a:rPr>
              <a:t> What are the changes in oxidation number in the following equation?</a:t>
            </a:r>
            <a:endParaRPr lang="en-MY" sz="1600" dirty="0">
              <a:latin typeface="Calibri" panose="020F0502020204030204" pitchFamily="34" charset="0"/>
            </a:endParaRPr>
          </a:p>
          <a:p>
            <a:pPr marL="127000" algn="ctr">
              <a:lnSpc>
                <a:spcPct val="114000"/>
              </a:lnSpc>
              <a:spcBef>
                <a:spcPts val="600"/>
              </a:spcBef>
            </a:pPr>
            <a:r>
              <a:rPr lang="en-IN" sz="1600" dirty="0">
                <a:latin typeface="Calibri" panose="020F0502020204030204" pitchFamily="34" charset="0"/>
              </a:rPr>
              <a:t>Fe+6HNO</a:t>
            </a:r>
            <a:r>
              <a:rPr lang="en-IN" sz="1600" baseline="-25000" dirty="0">
                <a:latin typeface="Calibri" panose="020F0502020204030204" pitchFamily="34" charset="0"/>
              </a:rPr>
              <a:t>3</a:t>
            </a:r>
            <a:r>
              <a:rPr lang="en-IN" sz="1600" dirty="0">
                <a:latin typeface="Calibri" panose="020F0502020204030204" pitchFamily="34" charset="0"/>
              </a:rPr>
              <a:t>→Fe(NO</a:t>
            </a:r>
            <a:r>
              <a:rPr lang="en-IN" sz="1600" baseline="-25000" dirty="0">
                <a:latin typeface="Calibri" panose="020F0502020204030204" pitchFamily="34" charset="0"/>
              </a:rPr>
              <a:t>3</a:t>
            </a:r>
            <a:r>
              <a:rPr lang="en-IN" sz="1600" dirty="0">
                <a:latin typeface="Calibri" panose="020F0502020204030204" pitchFamily="34" charset="0"/>
              </a:rPr>
              <a:t>)</a:t>
            </a:r>
            <a:r>
              <a:rPr lang="en-IN" sz="1600" baseline="-25000" dirty="0">
                <a:latin typeface="Calibri" panose="020F0502020204030204" pitchFamily="34" charset="0"/>
              </a:rPr>
              <a:t>3</a:t>
            </a:r>
            <a:r>
              <a:rPr lang="en-IN" sz="1600" dirty="0">
                <a:latin typeface="Calibri" panose="020F0502020204030204" pitchFamily="34" charset="0"/>
              </a:rPr>
              <a:t>+3NO</a:t>
            </a:r>
            <a:r>
              <a:rPr lang="en-IN" sz="1600" baseline="-25000" dirty="0">
                <a:latin typeface="Calibri" panose="020F0502020204030204" pitchFamily="34" charset="0"/>
              </a:rPr>
              <a:t>2</a:t>
            </a:r>
            <a:r>
              <a:rPr lang="en-IN" sz="1600" dirty="0">
                <a:latin typeface="Calibri" panose="020F0502020204030204" pitchFamily="34" charset="0"/>
              </a:rPr>
              <a:t>+3H</a:t>
            </a:r>
            <a:r>
              <a:rPr lang="en-IN" sz="1600" baseline="-25000" dirty="0">
                <a:latin typeface="Calibri" panose="020F0502020204030204" pitchFamily="34" charset="0"/>
              </a:rPr>
              <a:t>2</a:t>
            </a:r>
            <a:r>
              <a:rPr lang="en-IN" sz="1600" dirty="0">
                <a:latin typeface="Calibri" panose="020F0502020204030204" pitchFamily="34" charset="0"/>
              </a:rPr>
              <a:t>O</a:t>
            </a:r>
            <a:endParaRPr lang="en-MY" sz="1600" dirty="0">
              <a:latin typeface="Calibri" panose="020F0502020204030204" pitchFamily="34" charset="0"/>
            </a:endParaRPr>
          </a:p>
        </p:txBody>
      </p:sp>
    </p:spTree>
    <p:extLst>
      <p:ext uri="{BB962C8B-B14F-4D97-AF65-F5344CB8AC3E}">
        <p14:creationId xmlns:p14="http://schemas.microsoft.com/office/powerpoint/2010/main" val="940372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385518"/>
            <a:ext cx="8007775"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Redox and Changes In Oxidation Number</a:t>
            </a:r>
          </a:p>
        </p:txBody>
      </p:sp>
      <p:sp>
        <p:nvSpPr>
          <p:cNvPr id="5" name="Google Shape;118;p26"/>
          <p:cNvSpPr txBox="1"/>
          <p:nvPr/>
        </p:nvSpPr>
        <p:spPr>
          <a:xfrm>
            <a:off x="4932679" y="1783750"/>
            <a:ext cx="4008120" cy="3258150"/>
          </a:xfrm>
          <a:prstGeom prst="rect">
            <a:avLst/>
          </a:prstGeom>
          <a:noFill/>
          <a:ln>
            <a:noFill/>
          </a:ln>
        </p:spPr>
        <p:txBody>
          <a:bodyPr spcFirstLastPara="1" wrap="square" lIns="91425" tIns="91425" rIns="91425" bIns="91425" anchor="t" anchorCtr="0">
            <a:noAutofit/>
          </a:bodyPr>
          <a:lstStyle/>
          <a:p>
            <a:pPr marL="127000" algn="just">
              <a:lnSpc>
                <a:spcPct val="114000"/>
              </a:lnSpc>
            </a:pPr>
            <a:r>
              <a:rPr lang="en-IN" b="1" dirty="0">
                <a:latin typeface="Calibri" panose="020F0502020204030204" pitchFamily="34" charset="0"/>
              </a:rPr>
              <a:t>Solution:</a:t>
            </a:r>
          </a:p>
          <a:p>
            <a:pPr marL="412750" indent="-285750" algn="just">
              <a:lnSpc>
                <a:spcPct val="114000"/>
              </a:lnSpc>
              <a:spcBef>
                <a:spcPts val="600"/>
              </a:spcBef>
              <a:buFont typeface="Arial" panose="020B0604020202020204" pitchFamily="34" charset="0"/>
              <a:buChar char="•"/>
            </a:pPr>
            <a:r>
              <a:rPr lang="en-IN" dirty="0">
                <a:latin typeface="Calibri" panose="020F0502020204030204" pitchFamily="34" charset="0"/>
              </a:rPr>
              <a:t>In this equation, iron is oxidised as its oxidation number increases from 0 to +3. Nitrogen has been reduced as its oxidation number has decreased from +5 to +4. Oxygen and hydrogen are neither reduced nor oxidised.</a:t>
            </a:r>
            <a:endParaRPr lang="en-MY" dirty="0">
              <a:latin typeface="Calibri" panose="020F0502020204030204" pitchFamily="34" charset="0"/>
            </a:endParaRPr>
          </a:p>
          <a:p>
            <a:pPr marL="412750" indent="-285750" algn="just">
              <a:lnSpc>
                <a:spcPct val="114000"/>
              </a:lnSpc>
              <a:buFont typeface="Arial" panose="020B0604020202020204" pitchFamily="34" charset="0"/>
              <a:buChar char="•"/>
            </a:pPr>
            <a:r>
              <a:rPr lang="en-IN" dirty="0">
                <a:latin typeface="Calibri" panose="020F0502020204030204" pitchFamily="34" charset="0"/>
              </a:rPr>
              <a:t>Nitric acid is the oxidising agent of this reaction as it increases the oxidation number of another atom. Iron is the reducing agent of this reaction as it decreases the oxidation number of another atom.</a:t>
            </a:r>
          </a:p>
          <a:p>
            <a:pPr marL="127000" algn="just">
              <a:lnSpc>
                <a:spcPct val="114000"/>
              </a:lnSpc>
            </a:pPr>
            <a:endParaRPr lang="en-IN" b="1" dirty="0">
              <a:latin typeface="Calibri" panose="020F0502020204030204" pitchFamily="34" charset="0"/>
            </a:endParaRPr>
          </a:p>
        </p:txBody>
      </p:sp>
      <p:graphicFrame>
        <p:nvGraphicFramePr>
          <p:cNvPr id="4" name="Table 3"/>
          <p:cNvGraphicFramePr>
            <a:graphicFrameLocks noGrp="1"/>
          </p:cNvGraphicFramePr>
          <p:nvPr/>
        </p:nvGraphicFramePr>
        <p:xfrm>
          <a:off x="222669" y="2277939"/>
          <a:ext cx="4710010" cy="1867201"/>
        </p:xfrm>
        <a:graphic>
          <a:graphicData uri="http://schemas.openxmlformats.org/drawingml/2006/table">
            <a:tbl>
              <a:tblPr firstRow="1" firstCol="1" bandRow="1">
                <a:tableStyleId>{5C22544A-7EE6-4342-B048-85BDC9FD1C3A}</a:tableStyleId>
              </a:tblPr>
              <a:tblGrid>
                <a:gridCol w="942002">
                  <a:extLst>
                    <a:ext uri="{9D8B030D-6E8A-4147-A177-3AD203B41FA5}">
                      <a16:colId xmlns:a16="http://schemas.microsoft.com/office/drawing/2014/main" val="20000"/>
                    </a:ext>
                  </a:extLst>
                </a:gridCol>
                <a:gridCol w="942002">
                  <a:extLst>
                    <a:ext uri="{9D8B030D-6E8A-4147-A177-3AD203B41FA5}">
                      <a16:colId xmlns:a16="http://schemas.microsoft.com/office/drawing/2014/main" val="20001"/>
                    </a:ext>
                  </a:extLst>
                </a:gridCol>
                <a:gridCol w="942002">
                  <a:extLst>
                    <a:ext uri="{9D8B030D-6E8A-4147-A177-3AD203B41FA5}">
                      <a16:colId xmlns:a16="http://schemas.microsoft.com/office/drawing/2014/main" val="20002"/>
                    </a:ext>
                  </a:extLst>
                </a:gridCol>
                <a:gridCol w="942002">
                  <a:extLst>
                    <a:ext uri="{9D8B030D-6E8A-4147-A177-3AD203B41FA5}">
                      <a16:colId xmlns:a16="http://schemas.microsoft.com/office/drawing/2014/main" val="20003"/>
                    </a:ext>
                  </a:extLst>
                </a:gridCol>
                <a:gridCol w="942002">
                  <a:extLst>
                    <a:ext uri="{9D8B030D-6E8A-4147-A177-3AD203B41FA5}">
                      <a16:colId xmlns:a16="http://schemas.microsoft.com/office/drawing/2014/main" val="20004"/>
                    </a:ext>
                  </a:extLst>
                </a:gridCol>
              </a:tblGrid>
              <a:tr h="288000">
                <a:tc>
                  <a:txBody>
                    <a:bodyPr/>
                    <a:lstStyle/>
                    <a:p>
                      <a:pPr marL="0" indent="0" algn="ctr">
                        <a:lnSpc>
                          <a:spcPct val="115000"/>
                        </a:lnSpc>
                        <a:spcAft>
                          <a:spcPts val="0"/>
                        </a:spcAft>
                      </a:pPr>
                      <a:r>
                        <a:rPr lang="en-IN" sz="1400" b="0" dirty="0">
                          <a:solidFill>
                            <a:schemeClr val="bg1"/>
                          </a:solidFill>
                          <a:effectLst/>
                          <a:latin typeface="+mj-lt"/>
                        </a:rPr>
                        <a:t>Element</a:t>
                      </a:r>
                      <a:endParaRPr lang="en-MY" sz="1400" b="0" dirty="0">
                        <a:solidFill>
                          <a:schemeClr val="bg1"/>
                        </a:solidFill>
                        <a:effectLst/>
                        <a:latin typeface="+mj-lt"/>
                        <a:ea typeface="Calibri" panose="020F0502020204030204" pitchFamily="34" charset="0"/>
                        <a:cs typeface="Times New Roman" panose="02020603050405020304" pitchFamily="18" charset="0"/>
                      </a:endParaRP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marL="0" indent="0" algn="ctr">
                        <a:lnSpc>
                          <a:spcPct val="115000"/>
                        </a:lnSpc>
                        <a:spcAft>
                          <a:spcPts val="0"/>
                        </a:spcAft>
                      </a:pPr>
                      <a:r>
                        <a:rPr lang="en-IN" sz="1400" b="0" dirty="0">
                          <a:solidFill>
                            <a:schemeClr val="bg1"/>
                          </a:solidFill>
                          <a:effectLst/>
                          <a:latin typeface="+mj-lt"/>
                        </a:rPr>
                        <a:t>Reactant (oxidation number)</a:t>
                      </a:r>
                      <a:endParaRPr lang="en-MY" sz="1400" b="0" dirty="0">
                        <a:solidFill>
                          <a:schemeClr val="bg1"/>
                        </a:solidFill>
                        <a:effectLst/>
                        <a:latin typeface="+mj-lt"/>
                        <a:ea typeface="Calibri" panose="020F0502020204030204" pitchFamily="34" charset="0"/>
                        <a:cs typeface="Times New Roman" panose="02020603050405020304" pitchFamily="18" charset="0"/>
                      </a:endParaRP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marL="0" indent="0" algn="ctr">
                        <a:lnSpc>
                          <a:spcPct val="115000"/>
                        </a:lnSpc>
                        <a:spcAft>
                          <a:spcPts val="0"/>
                        </a:spcAft>
                      </a:pPr>
                      <a:r>
                        <a:rPr lang="en-IN" sz="1400" b="0" dirty="0">
                          <a:solidFill>
                            <a:schemeClr val="bg1"/>
                          </a:solidFill>
                          <a:effectLst/>
                          <a:latin typeface="+mj-lt"/>
                        </a:rPr>
                        <a:t>Product (oxidation number)</a:t>
                      </a:r>
                      <a:endParaRPr lang="en-MY" sz="1400" b="0" dirty="0">
                        <a:solidFill>
                          <a:schemeClr val="bg1"/>
                        </a:solidFill>
                        <a:effectLst/>
                        <a:latin typeface="+mj-lt"/>
                        <a:ea typeface="Calibri" panose="020F0502020204030204" pitchFamily="34" charset="0"/>
                        <a:cs typeface="Times New Roman" panose="02020603050405020304" pitchFamily="18" charset="0"/>
                      </a:endParaRP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marL="0" indent="0" algn="ctr">
                        <a:lnSpc>
                          <a:spcPct val="115000"/>
                        </a:lnSpc>
                        <a:spcAft>
                          <a:spcPts val="0"/>
                        </a:spcAft>
                      </a:pPr>
                      <a:r>
                        <a:rPr lang="en-IN" sz="1400" b="0" dirty="0">
                          <a:solidFill>
                            <a:schemeClr val="bg1"/>
                          </a:solidFill>
                          <a:effectLst/>
                          <a:latin typeface="+mj-lt"/>
                        </a:rPr>
                        <a:t>Change in oxidation number</a:t>
                      </a:r>
                      <a:endParaRPr lang="en-MY" sz="1400" b="0" dirty="0">
                        <a:solidFill>
                          <a:schemeClr val="bg1"/>
                        </a:solidFill>
                        <a:effectLst/>
                        <a:latin typeface="+mj-lt"/>
                        <a:ea typeface="Calibri" panose="020F0502020204030204" pitchFamily="34" charset="0"/>
                        <a:cs typeface="Times New Roman" panose="02020603050405020304" pitchFamily="18" charset="0"/>
                      </a:endParaRP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marL="0" indent="0" algn="ctr">
                        <a:lnSpc>
                          <a:spcPct val="115000"/>
                        </a:lnSpc>
                        <a:spcAft>
                          <a:spcPts val="0"/>
                        </a:spcAft>
                      </a:pPr>
                      <a:r>
                        <a:rPr lang="en-IN" sz="1400" b="0" dirty="0">
                          <a:solidFill>
                            <a:schemeClr val="bg1"/>
                          </a:solidFill>
                          <a:effectLst/>
                          <a:latin typeface="+mj-lt"/>
                        </a:rPr>
                        <a:t>Oxidation  / reduction</a:t>
                      </a:r>
                      <a:endParaRPr lang="en-MY" sz="1400" b="0" dirty="0">
                        <a:solidFill>
                          <a:schemeClr val="bg1"/>
                        </a:solidFill>
                        <a:effectLst/>
                        <a:latin typeface="+mj-lt"/>
                        <a:ea typeface="Calibri" panose="020F0502020204030204" pitchFamily="34" charset="0"/>
                        <a:cs typeface="Times New Roman" panose="02020603050405020304" pitchFamily="18" charset="0"/>
                      </a:endParaRP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extLst>
                  <a:ext uri="{0D108BD9-81ED-4DB2-BD59-A6C34878D82A}">
                    <a16:rowId xmlns:a16="http://schemas.microsoft.com/office/drawing/2014/main" val="10000"/>
                  </a:ext>
                </a:extLst>
              </a:tr>
              <a:tr h="288000">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j-lt"/>
                          <a:ea typeface="+mn-ea"/>
                          <a:cs typeface="+mn-cs"/>
                          <a:sym typeface="Arial"/>
                        </a:rPr>
                        <a:t>Iron</a:t>
                      </a:r>
                      <a:endParaRPr lang="en-MY" sz="1400" b="0" i="0" u="none" strike="noStrike" cap="none" dirty="0">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j-lt"/>
                          <a:ea typeface="+mn-ea"/>
                          <a:cs typeface="+mn-cs"/>
                          <a:sym typeface="Arial"/>
                        </a:rPr>
                        <a:t>0</a:t>
                      </a:r>
                      <a:endParaRPr lang="en-MY" sz="1400" b="0" i="0" u="none" strike="noStrike" cap="none" dirty="0">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j-lt"/>
                          <a:ea typeface="+mn-ea"/>
                          <a:cs typeface="+mn-cs"/>
                          <a:sym typeface="Arial"/>
                        </a:rPr>
                        <a:t>+3</a:t>
                      </a:r>
                      <a:endParaRPr lang="en-MY" sz="1400" b="0" i="0" u="none" strike="noStrike" cap="none" dirty="0">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+3</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Oxidation</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288000">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Hydrogen</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j-lt"/>
                          <a:ea typeface="+mn-ea"/>
                          <a:cs typeface="+mn-cs"/>
                          <a:sym typeface="Arial"/>
                        </a:rPr>
                        <a:t>+1</a:t>
                      </a:r>
                      <a:endParaRPr lang="en-MY" sz="1400" b="0" i="0" u="none" strike="noStrike" cap="none" dirty="0">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j-lt"/>
                          <a:ea typeface="+mn-ea"/>
                          <a:cs typeface="+mn-cs"/>
                          <a:sym typeface="Arial"/>
                        </a:rPr>
                        <a:t>+1</a:t>
                      </a:r>
                      <a:endParaRPr lang="en-MY" sz="1400" b="0" i="0" u="none" strike="noStrike" cap="none" dirty="0">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j-lt"/>
                          <a:ea typeface="+mn-ea"/>
                          <a:cs typeface="+mn-cs"/>
                          <a:sym typeface="Arial"/>
                        </a:rPr>
                        <a:t>0</a:t>
                      </a:r>
                      <a:endParaRPr lang="en-MY" sz="1400" b="0" i="0" u="none" strike="noStrike" cap="none" dirty="0">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j-lt"/>
                          <a:ea typeface="+mn-ea"/>
                          <a:cs typeface="+mn-cs"/>
                          <a:sym typeface="Arial"/>
                        </a:rPr>
                        <a:t>None</a:t>
                      </a:r>
                      <a:endParaRPr lang="en-MY" sz="1400" b="0" i="0" u="none" strike="noStrike" cap="none" dirty="0">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88000">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Nitrogen</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+5</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j-lt"/>
                          <a:ea typeface="+mn-ea"/>
                          <a:cs typeface="+mn-cs"/>
                          <a:sym typeface="Arial"/>
                        </a:rPr>
                        <a:t>+4</a:t>
                      </a:r>
                      <a:endParaRPr lang="en-MY" sz="1400" b="0" i="0" u="none" strike="noStrike" cap="none" dirty="0">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j-lt"/>
                          <a:ea typeface="+mn-ea"/>
                          <a:cs typeface="+mn-cs"/>
                          <a:sym typeface="Arial"/>
                        </a:rPr>
                        <a:t>-1</a:t>
                      </a:r>
                      <a:endParaRPr lang="en-MY" sz="1400" b="0" i="0" u="none" strike="noStrike" cap="none" dirty="0">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j-lt"/>
                          <a:ea typeface="+mn-ea"/>
                          <a:cs typeface="+mn-cs"/>
                          <a:sym typeface="Arial"/>
                        </a:rPr>
                        <a:t>Reduction</a:t>
                      </a:r>
                      <a:endParaRPr lang="en-MY" sz="1400" b="0" i="0" u="none" strike="noStrike" cap="none" dirty="0">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288000">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Oxygen</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-2</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-2</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0</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j-lt"/>
                          <a:ea typeface="+mn-ea"/>
                          <a:cs typeface="+mn-cs"/>
                          <a:sym typeface="Arial"/>
                        </a:rPr>
                        <a:t>None</a:t>
                      </a:r>
                      <a:endParaRPr lang="en-MY" sz="1400" b="0" i="0" u="none" strike="noStrike" cap="none" dirty="0">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6" name="TextBox 5">
            <a:extLst>
              <a:ext uri="{FF2B5EF4-FFF2-40B4-BE49-F238E27FC236}">
                <a16:creationId xmlns:a16="http://schemas.microsoft.com/office/drawing/2014/main" id="{FFB3C6EB-7DDF-42D8-9CB7-C881E22CDD83}"/>
              </a:ext>
            </a:extLst>
          </p:cNvPr>
          <p:cNvSpPr txBox="1"/>
          <p:nvPr/>
        </p:nvSpPr>
        <p:spPr>
          <a:xfrm>
            <a:off x="2091690" y="1153218"/>
            <a:ext cx="4572000" cy="357021"/>
          </a:xfrm>
          <a:prstGeom prst="rect">
            <a:avLst/>
          </a:prstGeom>
          <a:noFill/>
        </p:spPr>
        <p:txBody>
          <a:bodyPr wrap="square">
            <a:spAutoFit/>
          </a:bodyPr>
          <a:lstStyle/>
          <a:p>
            <a:pPr marL="127000" algn="ctr">
              <a:lnSpc>
                <a:spcPct val="114000"/>
              </a:lnSpc>
              <a:spcBef>
                <a:spcPts val="600"/>
              </a:spcBef>
            </a:pPr>
            <a:r>
              <a:rPr lang="en-IN" sz="1600" dirty="0">
                <a:solidFill>
                  <a:schemeClr val="bg1"/>
                </a:solidFill>
                <a:latin typeface="Calibri" panose="020F0502020204030204" pitchFamily="34" charset="0"/>
              </a:rPr>
              <a:t>Fe+6HNO</a:t>
            </a:r>
            <a:r>
              <a:rPr lang="en-IN" sz="1600" baseline="-25000" dirty="0">
                <a:solidFill>
                  <a:schemeClr val="bg1"/>
                </a:solidFill>
                <a:latin typeface="Calibri" panose="020F0502020204030204" pitchFamily="34" charset="0"/>
              </a:rPr>
              <a:t>3</a:t>
            </a:r>
            <a:r>
              <a:rPr lang="en-IN" sz="1600" dirty="0">
                <a:solidFill>
                  <a:schemeClr val="bg1"/>
                </a:solidFill>
                <a:latin typeface="Calibri" panose="020F0502020204030204" pitchFamily="34" charset="0"/>
              </a:rPr>
              <a:t>→Fe(NO</a:t>
            </a:r>
            <a:r>
              <a:rPr lang="en-IN" sz="1600" baseline="-25000" dirty="0">
                <a:solidFill>
                  <a:schemeClr val="bg1"/>
                </a:solidFill>
                <a:latin typeface="Calibri" panose="020F0502020204030204" pitchFamily="34" charset="0"/>
              </a:rPr>
              <a:t>3</a:t>
            </a:r>
            <a:r>
              <a:rPr lang="en-IN" sz="1600" dirty="0">
                <a:solidFill>
                  <a:schemeClr val="bg1"/>
                </a:solidFill>
                <a:latin typeface="Calibri" panose="020F0502020204030204" pitchFamily="34" charset="0"/>
              </a:rPr>
              <a:t>)</a:t>
            </a:r>
            <a:r>
              <a:rPr lang="en-IN" sz="1600" baseline="-25000" dirty="0">
                <a:solidFill>
                  <a:schemeClr val="bg1"/>
                </a:solidFill>
                <a:latin typeface="Calibri" panose="020F0502020204030204" pitchFamily="34" charset="0"/>
              </a:rPr>
              <a:t>3</a:t>
            </a:r>
            <a:r>
              <a:rPr lang="en-IN" sz="1600" dirty="0">
                <a:solidFill>
                  <a:schemeClr val="bg1"/>
                </a:solidFill>
                <a:latin typeface="Calibri" panose="020F0502020204030204" pitchFamily="34" charset="0"/>
              </a:rPr>
              <a:t>+3NO</a:t>
            </a:r>
            <a:r>
              <a:rPr lang="en-IN" sz="1600" baseline="-25000" dirty="0">
                <a:solidFill>
                  <a:schemeClr val="bg1"/>
                </a:solidFill>
                <a:latin typeface="Calibri" panose="020F0502020204030204" pitchFamily="34" charset="0"/>
              </a:rPr>
              <a:t>2</a:t>
            </a:r>
            <a:r>
              <a:rPr lang="en-IN" sz="1600" dirty="0">
                <a:solidFill>
                  <a:schemeClr val="bg1"/>
                </a:solidFill>
                <a:latin typeface="Calibri" panose="020F0502020204030204" pitchFamily="34" charset="0"/>
              </a:rPr>
              <a:t>+3H</a:t>
            </a:r>
            <a:r>
              <a:rPr lang="en-IN" sz="1600" baseline="-25000" dirty="0">
                <a:solidFill>
                  <a:schemeClr val="bg1"/>
                </a:solidFill>
                <a:latin typeface="Calibri" panose="020F0502020204030204" pitchFamily="34" charset="0"/>
              </a:rPr>
              <a:t>2</a:t>
            </a:r>
            <a:r>
              <a:rPr lang="en-IN" sz="1600" dirty="0">
                <a:solidFill>
                  <a:schemeClr val="bg1"/>
                </a:solidFill>
                <a:latin typeface="Calibri" panose="020F0502020204030204" pitchFamily="34" charset="0"/>
              </a:rPr>
              <a:t>O</a:t>
            </a:r>
            <a:endParaRPr lang="en-MY" sz="1600" dirty="0">
              <a:solidFill>
                <a:schemeClr val="bg1"/>
              </a:solidFill>
              <a:latin typeface="Calibri" panose="020F0502020204030204" pitchFamily="34" charset="0"/>
            </a:endParaRPr>
          </a:p>
        </p:txBody>
      </p:sp>
    </p:spTree>
    <p:extLst>
      <p:ext uri="{BB962C8B-B14F-4D97-AF65-F5344CB8AC3E}">
        <p14:creationId xmlns:p14="http://schemas.microsoft.com/office/powerpoint/2010/main" val="551217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8007775"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Redox Reactions of Metal With Acid</a:t>
            </a:r>
          </a:p>
        </p:txBody>
      </p:sp>
      <p:sp>
        <p:nvSpPr>
          <p:cNvPr id="5" name="Google Shape;118;p26"/>
          <p:cNvSpPr txBox="1"/>
          <p:nvPr/>
        </p:nvSpPr>
        <p:spPr>
          <a:xfrm>
            <a:off x="523875" y="1783750"/>
            <a:ext cx="8296275" cy="3258150"/>
          </a:xfrm>
          <a:prstGeom prst="rect">
            <a:avLst/>
          </a:prstGeom>
          <a:noFill/>
          <a:ln>
            <a:noFill/>
          </a:ln>
        </p:spPr>
        <p:txBody>
          <a:bodyPr spcFirstLastPara="1" wrap="square" lIns="91425" tIns="91425" rIns="91425" bIns="91425" anchor="t" anchorCtr="0">
            <a:noAutofit/>
          </a:bodyPr>
          <a:lstStyle/>
          <a:p>
            <a:pPr marL="412750" indent="-285750">
              <a:lnSpc>
                <a:spcPct val="114000"/>
              </a:lnSpc>
              <a:buFont typeface="Arial" panose="020B0604020202020204" pitchFamily="34" charset="0"/>
              <a:buChar char="•"/>
            </a:pPr>
            <a:r>
              <a:rPr lang="en-IN" sz="1600" dirty="0">
                <a:latin typeface="Calibri" panose="020F0502020204030204" pitchFamily="34" charset="0"/>
              </a:rPr>
              <a:t>Metals and acids react to form salt and hydrogen gas. Consider the following reaction of calcium with hydrochloric acid.</a:t>
            </a:r>
            <a:endParaRPr lang="en-MY" sz="1600" dirty="0">
              <a:latin typeface="Calibri" panose="020F0502020204030204" pitchFamily="34" charset="0"/>
            </a:endParaRPr>
          </a:p>
          <a:p>
            <a:pPr marL="127000" indent="0" algn="ctr">
              <a:lnSpc>
                <a:spcPct val="114000"/>
              </a:lnSpc>
              <a:buNone/>
            </a:pPr>
            <a:r>
              <a:rPr lang="en-IN" sz="1600" dirty="0">
                <a:latin typeface="Calibri" panose="020F0502020204030204" pitchFamily="34" charset="0"/>
              </a:rPr>
              <a:t>Ca + 2HCl → CaCl</a:t>
            </a:r>
            <a:r>
              <a:rPr lang="en-IN" sz="1600" baseline="-25000" dirty="0">
                <a:latin typeface="Calibri" panose="020F0502020204030204" pitchFamily="34" charset="0"/>
              </a:rPr>
              <a:t>2 </a:t>
            </a:r>
            <a:r>
              <a:rPr lang="en-IN" sz="1600" dirty="0">
                <a:latin typeface="Calibri" panose="020F0502020204030204" pitchFamily="34" charset="0"/>
              </a:rPr>
              <a:t>+ H</a:t>
            </a:r>
            <a:r>
              <a:rPr lang="en-IN" sz="1600" baseline="-25000" dirty="0">
                <a:latin typeface="Calibri" panose="020F0502020204030204" pitchFamily="34" charset="0"/>
              </a:rPr>
              <a:t>2</a:t>
            </a:r>
          </a:p>
          <a:p>
            <a:pPr marL="127000" indent="0">
              <a:lnSpc>
                <a:spcPct val="114000"/>
              </a:lnSpc>
              <a:buNone/>
            </a:pPr>
            <a:endParaRPr lang="en-IN" sz="1600" baseline="-25000" dirty="0">
              <a:latin typeface="Calibri" panose="020F0502020204030204" pitchFamily="34" charset="0"/>
            </a:endParaRPr>
          </a:p>
          <a:p>
            <a:pPr marL="127000" indent="0">
              <a:lnSpc>
                <a:spcPct val="114000"/>
              </a:lnSpc>
              <a:buNone/>
            </a:pPr>
            <a:endParaRPr lang="en-IN" sz="1600" baseline="-25000" dirty="0">
              <a:latin typeface="Calibri" panose="020F0502020204030204" pitchFamily="34" charset="0"/>
            </a:endParaRPr>
          </a:p>
          <a:p>
            <a:pPr marL="127000" indent="0">
              <a:lnSpc>
                <a:spcPct val="114000"/>
              </a:lnSpc>
              <a:buNone/>
            </a:pPr>
            <a:endParaRPr lang="en-IN" sz="1600" baseline="-25000" dirty="0">
              <a:latin typeface="Calibri" panose="020F0502020204030204" pitchFamily="34" charset="0"/>
            </a:endParaRPr>
          </a:p>
          <a:p>
            <a:pPr marL="127000" indent="0">
              <a:lnSpc>
                <a:spcPct val="114000"/>
              </a:lnSpc>
              <a:buNone/>
            </a:pPr>
            <a:endParaRPr lang="en-IN" sz="1600" baseline="-25000" dirty="0">
              <a:latin typeface="Calibri" panose="020F0502020204030204" pitchFamily="34" charset="0"/>
            </a:endParaRPr>
          </a:p>
          <a:p>
            <a:pPr marL="127000" indent="0">
              <a:lnSpc>
                <a:spcPct val="114000"/>
              </a:lnSpc>
              <a:buNone/>
            </a:pPr>
            <a:endParaRPr lang="en-IN" sz="1600" baseline="-25000" dirty="0">
              <a:latin typeface="Calibri" panose="020F0502020204030204" pitchFamily="34" charset="0"/>
            </a:endParaRPr>
          </a:p>
          <a:p>
            <a:pPr marL="127000" indent="0">
              <a:lnSpc>
                <a:spcPct val="114000"/>
              </a:lnSpc>
              <a:buNone/>
            </a:pPr>
            <a:endParaRPr lang="en-IN" sz="1600" baseline="-25000" dirty="0">
              <a:latin typeface="Calibri" panose="020F0502020204030204" pitchFamily="34" charset="0"/>
            </a:endParaRPr>
          </a:p>
          <a:p>
            <a:pPr marL="127000" indent="0">
              <a:lnSpc>
                <a:spcPct val="114000"/>
              </a:lnSpc>
              <a:buNone/>
            </a:pPr>
            <a:endParaRPr lang="en-IN" sz="1600" baseline="-25000" dirty="0">
              <a:latin typeface="Calibri" panose="020F0502020204030204" pitchFamily="34" charset="0"/>
            </a:endParaRPr>
          </a:p>
          <a:p>
            <a:pPr marL="127000" indent="0">
              <a:lnSpc>
                <a:spcPct val="114000"/>
              </a:lnSpc>
              <a:buNone/>
            </a:pPr>
            <a:endParaRPr lang="en-IN" sz="1600" baseline="-25000" dirty="0">
              <a:latin typeface="Calibri" panose="020F0502020204030204" pitchFamily="34" charset="0"/>
            </a:endParaRPr>
          </a:p>
          <a:p>
            <a:pPr marL="127000">
              <a:lnSpc>
                <a:spcPct val="114000"/>
              </a:lnSpc>
            </a:pPr>
            <a:endParaRPr lang="en-IN" sz="1600" baseline="-25000" dirty="0">
              <a:latin typeface="Calibri" panose="020F0502020204030204" pitchFamily="34" charset="0"/>
            </a:endParaRPr>
          </a:p>
          <a:p>
            <a:pPr marL="412750" indent="-285750">
              <a:lnSpc>
                <a:spcPct val="114000"/>
              </a:lnSpc>
              <a:buFont typeface="Arial" panose="020B0604020202020204" pitchFamily="34" charset="0"/>
              <a:buChar char="•"/>
            </a:pPr>
            <a:r>
              <a:rPr lang="en-IN" sz="1600" dirty="0">
                <a:latin typeface="Calibri" panose="020F0502020204030204" pitchFamily="34" charset="0"/>
              </a:rPr>
              <a:t>In the above equation, calcium is oxidised as the oxidation number is increasing and hydrogen is reduced as the oxidation number is decreasing.</a:t>
            </a:r>
            <a:endParaRPr lang="en-MY" sz="1600" dirty="0">
              <a:latin typeface="Calibri" panose="020F0502020204030204" pitchFamily="34" charset="0"/>
            </a:endParaRPr>
          </a:p>
          <a:p>
            <a:pPr marL="127000" indent="0">
              <a:lnSpc>
                <a:spcPct val="114000"/>
              </a:lnSpc>
              <a:buNone/>
            </a:pPr>
            <a:endParaRPr lang="en-MY" sz="1600" dirty="0">
              <a:latin typeface="Calibri" panose="020F0502020204030204" pitchFamily="34" charset="0"/>
            </a:endParaRPr>
          </a:p>
        </p:txBody>
      </p:sp>
      <p:graphicFrame>
        <p:nvGraphicFramePr>
          <p:cNvPr id="6" name="Table 5"/>
          <p:cNvGraphicFramePr>
            <a:graphicFrameLocks noGrp="1"/>
          </p:cNvGraphicFramePr>
          <p:nvPr/>
        </p:nvGraphicFramePr>
        <p:xfrm>
          <a:off x="1792012" y="2743492"/>
          <a:ext cx="5760000" cy="1579201"/>
        </p:xfrm>
        <a:graphic>
          <a:graphicData uri="http://schemas.openxmlformats.org/drawingml/2006/table">
            <a:tbl>
              <a:tblPr firstRow="1" firstCol="1" bandRow="1">
                <a:tableStyleId>{5C22544A-7EE6-4342-B048-85BDC9FD1C3A}</a:tableStyleId>
              </a:tblPr>
              <a:tblGrid>
                <a:gridCol w="1152000">
                  <a:extLst>
                    <a:ext uri="{9D8B030D-6E8A-4147-A177-3AD203B41FA5}">
                      <a16:colId xmlns:a16="http://schemas.microsoft.com/office/drawing/2014/main" val="20000"/>
                    </a:ext>
                  </a:extLst>
                </a:gridCol>
                <a:gridCol w="1152000">
                  <a:extLst>
                    <a:ext uri="{9D8B030D-6E8A-4147-A177-3AD203B41FA5}">
                      <a16:colId xmlns:a16="http://schemas.microsoft.com/office/drawing/2014/main" val="20001"/>
                    </a:ext>
                  </a:extLst>
                </a:gridCol>
                <a:gridCol w="1152000">
                  <a:extLst>
                    <a:ext uri="{9D8B030D-6E8A-4147-A177-3AD203B41FA5}">
                      <a16:colId xmlns:a16="http://schemas.microsoft.com/office/drawing/2014/main" val="20002"/>
                    </a:ext>
                  </a:extLst>
                </a:gridCol>
                <a:gridCol w="1152000">
                  <a:extLst>
                    <a:ext uri="{9D8B030D-6E8A-4147-A177-3AD203B41FA5}">
                      <a16:colId xmlns:a16="http://schemas.microsoft.com/office/drawing/2014/main" val="20003"/>
                    </a:ext>
                  </a:extLst>
                </a:gridCol>
                <a:gridCol w="1152000">
                  <a:extLst>
                    <a:ext uri="{9D8B030D-6E8A-4147-A177-3AD203B41FA5}">
                      <a16:colId xmlns:a16="http://schemas.microsoft.com/office/drawing/2014/main" val="20004"/>
                    </a:ext>
                  </a:extLst>
                </a:gridCol>
              </a:tblGrid>
              <a:tr h="288000">
                <a:tc>
                  <a:txBody>
                    <a:bodyPr/>
                    <a:lstStyle/>
                    <a:p>
                      <a:pPr marL="0" indent="0" algn="ctr">
                        <a:lnSpc>
                          <a:spcPct val="115000"/>
                        </a:lnSpc>
                        <a:spcAft>
                          <a:spcPts val="0"/>
                        </a:spcAft>
                      </a:pPr>
                      <a:r>
                        <a:rPr lang="en-IN" sz="1400" b="0" dirty="0">
                          <a:solidFill>
                            <a:schemeClr val="bg1"/>
                          </a:solidFill>
                          <a:effectLst/>
                          <a:latin typeface="+mj-lt"/>
                        </a:rPr>
                        <a:t>Element</a:t>
                      </a:r>
                      <a:endParaRPr lang="en-MY" sz="1400" b="0" dirty="0">
                        <a:solidFill>
                          <a:schemeClr val="bg1"/>
                        </a:solidFill>
                        <a:effectLst/>
                        <a:latin typeface="+mj-lt"/>
                        <a:ea typeface="Calibri" panose="020F0502020204030204" pitchFamily="34" charset="0"/>
                        <a:cs typeface="Times New Roman" panose="02020603050405020304" pitchFamily="18" charset="0"/>
                      </a:endParaRP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marL="0" indent="0" algn="ctr">
                        <a:lnSpc>
                          <a:spcPct val="115000"/>
                        </a:lnSpc>
                        <a:spcAft>
                          <a:spcPts val="0"/>
                        </a:spcAft>
                      </a:pPr>
                      <a:r>
                        <a:rPr lang="en-IN" sz="1400" b="0" dirty="0">
                          <a:solidFill>
                            <a:schemeClr val="bg1"/>
                          </a:solidFill>
                          <a:effectLst/>
                          <a:latin typeface="+mj-lt"/>
                        </a:rPr>
                        <a:t>Reactant (oxidation number)</a:t>
                      </a:r>
                      <a:endParaRPr lang="en-MY" sz="1400" b="0" dirty="0">
                        <a:solidFill>
                          <a:schemeClr val="bg1"/>
                        </a:solidFill>
                        <a:effectLst/>
                        <a:latin typeface="+mj-lt"/>
                        <a:ea typeface="Calibri" panose="020F0502020204030204" pitchFamily="34" charset="0"/>
                        <a:cs typeface="Times New Roman" panose="02020603050405020304" pitchFamily="18" charset="0"/>
                      </a:endParaRP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marL="0" indent="0" algn="ctr">
                        <a:lnSpc>
                          <a:spcPct val="115000"/>
                        </a:lnSpc>
                        <a:spcAft>
                          <a:spcPts val="0"/>
                        </a:spcAft>
                      </a:pPr>
                      <a:r>
                        <a:rPr lang="en-IN" sz="1400" b="0" dirty="0">
                          <a:solidFill>
                            <a:schemeClr val="bg1"/>
                          </a:solidFill>
                          <a:effectLst/>
                          <a:latin typeface="+mj-lt"/>
                        </a:rPr>
                        <a:t>Product (oxidation number)</a:t>
                      </a:r>
                      <a:endParaRPr lang="en-MY" sz="1400" b="0" dirty="0">
                        <a:solidFill>
                          <a:schemeClr val="bg1"/>
                        </a:solidFill>
                        <a:effectLst/>
                        <a:latin typeface="+mj-lt"/>
                        <a:ea typeface="Calibri" panose="020F0502020204030204" pitchFamily="34" charset="0"/>
                        <a:cs typeface="Times New Roman" panose="02020603050405020304" pitchFamily="18" charset="0"/>
                      </a:endParaRP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marL="0" indent="0" algn="ctr">
                        <a:lnSpc>
                          <a:spcPct val="115000"/>
                        </a:lnSpc>
                        <a:spcAft>
                          <a:spcPts val="0"/>
                        </a:spcAft>
                      </a:pPr>
                      <a:r>
                        <a:rPr lang="en-IN" sz="1400" b="0" dirty="0">
                          <a:solidFill>
                            <a:schemeClr val="bg1"/>
                          </a:solidFill>
                          <a:effectLst/>
                          <a:latin typeface="+mj-lt"/>
                        </a:rPr>
                        <a:t>Change in oxidation number</a:t>
                      </a:r>
                      <a:endParaRPr lang="en-MY" sz="1400" b="0" dirty="0">
                        <a:solidFill>
                          <a:schemeClr val="bg1"/>
                        </a:solidFill>
                        <a:effectLst/>
                        <a:latin typeface="+mj-lt"/>
                        <a:ea typeface="Calibri" panose="020F0502020204030204" pitchFamily="34" charset="0"/>
                        <a:cs typeface="Times New Roman" panose="02020603050405020304" pitchFamily="18" charset="0"/>
                      </a:endParaRP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marL="0" indent="0" algn="ctr">
                        <a:lnSpc>
                          <a:spcPct val="115000"/>
                        </a:lnSpc>
                        <a:spcAft>
                          <a:spcPts val="0"/>
                        </a:spcAft>
                      </a:pPr>
                      <a:r>
                        <a:rPr lang="en-IN" sz="1400" b="0" dirty="0">
                          <a:solidFill>
                            <a:schemeClr val="bg1"/>
                          </a:solidFill>
                          <a:effectLst/>
                          <a:latin typeface="+mj-lt"/>
                        </a:rPr>
                        <a:t>Oxidation  / reduction</a:t>
                      </a:r>
                      <a:endParaRPr lang="en-MY" sz="1400" b="0" dirty="0">
                        <a:solidFill>
                          <a:schemeClr val="bg1"/>
                        </a:solidFill>
                        <a:effectLst/>
                        <a:latin typeface="+mj-lt"/>
                        <a:ea typeface="Calibri" panose="020F0502020204030204" pitchFamily="34" charset="0"/>
                        <a:cs typeface="Times New Roman" panose="02020603050405020304" pitchFamily="18" charset="0"/>
                      </a:endParaRP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extLst>
                  <a:ext uri="{0D108BD9-81ED-4DB2-BD59-A6C34878D82A}">
                    <a16:rowId xmlns:a16="http://schemas.microsoft.com/office/drawing/2014/main" val="10000"/>
                  </a:ext>
                </a:extLst>
              </a:tr>
              <a:tr h="288000">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Calcium</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0</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+2</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+2</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j-lt"/>
                          <a:ea typeface="+mn-ea"/>
                          <a:cs typeface="+mn-cs"/>
                          <a:sym typeface="Arial"/>
                        </a:rPr>
                        <a:t>Oxidation</a:t>
                      </a:r>
                      <a:endParaRPr lang="en-MY" sz="1400" b="0" i="0" u="none" strike="noStrike" cap="none" dirty="0">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288000">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Hydrogen</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+1</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0</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-1</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j-lt"/>
                          <a:ea typeface="+mn-ea"/>
                          <a:cs typeface="+mn-cs"/>
                          <a:sym typeface="Arial"/>
                        </a:rPr>
                        <a:t>Reduction</a:t>
                      </a:r>
                      <a:endParaRPr lang="en-MY" sz="1400" b="0" i="0" u="none" strike="noStrike" cap="none" dirty="0">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88000">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Chlorine</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j-lt"/>
                          <a:ea typeface="+mn-ea"/>
                          <a:cs typeface="+mn-cs"/>
                          <a:sym typeface="Arial"/>
                        </a:rPr>
                        <a:t>-1</a:t>
                      </a:r>
                      <a:endParaRPr lang="en-MY" sz="1400" b="0" i="0" u="none" strike="noStrike" cap="none" dirty="0">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-1</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a:solidFill>
                            <a:sysClr val="windowText" lastClr="000000"/>
                          </a:solidFill>
                          <a:effectLst/>
                          <a:latin typeface="+mj-lt"/>
                          <a:ea typeface="+mn-ea"/>
                          <a:cs typeface="+mn-cs"/>
                          <a:sym typeface="Arial"/>
                        </a:rPr>
                        <a:t>0</a:t>
                      </a:r>
                      <a:endParaRPr lang="en-MY" sz="1400" b="0" i="0" u="none" strike="noStrike" cap="none">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ysClr val="windowText" lastClr="000000"/>
                          </a:solidFill>
                          <a:effectLst/>
                          <a:latin typeface="+mj-lt"/>
                          <a:ea typeface="+mn-ea"/>
                          <a:cs typeface="+mn-cs"/>
                          <a:sym typeface="Arial"/>
                        </a:rPr>
                        <a:t>None</a:t>
                      </a:r>
                      <a:endParaRPr lang="en-MY" sz="1400" b="0" i="0" u="none" strike="noStrike" cap="none" dirty="0">
                        <a:solidFill>
                          <a:sysClr val="windowText" lastClr="000000"/>
                        </a:solidFill>
                        <a:effectLst/>
                        <a:latin typeface="+mj-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23139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8007775"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Disproportionation</a:t>
            </a:r>
          </a:p>
        </p:txBody>
      </p:sp>
      <p:sp>
        <p:nvSpPr>
          <p:cNvPr id="5" name="Google Shape;118;p26"/>
          <p:cNvSpPr txBox="1"/>
          <p:nvPr/>
        </p:nvSpPr>
        <p:spPr>
          <a:xfrm>
            <a:off x="523875" y="1903019"/>
            <a:ext cx="8296275" cy="2766825"/>
          </a:xfrm>
          <a:prstGeom prst="rect">
            <a:avLst/>
          </a:prstGeom>
          <a:noFill/>
          <a:ln>
            <a:noFill/>
          </a:ln>
        </p:spPr>
        <p:txBody>
          <a:bodyPr spcFirstLastPara="1" wrap="square" lIns="91425" tIns="91425" rIns="91425" bIns="91425" anchor="t" anchorCtr="0">
            <a:noAutofit/>
          </a:bodyPr>
          <a:lstStyle/>
          <a:p>
            <a:pPr marL="412750" indent="-285750">
              <a:lnSpc>
                <a:spcPct val="114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Some elements have 3 or more oxidation states. For example, vanadium, chromium and iodine. Such elements acts as its own </a:t>
            </a:r>
            <a:r>
              <a:rPr lang="en-US" sz="1600" dirty="0" err="1">
                <a:latin typeface="Calibri" panose="020F0502020204030204" pitchFamily="34" charset="0"/>
                <a:cs typeface="Calibri" panose="020F0502020204030204" pitchFamily="34" charset="0"/>
              </a:rPr>
              <a:t>oxidising</a:t>
            </a:r>
            <a:r>
              <a:rPr lang="en-US" sz="1600" dirty="0">
                <a:latin typeface="Calibri" panose="020F0502020204030204" pitchFamily="34" charset="0"/>
                <a:cs typeface="Calibri" panose="020F0502020204030204" pitchFamily="34" charset="0"/>
              </a:rPr>
              <a:t> agent and reducing agent. </a:t>
            </a:r>
          </a:p>
          <a:p>
            <a:pPr marL="412750" indent="-285750">
              <a:lnSpc>
                <a:spcPct val="114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The higher the oxidation state of an element, the more powerful the </a:t>
            </a:r>
            <a:r>
              <a:rPr lang="en-US" sz="1600" dirty="0" err="1">
                <a:latin typeface="Calibri" panose="020F0502020204030204" pitchFamily="34" charset="0"/>
                <a:cs typeface="Calibri" panose="020F0502020204030204" pitchFamily="34" charset="0"/>
              </a:rPr>
              <a:t>oxidising</a:t>
            </a:r>
            <a:r>
              <a:rPr lang="en-US" sz="1600" dirty="0">
                <a:latin typeface="Calibri" panose="020F0502020204030204" pitchFamily="34" charset="0"/>
                <a:cs typeface="Calibri" panose="020F0502020204030204" pitchFamily="34" charset="0"/>
              </a:rPr>
              <a:t> agent is. When a compound containing a high oxidation state is mixed with a compound containing low oxidation state, a compound with intermediate oxidation state is formed. </a:t>
            </a:r>
          </a:p>
          <a:p>
            <a:pPr marL="412750" indent="-285750">
              <a:lnSpc>
                <a:spcPct val="114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Combining compound containing </a:t>
            </a:r>
            <a:r>
              <a:rPr lang="en-US" sz="1600" dirty="0" err="1">
                <a:latin typeface="Calibri" panose="020F0502020204030204" pitchFamily="34" charset="0"/>
                <a:cs typeface="Calibri" panose="020F0502020204030204" pitchFamily="34" charset="0"/>
              </a:rPr>
              <a:t>vandium</a:t>
            </a:r>
            <a:r>
              <a:rPr lang="en-US" sz="1600" dirty="0">
                <a:latin typeface="Calibri" panose="020F0502020204030204" pitchFamily="34" charset="0"/>
                <a:cs typeface="Calibri" panose="020F0502020204030204" pitchFamily="34" charset="0"/>
              </a:rPr>
              <a:t> (+5) and vanadium (+3), a compound containing vanadium (+4) is formed.</a:t>
            </a:r>
          </a:p>
          <a:p>
            <a:pPr marL="127000" algn="ctr">
              <a:lnSpc>
                <a:spcPct val="114000"/>
              </a:lnSpc>
            </a:pPr>
            <a:r>
              <a:rPr lang="en-MY" sz="1600" dirty="0">
                <a:latin typeface="Calibri" panose="020F0502020204030204" pitchFamily="34" charset="0"/>
                <a:cs typeface="Calibri" panose="020F0502020204030204" pitchFamily="34" charset="0"/>
              </a:rPr>
              <a:t>VO</a:t>
            </a:r>
            <a:r>
              <a:rPr lang="en-MY" sz="1600" baseline="-25000" dirty="0">
                <a:latin typeface="Calibri" panose="020F0502020204030204" pitchFamily="34" charset="0"/>
                <a:cs typeface="Calibri" panose="020F0502020204030204" pitchFamily="34" charset="0"/>
              </a:rPr>
              <a:t>2</a:t>
            </a:r>
            <a:r>
              <a:rPr lang="en-MY" sz="1600" baseline="30000" dirty="0">
                <a:latin typeface="Calibri" panose="020F0502020204030204" pitchFamily="34" charset="0"/>
                <a:cs typeface="Calibri" panose="020F0502020204030204" pitchFamily="34" charset="0"/>
              </a:rPr>
              <a:t>+</a:t>
            </a:r>
            <a:r>
              <a:rPr lang="en-MY" sz="1600" dirty="0">
                <a:latin typeface="Calibri" panose="020F0502020204030204" pitchFamily="34" charset="0"/>
                <a:cs typeface="Calibri" panose="020F0502020204030204" pitchFamily="34" charset="0"/>
              </a:rPr>
              <a:t> (</a:t>
            </a:r>
            <a:r>
              <a:rPr lang="en-MY" sz="1600" dirty="0" err="1">
                <a:latin typeface="Calibri" panose="020F0502020204030204" pitchFamily="34" charset="0"/>
                <a:cs typeface="Calibri" panose="020F0502020204030204" pitchFamily="34" charset="0"/>
              </a:rPr>
              <a:t>aq</a:t>
            </a:r>
            <a:r>
              <a:rPr lang="en-MY" sz="1600" dirty="0">
                <a:latin typeface="Calibri" panose="020F0502020204030204" pitchFamily="34" charset="0"/>
                <a:cs typeface="Calibri" panose="020F0502020204030204" pitchFamily="34" charset="0"/>
              </a:rPr>
              <a:t>) + V</a:t>
            </a:r>
            <a:r>
              <a:rPr lang="en-MY" sz="1600" baseline="30000" dirty="0">
                <a:latin typeface="Calibri" panose="020F0502020204030204" pitchFamily="34" charset="0"/>
                <a:cs typeface="Calibri" panose="020F0502020204030204" pitchFamily="34" charset="0"/>
              </a:rPr>
              <a:t>3+</a:t>
            </a:r>
            <a:r>
              <a:rPr lang="en-MY" sz="1600" dirty="0">
                <a:latin typeface="Calibri" panose="020F0502020204030204" pitchFamily="34" charset="0"/>
                <a:cs typeface="Calibri" panose="020F0502020204030204" pitchFamily="34" charset="0"/>
              </a:rPr>
              <a:t> (</a:t>
            </a:r>
            <a:r>
              <a:rPr lang="en-MY" sz="1600" dirty="0" err="1">
                <a:latin typeface="Calibri" panose="020F0502020204030204" pitchFamily="34" charset="0"/>
                <a:cs typeface="Calibri" panose="020F0502020204030204" pitchFamily="34" charset="0"/>
              </a:rPr>
              <a:t>aq</a:t>
            </a:r>
            <a:r>
              <a:rPr lang="en-MY" sz="1600" dirty="0">
                <a:latin typeface="Calibri" panose="020F0502020204030204" pitchFamily="34" charset="0"/>
                <a:cs typeface="Calibri" panose="020F0502020204030204" pitchFamily="34" charset="0"/>
              </a:rPr>
              <a:t>) → 2VO</a:t>
            </a:r>
            <a:r>
              <a:rPr lang="en-MY" sz="1600" baseline="30000" dirty="0">
                <a:latin typeface="Calibri" panose="020F0502020204030204" pitchFamily="34" charset="0"/>
                <a:cs typeface="Calibri" panose="020F0502020204030204" pitchFamily="34" charset="0"/>
              </a:rPr>
              <a:t>2+</a:t>
            </a:r>
            <a:r>
              <a:rPr lang="en-MY" sz="1600" dirty="0">
                <a:latin typeface="Calibri" panose="020F0502020204030204" pitchFamily="34" charset="0"/>
                <a:cs typeface="Calibri" panose="020F0502020204030204" pitchFamily="34" charset="0"/>
              </a:rPr>
              <a:t> (</a:t>
            </a:r>
            <a:r>
              <a:rPr lang="en-MY" sz="1600" dirty="0" err="1">
                <a:latin typeface="Calibri" panose="020F0502020204030204" pitchFamily="34" charset="0"/>
                <a:cs typeface="Calibri" panose="020F0502020204030204" pitchFamily="34" charset="0"/>
              </a:rPr>
              <a:t>aq</a:t>
            </a:r>
            <a:r>
              <a:rPr lang="en-MY" sz="1600" dirty="0">
                <a:latin typeface="Calibri" panose="020F0502020204030204" pitchFamily="34" charset="0"/>
                <a:cs typeface="Calibri" panose="020F0502020204030204" pitchFamily="34" charset="0"/>
              </a:rPr>
              <a:t>)</a:t>
            </a:r>
          </a:p>
          <a:p>
            <a:pPr marL="127000">
              <a:lnSpc>
                <a:spcPct val="114000"/>
              </a:lnSpc>
            </a:pPr>
            <a:endParaRPr lang="en-US"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12935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8007775"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Disproportionation</a:t>
            </a:r>
          </a:p>
        </p:txBody>
      </p:sp>
      <p:sp>
        <p:nvSpPr>
          <p:cNvPr id="5" name="Google Shape;118;p26"/>
          <p:cNvSpPr txBox="1"/>
          <p:nvPr/>
        </p:nvSpPr>
        <p:spPr>
          <a:xfrm>
            <a:off x="523875" y="1903019"/>
            <a:ext cx="8296275" cy="2766825"/>
          </a:xfrm>
          <a:prstGeom prst="rect">
            <a:avLst/>
          </a:prstGeom>
          <a:noFill/>
          <a:ln>
            <a:noFill/>
          </a:ln>
        </p:spPr>
        <p:txBody>
          <a:bodyPr spcFirstLastPara="1" wrap="square" lIns="91425" tIns="91425" rIns="91425" bIns="91425" anchor="t" anchorCtr="0">
            <a:noAutofit/>
          </a:bodyPr>
          <a:lstStyle/>
          <a:p>
            <a:pPr marL="412750" indent="-285750" algn="just">
              <a:lnSpc>
                <a:spcPct val="114000"/>
              </a:lnSpc>
              <a:buFont typeface="Arial" panose="020B0604020202020204" pitchFamily="34" charset="0"/>
              <a:buChar char="•"/>
            </a:pPr>
            <a:r>
              <a:rPr lang="en-MY" sz="1600" dirty="0">
                <a:latin typeface="Calibri" panose="020F0502020204030204" pitchFamily="34" charset="0"/>
                <a:cs typeface="Calibri" panose="020F0502020204030204" pitchFamily="34" charset="0"/>
              </a:rPr>
              <a:t>Sometimes, the intermediate state of an element acts as a more powerful oxidising agent than the one with higher oxidation state. </a:t>
            </a:r>
          </a:p>
          <a:p>
            <a:pPr marL="412750" indent="-285750" algn="just">
              <a:lnSpc>
                <a:spcPct val="114000"/>
              </a:lnSpc>
              <a:buFont typeface="Arial" panose="020B0604020202020204" pitchFamily="34" charset="0"/>
              <a:buChar char="•"/>
            </a:pPr>
            <a:r>
              <a:rPr lang="en-MY" sz="1600" dirty="0">
                <a:latin typeface="Calibri" panose="020F0502020204030204" pitchFamily="34" charset="0"/>
                <a:cs typeface="Calibri" panose="020F0502020204030204" pitchFamily="34" charset="0"/>
              </a:rPr>
              <a:t>This is because the intermediate state has an unstable structure compared to the other oxidation states. </a:t>
            </a:r>
          </a:p>
          <a:p>
            <a:pPr marL="412750" indent="-285750" algn="just">
              <a:lnSpc>
                <a:spcPct val="114000"/>
              </a:lnSpc>
              <a:buFont typeface="Arial" panose="020B0604020202020204" pitchFamily="34" charset="0"/>
              <a:buChar char="•"/>
            </a:pPr>
            <a:r>
              <a:rPr lang="en-MY" sz="1600" dirty="0">
                <a:latin typeface="Calibri" panose="020F0502020204030204" pitchFamily="34" charset="0"/>
                <a:cs typeface="Calibri" panose="020F0502020204030204" pitchFamily="34" charset="0"/>
              </a:rPr>
              <a:t>As a result, the element in the intermediate state </a:t>
            </a:r>
            <a:r>
              <a:rPr lang="en-MY" sz="1600" dirty="0" err="1">
                <a:latin typeface="Calibri" panose="020F0502020204030204" pitchFamily="34" charset="0"/>
                <a:cs typeface="Calibri" panose="020F0502020204030204" pitchFamily="34" charset="0"/>
              </a:rPr>
              <a:t>disproportionates</a:t>
            </a:r>
            <a:r>
              <a:rPr lang="en-MY" sz="1600" dirty="0">
                <a:latin typeface="Calibri" panose="020F0502020204030204" pitchFamily="34" charset="0"/>
                <a:cs typeface="Calibri" panose="020F0502020204030204" pitchFamily="34" charset="0"/>
              </a:rPr>
              <a:t> and forms a mixture of elements in higher and lower oxidation states. </a:t>
            </a:r>
          </a:p>
          <a:p>
            <a:pPr marL="412750" indent="-285750" algn="just">
              <a:lnSpc>
                <a:spcPct val="114000"/>
              </a:lnSpc>
              <a:buFont typeface="Arial" panose="020B0604020202020204" pitchFamily="34" charset="0"/>
              <a:buChar char="•"/>
            </a:pPr>
            <a:r>
              <a:rPr lang="en-MY" sz="1600" dirty="0">
                <a:latin typeface="Calibri" panose="020F0502020204030204" pitchFamily="34" charset="0"/>
                <a:cs typeface="Calibri" panose="020F0502020204030204" pitchFamily="34" charset="0"/>
              </a:rPr>
              <a:t>For example, hydrogen peroxide, with an oxidation state of O(-1) </a:t>
            </a:r>
            <a:r>
              <a:rPr lang="en-MY" sz="1600" dirty="0" err="1">
                <a:latin typeface="Calibri" panose="020F0502020204030204" pitchFamily="34" charset="0"/>
                <a:cs typeface="Calibri" panose="020F0502020204030204" pitchFamily="34" charset="0"/>
              </a:rPr>
              <a:t>disproportionates</a:t>
            </a:r>
            <a:r>
              <a:rPr lang="en-MY" sz="1600" dirty="0">
                <a:latin typeface="Calibri" panose="020F0502020204030204" pitchFamily="34" charset="0"/>
                <a:cs typeface="Calibri" panose="020F0502020204030204" pitchFamily="34" charset="0"/>
              </a:rPr>
              <a:t> to oxygen, O(0) and water containing O(-2).</a:t>
            </a:r>
          </a:p>
          <a:p>
            <a:pPr marL="127000" algn="ctr">
              <a:lnSpc>
                <a:spcPct val="114000"/>
              </a:lnSpc>
            </a:pPr>
            <a:r>
              <a:rPr lang="en-MY" sz="1600" dirty="0">
                <a:latin typeface="Calibri" panose="020F0502020204030204" pitchFamily="34" charset="0"/>
                <a:cs typeface="Calibri" panose="020F0502020204030204" pitchFamily="34" charset="0"/>
              </a:rPr>
              <a:t>H</a:t>
            </a:r>
            <a:r>
              <a:rPr lang="en-MY" sz="1600" baseline="-25000" dirty="0">
                <a:latin typeface="Calibri" panose="020F0502020204030204" pitchFamily="34" charset="0"/>
                <a:cs typeface="Calibri" panose="020F0502020204030204" pitchFamily="34" charset="0"/>
              </a:rPr>
              <a:t>2</a:t>
            </a:r>
            <a:r>
              <a:rPr lang="en-MY" sz="1600" dirty="0">
                <a:latin typeface="Calibri" panose="020F0502020204030204" pitchFamily="34" charset="0"/>
                <a:cs typeface="Calibri" panose="020F0502020204030204" pitchFamily="34" charset="0"/>
              </a:rPr>
              <a:t>O</a:t>
            </a:r>
            <a:r>
              <a:rPr lang="en-MY" sz="1600" baseline="-25000" dirty="0">
                <a:latin typeface="Calibri" panose="020F0502020204030204" pitchFamily="34" charset="0"/>
                <a:cs typeface="Calibri" panose="020F0502020204030204" pitchFamily="34" charset="0"/>
              </a:rPr>
              <a:t>2</a:t>
            </a:r>
            <a:r>
              <a:rPr lang="en-MY" sz="1600" dirty="0">
                <a:latin typeface="Calibri" panose="020F0502020204030204" pitchFamily="34" charset="0"/>
                <a:cs typeface="Calibri" panose="020F0502020204030204" pitchFamily="34" charset="0"/>
              </a:rPr>
              <a:t> (</a:t>
            </a:r>
            <a:r>
              <a:rPr lang="en-MY" sz="1600" dirty="0" err="1">
                <a:latin typeface="Calibri" panose="020F0502020204030204" pitchFamily="34" charset="0"/>
                <a:cs typeface="Calibri" panose="020F0502020204030204" pitchFamily="34" charset="0"/>
              </a:rPr>
              <a:t>aq</a:t>
            </a:r>
            <a:r>
              <a:rPr lang="en-MY" sz="1600" dirty="0">
                <a:latin typeface="Calibri" panose="020F0502020204030204" pitchFamily="34" charset="0"/>
                <a:cs typeface="Calibri" panose="020F0502020204030204" pitchFamily="34" charset="0"/>
              </a:rPr>
              <a:t>) → H</a:t>
            </a:r>
            <a:r>
              <a:rPr lang="en-MY" sz="1600" baseline="-25000" dirty="0">
                <a:latin typeface="Calibri" panose="020F0502020204030204" pitchFamily="34" charset="0"/>
                <a:cs typeface="Calibri" panose="020F0502020204030204" pitchFamily="34" charset="0"/>
              </a:rPr>
              <a:t>2</a:t>
            </a:r>
            <a:r>
              <a:rPr lang="en-MY" sz="1600" dirty="0">
                <a:latin typeface="Calibri" panose="020F0502020204030204" pitchFamily="34" charset="0"/>
                <a:cs typeface="Calibri" panose="020F0502020204030204" pitchFamily="34" charset="0"/>
              </a:rPr>
              <a:t>O(l) + ½O</a:t>
            </a:r>
            <a:r>
              <a:rPr lang="en-MY" sz="1600" baseline="-25000" dirty="0">
                <a:latin typeface="Calibri" panose="020F0502020204030204" pitchFamily="34" charset="0"/>
                <a:cs typeface="Calibri" panose="020F0502020204030204" pitchFamily="34" charset="0"/>
              </a:rPr>
              <a:t>2</a:t>
            </a:r>
            <a:r>
              <a:rPr lang="en-MY" sz="1600" dirty="0">
                <a:latin typeface="Calibri" panose="020F0502020204030204" pitchFamily="34" charset="0"/>
                <a:cs typeface="Calibri" panose="020F0502020204030204" pitchFamily="34" charset="0"/>
              </a:rPr>
              <a:t> (g)</a:t>
            </a:r>
          </a:p>
        </p:txBody>
      </p:sp>
    </p:spTree>
    <p:extLst>
      <p:ext uri="{BB962C8B-B14F-4D97-AF65-F5344CB8AC3E}">
        <p14:creationId xmlns:p14="http://schemas.microsoft.com/office/powerpoint/2010/main" val="695039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8007775" cy="7677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Disproportionation</a:t>
            </a:r>
          </a:p>
        </p:txBody>
      </p:sp>
      <p:sp>
        <p:nvSpPr>
          <p:cNvPr id="5" name="Google Shape;118;p26"/>
          <p:cNvSpPr txBox="1"/>
          <p:nvPr/>
        </p:nvSpPr>
        <p:spPr>
          <a:xfrm>
            <a:off x="523875" y="1903019"/>
            <a:ext cx="8296275" cy="2766825"/>
          </a:xfrm>
          <a:prstGeom prst="rect">
            <a:avLst/>
          </a:prstGeom>
          <a:noFill/>
          <a:ln>
            <a:noFill/>
          </a:ln>
        </p:spPr>
        <p:txBody>
          <a:bodyPr spcFirstLastPara="1" wrap="square" lIns="91425" tIns="91425" rIns="91425" bIns="91425" anchor="t" anchorCtr="0">
            <a:noAutofit/>
          </a:bodyPr>
          <a:lstStyle/>
          <a:p>
            <a:pPr marL="412750" indent="-285750" algn="just">
              <a:lnSpc>
                <a:spcPct val="114000"/>
              </a:lnSpc>
              <a:spcBef>
                <a:spcPts val="600"/>
              </a:spcBef>
              <a:buFont typeface="Arial" panose="020B0604020202020204" pitchFamily="34" charset="0"/>
              <a:buChar char="•"/>
            </a:pPr>
            <a:r>
              <a:rPr lang="en-US" sz="1600" dirty="0">
                <a:latin typeface="Calibri" panose="020F0502020204030204" pitchFamily="34" charset="0"/>
                <a:cs typeface="Calibri" panose="020F0502020204030204" pitchFamily="34" charset="0"/>
              </a:rPr>
              <a:t>Chlorine is another example that undergoes disproportionation. The reaction of chlorine with water is given.</a:t>
            </a:r>
            <a:r>
              <a:rPr lang="en-GB" sz="1600" dirty="0">
                <a:solidFill>
                  <a:schemeClr val="tx1"/>
                </a:solidFill>
                <a:latin typeface="Calibri" panose="020F0502020204030204" pitchFamily="34" charset="0"/>
                <a:cs typeface="Calibri" panose="020F0502020204030204" pitchFamily="34" charset="0"/>
              </a:rPr>
              <a:t> </a:t>
            </a:r>
          </a:p>
          <a:p>
            <a:pPr marL="127000" algn="ctr">
              <a:lnSpc>
                <a:spcPct val="114000"/>
              </a:lnSpc>
              <a:spcBef>
                <a:spcPts val="600"/>
              </a:spcBef>
            </a:pPr>
            <a:r>
              <a:rPr lang="en-GB" sz="1600" dirty="0">
                <a:latin typeface="Calibri" panose="020F0502020204030204" pitchFamily="34" charset="0"/>
                <a:cs typeface="Calibri" panose="020F0502020204030204" pitchFamily="34" charset="0"/>
              </a:rPr>
              <a:t>Cl</a:t>
            </a:r>
            <a:r>
              <a:rPr lang="en-GB" sz="1600" baseline="-25000" dirty="0">
                <a:latin typeface="Calibri" panose="020F0502020204030204" pitchFamily="34" charset="0"/>
                <a:cs typeface="Calibri" panose="020F0502020204030204" pitchFamily="34" charset="0"/>
              </a:rPr>
              <a:t>2</a:t>
            </a:r>
            <a:r>
              <a:rPr lang="en-GB" sz="1600" dirty="0">
                <a:latin typeface="Calibri" panose="020F0502020204030204" pitchFamily="34" charset="0"/>
                <a:cs typeface="Calibri" panose="020F0502020204030204" pitchFamily="34" charset="0"/>
              </a:rPr>
              <a:t> (</a:t>
            </a:r>
            <a:r>
              <a:rPr lang="en-GB" sz="1600" dirty="0" err="1">
                <a:latin typeface="Calibri" panose="020F0502020204030204" pitchFamily="34" charset="0"/>
                <a:cs typeface="Calibri" panose="020F0502020204030204" pitchFamily="34" charset="0"/>
              </a:rPr>
              <a:t>aq</a:t>
            </a:r>
            <a:r>
              <a:rPr lang="en-GB" sz="1600" dirty="0">
                <a:latin typeface="Calibri" panose="020F0502020204030204" pitchFamily="34" charset="0"/>
                <a:cs typeface="Calibri" panose="020F0502020204030204" pitchFamily="34" charset="0"/>
              </a:rPr>
              <a:t>) +H</a:t>
            </a:r>
            <a:r>
              <a:rPr lang="en-GB" sz="1600" baseline="-25000" dirty="0">
                <a:latin typeface="Calibri" panose="020F0502020204030204" pitchFamily="34" charset="0"/>
                <a:cs typeface="Calibri" panose="020F0502020204030204" pitchFamily="34" charset="0"/>
              </a:rPr>
              <a:t>2</a:t>
            </a:r>
            <a:r>
              <a:rPr lang="en-GB" sz="1600" dirty="0">
                <a:latin typeface="Calibri" panose="020F0502020204030204" pitchFamily="34" charset="0"/>
                <a:cs typeface="Calibri" panose="020F0502020204030204" pitchFamily="34" charset="0"/>
              </a:rPr>
              <a:t>O (l) → HCl (</a:t>
            </a:r>
            <a:r>
              <a:rPr lang="en-GB" sz="1600" dirty="0" err="1">
                <a:latin typeface="Calibri" panose="020F0502020204030204" pitchFamily="34" charset="0"/>
                <a:cs typeface="Calibri" panose="020F0502020204030204" pitchFamily="34" charset="0"/>
              </a:rPr>
              <a:t>aq</a:t>
            </a:r>
            <a:r>
              <a:rPr lang="en-GB" sz="1600" dirty="0">
                <a:latin typeface="Calibri" panose="020F0502020204030204" pitchFamily="34" charset="0"/>
                <a:cs typeface="Calibri" panose="020F0502020204030204" pitchFamily="34" charset="0"/>
              </a:rPr>
              <a:t>) +</a:t>
            </a:r>
            <a:r>
              <a:rPr lang="en-IN" sz="1600" dirty="0" err="1">
                <a:latin typeface="Calibri" panose="020F0502020204030204" pitchFamily="34" charset="0"/>
                <a:cs typeface="Calibri" panose="020F0502020204030204" pitchFamily="34" charset="0"/>
              </a:rPr>
              <a:t>HClO</a:t>
            </a:r>
            <a:r>
              <a:rPr lang="en-IN" sz="1600" dirty="0">
                <a:latin typeface="Calibri" panose="020F0502020204030204" pitchFamily="34" charset="0"/>
                <a:cs typeface="Calibri" panose="020F0502020204030204" pitchFamily="34" charset="0"/>
              </a:rPr>
              <a:t> (</a:t>
            </a:r>
            <a:r>
              <a:rPr lang="en-IN" sz="1600" dirty="0" err="1">
                <a:latin typeface="Calibri" panose="020F0502020204030204" pitchFamily="34" charset="0"/>
                <a:cs typeface="Calibri" panose="020F0502020204030204" pitchFamily="34" charset="0"/>
              </a:rPr>
              <a:t>aq</a:t>
            </a:r>
            <a:r>
              <a:rPr lang="en-IN" sz="1600" dirty="0">
                <a:latin typeface="Calibri" panose="020F0502020204030204" pitchFamily="34" charset="0"/>
                <a:cs typeface="Calibri" panose="020F0502020204030204" pitchFamily="34" charset="0"/>
              </a:rPr>
              <a:t>)</a:t>
            </a:r>
          </a:p>
          <a:p>
            <a:pPr marL="412750" indent="-285750" algn="just">
              <a:lnSpc>
                <a:spcPct val="114000"/>
              </a:lnSpc>
              <a:spcBef>
                <a:spcPts val="600"/>
              </a:spcBef>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7D786FF4-1F9B-4DEF-8253-55F16992B299}"/>
              </a:ext>
            </a:extLst>
          </p:cNvPr>
          <p:cNvGraphicFramePr>
            <a:graphicFrameLocks noGrp="1"/>
          </p:cNvGraphicFramePr>
          <p:nvPr>
            <p:extLst>
              <p:ext uri="{D42A27DB-BD31-4B8C-83A1-F6EECF244321}">
                <p14:modId xmlns:p14="http://schemas.microsoft.com/office/powerpoint/2010/main" val="748819237"/>
              </p:ext>
            </p:extLst>
          </p:nvPr>
        </p:nvGraphicFramePr>
        <p:xfrm>
          <a:off x="2221231" y="3157642"/>
          <a:ext cx="4701537" cy="846836"/>
        </p:xfrm>
        <a:graphic>
          <a:graphicData uri="http://schemas.openxmlformats.org/drawingml/2006/table">
            <a:tbl>
              <a:tblPr firstRow="1" firstCol="1" bandRow="1"/>
              <a:tblGrid>
                <a:gridCol w="1842979">
                  <a:extLst>
                    <a:ext uri="{9D8B030D-6E8A-4147-A177-3AD203B41FA5}">
                      <a16:colId xmlns:a16="http://schemas.microsoft.com/office/drawing/2014/main" val="791500940"/>
                    </a:ext>
                  </a:extLst>
                </a:gridCol>
                <a:gridCol w="1429279">
                  <a:extLst>
                    <a:ext uri="{9D8B030D-6E8A-4147-A177-3AD203B41FA5}">
                      <a16:colId xmlns:a16="http://schemas.microsoft.com/office/drawing/2014/main" val="4176509794"/>
                    </a:ext>
                  </a:extLst>
                </a:gridCol>
                <a:gridCol w="1429279">
                  <a:extLst>
                    <a:ext uri="{9D8B030D-6E8A-4147-A177-3AD203B41FA5}">
                      <a16:colId xmlns:a16="http://schemas.microsoft.com/office/drawing/2014/main" val="3061679498"/>
                    </a:ext>
                  </a:extLst>
                </a:gridCol>
              </a:tblGrid>
              <a:tr h="0">
                <a:tc gridSpan="3">
                  <a:txBody>
                    <a:bodyPr/>
                    <a:lstStyle/>
                    <a:p>
                      <a:pPr marL="0" indent="0" algn="ctr">
                        <a:lnSpc>
                          <a:spcPct val="107000"/>
                        </a:lnSpc>
                        <a:spcAft>
                          <a:spcPts val="0"/>
                        </a:spcAft>
                      </a:pPr>
                      <a:r>
                        <a:rPr lang="en-GB" sz="1400" b="0" dirty="0">
                          <a:solidFill>
                            <a:schemeClr val="bg1"/>
                          </a:solidFill>
                          <a:effectLst/>
                          <a:latin typeface="+mn-lt"/>
                          <a:ea typeface="Calibri" panose="020F0502020204030204" pitchFamily="34" charset="0"/>
                          <a:cs typeface="Times New Roman" panose="02020603050405020304" pitchFamily="18" charset="0"/>
                        </a:rPr>
                        <a:t>Oxidation numbers</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987528628"/>
                  </a:ext>
                </a:extLst>
              </a:tr>
              <a:tr h="0">
                <a:tc>
                  <a:txBody>
                    <a:bodyPr/>
                    <a:lstStyle/>
                    <a:p>
                      <a:pPr marL="0" indent="0" algn="ctr">
                        <a:lnSpc>
                          <a:spcPct val="107000"/>
                        </a:lnSpc>
                        <a:spcAft>
                          <a:spcPts val="0"/>
                        </a:spcAft>
                      </a:pPr>
                      <a:r>
                        <a:rPr lang="en-GB" sz="1400" b="0" dirty="0">
                          <a:solidFill>
                            <a:schemeClr val="bg1"/>
                          </a:solidFill>
                          <a:effectLst/>
                          <a:latin typeface="+mn-lt"/>
                          <a:ea typeface="Calibri" panose="020F0502020204030204" pitchFamily="34" charset="0"/>
                          <a:cs typeface="Times New Roman" panose="02020603050405020304" pitchFamily="18" charset="0"/>
                        </a:rPr>
                        <a:t>Reactant</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gridSpan="2">
                  <a:txBody>
                    <a:bodyPr/>
                    <a:lstStyle/>
                    <a:p>
                      <a:pPr marL="0" indent="0" algn="ctr">
                        <a:lnSpc>
                          <a:spcPct val="107000"/>
                        </a:lnSpc>
                        <a:spcAft>
                          <a:spcPts val="0"/>
                        </a:spcAft>
                      </a:pPr>
                      <a:r>
                        <a:rPr lang="en-GB" sz="1400" b="0" dirty="0">
                          <a:solidFill>
                            <a:schemeClr val="bg1"/>
                          </a:solidFill>
                          <a:effectLst/>
                          <a:latin typeface="+mn-lt"/>
                          <a:ea typeface="Calibri" panose="020F0502020204030204" pitchFamily="34" charset="0"/>
                          <a:cs typeface="Times New Roman" panose="02020603050405020304" pitchFamily="18" charset="0"/>
                        </a:rPr>
                        <a:t>Product</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hMerge="1">
                  <a:txBody>
                    <a:bodyPr/>
                    <a:lstStyle/>
                    <a:p>
                      <a:endParaRPr lang="en-IN"/>
                    </a:p>
                  </a:txBody>
                  <a:tcPr/>
                </a:tc>
                <a:extLst>
                  <a:ext uri="{0D108BD9-81ED-4DB2-BD59-A6C34878D82A}">
                    <a16:rowId xmlns:a16="http://schemas.microsoft.com/office/drawing/2014/main" val="1459709824"/>
                  </a:ext>
                </a:extLst>
              </a:tr>
              <a:tr h="0">
                <a:tc>
                  <a:txBody>
                    <a:bodyPr/>
                    <a:lstStyle/>
                    <a:p>
                      <a:pPr marL="0" marR="0" indent="0" algn="ctr" rtl="0">
                        <a:lnSpc>
                          <a:spcPct val="107000"/>
                        </a:lnSpc>
                        <a:spcBef>
                          <a:spcPts val="0"/>
                        </a:spcBef>
                        <a:spcAft>
                          <a:spcPts val="0"/>
                        </a:spcAft>
                        <a:buClr>
                          <a:srgbClr val="000000"/>
                        </a:buClr>
                        <a:buFont typeface="Arial"/>
                      </a:pPr>
                      <a:r>
                        <a:rPr lang="en-GB"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Chlorine molecule</a:t>
                      </a:r>
                      <a:endPar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rtl="0">
                        <a:lnSpc>
                          <a:spcPct val="107000"/>
                        </a:lnSpc>
                        <a:spcBef>
                          <a:spcPts val="0"/>
                        </a:spcBef>
                        <a:spcAft>
                          <a:spcPts val="0"/>
                        </a:spcAft>
                        <a:buClr>
                          <a:srgbClr val="000000"/>
                        </a:buClr>
                        <a:buFont typeface="Arial"/>
                      </a:pPr>
                      <a:r>
                        <a:rPr lang="en-GB"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HCl</a:t>
                      </a:r>
                      <a:endPar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rtl="0">
                        <a:lnSpc>
                          <a:spcPct val="107000"/>
                        </a:lnSpc>
                        <a:spcBef>
                          <a:spcPts val="0"/>
                        </a:spcBef>
                        <a:spcAft>
                          <a:spcPts val="0"/>
                        </a:spcAft>
                        <a:buClr>
                          <a:srgbClr val="000000"/>
                        </a:buClr>
                        <a:buFont typeface="Arial"/>
                      </a:pPr>
                      <a:r>
                        <a:rPr lang="en-GB" sz="1400" b="0" i="0" u="none" strike="noStrike" cap="none" dirty="0" err="1">
                          <a:solidFill>
                            <a:srgbClr val="000000"/>
                          </a:solidFill>
                          <a:effectLst/>
                          <a:latin typeface="+mn-lt"/>
                          <a:ea typeface="Calibri" panose="020F0502020204030204" pitchFamily="34" charset="0"/>
                          <a:cs typeface="Times New Roman" panose="02020603050405020304" pitchFamily="18" charset="0"/>
                          <a:sym typeface="Arial"/>
                        </a:rPr>
                        <a:t>HClO</a:t>
                      </a:r>
                      <a:endPar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6782563"/>
                  </a:ext>
                </a:extLst>
              </a:tr>
              <a:tr h="0">
                <a:tc>
                  <a:txBody>
                    <a:bodyPr/>
                    <a:lstStyle/>
                    <a:p>
                      <a:pPr marL="0" marR="0" indent="0" algn="ctr" rtl="0">
                        <a:lnSpc>
                          <a:spcPct val="107000"/>
                        </a:lnSpc>
                        <a:spcBef>
                          <a:spcPts val="0"/>
                        </a:spcBef>
                        <a:spcAft>
                          <a:spcPts val="0"/>
                        </a:spcAft>
                        <a:buClr>
                          <a:srgbClr val="000000"/>
                        </a:buClr>
                        <a:buFont typeface="Arial"/>
                      </a:pPr>
                      <a:r>
                        <a:rPr lang="en-GB"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0</a:t>
                      </a:r>
                      <a:endPar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rtl="0">
                        <a:lnSpc>
                          <a:spcPct val="107000"/>
                        </a:lnSpc>
                        <a:spcBef>
                          <a:spcPts val="0"/>
                        </a:spcBef>
                        <a:spcAft>
                          <a:spcPts val="0"/>
                        </a:spcAft>
                        <a:buClr>
                          <a:srgbClr val="000000"/>
                        </a:buClr>
                        <a:buFont typeface="Arial"/>
                      </a:pPr>
                      <a:r>
                        <a:rPr lang="en-GB"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-1</a:t>
                      </a:r>
                      <a:endPar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rtl="0">
                        <a:lnSpc>
                          <a:spcPct val="107000"/>
                        </a:lnSpc>
                        <a:spcBef>
                          <a:spcPts val="0"/>
                        </a:spcBef>
                        <a:spcAft>
                          <a:spcPts val="0"/>
                        </a:spcAft>
                        <a:buClr>
                          <a:srgbClr val="000000"/>
                        </a:buClr>
                        <a:buFont typeface="Arial"/>
                      </a:pPr>
                      <a:r>
                        <a:rPr lang="en-GB"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rPr>
                        <a:t>+1</a:t>
                      </a:r>
                      <a:endParaRPr lang="en-IN" sz="1400" b="0" i="0" u="none" strike="noStrike" cap="none" dirty="0">
                        <a:solidFill>
                          <a:srgbClr val="000000"/>
                        </a:solidFill>
                        <a:effectLst/>
                        <a:latin typeface="+mn-lt"/>
                        <a:ea typeface="Calibri" panose="020F0502020204030204" pitchFamily="34" charset="0"/>
                        <a:cs typeface="Times New Roman" panose="02020603050405020304" pitchFamily="18" charset="0"/>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41756525"/>
                  </a:ext>
                </a:extLst>
              </a:tr>
            </a:tbl>
          </a:graphicData>
        </a:graphic>
      </p:graphicFrame>
    </p:spTree>
    <p:extLst>
      <p:ext uri="{BB962C8B-B14F-4D97-AF65-F5344CB8AC3E}">
        <p14:creationId xmlns:p14="http://schemas.microsoft.com/office/powerpoint/2010/main" val="2958627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Balancing redox equations</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0" indent="0" algn="just">
              <a:lnSpc>
                <a:spcPct val="113000"/>
              </a:lnSpc>
              <a:buNone/>
            </a:pPr>
            <a:r>
              <a:rPr lang="en-IN" b="1" dirty="0">
                <a:latin typeface="Calibri" panose="020F0502020204030204" pitchFamily="34" charset="0"/>
                <a:cs typeface="Calibri" panose="020F0502020204030204" pitchFamily="34" charset="0"/>
              </a:rPr>
              <a:t>Example 1:</a:t>
            </a:r>
            <a:r>
              <a:rPr lang="en-IN" dirty="0">
                <a:latin typeface="Calibri" panose="020F0502020204030204" pitchFamily="34" charset="0"/>
                <a:cs typeface="Calibri" panose="020F0502020204030204" pitchFamily="34" charset="0"/>
              </a:rPr>
              <a:t> What is the half-equation for the change V</a:t>
            </a:r>
            <a:r>
              <a:rPr lang="en-IN" baseline="30000" dirty="0">
                <a:latin typeface="Calibri" panose="020F0502020204030204" pitchFamily="34" charset="0"/>
                <a:cs typeface="Calibri" panose="020F0502020204030204" pitchFamily="34" charset="0"/>
              </a:rPr>
              <a:t>3+</a:t>
            </a:r>
            <a:r>
              <a:rPr lang="en-IN" dirty="0">
                <a:latin typeface="Calibri" panose="020F0502020204030204" pitchFamily="34" charset="0"/>
                <a:cs typeface="Calibri" panose="020F0502020204030204" pitchFamily="34" charset="0"/>
              </a:rPr>
              <a:t> → VO</a:t>
            </a:r>
            <a:r>
              <a:rPr lang="en-IN" baseline="30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a:t>
            </a:r>
          </a:p>
          <a:p>
            <a:pPr marL="0" indent="0" algn="just">
              <a:lnSpc>
                <a:spcPct val="113000"/>
              </a:lnSpc>
              <a:buNone/>
            </a:pPr>
            <a:r>
              <a:rPr lang="en-IN" b="1" dirty="0">
                <a:latin typeface="Calibri" panose="020F0502020204030204" pitchFamily="34" charset="0"/>
                <a:cs typeface="Calibri" panose="020F0502020204030204" pitchFamily="34" charset="0"/>
              </a:rPr>
              <a:t>Solution: </a:t>
            </a:r>
            <a:r>
              <a:rPr lang="en-IN" dirty="0">
                <a:latin typeface="Calibri" panose="020F0502020204030204" pitchFamily="34" charset="0"/>
                <a:cs typeface="Calibri" panose="020F0502020204030204" pitchFamily="34" charset="0"/>
              </a:rPr>
              <a:t>The following steps are performed to obtain the half-equation:</a:t>
            </a:r>
          </a:p>
          <a:p>
            <a:pPr marL="0" lvl="0" indent="0" algn="just">
              <a:lnSpc>
                <a:spcPct val="113000"/>
              </a:lnSpc>
              <a:buNone/>
            </a:pPr>
            <a:r>
              <a:rPr lang="en-IN" dirty="0">
                <a:latin typeface="Calibri" panose="020F0502020204030204" pitchFamily="34" charset="0"/>
                <a:cs typeface="Calibri" panose="020F0502020204030204" pitchFamily="34" charset="0"/>
              </a:rPr>
              <a:t>Balance the change in oxidation number with electrons.</a:t>
            </a:r>
          </a:p>
          <a:p>
            <a:pPr marL="0" indent="0" algn="just">
              <a:lnSpc>
                <a:spcPct val="113000"/>
              </a:lnSpc>
              <a:buNone/>
            </a:pPr>
            <a:r>
              <a:rPr lang="en-IN" dirty="0">
                <a:latin typeface="Calibri" panose="020F0502020204030204" pitchFamily="34" charset="0"/>
                <a:cs typeface="Calibri" panose="020F0502020204030204" pitchFamily="34" charset="0"/>
              </a:rPr>
              <a:t>The oxidation number of V changes from +3 to +4</a:t>
            </a:r>
          </a:p>
          <a:p>
            <a:pPr marL="0" indent="0" algn="just">
              <a:lnSpc>
                <a:spcPct val="113000"/>
              </a:lnSpc>
              <a:buNone/>
            </a:pPr>
            <a:r>
              <a:rPr lang="en-IN" dirty="0">
                <a:latin typeface="Calibri" panose="020F0502020204030204" pitchFamily="34" charset="0"/>
                <a:cs typeface="Calibri" panose="020F0502020204030204" pitchFamily="34" charset="0"/>
              </a:rPr>
              <a:t>Therefore, V</a:t>
            </a:r>
            <a:r>
              <a:rPr lang="en-IN" baseline="30000" dirty="0">
                <a:latin typeface="Calibri" panose="020F0502020204030204" pitchFamily="34" charset="0"/>
                <a:cs typeface="Calibri" panose="020F0502020204030204" pitchFamily="34" charset="0"/>
              </a:rPr>
              <a:t>3+ </a:t>
            </a:r>
            <a:r>
              <a:rPr lang="en-IN" dirty="0">
                <a:latin typeface="Calibri" panose="020F0502020204030204" pitchFamily="34" charset="0"/>
                <a:cs typeface="Calibri" panose="020F0502020204030204" pitchFamily="34" charset="0"/>
              </a:rPr>
              <a:t>→ VO</a:t>
            </a:r>
            <a:r>
              <a:rPr lang="en-IN" baseline="30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 + e</a:t>
            </a:r>
            <a:r>
              <a:rPr lang="en-IN" baseline="30000" dirty="0">
                <a:latin typeface="Calibri" panose="020F0502020204030204" pitchFamily="34" charset="0"/>
                <a:cs typeface="Calibri" panose="020F0502020204030204" pitchFamily="34" charset="0"/>
              </a:rPr>
              <a:t>-</a:t>
            </a:r>
            <a:endParaRPr lang="en-IN" dirty="0">
              <a:latin typeface="Calibri" panose="020F0502020204030204" pitchFamily="34" charset="0"/>
              <a:cs typeface="Calibri" panose="020F0502020204030204" pitchFamily="34" charset="0"/>
            </a:endParaRPr>
          </a:p>
          <a:p>
            <a:pPr marL="0" lvl="0" indent="0" algn="just">
              <a:lnSpc>
                <a:spcPct val="113000"/>
              </a:lnSpc>
              <a:buNone/>
            </a:pPr>
            <a:r>
              <a:rPr lang="en-IN" dirty="0">
                <a:latin typeface="Calibri" panose="020F0502020204030204" pitchFamily="34" charset="0"/>
                <a:cs typeface="Calibri" panose="020F0502020204030204" pitchFamily="34" charset="0"/>
              </a:rPr>
              <a:t>Add water to reactants to balance the oxidation in products. To balance the hydrogen atoms, add H</a:t>
            </a:r>
            <a:r>
              <a:rPr lang="en-IN" baseline="30000" dirty="0">
                <a:latin typeface="Calibri" panose="020F0502020204030204" pitchFamily="34" charset="0"/>
                <a:cs typeface="Calibri" panose="020F0502020204030204" pitchFamily="34" charset="0"/>
              </a:rPr>
              <a:t>+</a:t>
            </a:r>
            <a:r>
              <a:rPr lang="en-IN" dirty="0">
                <a:latin typeface="Calibri" panose="020F0502020204030204" pitchFamily="34" charset="0"/>
                <a:cs typeface="Calibri" panose="020F0502020204030204" pitchFamily="34" charset="0"/>
              </a:rPr>
              <a:t> to the products.</a:t>
            </a:r>
          </a:p>
          <a:p>
            <a:pPr marL="0" indent="0" algn="ctr">
              <a:lnSpc>
                <a:spcPct val="113000"/>
              </a:lnSpc>
              <a:buNone/>
            </a:pPr>
            <a:r>
              <a:rPr lang="en-IN" dirty="0">
                <a:latin typeface="Calibri" panose="020F0502020204030204" pitchFamily="34" charset="0"/>
                <a:cs typeface="Calibri" panose="020F0502020204030204" pitchFamily="34" charset="0"/>
              </a:rPr>
              <a:t>V</a:t>
            </a:r>
            <a:r>
              <a:rPr lang="en-IN" baseline="30000" dirty="0">
                <a:latin typeface="Calibri" panose="020F0502020204030204" pitchFamily="34" charset="0"/>
                <a:cs typeface="Calibri" panose="020F0502020204030204" pitchFamily="34" charset="0"/>
              </a:rPr>
              <a:t>3+ </a:t>
            </a:r>
            <a:r>
              <a:rPr lang="en-IN" dirty="0">
                <a:latin typeface="Calibri" panose="020F0502020204030204" pitchFamily="34" charset="0"/>
                <a:cs typeface="Calibri" panose="020F0502020204030204" pitchFamily="34" charset="0"/>
              </a:rPr>
              <a:t>+ H</a:t>
            </a:r>
            <a:r>
              <a:rPr lang="en-IN" baseline="-25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O→ VO</a:t>
            </a:r>
            <a:r>
              <a:rPr lang="en-IN" baseline="30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 + 2H</a:t>
            </a:r>
            <a:r>
              <a:rPr lang="en-IN" baseline="30000" dirty="0">
                <a:latin typeface="Calibri" panose="020F0502020204030204" pitchFamily="34" charset="0"/>
                <a:cs typeface="Calibri" panose="020F0502020204030204" pitchFamily="34" charset="0"/>
              </a:rPr>
              <a:t>+ </a:t>
            </a:r>
            <a:r>
              <a:rPr lang="en-IN" dirty="0">
                <a:latin typeface="Calibri" panose="020F0502020204030204" pitchFamily="34" charset="0"/>
                <a:cs typeface="Calibri" panose="020F0502020204030204" pitchFamily="34" charset="0"/>
              </a:rPr>
              <a:t>+ e</a:t>
            </a:r>
            <a:r>
              <a:rPr lang="en-IN" baseline="30000" dirty="0">
                <a:latin typeface="Calibri" panose="020F0502020204030204" pitchFamily="34" charset="0"/>
                <a:cs typeface="Calibri" panose="020F0502020204030204" pitchFamily="34" charset="0"/>
              </a:rPr>
              <a:t>-</a:t>
            </a:r>
            <a:endParaRPr lang="en-IN" dirty="0">
              <a:latin typeface="Calibri" panose="020F0502020204030204" pitchFamily="34" charset="0"/>
              <a:cs typeface="Calibri" panose="020F0502020204030204" pitchFamily="34" charset="0"/>
            </a:endParaRPr>
          </a:p>
          <a:p>
            <a:pPr marL="0" lvl="0" indent="0" algn="just">
              <a:lnSpc>
                <a:spcPct val="113000"/>
              </a:lnSpc>
              <a:buNone/>
            </a:pPr>
            <a:r>
              <a:rPr lang="en-IN" dirty="0">
                <a:latin typeface="Calibri" panose="020F0502020204030204" pitchFamily="34" charset="0"/>
                <a:cs typeface="Calibri" panose="020F0502020204030204" pitchFamily="34" charset="0"/>
              </a:rPr>
              <a:t>The final equation is checked by adding the charges on both the sides. </a:t>
            </a:r>
          </a:p>
          <a:p>
            <a:pPr marL="0" indent="0" algn="just">
              <a:lnSpc>
                <a:spcPct val="113000"/>
              </a:lnSpc>
              <a:buNone/>
            </a:pPr>
            <a:r>
              <a:rPr lang="en-IN" dirty="0">
                <a:latin typeface="Calibri" panose="020F0502020204030204" pitchFamily="34" charset="0"/>
                <a:cs typeface="Calibri" panose="020F0502020204030204" pitchFamily="34" charset="0"/>
              </a:rPr>
              <a:t>Sum of charges on reactant side: 3</a:t>
            </a:r>
          </a:p>
          <a:p>
            <a:pPr marL="0" indent="0" algn="just">
              <a:lnSpc>
                <a:spcPct val="113000"/>
              </a:lnSpc>
              <a:buNone/>
            </a:pPr>
            <a:r>
              <a:rPr lang="en-IN" dirty="0">
                <a:latin typeface="Calibri" panose="020F0502020204030204" pitchFamily="34" charset="0"/>
                <a:cs typeface="Calibri" panose="020F0502020204030204" pitchFamily="34" charset="0"/>
              </a:rPr>
              <a:t>Sum of charges on product side: 2 + 2 -1 =3</a:t>
            </a:r>
          </a:p>
          <a:p>
            <a:pPr marL="0" indent="0" algn="just">
              <a:lnSpc>
                <a:spcPct val="113000"/>
              </a:lnSpc>
              <a:buNone/>
            </a:pPr>
            <a:r>
              <a:rPr lang="en-IN" dirty="0">
                <a:latin typeface="Calibri" panose="020F0502020204030204" pitchFamily="34" charset="0"/>
                <a:cs typeface="Calibri" panose="020F0502020204030204" pitchFamily="34" charset="0"/>
              </a:rPr>
              <a:t>Equal charges denote that the half-equation is correct.</a:t>
            </a:r>
          </a:p>
          <a:p>
            <a:pPr marL="0" lvl="0" indent="0" algn="l" rtl="0">
              <a:spcBef>
                <a:spcPts val="1000"/>
              </a:spcBef>
              <a:spcAft>
                <a:spcPts val="0"/>
              </a:spcAft>
              <a:buNone/>
            </a:pPr>
            <a:endParaRPr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451618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Balancing redox equations</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0" indent="0" algn="just">
              <a:lnSpc>
                <a:spcPct val="113000"/>
              </a:lnSpc>
              <a:buNone/>
            </a:pPr>
            <a:r>
              <a:rPr lang="en-IN" b="1" dirty="0">
                <a:latin typeface="Calibri" panose="020F0502020204030204" pitchFamily="34" charset="0"/>
                <a:cs typeface="Calibri" panose="020F0502020204030204" pitchFamily="34" charset="0"/>
              </a:rPr>
              <a:t>Example 2: </a:t>
            </a:r>
            <a:r>
              <a:rPr lang="en-IN" dirty="0">
                <a:latin typeface="Calibri" panose="020F0502020204030204" pitchFamily="34" charset="0"/>
                <a:cs typeface="Calibri" panose="020F0502020204030204" pitchFamily="34" charset="0"/>
              </a:rPr>
              <a:t>Combine the two-half equations given below to form a full redox reaction.</a:t>
            </a:r>
          </a:p>
          <a:p>
            <a:pPr marL="0" indent="0" algn="ctr">
              <a:lnSpc>
                <a:spcPct val="113000"/>
              </a:lnSpc>
              <a:buNone/>
            </a:pPr>
            <a:r>
              <a:rPr lang="en-IN" dirty="0">
                <a:latin typeface="Calibri" panose="020F0502020204030204" pitchFamily="34" charset="0"/>
                <a:cs typeface="Calibri" panose="020F0502020204030204" pitchFamily="34" charset="0"/>
              </a:rPr>
              <a:t>C</a:t>
            </a:r>
            <a:r>
              <a:rPr lang="en-IN" baseline="-25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O</a:t>
            </a:r>
            <a:r>
              <a:rPr lang="en-IN" baseline="-25000" dirty="0">
                <a:latin typeface="Calibri" panose="020F0502020204030204" pitchFamily="34" charset="0"/>
                <a:cs typeface="Calibri" panose="020F0502020204030204" pitchFamily="34" charset="0"/>
              </a:rPr>
              <a:t>4</a:t>
            </a:r>
            <a:r>
              <a:rPr lang="en-IN" baseline="30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 → 2CO</a:t>
            </a:r>
            <a:r>
              <a:rPr lang="en-IN" baseline="-25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 + 2e</a:t>
            </a:r>
            <a:r>
              <a:rPr lang="en-IN" baseline="30000" dirty="0">
                <a:latin typeface="Calibri" panose="020F0502020204030204" pitchFamily="34" charset="0"/>
                <a:cs typeface="Calibri" panose="020F0502020204030204" pitchFamily="34" charset="0"/>
              </a:rPr>
              <a:t>-</a:t>
            </a:r>
            <a:endParaRPr lang="en-IN" dirty="0">
              <a:latin typeface="Calibri" panose="020F0502020204030204" pitchFamily="34" charset="0"/>
              <a:cs typeface="Calibri" panose="020F0502020204030204" pitchFamily="34" charset="0"/>
            </a:endParaRPr>
          </a:p>
          <a:p>
            <a:pPr marL="0" indent="0" algn="ctr">
              <a:lnSpc>
                <a:spcPct val="113000"/>
              </a:lnSpc>
              <a:buNone/>
            </a:pPr>
            <a:r>
              <a:rPr lang="en-IN" dirty="0">
                <a:latin typeface="Calibri" panose="020F0502020204030204" pitchFamily="34" charset="0"/>
                <a:cs typeface="Calibri" panose="020F0502020204030204" pitchFamily="34" charset="0"/>
              </a:rPr>
              <a:t>5e</a:t>
            </a:r>
            <a:r>
              <a:rPr lang="en-IN" baseline="30000" dirty="0">
                <a:latin typeface="Calibri" panose="020F0502020204030204" pitchFamily="34" charset="0"/>
                <a:cs typeface="Calibri" panose="020F0502020204030204" pitchFamily="34" charset="0"/>
              </a:rPr>
              <a:t>-</a:t>
            </a:r>
            <a:r>
              <a:rPr lang="en-IN" dirty="0">
                <a:latin typeface="Calibri" panose="020F0502020204030204" pitchFamily="34" charset="0"/>
                <a:cs typeface="Calibri" panose="020F0502020204030204" pitchFamily="34" charset="0"/>
              </a:rPr>
              <a:t> + 8H</a:t>
            </a:r>
            <a:r>
              <a:rPr lang="en-IN" baseline="30000" dirty="0">
                <a:latin typeface="Calibri" panose="020F0502020204030204" pitchFamily="34" charset="0"/>
                <a:cs typeface="Calibri" panose="020F0502020204030204" pitchFamily="34" charset="0"/>
              </a:rPr>
              <a:t>+</a:t>
            </a:r>
            <a:r>
              <a:rPr lang="en-IN" dirty="0">
                <a:latin typeface="Calibri" panose="020F0502020204030204" pitchFamily="34" charset="0"/>
                <a:cs typeface="Calibri" panose="020F0502020204030204" pitchFamily="34" charset="0"/>
              </a:rPr>
              <a:t> + MnO</a:t>
            </a:r>
            <a:r>
              <a:rPr lang="en-IN" baseline="-25000" dirty="0">
                <a:latin typeface="Calibri" panose="020F0502020204030204" pitchFamily="34" charset="0"/>
                <a:cs typeface="Calibri" panose="020F0502020204030204" pitchFamily="34" charset="0"/>
              </a:rPr>
              <a:t>4</a:t>
            </a:r>
            <a:r>
              <a:rPr lang="en-IN" baseline="30000" dirty="0">
                <a:latin typeface="Calibri" panose="020F0502020204030204" pitchFamily="34" charset="0"/>
                <a:cs typeface="Calibri" panose="020F0502020204030204" pitchFamily="34" charset="0"/>
              </a:rPr>
              <a:t>-</a:t>
            </a:r>
            <a:r>
              <a:rPr lang="en-IN" dirty="0">
                <a:latin typeface="Calibri" panose="020F0502020204030204" pitchFamily="34" charset="0"/>
                <a:cs typeface="Calibri" panose="020F0502020204030204" pitchFamily="34" charset="0"/>
              </a:rPr>
              <a:t> → Mn</a:t>
            </a:r>
            <a:r>
              <a:rPr lang="en-IN" baseline="30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 + 4H</a:t>
            </a:r>
            <a:r>
              <a:rPr lang="en-IN" baseline="-25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O</a:t>
            </a:r>
          </a:p>
          <a:p>
            <a:pPr marL="0" indent="0" algn="just">
              <a:lnSpc>
                <a:spcPct val="113000"/>
              </a:lnSpc>
              <a:buNone/>
            </a:pPr>
            <a:r>
              <a:rPr lang="en-IN" b="1" dirty="0">
                <a:latin typeface="Calibri" panose="020F0502020204030204" pitchFamily="34" charset="0"/>
                <a:cs typeface="Calibri" panose="020F0502020204030204" pitchFamily="34" charset="0"/>
              </a:rPr>
              <a:t>Solution: </a:t>
            </a:r>
          </a:p>
          <a:p>
            <a:pPr marL="0" lvl="0" indent="0" algn="just">
              <a:lnSpc>
                <a:spcPct val="113000"/>
              </a:lnSpc>
              <a:buNone/>
            </a:pPr>
            <a:r>
              <a:rPr lang="en-IN" dirty="0">
                <a:latin typeface="Calibri" panose="020F0502020204030204" pitchFamily="34" charset="0"/>
                <a:cs typeface="Calibri" panose="020F0502020204030204" pitchFamily="34" charset="0"/>
              </a:rPr>
              <a:t>Multiply the half-equations to get equal number of electrons,</a:t>
            </a:r>
          </a:p>
          <a:p>
            <a:pPr marL="0" indent="0" algn="ctr">
              <a:lnSpc>
                <a:spcPct val="113000"/>
              </a:lnSpc>
              <a:buNone/>
            </a:pPr>
            <a:r>
              <a:rPr lang="en-IN" dirty="0">
                <a:latin typeface="Calibri" panose="020F0502020204030204" pitchFamily="34" charset="0"/>
                <a:cs typeface="Calibri" panose="020F0502020204030204" pitchFamily="34" charset="0"/>
              </a:rPr>
              <a:t>(C</a:t>
            </a:r>
            <a:r>
              <a:rPr lang="en-IN" baseline="-25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O</a:t>
            </a:r>
            <a:r>
              <a:rPr lang="en-IN" baseline="-25000" dirty="0">
                <a:latin typeface="Calibri" panose="020F0502020204030204" pitchFamily="34" charset="0"/>
                <a:cs typeface="Calibri" panose="020F0502020204030204" pitchFamily="34" charset="0"/>
              </a:rPr>
              <a:t>4</a:t>
            </a:r>
            <a:r>
              <a:rPr lang="en-IN" baseline="30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 → 2CO</a:t>
            </a:r>
            <a:r>
              <a:rPr lang="en-IN" baseline="-25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 + 2e</a:t>
            </a:r>
            <a:r>
              <a:rPr lang="en-IN" baseline="30000" dirty="0">
                <a:latin typeface="Calibri" panose="020F0502020204030204" pitchFamily="34" charset="0"/>
                <a:cs typeface="Calibri" panose="020F0502020204030204" pitchFamily="34" charset="0"/>
              </a:rPr>
              <a:t>-</a:t>
            </a:r>
            <a:r>
              <a:rPr lang="en-IN" dirty="0">
                <a:latin typeface="Calibri" panose="020F0502020204030204" pitchFamily="34" charset="0"/>
                <a:cs typeface="Calibri" panose="020F0502020204030204" pitchFamily="34" charset="0"/>
              </a:rPr>
              <a:t>) × 5</a:t>
            </a:r>
          </a:p>
          <a:p>
            <a:pPr marL="0" indent="0" algn="ctr">
              <a:lnSpc>
                <a:spcPct val="113000"/>
              </a:lnSpc>
              <a:buNone/>
            </a:pPr>
            <a:r>
              <a:rPr lang="en-IN" dirty="0">
                <a:latin typeface="Calibri" panose="020F0502020204030204" pitchFamily="34" charset="0"/>
                <a:cs typeface="Calibri" panose="020F0502020204030204" pitchFamily="34" charset="0"/>
              </a:rPr>
              <a:t>(5e</a:t>
            </a:r>
            <a:r>
              <a:rPr lang="en-IN" baseline="30000" dirty="0">
                <a:latin typeface="Calibri" panose="020F0502020204030204" pitchFamily="34" charset="0"/>
                <a:cs typeface="Calibri" panose="020F0502020204030204" pitchFamily="34" charset="0"/>
              </a:rPr>
              <a:t>-</a:t>
            </a:r>
            <a:r>
              <a:rPr lang="en-IN" dirty="0">
                <a:latin typeface="Calibri" panose="020F0502020204030204" pitchFamily="34" charset="0"/>
                <a:cs typeface="Calibri" panose="020F0502020204030204" pitchFamily="34" charset="0"/>
              </a:rPr>
              <a:t> + 8H</a:t>
            </a:r>
            <a:r>
              <a:rPr lang="en-IN" baseline="30000" dirty="0">
                <a:latin typeface="Calibri" panose="020F0502020204030204" pitchFamily="34" charset="0"/>
                <a:cs typeface="Calibri" panose="020F0502020204030204" pitchFamily="34" charset="0"/>
              </a:rPr>
              <a:t>+</a:t>
            </a:r>
            <a:r>
              <a:rPr lang="en-IN" dirty="0">
                <a:latin typeface="Calibri" panose="020F0502020204030204" pitchFamily="34" charset="0"/>
                <a:cs typeface="Calibri" panose="020F0502020204030204" pitchFamily="34" charset="0"/>
              </a:rPr>
              <a:t> + MnO</a:t>
            </a:r>
            <a:r>
              <a:rPr lang="en-IN" baseline="-25000" dirty="0">
                <a:latin typeface="Calibri" panose="020F0502020204030204" pitchFamily="34" charset="0"/>
                <a:cs typeface="Calibri" panose="020F0502020204030204" pitchFamily="34" charset="0"/>
              </a:rPr>
              <a:t>4</a:t>
            </a:r>
            <a:r>
              <a:rPr lang="en-IN" baseline="30000" dirty="0">
                <a:latin typeface="Calibri" panose="020F0502020204030204" pitchFamily="34" charset="0"/>
                <a:cs typeface="Calibri" panose="020F0502020204030204" pitchFamily="34" charset="0"/>
              </a:rPr>
              <a:t>-</a:t>
            </a:r>
            <a:r>
              <a:rPr lang="en-IN" dirty="0">
                <a:latin typeface="Calibri" panose="020F0502020204030204" pitchFamily="34" charset="0"/>
                <a:cs typeface="Calibri" panose="020F0502020204030204" pitchFamily="34" charset="0"/>
              </a:rPr>
              <a:t> → Mn</a:t>
            </a:r>
            <a:r>
              <a:rPr lang="en-IN" baseline="30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 + 4H</a:t>
            </a:r>
            <a:r>
              <a:rPr lang="en-IN" baseline="-25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O) × 2</a:t>
            </a:r>
          </a:p>
          <a:p>
            <a:pPr marL="0" indent="0" algn="ctr">
              <a:lnSpc>
                <a:spcPct val="113000"/>
              </a:lnSpc>
              <a:buNone/>
            </a:pPr>
            <a:r>
              <a:rPr lang="en-IN" dirty="0">
                <a:latin typeface="Calibri" panose="020F0502020204030204" pitchFamily="34" charset="0"/>
                <a:cs typeface="Calibri" panose="020F0502020204030204" pitchFamily="34" charset="0"/>
              </a:rPr>
              <a:t>5C</a:t>
            </a:r>
            <a:r>
              <a:rPr lang="en-IN" baseline="-25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O</a:t>
            </a:r>
            <a:r>
              <a:rPr lang="en-IN" baseline="-25000" dirty="0">
                <a:latin typeface="Calibri" panose="020F0502020204030204" pitchFamily="34" charset="0"/>
                <a:cs typeface="Calibri" panose="020F0502020204030204" pitchFamily="34" charset="0"/>
              </a:rPr>
              <a:t>4</a:t>
            </a:r>
            <a:r>
              <a:rPr lang="en-IN" baseline="30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 → 10CO</a:t>
            </a:r>
            <a:r>
              <a:rPr lang="en-IN" baseline="-25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 + 10e</a:t>
            </a:r>
            <a:r>
              <a:rPr lang="en-IN" baseline="30000" dirty="0">
                <a:latin typeface="Calibri" panose="020F0502020204030204" pitchFamily="34" charset="0"/>
                <a:cs typeface="Calibri" panose="020F0502020204030204" pitchFamily="34" charset="0"/>
              </a:rPr>
              <a:t>-</a:t>
            </a:r>
            <a:endParaRPr lang="en-IN" dirty="0">
              <a:latin typeface="Calibri" panose="020F0502020204030204" pitchFamily="34" charset="0"/>
              <a:cs typeface="Calibri" panose="020F0502020204030204" pitchFamily="34" charset="0"/>
            </a:endParaRPr>
          </a:p>
          <a:p>
            <a:pPr marL="0" indent="0" algn="ctr">
              <a:lnSpc>
                <a:spcPct val="113000"/>
              </a:lnSpc>
              <a:buNone/>
            </a:pPr>
            <a:r>
              <a:rPr lang="en-IN" dirty="0">
                <a:latin typeface="Calibri" panose="020F0502020204030204" pitchFamily="34" charset="0"/>
                <a:cs typeface="Calibri" panose="020F0502020204030204" pitchFamily="34" charset="0"/>
              </a:rPr>
              <a:t>10e</a:t>
            </a:r>
            <a:r>
              <a:rPr lang="en-IN" baseline="30000" dirty="0">
                <a:latin typeface="Calibri" panose="020F0502020204030204" pitchFamily="34" charset="0"/>
                <a:cs typeface="Calibri" panose="020F0502020204030204" pitchFamily="34" charset="0"/>
              </a:rPr>
              <a:t>-</a:t>
            </a:r>
            <a:r>
              <a:rPr lang="en-IN" dirty="0">
                <a:latin typeface="Calibri" panose="020F0502020204030204" pitchFamily="34" charset="0"/>
                <a:cs typeface="Calibri" panose="020F0502020204030204" pitchFamily="34" charset="0"/>
              </a:rPr>
              <a:t> + 16H</a:t>
            </a:r>
            <a:r>
              <a:rPr lang="en-IN" baseline="30000" dirty="0">
                <a:latin typeface="Calibri" panose="020F0502020204030204" pitchFamily="34" charset="0"/>
                <a:cs typeface="Calibri" panose="020F0502020204030204" pitchFamily="34" charset="0"/>
              </a:rPr>
              <a:t>+</a:t>
            </a:r>
            <a:r>
              <a:rPr lang="en-IN" dirty="0">
                <a:latin typeface="Calibri" panose="020F0502020204030204" pitchFamily="34" charset="0"/>
                <a:cs typeface="Calibri" panose="020F0502020204030204" pitchFamily="34" charset="0"/>
              </a:rPr>
              <a:t> + 2MnO</a:t>
            </a:r>
            <a:r>
              <a:rPr lang="en-IN" baseline="-25000" dirty="0">
                <a:latin typeface="Calibri" panose="020F0502020204030204" pitchFamily="34" charset="0"/>
                <a:cs typeface="Calibri" panose="020F0502020204030204" pitchFamily="34" charset="0"/>
              </a:rPr>
              <a:t>4</a:t>
            </a:r>
            <a:r>
              <a:rPr lang="en-IN" baseline="30000" dirty="0">
                <a:latin typeface="Calibri" panose="020F0502020204030204" pitchFamily="34" charset="0"/>
                <a:cs typeface="Calibri" panose="020F0502020204030204" pitchFamily="34" charset="0"/>
              </a:rPr>
              <a:t>-</a:t>
            </a:r>
            <a:r>
              <a:rPr lang="en-IN" dirty="0">
                <a:latin typeface="Calibri" panose="020F0502020204030204" pitchFamily="34" charset="0"/>
                <a:cs typeface="Calibri" panose="020F0502020204030204" pitchFamily="34" charset="0"/>
              </a:rPr>
              <a:t> → 2Mn</a:t>
            </a:r>
            <a:r>
              <a:rPr lang="en-IN" baseline="30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 + 8H</a:t>
            </a:r>
            <a:r>
              <a:rPr lang="en-IN" baseline="-25000" dirty="0">
                <a:latin typeface="Calibri" panose="020F0502020204030204" pitchFamily="34" charset="0"/>
                <a:cs typeface="Calibri" panose="020F0502020204030204" pitchFamily="34" charset="0"/>
              </a:rPr>
              <a:t>2</a:t>
            </a:r>
            <a:r>
              <a:rPr lang="en-IN" dirty="0">
                <a:latin typeface="Calibri" panose="020F0502020204030204" pitchFamily="34" charset="0"/>
                <a:cs typeface="Calibri" panose="020F0502020204030204" pitchFamily="34" charset="0"/>
              </a:rPr>
              <a:t>O</a:t>
            </a:r>
          </a:p>
          <a:p>
            <a:pPr marL="0" lvl="0" indent="0" algn="just">
              <a:lnSpc>
                <a:spcPct val="113000"/>
              </a:lnSpc>
              <a:buNone/>
            </a:pPr>
            <a:r>
              <a:rPr lang="en-IN" dirty="0">
                <a:latin typeface="Calibri" panose="020F0502020204030204" pitchFamily="34" charset="0"/>
                <a:cs typeface="Calibri" panose="020F0502020204030204" pitchFamily="34" charset="0"/>
              </a:rPr>
              <a:t>Combine the equations and adding state symbols,</a:t>
            </a:r>
          </a:p>
          <a:p>
            <a:pPr marL="0" indent="0" algn="ctr">
              <a:lnSpc>
                <a:spcPct val="113000"/>
              </a:lnSpc>
              <a:buNone/>
            </a:pPr>
            <a:r>
              <a:rPr lang="pt-BR" sz="1400" dirty="0">
                <a:latin typeface="Calibri" panose="020F0502020204030204" pitchFamily="34" charset="0"/>
                <a:cs typeface="Calibri" panose="020F0502020204030204" pitchFamily="34" charset="0"/>
              </a:rPr>
              <a:t>5C</a:t>
            </a:r>
            <a:r>
              <a:rPr lang="pt-BR" sz="1400" baseline="-25000" dirty="0">
                <a:latin typeface="Calibri" panose="020F0502020204030204" pitchFamily="34" charset="0"/>
                <a:cs typeface="Calibri" panose="020F0502020204030204" pitchFamily="34" charset="0"/>
              </a:rPr>
              <a:t>2</a:t>
            </a:r>
            <a:r>
              <a:rPr lang="pt-BR" sz="1400" dirty="0">
                <a:latin typeface="Calibri" panose="020F0502020204030204" pitchFamily="34" charset="0"/>
                <a:cs typeface="Calibri" panose="020F0502020204030204" pitchFamily="34" charset="0"/>
              </a:rPr>
              <a:t>O</a:t>
            </a:r>
            <a:r>
              <a:rPr lang="pt-BR" sz="1400" baseline="-25000" dirty="0">
                <a:latin typeface="Calibri" panose="020F0502020204030204" pitchFamily="34" charset="0"/>
                <a:cs typeface="Calibri" panose="020F0502020204030204" pitchFamily="34" charset="0"/>
              </a:rPr>
              <a:t>4</a:t>
            </a:r>
            <a:r>
              <a:rPr lang="pt-BR" sz="1400" baseline="30000" dirty="0">
                <a:latin typeface="Calibri" panose="020F0502020204030204" pitchFamily="34" charset="0"/>
                <a:cs typeface="Calibri" panose="020F0502020204030204" pitchFamily="34" charset="0"/>
              </a:rPr>
              <a:t>2-</a:t>
            </a:r>
            <a:r>
              <a:rPr lang="pt-BR" sz="1400" dirty="0">
                <a:latin typeface="Calibri" panose="020F0502020204030204" pitchFamily="34" charset="0"/>
                <a:cs typeface="Calibri" panose="020F0502020204030204" pitchFamily="34" charset="0"/>
              </a:rPr>
              <a:t> (aq) + 16H</a:t>
            </a:r>
            <a:r>
              <a:rPr lang="pt-BR" sz="1400" baseline="30000" dirty="0">
                <a:latin typeface="Calibri" panose="020F0502020204030204" pitchFamily="34" charset="0"/>
                <a:cs typeface="Calibri" panose="020F0502020204030204" pitchFamily="34" charset="0"/>
              </a:rPr>
              <a:t>+</a:t>
            </a:r>
            <a:r>
              <a:rPr lang="pt-BR" sz="1400" dirty="0">
                <a:latin typeface="Calibri" panose="020F0502020204030204" pitchFamily="34" charset="0"/>
                <a:cs typeface="Calibri" panose="020F0502020204030204" pitchFamily="34" charset="0"/>
              </a:rPr>
              <a:t> (aq) + 2MnO</a:t>
            </a:r>
            <a:r>
              <a:rPr lang="pt-BR" sz="1400" baseline="-25000" dirty="0">
                <a:latin typeface="Calibri" panose="020F0502020204030204" pitchFamily="34" charset="0"/>
                <a:cs typeface="Calibri" panose="020F0502020204030204" pitchFamily="34" charset="0"/>
              </a:rPr>
              <a:t>4</a:t>
            </a:r>
            <a:r>
              <a:rPr lang="pt-BR" sz="1400" baseline="30000" dirty="0">
                <a:latin typeface="Calibri" panose="020F0502020204030204" pitchFamily="34" charset="0"/>
                <a:cs typeface="Calibri" panose="020F0502020204030204" pitchFamily="34" charset="0"/>
              </a:rPr>
              <a:t>-</a:t>
            </a:r>
            <a:r>
              <a:rPr lang="pt-BR" sz="1400" dirty="0">
                <a:latin typeface="Calibri" panose="020F0502020204030204" pitchFamily="34" charset="0"/>
                <a:cs typeface="Calibri" panose="020F0502020204030204" pitchFamily="34" charset="0"/>
              </a:rPr>
              <a:t> (aq) → 10CO</a:t>
            </a:r>
            <a:r>
              <a:rPr lang="pt-BR" sz="1400" baseline="-25000" dirty="0">
                <a:latin typeface="Calibri" panose="020F0502020204030204" pitchFamily="34" charset="0"/>
                <a:cs typeface="Calibri" panose="020F0502020204030204" pitchFamily="34" charset="0"/>
              </a:rPr>
              <a:t>2</a:t>
            </a:r>
            <a:r>
              <a:rPr lang="pt-BR" sz="1400" dirty="0">
                <a:latin typeface="Calibri" panose="020F0502020204030204" pitchFamily="34" charset="0"/>
                <a:cs typeface="Calibri" panose="020F0502020204030204" pitchFamily="34" charset="0"/>
              </a:rPr>
              <a:t> (g) + 2Mn</a:t>
            </a:r>
            <a:r>
              <a:rPr lang="pt-BR" sz="1400" baseline="30000" dirty="0">
                <a:latin typeface="Calibri" panose="020F0502020204030204" pitchFamily="34" charset="0"/>
                <a:cs typeface="Calibri" panose="020F0502020204030204" pitchFamily="34" charset="0"/>
              </a:rPr>
              <a:t>2+</a:t>
            </a:r>
            <a:r>
              <a:rPr lang="pt-BR" sz="1400" dirty="0">
                <a:latin typeface="Calibri" panose="020F0502020204030204" pitchFamily="34" charset="0"/>
                <a:cs typeface="Calibri" panose="020F0502020204030204" pitchFamily="34" charset="0"/>
              </a:rPr>
              <a:t> (aq) + 8H</a:t>
            </a:r>
            <a:r>
              <a:rPr lang="pt-BR" sz="1400" baseline="-25000" dirty="0">
                <a:latin typeface="Calibri" panose="020F0502020204030204" pitchFamily="34" charset="0"/>
                <a:cs typeface="Calibri" panose="020F0502020204030204" pitchFamily="34" charset="0"/>
              </a:rPr>
              <a:t>2</a:t>
            </a:r>
            <a:r>
              <a:rPr lang="pt-BR" sz="1400" dirty="0">
                <a:latin typeface="Calibri" panose="020F0502020204030204" pitchFamily="34" charset="0"/>
                <a:cs typeface="Calibri" panose="020F0502020204030204" pitchFamily="34" charset="0"/>
              </a:rPr>
              <a:t>O (</a:t>
            </a:r>
            <a:r>
              <a:rPr lang="pt-BR" sz="1400">
                <a:latin typeface="Calibri" panose="020F0502020204030204" pitchFamily="34" charset="0"/>
                <a:cs typeface="Calibri" panose="020F0502020204030204" pitchFamily="34" charset="0"/>
              </a:rPr>
              <a:t>l)</a:t>
            </a:r>
            <a:endParaRPr lang="pt-BR"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565514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2174</Words>
  <Application>Microsoft Office PowerPoint</Application>
  <PresentationFormat>On-screen Show (16:9)</PresentationFormat>
  <Paragraphs>231</Paragraphs>
  <Slides>24</Slides>
  <Notes>24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24</vt:i4>
      </vt:variant>
    </vt:vector>
  </HeadingPairs>
  <TitlesOfParts>
    <vt:vector size="29" baseType="lpstr">
      <vt:lpstr>Roboto</vt:lpstr>
      <vt:lpstr>Arial</vt:lpstr>
      <vt:lpstr>Calibri</vt:lpstr>
      <vt:lpstr>Simple Light</vt:lpstr>
      <vt:lpstr>Material</vt:lpstr>
      <vt:lpstr>Electrochemistry</vt:lpstr>
      <vt:lpstr>Introduction</vt:lpstr>
      <vt:lpstr>Redox Reactions </vt:lpstr>
      <vt:lpstr>Redox and Electron Transfer</vt:lpstr>
      <vt:lpstr>Redox and Electron Transfer</vt:lpstr>
      <vt:lpstr>Redox and Electron Transfer</vt:lpstr>
      <vt:lpstr>Oxidation Numbers</vt:lpstr>
      <vt:lpstr>Oxidation Numbers</vt:lpstr>
      <vt:lpstr>Oxidation Numbers</vt:lpstr>
      <vt:lpstr>Calculating Oxidation Numbers</vt:lpstr>
      <vt:lpstr>Writing Formulae Using Oxidation Numbers</vt:lpstr>
      <vt:lpstr>Writing Formulae Using Oxidation Numbers</vt:lpstr>
      <vt:lpstr>Writing Formulae Using Oxidation Numbers</vt:lpstr>
      <vt:lpstr>Writing Formulae Using Oxidation Numbers</vt:lpstr>
      <vt:lpstr>Writing Formulae Using Oxidation Numbers</vt:lpstr>
      <vt:lpstr>Writing Formulae Using Oxidation Numbers</vt:lpstr>
      <vt:lpstr>Redox and Changes In Oxidation Number</vt:lpstr>
      <vt:lpstr>Redox and Changes In Oxidation Number</vt:lpstr>
      <vt:lpstr>Redox Reactions of Metal With Acid</vt:lpstr>
      <vt:lpstr>Disproportionation</vt:lpstr>
      <vt:lpstr>Disproportionation</vt:lpstr>
      <vt:lpstr>Disproportionation</vt:lpstr>
      <vt:lpstr>Balancing redox equations</vt:lpstr>
      <vt:lpstr>Balancing redox equations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cp:lastModifiedBy>SUTHAN SELVARAJ</cp:lastModifiedBy>
  <cp:revision>66</cp:revision>
  <dcterms:modified xsi:type="dcterms:W3CDTF">2021-04-23T08:26:42Z</dcterms:modified>
</cp:coreProperties>
</file>