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40"/>
  </p:notesMasterIdLst>
  <p:sldIdLst>
    <p:sldId id="256" r:id="rId3"/>
    <p:sldId id="307" r:id="rId4"/>
    <p:sldId id="308" r:id="rId5"/>
    <p:sldId id="309" r:id="rId6"/>
    <p:sldId id="311" r:id="rId7"/>
    <p:sldId id="312" r:id="rId8"/>
    <p:sldId id="313" r:id="rId9"/>
    <p:sldId id="314" r:id="rId10"/>
    <p:sldId id="326" r:id="rId11"/>
    <p:sldId id="327" r:id="rId12"/>
    <p:sldId id="328" r:id="rId13"/>
    <p:sldId id="329" r:id="rId14"/>
    <p:sldId id="330" r:id="rId15"/>
    <p:sldId id="331" r:id="rId16"/>
    <p:sldId id="342" r:id="rId17"/>
    <p:sldId id="343" r:id="rId18"/>
    <p:sldId id="278" r:id="rId19"/>
    <p:sldId id="279" r:id="rId20"/>
    <p:sldId id="263" r:id="rId21"/>
    <p:sldId id="280" r:id="rId22"/>
    <p:sldId id="264" r:id="rId23"/>
    <p:sldId id="271" r:id="rId24"/>
    <p:sldId id="281" r:id="rId25"/>
    <p:sldId id="282" r:id="rId26"/>
    <p:sldId id="344" r:id="rId27"/>
    <p:sldId id="273" r:id="rId28"/>
    <p:sldId id="274" r:id="rId29"/>
    <p:sldId id="276" r:id="rId30"/>
    <p:sldId id="277" r:id="rId31"/>
    <p:sldId id="305" r:id="rId32"/>
    <p:sldId id="306" r:id="rId33"/>
    <p:sldId id="301" r:id="rId34"/>
    <p:sldId id="345" r:id="rId35"/>
    <p:sldId id="302" r:id="rId36"/>
    <p:sldId id="346" r:id="rId37"/>
    <p:sldId id="303" r:id="rId38"/>
    <p:sldId id="304" r:id="rId39"/>
  </p:sldIdLst>
  <p:sldSz cx="9144000" cy="5143500" type="screen16x9"/>
  <p:notesSz cx="6858000" cy="9144000"/>
  <p:embeddedFontLst>
    <p:embeddedFont>
      <p:font typeface="Calibri" panose="020F0502020204030204" pitchFamily="34" charset="0"/>
      <p:regular r:id="rId41"/>
      <p:bold r:id="rId42"/>
      <p:italic r:id="rId43"/>
      <p:boldItalic r:id="rId44"/>
    </p:embeddedFont>
    <p:embeddedFont>
      <p:font typeface="Cambria Math" panose="02040503050406030204" pitchFamily="18" charset="0"/>
      <p:regular r:id="rId45"/>
    </p:embeddedFont>
    <p:embeddedFont>
      <p:font typeface="Roboto" panose="02000000000000000000" pitchFamily="2" charset="0"/>
      <p:regular r:id="rId46"/>
      <p:bold r:id="rId47"/>
      <p:italic r:id="rId48"/>
      <p:boldItalic r:id="rId49"/>
    </p:embeddedFont>
    <p:embeddedFont>
      <p:font typeface="Roboto Condensed" panose="02000000000000000000" pitchFamily="2"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alha Naveed" initials="TN" lastIdx="1" clrIdx="0"/>
  <p:cmAuthor id="1" name="SUTHAN SELVARAJ" initials="SS" lastIdx="1" clrIdx="1">
    <p:extLst>
      <p:ext uri="{19B8F6BF-5375-455C-9EA6-DF929625EA0E}">
        <p15:presenceInfo xmlns:p15="http://schemas.microsoft.com/office/powerpoint/2012/main" userId="S::18061952@imail.sunway.edu.my::2efb98fe-2ea7-4325-9d1d-55f3fd5226b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858"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1.fntdata"/><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9.fntdata"/><Relationship Id="rId57"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4.fntdata"/><Relationship Id="rId52" Type="http://schemas.openxmlformats.org/officeDocument/2006/relationships/font" Target="fonts/font1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11.fntdata"/><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5246235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94e51d7b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94e51d7b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9874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3077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4560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9841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7612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22085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3568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4376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21034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87399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19555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8502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18073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51512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03021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2489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5708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40155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83750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93244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35443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29503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38486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5415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24923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88492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6033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23396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28223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80109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53883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5623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13843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98877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9843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97420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6355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4"/>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4"/>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8" name="Google Shape;58;p14"/>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59" name="Google Shape;59;p1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62" name="Google Shape;62;p1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3"/>
        <p:cNvGrpSpPr/>
        <p:nvPr/>
      </p:nvGrpSpPr>
      <p:grpSpPr>
        <a:xfrm>
          <a:off x="0" y="0"/>
          <a:ext cx="0" cy="0"/>
          <a:chOff x="0" y="0"/>
          <a:chExt cx="0" cy="0"/>
        </a:xfrm>
      </p:grpSpPr>
      <p:sp>
        <p:nvSpPr>
          <p:cNvPr id="64" name="Google Shape;64;p16"/>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6"/>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7" name="Google Shape;67;p16"/>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68" name="Google Shape;68;p1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9"/>
        <p:cNvGrpSpPr/>
        <p:nvPr/>
      </p:nvGrpSpPr>
      <p:grpSpPr>
        <a:xfrm>
          <a:off x="0" y="0"/>
          <a:ext cx="0" cy="0"/>
          <a:chOff x="0" y="0"/>
          <a:chExt cx="0" cy="0"/>
        </a:xfrm>
      </p:grpSpPr>
      <p:sp>
        <p:nvSpPr>
          <p:cNvPr id="70" name="Google Shape;70;p17"/>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7"/>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3" name="Google Shape;73;p17"/>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4" name="Google Shape;74;p17"/>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5" name="Google Shape;75;p1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18"/>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8"/>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8"/>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80" name="Google Shape;80;p1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1"/>
        <p:cNvGrpSpPr/>
        <p:nvPr/>
      </p:nvGrpSpPr>
      <p:grpSpPr>
        <a:xfrm>
          <a:off x="0" y="0"/>
          <a:ext cx="0" cy="0"/>
          <a:chOff x="0" y="0"/>
          <a:chExt cx="0" cy="0"/>
        </a:xfrm>
      </p:grpSpPr>
      <p:sp>
        <p:nvSpPr>
          <p:cNvPr id="82" name="Google Shape;82;p19"/>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9"/>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5" name="Google Shape;85;p19"/>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lstStyle>
            <a:lvl1pPr marL="457200" lvl="0" indent="-304800" rtl="0">
              <a:spcBef>
                <a:spcPts val="0"/>
              </a:spcBef>
              <a:spcAft>
                <a:spcPts val="0"/>
              </a:spcAft>
              <a:buClr>
                <a:schemeClr val="lt1"/>
              </a:buClr>
              <a:buSzPts val="1200"/>
              <a:buChar char="●"/>
              <a:defRPr sz="1200">
                <a:solidFill>
                  <a:schemeClr val="lt1"/>
                </a:solidFill>
              </a:defRPr>
            </a:lvl1pPr>
            <a:lvl2pPr marL="914400" lvl="1" indent="-304800" rtl="0">
              <a:spcBef>
                <a:spcPts val="1600"/>
              </a:spcBef>
              <a:spcAft>
                <a:spcPts val="0"/>
              </a:spcAft>
              <a:buClr>
                <a:schemeClr val="lt1"/>
              </a:buClr>
              <a:buSzPts val="1200"/>
              <a:buChar char="○"/>
              <a:defRPr sz="1200">
                <a:solidFill>
                  <a:schemeClr val="lt1"/>
                </a:solidFill>
              </a:defRPr>
            </a:lvl2pPr>
            <a:lvl3pPr marL="1371600" lvl="2" indent="-304800" rtl="0">
              <a:spcBef>
                <a:spcPts val="1600"/>
              </a:spcBef>
              <a:spcAft>
                <a:spcPts val="0"/>
              </a:spcAft>
              <a:buClr>
                <a:schemeClr val="lt1"/>
              </a:buClr>
              <a:buSzPts val="1200"/>
              <a:buChar char="■"/>
              <a:defRPr sz="1200">
                <a:solidFill>
                  <a:schemeClr val="lt1"/>
                </a:solidFill>
              </a:defRPr>
            </a:lvl3pPr>
            <a:lvl4pPr marL="1828800" lvl="3" indent="-304800" rtl="0">
              <a:spcBef>
                <a:spcPts val="1600"/>
              </a:spcBef>
              <a:spcAft>
                <a:spcPts val="0"/>
              </a:spcAft>
              <a:buClr>
                <a:schemeClr val="lt1"/>
              </a:buClr>
              <a:buSzPts val="1200"/>
              <a:buChar char="●"/>
              <a:defRPr sz="1200">
                <a:solidFill>
                  <a:schemeClr val="lt1"/>
                </a:solidFill>
              </a:defRPr>
            </a:lvl4pPr>
            <a:lvl5pPr marL="2286000" lvl="4" indent="-304800" rtl="0">
              <a:spcBef>
                <a:spcPts val="1600"/>
              </a:spcBef>
              <a:spcAft>
                <a:spcPts val="0"/>
              </a:spcAft>
              <a:buClr>
                <a:schemeClr val="lt1"/>
              </a:buClr>
              <a:buSzPts val="1200"/>
              <a:buChar char="○"/>
              <a:defRPr sz="1200">
                <a:solidFill>
                  <a:schemeClr val="lt1"/>
                </a:solidFill>
              </a:defRPr>
            </a:lvl5pPr>
            <a:lvl6pPr marL="2743200" lvl="5" indent="-304800" rtl="0">
              <a:spcBef>
                <a:spcPts val="1600"/>
              </a:spcBef>
              <a:spcAft>
                <a:spcPts val="0"/>
              </a:spcAft>
              <a:buClr>
                <a:schemeClr val="lt1"/>
              </a:buClr>
              <a:buSzPts val="1200"/>
              <a:buChar char="■"/>
              <a:defRPr sz="1200">
                <a:solidFill>
                  <a:schemeClr val="lt1"/>
                </a:solidFill>
              </a:defRPr>
            </a:lvl6pPr>
            <a:lvl7pPr marL="3200400" lvl="6" indent="-304800" rtl="0">
              <a:spcBef>
                <a:spcPts val="1600"/>
              </a:spcBef>
              <a:spcAft>
                <a:spcPts val="0"/>
              </a:spcAft>
              <a:buClr>
                <a:schemeClr val="lt1"/>
              </a:buClr>
              <a:buSzPts val="1200"/>
              <a:buChar char="●"/>
              <a:defRPr sz="1200">
                <a:solidFill>
                  <a:schemeClr val="lt1"/>
                </a:solidFill>
              </a:defRPr>
            </a:lvl7pPr>
            <a:lvl8pPr marL="3657600" lvl="7" indent="-304800" rtl="0">
              <a:spcBef>
                <a:spcPts val="1600"/>
              </a:spcBef>
              <a:spcAft>
                <a:spcPts val="0"/>
              </a:spcAft>
              <a:buClr>
                <a:schemeClr val="lt1"/>
              </a:buClr>
              <a:buSzPts val="1200"/>
              <a:buChar char="○"/>
              <a:defRPr sz="1200">
                <a:solidFill>
                  <a:schemeClr val="lt1"/>
                </a:solidFill>
              </a:defRPr>
            </a:lvl8pPr>
            <a:lvl9pPr marL="4114800" lvl="8" indent="-304800" rtl="0">
              <a:spcBef>
                <a:spcPts val="1600"/>
              </a:spcBef>
              <a:spcAft>
                <a:spcPts val="1600"/>
              </a:spcAft>
              <a:buClr>
                <a:schemeClr val="lt1"/>
              </a:buClr>
              <a:buSzPts val="1200"/>
              <a:buChar char="■"/>
              <a:defRPr sz="1200">
                <a:solidFill>
                  <a:schemeClr val="lt1"/>
                </a:solidFill>
              </a:defRPr>
            </a:lvl9pPr>
          </a:lstStyle>
          <a:p>
            <a:endParaRPr/>
          </a:p>
        </p:txBody>
      </p:sp>
      <p:sp>
        <p:nvSpPr>
          <p:cNvPr id="86" name="Google Shape;86;p1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7"/>
        <p:cNvGrpSpPr/>
        <p:nvPr/>
      </p:nvGrpSpPr>
      <p:grpSpPr>
        <a:xfrm>
          <a:off x="0" y="0"/>
          <a:ext cx="0" cy="0"/>
          <a:chOff x="0" y="0"/>
          <a:chExt cx="0" cy="0"/>
        </a:xfrm>
      </p:grpSpPr>
      <p:sp>
        <p:nvSpPr>
          <p:cNvPr id="88" name="Google Shape;88;p20"/>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endParaRPr/>
          </a:p>
        </p:txBody>
      </p:sp>
      <p:sp>
        <p:nvSpPr>
          <p:cNvPr id="89" name="Google Shape;89;p2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0"/>
        <p:cNvGrpSpPr/>
        <p:nvPr/>
      </p:nvGrpSpPr>
      <p:grpSpPr>
        <a:xfrm>
          <a:off x="0" y="0"/>
          <a:ext cx="0" cy="0"/>
          <a:chOff x="0" y="0"/>
          <a:chExt cx="0" cy="0"/>
        </a:xfrm>
      </p:grpSpPr>
      <p:sp>
        <p:nvSpPr>
          <p:cNvPr id="91" name="Google Shape;91;p21"/>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1"/>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rtl="0">
              <a:spcBef>
                <a:spcPts val="0"/>
              </a:spcBef>
              <a:spcAft>
                <a:spcPts val="0"/>
              </a:spcAft>
              <a:buClr>
                <a:schemeClr val="dk2"/>
              </a:buClr>
              <a:buSzPts val="4200"/>
              <a:buNone/>
              <a:defRPr sz="4200">
                <a:solidFill>
                  <a:schemeClr val="dk2"/>
                </a:solidFill>
              </a:defRPr>
            </a:lvl1pPr>
            <a:lvl2pPr lvl="1" algn="ctr" rtl="0">
              <a:spcBef>
                <a:spcPts val="0"/>
              </a:spcBef>
              <a:spcAft>
                <a:spcPts val="0"/>
              </a:spcAft>
              <a:buClr>
                <a:schemeClr val="dk2"/>
              </a:buClr>
              <a:buSzPts val="4200"/>
              <a:buNone/>
              <a:defRPr sz="4200">
                <a:solidFill>
                  <a:schemeClr val="dk2"/>
                </a:solidFill>
              </a:defRPr>
            </a:lvl2pPr>
            <a:lvl3pPr lvl="2" algn="ctr" rtl="0">
              <a:spcBef>
                <a:spcPts val="0"/>
              </a:spcBef>
              <a:spcAft>
                <a:spcPts val="0"/>
              </a:spcAft>
              <a:buClr>
                <a:schemeClr val="dk2"/>
              </a:buClr>
              <a:buSzPts val="4200"/>
              <a:buNone/>
              <a:defRPr sz="4200">
                <a:solidFill>
                  <a:schemeClr val="dk2"/>
                </a:solidFill>
              </a:defRPr>
            </a:lvl3pPr>
            <a:lvl4pPr lvl="3" algn="ctr" rtl="0">
              <a:spcBef>
                <a:spcPts val="0"/>
              </a:spcBef>
              <a:spcAft>
                <a:spcPts val="0"/>
              </a:spcAft>
              <a:buClr>
                <a:schemeClr val="dk2"/>
              </a:buClr>
              <a:buSzPts val="4200"/>
              <a:buNone/>
              <a:defRPr sz="4200">
                <a:solidFill>
                  <a:schemeClr val="dk2"/>
                </a:solidFill>
              </a:defRPr>
            </a:lvl4pPr>
            <a:lvl5pPr lvl="4" algn="ctr" rtl="0">
              <a:spcBef>
                <a:spcPts val="0"/>
              </a:spcBef>
              <a:spcAft>
                <a:spcPts val="0"/>
              </a:spcAft>
              <a:buClr>
                <a:schemeClr val="dk2"/>
              </a:buClr>
              <a:buSzPts val="4200"/>
              <a:buNone/>
              <a:defRPr sz="4200">
                <a:solidFill>
                  <a:schemeClr val="dk2"/>
                </a:solidFill>
              </a:defRPr>
            </a:lvl5pPr>
            <a:lvl6pPr lvl="5" algn="ctr" rtl="0">
              <a:spcBef>
                <a:spcPts val="0"/>
              </a:spcBef>
              <a:spcAft>
                <a:spcPts val="0"/>
              </a:spcAft>
              <a:buClr>
                <a:schemeClr val="dk2"/>
              </a:buClr>
              <a:buSzPts val="4200"/>
              <a:buNone/>
              <a:defRPr sz="4200">
                <a:solidFill>
                  <a:schemeClr val="dk2"/>
                </a:solidFill>
              </a:defRPr>
            </a:lvl6pPr>
            <a:lvl7pPr lvl="6" algn="ctr" rtl="0">
              <a:spcBef>
                <a:spcPts val="0"/>
              </a:spcBef>
              <a:spcAft>
                <a:spcPts val="0"/>
              </a:spcAft>
              <a:buClr>
                <a:schemeClr val="dk2"/>
              </a:buClr>
              <a:buSzPts val="4200"/>
              <a:buNone/>
              <a:defRPr sz="4200">
                <a:solidFill>
                  <a:schemeClr val="dk2"/>
                </a:solidFill>
              </a:defRPr>
            </a:lvl7pPr>
            <a:lvl8pPr lvl="7" algn="ctr" rtl="0">
              <a:spcBef>
                <a:spcPts val="0"/>
              </a:spcBef>
              <a:spcAft>
                <a:spcPts val="0"/>
              </a:spcAft>
              <a:buClr>
                <a:schemeClr val="dk2"/>
              </a:buClr>
              <a:buSzPts val="4200"/>
              <a:buNone/>
              <a:defRPr sz="4200">
                <a:solidFill>
                  <a:schemeClr val="dk2"/>
                </a:solidFill>
              </a:defRPr>
            </a:lvl8pPr>
            <a:lvl9pPr lvl="8" algn="ctr" rtl="0">
              <a:spcBef>
                <a:spcPts val="0"/>
              </a:spcBef>
              <a:spcAft>
                <a:spcPts val="0"/>
              </a:spcAft>
              <a:buClr>
                <a:schemeClr val="dk2"/>
              </a:buClr>
              <a:buSzPts val="4200"/>
              <a:buNone/>
              <a:defRPr sz="4200">
                <a:solidFill>
                  <a:schemeClr val="dk2"/>
                </a:solidFill>
              </a:defRPr>
            </a:lvl9pPr>
          </a:lstStyle>
          <a:p>
            <a:endParaRPr/>
          </a:p>
        </p:txBody>
      </p:sp>
      <p:sp>
        <p:nvSpPr>
          <p:cNvPr id="94" name="Google Shape;94;p21"/>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5" name="Google Shape;95;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96" name="Google Shape;96;p2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7"/>
        <p:cNvGrpSpPr/>
        <p:nvPr/>
      </p:nvGrpSpPr>
      <p:grpSpPr>
        <a:xfrm>
          <a:off x="0" y="0"/>
          <a:ext cx="0" cy="0"/>
          <a:chOff x="0" y="0"/>
          <a:chExt cx="0" cy="0"/>
        </a:xfrm>
      </p:grpSpPr>
      <p:sp>
        <p:nvSpPr>
          <p:cNvPr id="98" name="Google Shape;98;p22"/>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2"/>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lstStyle>
            <a:lvl1pPr marL="457200" lvl="0" indent="-228600" rtl="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101" name="Google Shape;101;p2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2"/>
        <p:cNvGrpSpPr/>
        <p:nvPr/>
      </p:nvGrpSpPr>
      <p:grpSpPr>
        <a:xfrm>
          <a:off x="0" y="0"/>
          <a:ext cx="0" cy="0"/>
          <a:chOff x="0" y="0"/>
          <a:chExt cx="0" cy="0"/>
        </a:xfrm>
      </p:grpSpPr>
      <p:sp>
        <p:nvSpPr>
          <p:cNvPr id="103" name="Google Shape;103;p23"/>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lstStyle>
            <a:lvl1pPr lvl="0" algn="ctr" rtl="0">
              <a:spcBef>
                <a:spcPts val="0"/>
              </a:spcBef>
              <a:spcAft>
                <a:spcPts val="0"/>
              </a:spcAft>
              <a:buClr>
                <a:schemeClr val="dk2"/>
              </a:buClr>
              <a:buSzPts val="12000"/>
              <a:buNone/>
              <a:defRPr sz="12000">
                <a:solidFill>
                  <a:schemeClr val="dk2"/>
                </a:solidFill>
              </a:defRPr>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104" name="Google Shape;104;p23"/>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05" name="Google Shape;105;p2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6"/>
        <p:cNvGrpSpPr/>
        <p:nvPr/>
      </p:nvGrpSpPr>
      <p:grpSpPr>
        <a:xfrm>
          <a:off x="0" y="0"/>
          <a:ext cx="0" cy="0"/>
          <a:chOff x="0" y="0"/>
          <a:chExt cx="0" cy="0"/>
        </a:xfrm>
      </p:grpSpPr>
      <p:sp>
        <p:nvSpPr>
          <p:cNvPr id="107" name="Google Shape;107;p2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27AE60"/>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lstStyle>
            <a:lvl1pPr lvl="0"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52" name="Google Shape;52;p13"/>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lstStyle>
            <a:lvl1pPr marL="457200" lvl="0" indent="-342900" rtl="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rtl="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53" name="Google Shape;53;p13"/>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lt2"/>
                </a:solidFill>
                <a:latin typeface="Roboto"/>
                <a:ea typeface="Roboto"/>
                <a:cs typeface="Roboto"/>
                <a:sym typeface="Roboto"/>
              </a:defRPr>
            </a:lvl1pPr>
            <a:lvl2pPr lvl="1" algn="r" rtl="0">
              <a:buNone/>
              <a:defRPr sz="1000">
                <a:solidFill>
                  <a:schemeClr val="lt2"/>
                </a:solidFill>
                <a:latin typeface="Roboto"/>
                <a:ea typeface="Roboto"/>
                <a:cs typeface="Roboto"/>
                <a:sym typeface="Roboto"/>
              </a:defRPr>
            </a:lvl2pPr>
            <a:lvl3pPr lvl="2" algn="r" rtl="0">
              <a:buNone/>
              <a:defRPr sz="1000">
                <a:solidFill>
                  <a:schemeClr val="lt2"/>
                </a:solidFill>
                <a:latin typeface="Roboto"/>
                <a:ea typeface="Roboto"/>
                <a:cs typeface="Roboto"/>
                <a:sym typeface="Roboto"/>
              </a:defRPr>
            </a:lvl3pPr>
            <a:lvl4pPr lvl="3" algn="r" rtl="0">
              <a:buNone/>
              <a:defRPr sz="1000">
                <a:solidFill>
                  <a:schemeClr val="lt2"/>
                </a:solidFill>
                <a:latin typeface="Roboto"/>
                <a:ea typeface="Roboto"/>
                <a:cs typeface="Roboto"/>
                <a:sym typeface="Roboto"/>
              </a:defRPr>
            </a:lvl4pPr>
            <a:lvl5pPr lvl="4" algn="r" rtl="0">
              <a:buNone/>
              <a:defRPr sz="1000">
                <a:solidFill>
                  <a:schemeClr val="lt2"/>
                </a:solidFill>
                <a:latin typeface="Roboto"/>
                <a:ea typeface="Roboto"/>
                <a:cs typeface="Roboto"/>
                <a:sym typeface="Roboto"/>
              </a:defRPr>
            </a:lvl5pPr>
            <a:lvl6pPr lvl="5" algn="r" rtl="0">
              <a:buNone/>
              <a:defRPr sz="1000">
                <a:solidFill>
                  <a:schemeClr val="lt2"/>
                </a:solidFill>
                <a:latin typeface="Roboto"/>
                <a:ea typeface="Roboto"/>
                <a:cs typeface="Roboto"/>
                <a:sym typeface="Roboto"/>
              </a:defRPr>
            </a:lvl6pPr>
            <a:lvl7pPr lvl="6" algn="r" rtl="0">
              <a:buNone/>
              <a:defRPr sz="1000">
                <a:solidFill>
                  <a:schemeClr val="lt2"/>
                </a:solidFill>
                <a:latin typeface="Roboto"/>
                <a:ea typeface="Roboto"/>
                <a:cs typeface="Roboto"/>
                <a:sym typeface="Roboto"/>
              </a:defRPr>
            </a:lvl7pPr>
            <a:lvl8pPr lvl="7" algn="r" rtl="0">
              <a:buNone/>
              <a:defRPr sz="1000">
                <a:solidFill>
                  <a:schemeClr val="lt2"/>
                </a:solidFill>
                <a:latin typeface="Roboto"/>
                <a:ea typeface="Roboto"/>
                <a:cs typeface="Roboto"/>
                <a:sym typeface="Roboto"/>
              </a:defRPr>
            </a:lvl8pPr>
            <a:lvl9pPr lvl="8" algn="r" rtl="0">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5"/>
          <p:cNvSpPr txBox="1">
            <a:spLocks noGrp="1"/>
          </p:cNvSpPr>
          <p:nvPr>
            <p:ph type="ctrTitle"/>
          </p:nvPr>
        </p:nvSpPr>
        <p:spPr>
          <a:xfrm>
            <a:off x="554954" y="1297630"/>
            <a:ext cx="8222100" cy="93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t>Reaction kinetics</a:t>
            </a:r>
            <a:endParaRPr dirty="0"/>
          </a:p>
        </p:txBody>
      </p:sp>
      <p:sp>
        <p:nvSpPr>
          <p:cNvPr id="3" name="Rectangle 2"/>
          <p:cNvSpPr/>
          <p:nvPr/>
        </p:nvSpPr>
        <p:spPr>
          <a:xfrm>
            <a:off x="610037" y="2371695"/>
            <a:ext cx="7552064" cy="1323439"/>
          </a:xfrm>
          <a:prstGeom prst="rect">
            <a:avLst/>
          </a:prstGeom>
        </p:spPr>
        <p:txBody>
          <a:bodyPr wrap="square">
            <a:spAutoFit/>
          </a:bodyPr>
          <a:lstStyle/>
          <a:p>
            <a:pPr marL="342900" indent="-342900">
              <a:buClr>
                <a:schemeClr val="bg1"/>
              </a:buClr>
              <a:buFont typeface="Arial" panose="020B0604020202020204" pitchFamily="34" charset="0"/>
              <a:buChar char="•"/>
            </a:pPr>
            <a:r>
              <a:rPr lang="en-US" sz="2000" dirty="0">
                <a:solidFill>
                  <a:schemeClr val="bg1"/>
                </a:solidFill>
                <a:latin typeface="Calibri" panose="020F0502020204030204" pitchFamily="34" charset="0"/>
              </a:rPr>
              <a:t>8.1 Rate of reaction</a:t>
            </a:r>
          </a:p>
          <a:p>
            <a:pPr marL="342900" indent="-342900">
              <a:buClr>
                <a:schemeClr val="bg1"/>
              </a:buClr>
              <a:buFont typeface="Arial" panose="020B0604020202020204" pitchFamily="34" charset="0"/>
              <a:buChar char="•"/>
            </a:pPr>
            <a:r>
              <a:rPr lang="en-US" sz="2000" dirty="0">
                <a:solidFill>
                  <a:schemeClr val="bg1"/>
                </a:solidFill>
                <a:latin typeface="Calibri" panose="020F0502020204030204" pitchFamily="34" charset="0"/>
              </a:rPr>
              <a:t>8.2 Effect of temperature on reaction rates and the concept of activation energy</a:t>
            </a:r>
          </a:p>
          <a:p>
            <a:pPr marL="342900" indent="-342900">
              <a:buClr>
                <a:schemeClr val="bg1"/>
              </a:buClr>
              <a:buFont typeface="Arial" panose="020B0604020202020204" pitchFamily="34" charset="0"/>
              <a:buChar char="•"/>
            </a:pPr>
            <a:r>
              <a:rPr lang="en-US" sz="2000" dirty="0">
                <a:solidFill>
                  <a:schemeClr val="bg1"/>
                </a:solidFill>
                <a:latin typeface="Calibri" panose="020F0502020204030204" pitchFamily="34" charset="0"/>
              </a:rPr>
              <a:t>8.3 Homogeneous and heterogeneous catalysts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sz="3200" dirty="0">
                <a:latin typeface="Calibri" panose="020F0502020204030204" pitchFamily="34" charset="0"/>
                <a:cs typeface="Calibri" panose="020F0502020204030204" pitchFamily="34" charset="0"/>
              </a:rPr>
              <a:t>Introduction</a:t>
            </a:r>
            <a:endParaRPr sz="3200" dirty="0">
              <a:latin typeface="Calibri" panose="020F0502020204030204" pitchFamily="34" charset="0"/>
              <a:cs typeface="Calibri" panose="020F0502020204030204" pitchFamily="34" charset="0"/>
            </a:endParaRPr>
          </a:p>
        </p:txBody>
      </p:sp>
      <p:sp>
        <p:nvSpPr>
          <p:cNvPr id="124" name="Google Shape;124;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t" anchorCtr="0">
            <a:noAutofit/>
          </a:bodyPr>
          <a:lstStyle/>
          <a:p>
            <a:pPr lvl="0"/>
            <a:r>
              <a:rPr lang="en-IN" sz="1400" dirty="0">
                <a:latin typeface="Calibri" panose="020F0502020204030204" pitchFamily="34" charset="0"/>
                <a:cs typeface="Calibri" panose="020F0502020204030204" pitchFamily="34" charset="0"/>
              </a:rPr>
              <a:t>Reaction rate is defined as the speed at which a chemical reaction proceeds.</a:t>
            </a:r>
          </a:p>
          <a:p>
            <a:pPr lvl="0"/>
            <a:r>
              <a:rPr lang="en-IN" sz="1400" dirty="0">
                <a:latin typeface="Calibri" panose="020F0502020204030204" pitchFamily="34" charset="0"/>
                <a:cs typeface="Calibri" panose="020F0502020204030204" pitchFamily="34" charset="0"/>
              </a:rPr>
              <a:t>Rusting of iron is a chemical process that happens over the years. </a:t>
            </a:r>
          </a:p>
          <a:p>
            <a:pPr lvl="0"/>
            <a:r>
              <a:rPr lang="en-IN" sz="1400" dirty="0">
                <a:latin typeface="Calibri" panose="020F0502020204030204" pitchFamily="34" charset="0"/>
                <a:cs typeface="Calibri" panose="020F0502020204030204" pitchFamily="34" charset="0"/>
              </a:rPr>
              <a:t>Baking and combustion are chemical reactions that happen in fast phase. </a:t>
            </a:r>
          </a:p>
          <a:p>
            <a:pPr marL="0" lvl="0" indent="0" algn="l" rtl="0">
              <a:spcBef>
                <a:spcPts val="1600"/>
              </a:spcBef>
              <a:spcAft>
                <a:spcPts val="1600"/>
              </a:spcAft>
              <a:buNone/>
            </a:pPr>
            <a:endParaRPr dirty="0"/>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Reaction rate</a:t>
            </a:r>
            <a:endParaRPr sz="1100" dirty="0">
              <a:solidFill>
                <a:srgbClr val="666666"/>
              </a:solidFill>
            </a:endParaRPr>
          </a:p>
        </p:txBody>
      </p:sp>
      <p:pic>
        <p:nvPicPr>
          <p:cNvPr id="6" name="Picture 5">
            <a:extLst>
              <a:ext uri="{FF2B5EF4-FFF2-40B4-BE49-F238E27FC236}">
                <a16:creationId xmlns:a16="http://schemas.microsoft.com/office/drawing/2014/main" id="{C629A954-A27A-44B2-8CA9-C79FEE5EFB5D}"/>
              </a:ext>
            </a:extLst>
          </p:cNvPr>
          <p:cNvPicPr>
            <a:picLocks noChangeAspect="1"/>
          </p:cNvPicPr>
          <p:nvPr/>
        </p:nvPicPr>
        <p:blipFill>
          <a:blip r:embed="rId3"/>
          <a:stretch>
            <a:fillRect/>
          </a:stretch>
        </p:blipFill>
        <p:spPr>
          <a:xfrm>
            <a:off x="191912" y="2406412"/>
            <a:ext cx="5155748" cy="2012888"/>
          </a:xfrm>
          <a:prstGeom prst="rect">
            <a:avLst/>
          </a:prstGeom>
        </p:spPr>
      </p:pic>
    </p:spTree>
    <p:extLst>
      <p:ext uri="{BB962C8B-B14F-4D97-AF65-F5344CB8AC3E}">
        <p14:creationId xmlns:p14="http://schemas.microsoft.com/office/powerpoint/2010/main" val="1952135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Simple collision theory </a:t>
            </a:r>
            <a:r>
              <a:rPr lang="en-IN" dirty="0"/>
              <a:t> </a:t>
            </a:r>
            <a:endParaRPr dirty="0"/>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gn="just">
              <a:lnSpc>
                <a:spcPct val="114000"/>
              </a:lnSpc>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Collision theory is used to analyse the rate of the reaction with respect to various parameters such as pressure and concentration in terms of collisions between the particles that are reacting.</a:t>
            </a:r>
          </a:p>
          <a:p>
            <a:pPr marL="457200" lvl="0" indent="-342900" algn="just">
              <a:lnSpc>
                <a:spcPct val="114000"/>
              </a:lnSpc>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For a collision to be successful, two particles must collide with each other in proper orientation and sufficient energy. </a:t>
            </a:r>
          </a:p>
          <a:p>
            <a:pPr marL="457200" lvl="0" indent="-342900" algn="just">
              <a:lnSpc>
                <a:spcPct val="114000"/>
              </a:lnSpc>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If the reacting particles do not possess sufficient energy, </a:t>
            </a:r>
            <a:r>
              <a:rPr lang="en-US" sz="1600" dirty="0">
                <a:latin typeface="Calibri" panose="020F0502020204030204" pitchFamily="34" charset="0"/>
                <a:cs typeface="Calibri" panose="020F0502020204030204" pitchFamily="34" charset="0"/>
              </a:rPr>
              <a:t>then the collision is unsuccessful. </a:t>
            </a:r>
            <a:endParaRPr lang="en-IN" sz="1600" dirty="0">
              <a:latin typeface="Calibri" panose="020F0502020204030204" pitchFamily="34" charset="0"/>
              <a:cs typeface="Calibri" panose="020F0502020204030204" pitchFamily="34" charset="0"/>
            </a:endParaRPr>
          </a:p>
          <a:p>
            <a:pPr marL="457200" lvl="0" indent="-342900" algn="just">
              <a:lnSpc>
                <a:spcPct val="114000"/>
              </a:lnSpc>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The minimum energy required by the reacting particles for a successful collision to take place is called as activation energy. </a:t>
            </a:r>
          </a:p>
          <a:p>
            <a:pPr marL="285750" lvl="0" indent="-285750" algn="l" rtl="0">
              <a:spcBef>
                <a:spcPts val="0"/>
              </a:spcBef>
              <a:spcAft>
                <a:spcPts val="0"/>
              </a:spcAft>
              <a:buFont typeface="Arial" panose="020B0604020202020204" pitchFamily="34" charset="0"/>
              <a:buChar char="•"/>
            </a:pPr>
            <a:endParaRPr sz="1600" dirty="0"/>
          </a:p>
        </p:txBody>
      </p:sp>
    </p:spTree>
    <p:extLst>
      <p:ext uri="{BB962C8B-B14F-4D97-AF65-F5344CB8AC3E}">
        <p14:creationId xmlns:p14="http://schemas.microsoft.com/office/powerpoint/2010/main" val="4282409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Simple collision theory </a:t>
            </a:r>
            <a:r>
              <a:rPr lang="en-IN" dirty="0"/>
              <a:t> </a:t>
            </a:r>
            <a:endParaRPr dirty="0"/>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gn="just">
              <a:lnSpc>
                <a:spcPct val="114000"/>
              </a:lnSpc>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With increase in pressure or concentration, the number of collisions in a specific time increases. In other words, the frequency of collisions increases.</a:t>
            </a:r>
          </a:p>
          <a:p>
            <a:pPr marL="457200" lvl="0" indent="-342900" algn="just">
              <a:lnSpc>
                <a:spcPct val="114000"/>
              </a:lnSpc>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The number of successful collisions also increases with the temperature because when temperature increases, the speed of particles increases, which in turn increases their energy and hence, the frequency of collisions.</a:t>
            </a:r>
          </a:p>
          <a:p>
            <a:pPr marL="457200" lvl="0" indent="-342900" algn="just">
              <a:lnSpc>
                <a:spcPct val="114000"/>
              </a:lnSpc>
              <a:buSzPts val="1800"/>
              <a:buFont typeface="Arial" panose="020B0604020202020204" pitchFamily="34" charset="0"/>
              <a:buChar char="•"/>
            </a:pPr>
            <a:endParaRPr lang="en-GB" sz="16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sz="1600" dirty="0"/>
          </a:p>
          <a:p>
            <a:pPr marL="0" lvl="0" indent="0" algn="l" rtl="0">
              <a:spcBef>
                <a:spcPts val="0"/>
              </a:spcBef>
              <a:spcAft>
                <a:spcPts val="0"/>
              </a:spcAft>
              <a:buNone/>
            </a:pPr>
            <a:endParaRPr sz="1600" dirty="0"/>
          </a:p>
        </p:txBody>
      </p:sp>
    </p:spTree>
    <p:extLst>
      <p:ext uri="{BB962C8B-B14F-4D97-AF65-F5344CB8AC3E}">
        <p14:creationId xmlns:p14="http://schemas.microsoft.com/office/powerpoint/2010/main" val="1223217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t>Rate of a reaction</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4000"/>
              </a:lnSpc>
              <a:spcBef>
                <a:spcPts val="600"/>
              </a:spcBef>
              <a:buSzPts val="1800"/>
              <a:buChar char="●"/>
            </a:pPr>
            <a:r>
              <a:rPr lang="en-IN" sz="1600" dirty="0">
                <a:latin typeface="Calibri" panose="020F0502020204030204" pitchFamily="34" charset="0"/>
                <a:cs typeface="Calibri" panose="020F0502020204030204" pitchFamily="34" charset="0"/>
              </a:rPr>
              <a:t>Rate of a reaction is the change in concentration of a substance in unit time. Its unit is </a:t>
            </a:r>
            <a:r>
              <a:rPr lang="en-IN" sz="1600" dirty="0" err="1">
                <a:latin typeface="Calibri" panose="020F0502020204030204" pitchFamily="34" charset="0"/>
                <a:cs typeface="Calibri" panose="020F0502020204030204" pitchFamily="34" charset="0"/>
              </a:rPr>
              <a:t>mol</a:t>
            </a:r>
            <a:r>
              <a:rPr lang="en-IN" sz="1600" dirty="0">
                <a:latin typeface="Calibri" panose="020F0502020204030204" pitchFamily="34" charset="0"/>
                <a:cs typeface="Calibri" panose="020F0502020204030204" pitchFamily="34" charset="0"/>
              </a:rPr>
              <a:t>/dm</a:t>
            </a:r>
            <a:r>
              <a:rPr lang="en-IN" sz="1600" baseline="30000" dirty="0">
                <a:latin typeface="Calibri" panose="020F0502020204030204" pitchFamily="34" charset="0"/>
                <a:cs typeface="Calibri" panose="020F0502020204030204" pitchFamily="34" charset="0"/>
              </a:rPr>
              <a:t>3</a:t>
            </a:r>
            <a:r>
              <a:rPr lang="en-IN" sz="1600" dirty="0">
                <a:latin typeface="Calibri" panose="020F0502020204030204" pitchFamily="34" charset="0"/>
                <a:cs typeface="Calibri" panose="020F0502020204030204" pitchFamily="34" charset="0"/>
              </a:rPr>
              <a:t>s. </a:t>
            </a:r>
          </a:p>
          <a:p>
            <a:pPr marL="457200" lvl="0" indent="-342900">
              <a:lnSpc>
                <a:spcPct val="114000"/>
              </a:lnSpc>
              <a:spcBef>
                <a:spcPts val="600"/>
              </a:spcBef>
              <a:buSzPts val="1800"/>
              <a:buChar char="●"/>
            </a:pPr>
            <a:r>
              <a:rPr lang="en-IN" sz="1600" dirty="0">
                <a:latin typeface="Calibri" panose="020F0502020204030204" pitchFamily="34" charset="0"/>
                <a:cs typeface="Calibri" panose="020F0502020204030204" pitchFamily="34" charset="0"/>
              </a:rPr>
              <a:t>Rate of the reaction over a time period can be calculated by finding the gradient of curve in concentration-time graph. </a:t>
            </a:r>
          </a:p>
          <a:p>
            <a:pPr marL="457200" lvl="0" indent="-342900">
              <a:lnSpc>
                <a:spcPct val="114000"/>
              </a:lnSpc>
              <a:spcBef>
                <a:spcPts val="600"/>
              </a:spcBef>
              <a:buSzPts val="1800"/>
              <a:buChar char="●"/>
            </a:pPr>
            <a:r>
              <a:rPr lang="en-IN" sz="1600" dirty="0">
                <a:latin typeface="Calibri" panose="020F0502020204030204" pitchFamily="34" charset="0"/>
                <a:cs typeface="Calibri" panose="020F0502020204030204" pitchFamily="34" charset="0"/>
              </a:rPr>
              <a:t>To find rate of a reaction at a particular point of time, the gradient of tangent of curve at that particular time is taken. </a:t>
            </a:r>
          </a:p>
          <a:p>
            <a:pPr marL="457200" lvl="0" indent="-342900">
              <a:lnSpc>
                <a:spcPct val="114000"/>
              </a:lnSpc>
              <a:spcBef>
                <a:spcPts val="600"/>
              </a:spcBef>
              <a:buSzPts val="1800"/>
              <a:buChar char="●"/>
            </a:pPr>
            <a:r>
              <a:rPr lang="en-IN" sz="1600" dirty="0">
                <a:latin typeface="Calibri" panose="020F0502020204030204" pitchFamily="34" charset="0"/>
                <a:cs typeface="Calibri" panose="020F0502020204030204" pitchFamily="34" charset="0"/>
              </a:rPr>
              <a:t>The initial rate is the rate at the starting point (t=0), which is the fastest.</a:t>
            </a: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chemeClr val="bg2">
                    <a:lumMod val="50000"/>
                  </a:schemeClr>
                </a:solidFill>
                <a:latin typeface="Calibri" panose="020F0502020204030204" pitchFamily="34" charset="0"/>
                <a:cs typeface="Calibri" panose="020F0502020204030204" pitchFamily="34" charset="0"/>
              </a:rPr>
              <a:t>Rate of reaction</a:t>
            </a:r>
            <a:endParaRPr sz="4800" dirty="0">
              <a:solidFill>
                <a:schemeClr val="bg2">
                  <a:lumMod val="50000"/>
                </a:schemeClr>
              </a:solidFill>
            </a:endParaRPr>
          </a:p>
        </p:txBody>
      </p:sp>
      <mc:AlternateContent xmlns:mc="http://schemas.openxmlformats.org/markup-compatibility/2006" xmlns:a14="http://schemas.microsoft.com/office/drawing/2010/main">
        <mc:Choice Requires="a14">
          <p:sp>
            <p:nvSpPr>
              <p:cNvPr id="124" name="Google Shape;124;p27"/>
              <p:cNvSpPr txBox="1">
                <a:spLocks noGrp="1"/>
              </p:cNvSpPr>
              <p:nvPr>
                <p:ph type="body" idx="2"/>
              </p:nvPr>
            </p:nvSpPr>
            <p:spPr>
              <a:xfrm>
                <a:off x="4939500" y="338561"/>
                <a:ext cx="3837000" cy="3695100"/>
              </a:xfrm>
              <a:prstGeom prst="rect">
                <a:avLst/>
              </a:prstGeom>
            </p:spPr>
            <p:txBody>
              <a:bodyPr spcFirstLastPara="1" wrap="square" lIns="91425" tIns="91425" rIns="91425" bIns="91425" anchor="t" anchorCtr="0">
                <a:noAutofit/>
              </a:bodyPr>
              <a:lstStyle/>
              <a:p>
                <a:pPr marL="114300" lvl="0" indent="0">
                  <a:lnSpc>
                    <a:spcPct val="114000"/>
                  </a:lnSpc>
                  <a:spcBef>
                    <a:spcPts val="600"/>
                  </a:spcBef>
                  <a:buNone/>
                </a:pPr>
                <a:r>
                  <a:rPr lang="en-IN" sz="1600" dirty="0">
                    <a:solidFill>
                      <a:schemeClr val="bg1"/>
                    </a:solidFill>
                    <a:latin typeface="Calibri" panose="020F0502020204030204" pitchFamily="34" charset="0"/>
                    <a:cs typeface="Calibri" panose="020F0502020204030204" pitchFamily="34" charset="0"/>
                  </a:rPr>
                  <a:t>Example 1: Find the rate of reaction for this concentration of reactant versus time graph.</a:t>
                </a:r>
              </a:p>
              <a:p>
                <a:pPr marL="996950" lvl="1" indent="-400050">
                  <a:lnSpc>
                    <a:spcPct val="114000"/>
                  </a:lnSpc>
                  <a:spcBef>
                    <a:spcPts val="600"/>
                  </a:spcBef>
                  <a:buFont typeface="+mj-lt"/>
                  <a:buAutoNum type="romanLcPeriod"/>
                </a:pPr>
                <a:r>
                  <a:rPr lang="en-IN" sz="1600" dirty="0">
                    <a:solidFill>
                      <a:schemeClr val="bg1"/>
                    </a:solidFill>
                    <a:latin typeface="Calibri" panose="020F0502020204030204" pitchFamily="34" charset="0"/>
                    <a:cs typeface="Calibri" panose="020F0502020204030204" pitchFamily="34" charset="0"/>
                  </a:rPr>
                  <a:t>At t=0</a:t>
                </a:r>
              </a:p>
              <a:p>
                <a:pPr marL="996950" lvl="1" indent="-400050">
                  <a:lnSpc>
                    <a:spcPct val="114000"/>
                  </a:lnSpc>
                  <a:spcBef>
                    <a:spcPts val="600"/>
                  </a:spcBef>
                  <a:buFont typeface="+mj-lt"/>
                  <a:buAutoNum type="romanLcPeriod"/>
                </a:pPr>
                <a:r>
                  <a:rPr lang="en-IN" sz="1600" dirty="0">
                    <a:solidFill>
                      <a:schemeClr val="bg1"/>
                    </a:solidFill>
                    <a:latin typeface="Calibri" panose="020F0502020204030204" pitchFamily="34" charset="0"/>
                    <a:cs typeface="Calibri" panose="020F0502020204030204" pitchFamily="34" charset="0"/>
                  </a:rPr>
                  <a:t>For the first 5 minutes</a:t>
                </a:r>
              </a:p>
              <a:p>
                <a:pPr marL="996950" lvl="1" indent="-400050">
                  <a:lnSpc>
                    <a:spcPct val="114000"/>
                  </a:lnSpc>
                  <a:spcBef>
                    <a:spcPts val="600"/>
                  </a:spcBef>
                  <a:buFont typeface="+mj-lt"/>
                  <a:buAutoNum type="romanLcPeriod"/>
                </a:pPr>
                <a:r>
                  <a:rPr lang="en-IN" sz="1600" dirty="0">
                    <a:solidFill>
                      <a:schemeClr val="bg1"/>
                    </a:solidFill>
                    <a:latin typeface="Calibri" panose="020F0502020204030204" pitchFamily="34" charset="0"/>
                    <a:cs typeface="Calibri" panose="020F0502020204030204" pitchFamily="34" charset="0"/>
                  </a:rPr>
                  <a:t>At 10 minutes</a:t>
                </a:r>
              </a:p>
              <a:p>
                <a:pPr marL="127000" indent="0">
                  <a:lnSpc>
                    <a:spcPct val="114000"/>
                  </a:lnSpc>
                  <a:spcBef>
                    <a:spcPts val="600"/>
                  </a:spcBef>
                  <a:buNone/>
                </a:pPr>
                <a:r>
                  <a:rPr lang="en-IN" sz="1600" b="1" dirty="0">
                    <a:solidFill>
                      <a:schemeClr val="bg1"/>
                    </a:solidFill>
                    <a:latin typeface="Calibri" panose="020F0502020204030204" pitchFamily="34" charset="0"/>
                    <a:cs typeface="Calibri" panose="020F0502020204030204" pitchFamily="34" charset="0"/>
                  </a:rPr>
                  <a:t>Solution:</a:t>
                </a:r>
                <a:endParaRPr lang="en-IN" sz="1600" dirty="0">
                  <a:solidFill>
                    <a:schemeClr val="bg1"/>
                  </a:solidFill>
                  <a:latin typeface="Calibri" panose="020F0502020204030204" pitchFamily="34" charset="0"/>
                  <a:cs typeface="Calibri" panose="020F0502020204030204" pitchFamily="34" charset="0"/>
                </a:endParaRPr>
              </a:p>
              <a:p>
                <a:pPr marL="527050" lvl="0" indent="-400050" algn="just">
                  <a:lnSpc>
                    <a:spcPct val="114000"/>
                  </a:lnSpc>
                  <a:spcBef>
                    <a:spcPts val="600"/>
                  </a:spcBef>
                  <a:buFont typeface="+mj-lt"/>
                  <a:buAutoNum type="romanLcPeriod"/>
                </a:pPr>
                <a:r>
                  <a:rPr lang="en-IN" sz="1600" dirty="0">
                    <a:solidFill>
                      <a:schemeClr val="bg1"/>
                    </a:solidFill>
                    <a:latin typeface="Calibri" panose="020F0502020204030204" pitchFamily="34" charset="0"/>
                    <a:cs typeface="Calibri" panose="020F0502020204030204" pitchFamily="34" charset="0"/>
                  </a:rPr>
                  <a:t>At t=0, the rate of reaction is the slope of the tangent of the curve at that point,</a:t>
                </a:r>
              </a:p>
              <a:p>
                <a:pPr marL="127000" marR="0" lvl="0" indent="0" algn="just" defTabSz="914400" rtl="0" eaLnBrk="1" fontAlgn="auto" latinLnBrk="0" hangingPunct="1">
                  <a:lnSpc>
                    <a:spcPct val="114000"/>
                  </a:lnSpc>
                  <a:spcBef>
                    <a:spcPts val="600"/>
                  </a:spcBef>
                  <a:spcAft>
                    <a:spcPts val="0"/>
                  </a:spcAft>
                  <a:buClr>
                    <a:srgbClr val="434343"/>
                  </a:buClr>
                  <a:buSzPts val="1600"/>
                  <a:buFont typeface="Roboto Condensed"/>
                  <a:buNone/>
                  <a:tabLst/>
                  <a:defRPr/>
                </a:pPr>
                <a14:m>
                  <m:oMathPara xmlns:m="http://schemas.openxmlformats.org/officeDocument/2006/math">
                    <m:oMathParaPr>
                      <m:jc m:val="centerGroup"/>
                    </m:oMathParaPr>
                    <m:oMath xmlns:m="http://schemas.openxmlformats.org/officeDocument/2006/math">
                      <m:r>
                        <a:rPr kumimoji="0" lang="en-IN" sz="1600" b="0" i="1" u="none" strike="noStrike" kern="0" cap="none" spc="0" normalizeH="0" baseline="0" noProof="0" smtClean="0">
                          <a:ln>
                            <a:noFill/>
                          </a:ln>
                          <a:solidFill>
                            <a:schemeClr val="bg1"/>
                          </a:solidFill>
                          <a:effectLst/>
                          <a:uLnTx/>
                          <a:uFillTx/>
                          <a:latin typeface="Cambria Math" panose="02040503050406030204" pitchFamily="18" charset="0"/>
                          <a:sym typeface="Roboto Condensed"/>
                        </a:rPr>
                        <m:t>𝑟𝑎𝑡𝑒</m:t>
                      </m:r>
                      <m:r>
                        <a:rPr kumimoji="0" lang="en-IN" sz="1600" b="0" i="1" u="none" strike="noStrike" kern="0" cap="none" spc="0" normalizeH="0" baseline="0" noProof="0" smtClean="0">
                          <a:ln>
                            <a:noFill/>
                          </a:ln>
                          <a:solidFill>
                            <a:schemeClr val="bg1"/>
                          </a:solidFill>
                          <a:effectLst/>
                          <a:uLnTx/>
                          <a:uFillTx/>
                          <a:latin typeface="Cambria Math" panose="02040503050406030204" pitchFamily="18" charset="0"/>
                          <a:sym typeface="Roboto Condensed"/>
                        </a:rPr>
                        <m:t> </m:t>
                      </m:r>
                      <m:r>
                        <a:rPr kumimoji="0" lang="en-IN" sz="1600" b="0" i="1" u="none" strike="noStrike" kern="0" cap="none" spc="0" normalizeH="0" baseline="0" noProof="0" smtClean="0">
                          <a:ln>
                            <a:noFill/>
                          </a:ln>
                          <a:solidFill>
                            <a:schemeClr val="bg1"/>
                          </a:solidFill>
                          <a:effectLst/>
                          <a:uLnTx/>
                          <a:uFillTx/>
                          <a:latin typeface="Cambria Math" panose="02040503050406030204" pitchFamily="18" charset="0"/>
                          <a:sym typeface="Roboto Condensed"/>
                        </a:rPr>
                        <m:t>𝑜𝑓</m:t>
                      </m:r>
                      <m:r>
                        <a:rPr kumimoji="0" lang="en-IN" sz="1600" b="0" i="1" u="none" strike="noStrike" kern="0" cap="none" spc="0" normalizeH="0" baseline="0" noProof="0" smtClean="0">
                          <a:ln>
                            <a:noFill/>
                          </a:ln>
                          <a:solidFill>
                            <a:schemeClr val="bg1"/>
                          </a:solidFill>
                          <a:effectLst/>
                          <a:uLnTx/>
                          <a:uFillTx/>
                          <a:latin typeface="Cambria Math" panose="02040503050406030204" pitchFamily="18" charset="0"/>
                          <a:sym typeface="Roboto Condensed"/>
                        </a:rPr>
                        <m:t> </m:t>
                      </m:r>
                      <m:r>
                        <a:rPr kumimoji="0" lang="en-IN" sz="1600" b="0" i="1" u="none" strike="noStrike" kern="0" cap="none" spc="0" normalizeH="0" baseline="0" noProof="0" smtClean="0">
                          <a:ln>
                            <a:noFill/>
                          </a:ln>
                          <a:solidFill>
                            <a:schemeClr val="bg1"/>
                          </a:solidFill>
                          <a:effectLst/>
                          <a:uLnTx/>
                          <a:uFillTx/>
                          <a:latin typeface="Cambria Math" panose="02040503050406030204" pitchFamily="18" charset="0"/>
                          <a:sym typeface="Roboto Condensed"/>
                        </a:rPr>
                        <m:t>𝑟𝑒𝑎𝑐𝑡𝑖𝑜𝑛</m:t>
                      </m:r>
                      <m:r>
                        <a:rPr kumimoji="0" lang="en-IN" sz="1600" b="0" i="1" u="none" strike="noStrike" kern="0" cap="none" spc="0" normalizeH="0" baseline="0" noProof="0" smtClean="0">
                          <a:ln>
                            <a:noFill/>
                          </a:ln>
                          <a:solidFill>
                            <a:schemeClr val="bg1"/>
                          </a:solidFill>
                          <a:effectLst/>
                          <a:uLnTx/>
                          <a:uFillTx/>
                          <a:latin typeface="Cambria Math" panose="02040503050406030204" pitchFamily="18" charset="0"/>
                          <a:sym typeface="Roboto Condensed"/>
                        </a:rPr>
                        <m:t>=</m:t>
                      </m:r>
                      <m:f>
                        <m:fPr>
                          <m:ctrlP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ctrlPr>
                        </m:fPr>
                        <m:num>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1</m:t>
                          </m:r>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m:t>
                          </m:r>
                          <m:r>
                            <a:rPr kumimoji="0" lang="ar-AE" sz="1600" b="0" i="1" u="none" strike="noStrike" kern="0" cap="none" spc="0" normalizeH="0" baseline="0" noProof="0" smtClean="0">
                              <a:ln>
                                <a:noFill/>
                              </a:ln>
                              <a:solidFill>
                                <a:schemeClr val="bg1"/>
                              </a:solidFill>
                              <a:effectLst/>
                              <a:uLnTx/>
                              <a:uFillTx/>
                              <a:latin typeface="Cambria Math" panose="02040503050406030204" pitchFamily="18" charset="0"/>
                              <a:sym typeface="Roboto Condensed"/>
                            </a:rPr>
                            <m:t>5</m:t>
                          </m:r>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m:t>
                          </m:r>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0</m:t>
                          </m:r>
                        </m:num>
                        <m:den>
                          <m:r>
                            <a:rPr kumimoji="0" lang="ar-AE" sz="1600" b="0" i="1" u="none" strike="noStrike" kern="0" cap="none" spc="0" normalizeH="0" baseline="0" noProof="0" smtClean="0">
                              <a:ln>
                                <a:noFill/>
                              </a:ln>
                              <a:solidFill>
                                <a:schemeClr val="bg1"/>
                              </a:solidFill>
                              <a:effectLst/>
                              <a:uLnTx/>
                              <a:uFillTx/>
                              <a:latin typeface="Cambria Math" panose="02040503050406030204" pitchFamily="18" charset="0"/>
                              <a:sym typeface="Roboto Condensed"/>
                            </a:rPr>
                            <m:t>20</m:t>
                          </m:r>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m:t>
                          </m:r>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60</m:t>
                          </m:r>
                        </m:den>
                      </m:f>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m:t>
                      </m:r>
                      <m:r>
                        <a:rPr kumimoji="0" lang="ar-AE" sz="1600" b="0" i="1" u="none" strike="noStrike" kern="0" cap="none" spc="0" normalizeH="0" baseline="0" noProof="0" smtClean="0">
                          <a:ln>
                            <a:noFill/>
                          </a:ln>
                          <a:solidFill>
                            <a:schemeClr val="bg1"/>
                          </a:solidFill>
                          <a:effectLst/>
                          <a:uLnTx/>
                          <a:uFillTx/>
                          <a:latin typeface="Cambria Math" panose="02040503050406030204" pitchFamily="18" charset="0"/>
                          <a:sym typeface="Roboto Condensed"/>
                        </a:rPr>
                        <m:t>1</m:t>
                      </m:r>
                      <m:r>
                        <a:rPr kumimoji="0" lang="ar-AE" sz="1600" b="0" i="1" u="none" strike="noStrike" kern="0" cap="none" spc="0" normalizeH="0" baseline="0" noProof="0" smtClean="0">
                          <a:ln>
                            <a:noFill/>
                          </a:ln>
                          <a:solidFill>
                            <a:schemeClr val="bg1"/>
                          </a:solidFill>
                          <a:effectLst/>
                          <a:uLnTx/>
                          <a:uFillTx/>
                          <a:latin typeface="Cambria Math" panose="02040503050406030204" pitchFamily="18" charset="0"/>
                          <a:sym typeface="Roboto Condensed"/>
                        </a:rPr>
                        <m:t>.</m:t>
                      </m:r>
                      <m:r>
                        <a:rPr kumimoji="0" lang="ar-AE" sz="1600" b="0" i="1" u="none" strike="noStrike" kern="0" cap="none" spc="0" normalizeH="0" baseline="0" noProof="0" smtClean="0">
                          <a:ln>
                            <a:noFill/>
                          </a:ln>
                          <a:solidFill>
                            <a:schemeClr val="bg1"/>
                          </a:solidFill>
                          <a:effectLst/>
                          <a:uLnTx/>
                          <a:uFillTx/>
                          <a:latin typeface="Cambria Math" panose="02040503050406030204" pitchFamily="18" charset="0"/>
                          <a:sym typeface="Roboto Condensed"/>
                        </a:rPr>
                        <m:t>25</m:t>
                      </m:r>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m:t>
                      </m:r>
                      <m:sSup>
                        <m:sSupPr>
                          <m:ctrlP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ctrlPr>
                        </m:sSupPr>
                        <m:e>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10</m:t>
                          </m:r>
                        </m:e>
                        <m:sup>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m:t>
                          </m:r>
                          <m:r>
                            <a:rPr kumimoji="0" lang="ar-AE" sz="1600" b="0" i="1" u="none" strike="noStrike" kern="0" cap="none" spc="0" normalizeH="0" baseline="0" noProof="0" smtClean="0">
                              <a:ln>
                                <a:noFill/>
                              </a:ln>
                              <a:solidFill>
                                <a:schemeClr val="bg1"/>
                              </a:solidFill>
                              <a:effectLst/>
                              <a:uLnTx/>
                              <a:uFillTx/>
                              <a:latin typeface="Cambria Math" panose="02040503050406030204" pitchFamily="18" charset="0"/>
                              <a:sym typeface="Roboto Condensed"/>
                            </a:rPr>
                            <m:t>3</m:t>
                          </m:r>
                        </m:sup>
                      </m:sSup>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 </m:t>
                      </m:r>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𝑚𝑜𝑙</m:t>
                      </m:r>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m:t>
                      </m:r>
                      <m:sSup>
                        <m:sSupPr>
                          <m:ctrlP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ctrlPr>
                        </m:sSupPr>
                        <m:e>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𝑑𝑚</m:t>
                          </m:r>
                        </m:e>
                        <m:sup>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3</m:t>
                          </m:r>
                        </m:sup>
                      </m:sSup>
                      <m:r>
                        <a:rPr kumimoji="0" lang="ar-AE" sz="1600" b="0" i="1" u="none" strike="noStrike" kern="0" cap="none" spc="0" normalizeH="0" baseline="0" noProof="0">
                          <a:ln>
                            <a:noFill/>
                          </a:ln>
                          <a:solidFill>
                            <a:schemeClr val="bg1"/>
                          </a:solidFill>
                          <a:effectLst/>
                          <a:uLnTx/>
                          <a:uFillTx/>
                          <a:latin typeface="Cambria Math" panose="02040503050406030204" pitchFamily="18" charset="0"/>
                          <a:sym typeface="Roboto Condensed"/>
                        </a:rPr>
                        <m:t>𝑠</m:t>
                      </m:r>
                    </m:oMath>
                  </m:oMathPara>
                </a14:m>
                <a:endParaRPr lang="ar-AE" sz="1600" dirty="0">
                  <a:solidFill>
                    <a:schemeClr val="bg1"/>
                  </a:solidFill>
                  <a:latin typeface="Calibri" panose="020F0502020204030204" pitchFamily="34" charset="0"/>
                  <a:cs typeface="Calibri" panose="020F0502020204030204" pitchFamily="34" charset="0"/>
                </a:endParaRPr>
              </a:p>
              <a:p>
                <a:pPr marL="127000" lvl="0" indent="0" algn="just">
                  <a:lnSpc>
                    <a:spcPct val="114000"/>
                  </a:lnSpc>
                  <a:spcBef>
                    <a:spcPts val="600"/>
                  </a:spcBef>
                  <a:buNone/>
                </a:pPr>
                <a:endParaRPr lang="ar-AE" sz="1600" dirty="0">
                  <a:solidFill>
                    <a:schemeClr val="bg1"/>
                  </a:solidFill>
                  <a:latin typeface="Calibri" panose="020F0502020204030204" pitchFamily="34" charset="0"/>
                  <a:cs typeface="Calibri" panose="020F0502020204030204" pitchFamily="34" charset="0"/>
                </a:endParaRPr>
              </a:p>
              <a:p>
                <a:pPr marL="0" lvl="0" indent="0" algn="l" rtl="0">
                  <a:lnSpc>
                    <a:spcPct val="114000"/>
                  </a:lnSpc>
                  <a:spcBef>
                    <a:spcPts val="600"/>
                  </a:spcBef>
                  <a:spcAft>
                    <a:spcPts val="1600"/>
                  </a:spcAft>
                  <a:buNone/>
                </a:pPr>
                <a:endParaRPr lang="ar-AE" sz="1600" dirty="0">
                  <a:solidFill>
                    <a:schemeClr val="bg1"/>
                  </a:solidFill>
                  <a:latin typeface="Calibri" panose="020F0502020204030204" pitchFamily="34" charset="0"/>
                  <a:cs typeface="Calibri" panose="020F0502020204030204" pitchFamily="34" charset="0"/>
                </a:endParaRPr>
              </a:p>
            </p:txBody>
          </p:sp>
        </mc:Choice>
        <mc:Fallback xmlns="">
          <p:sp>
            <p:nvSpPr>
              <p:cNvPr id="124" name="Google Shape;124;p27"/>
              <p:cNvSpPr txBox="1">
                <a:spLocks noGrp="1" noRot="1" noChangeAspect="1" noMove="1" noResize="1" noEditPoints="1" noAdjustHandles="1" noChangeArrowheads="1" noChangeShapeType="1" noTextEdit="1"/>
              </p:cNvSpPr>
              <p:nvPr>
                <p:ph type="body" idx="2"/>
              </p:nvPr>
            </p:nvSpPr>
            <p:spPr>
              <a:xfrm>
                <a:off x="4939500" y="338561"/>
                <a:ext cx="3837000" cy="3695100"/>
              </a:xfrm>
              <a:prstGeom prst="rect">
                <a:avLst/>
              </a:prstGeom>
              <a:blipFill>
                <a:blip r:embed="rId3"/>
                <a:stretch>
                  <a:fillRect l="-794" r="-794" b="-33993"/>
                </a:stretch>
              </a:blipFill>
            </p:spPr>
            <p:txBody>
              <a:bodyPr/>
              <a:lstStyle/>
              <a:p>
                <a:r>
                  <a:rPr lang="en-GB">
                    <a:noFill/>
                  </a:rPr>
                  <a:t> </a:t>
                </a:r>
              </a:p>
            </p:txBody>
          </p:sp>
        </mc:Fallback>
      </mc:AlternateContent>
      <p:sp>
        <p:nvSpPr>
          <p:cNvPr id="126" name="Google Shape;126;p27"/>
          <p:cNvSpPr txBox="1"/>
          <p:nvPr/>
        </p:nvSpPr>
        <p:spPr>
          <a:xfrm>
            <a:off x="2177143" y="4546950"/>
            <a:ext cx="2157682"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Concentration of reaction-time</a:t>
            </a:r>
          </a:p>
        </p:txBody>
      </p:sp>
      <p:pic>
        <p:nvPicPr>
          <p:cNvPr id="5" name="Picture 4">
            <a:extLst>
              <a:ext uri="{FF2B5EF4-FFF2-40B4-BE49-F238E27FC236}">
                <a16:creationId xmlns:a16="http://schemas.microsoft.com/office/drawing/2014/main" id="{492E2836-78D6-4200-B600-4D7FEC07ABCE}"/>
              </a:ext>
            </a:extLst>
          </p:cNvPr>
          <p:cNvPicPr>
            <a:picLocks noChangeAspect="1"/>
          </p:cNvPicPr>
          <p:nvPr/>
        </p:nvPicPr>
        <p:blipFill>
          <a:blip r:embed="rId4"/>
          <a:stretch>
            <a:fillRect/>
          </a:stretch>
        </p:blipFill>
        <p:spPr>
          <a:xfrm>
            <a:off x="585878" y="1774032"/>
            <a:ext cx="3657600" cy="2199436"/>
          </a:xfrm>
          <a:prstGeom prst="rect">
            <a:avLst/>
          </a:prstGeom>
        </p:spPr>
      </p:pic>
    </p:spTree>
    <p:extLst>
      <p:ext uri="{BB962C8B-B14F-4D97-AF65-F5344CB8AC3E}">
        <p14:creationId xmlns:p14="http://schemas.microsoft.com/office/powerpoint/2010/main" val="1676221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chemeClr val="bg2">
                    <a:lumMod val="50000"/>
                  </a:schemeClr>
                </a:solidFill>
                <a:latin typeface="Calibri" panose="020F0502020204030204" pitchFamily="34" charset="0"/>
                <a:cs typeface="Calibri" panose="020F0502020204030204" pitchFamily="34" charset="0"/>
              </a:rPr>
              <a:t>Rate of reaction</a:t>
            </a:r>
            <a:endParaRPr sz="4800" dirty="0">
              <a:solidFill>
                <a:schemeClr val="bg2">
                  <a:lumMod val="50000"/>
                </a:schemeClr>
              </a:solidFill>
            </a:endParaRPr>
          </a:p>
        </p:txBody>
      </p:sp>
      <mc:AlternateContent xmlns:mc="http://schemas.openxmlformats.org/markup-compatibility/2006" xmlns:a14="http://schemas.microsoft.com/office/drawing/2010/main">
        <mc:Choice Requires="a14">
          <p:sp>
            <p:nvSpPr>
              <p:cNvPr id="124" name="Google Shape;124;p27"/>
              <p:cNvSpPr txBox="1">
                <a:spLocks noGrp="1"/>
              </p:cNvSpPr>
              <p:nvPr>
                <p:ph type="body" idx="2"/>
              </p:nvPr>
            </p:nvSpPr>
            <p:spPr>
              <a:xfrm>
                <a:off x="4939500" y="338561"/>
                <a:ext cx="3837000" cy="3695100"/>
              </a:xfrm>
              <a:prstGeom prst="rect">
                <a:avLst/>
              </a:prstGeom>
            </p:spPr>
            <p:txBody>
              <a:bodyPr spcFirstLastPara="1" wrap="square" lIns="91425" tIns="91425" rIns="91425" bIns="91425" anchor="t" anchorCtr="0">
                <a:noAutofit/>
              </a:bodyPr>
              <a:lstStyle/>
              <a:p>
                <a:pPr marL="114300" lvl="0" indent="0">
                  <a:lnSpc>
                    <a:spcPct val="114000"/>
                  </a:lnSpc>
                  <a:spcBef>
                    <a:spcPts val="600"/>
                  </a:spcBef>
                  <a:buNone/>
                </a:pPr>
                <a:r>
                  <a:rPr lang="en-IN" sz="1600" dirty="0">
                    <a:solidFill>
                      <a:schemeClr val="bg1"/>
                    </a:solidFill>
                    <a:latin typeface="Calibri" panose="020F0502020204030204" pitchFamily="34" charset="0"/>
                    <a:cs typeface="Calibri" panose="020F0502020204030204" pitchFamily="34" charset="0"/>
                  </a:rPr>
                  <a:t>Example 1: Find the rate of reaction for this concentration of reactant versus time graph.</a:t>
                </a:r>
              </a:p>
              <a:p>
                <a:pPr marL="996950" lvl="1" indent="-400050">
                  <a:lnSpc>
                    <a:spcPct val="114000"/>
                  </a:lnSpc>
                  <a:spcBef>
                    <a:spcPts val="600"/>
                  </a:spcBef>
                  <a:buFont typeface="+mj-lt"/>
                  <a:buAutoNum type="romanLcPeriod"/>
                </a:pPr>
                <a:r>
                  <a:rPr lang="en-IN" sz="1600" dirty="0">
                    <a:solidFill>
                      <a:schemeClr val="bg1"/>
                    </a:solidFill>
                    <a:latin typeface="Calibri" panose="020F0502020204030204" pitchFamily="34" charset="0"/>
                    <a:cs typeface="Calibri" panose="020F0502020204030204" pitchFamily="34" charset="0"/>
                  </a:rPr>
                  <a:t>At t=0</a:t>
                </a:r>
              </a:p>
              <a:p>
                <a:pPr marL="996950" lvl="1" indent="-400050">
                  <a:lnSpc>
                    <a:spcPct val="114000"/>
                  </a:lnSpc>
                  <a:spcBef>
                    <a:spcPts val="600"/>
                  </a:spcBef>
                  <a:buFont typeface="+mj-lt"/>
                  <a:buAutoNum type="romanLcPeriod"/>
                </a:pPr>
                <a:r>
                  <a:rPr lang="en-IN" sz="1600" dirty="0">
                    <a:solidFill>
                      <a:schemeClr val="bg1"/>
                    </a:solidFill>
                    <a:latin typeface="Calibri" panose="020F0502020204030204" pitchFamily="34" charset="0"/>
                    <a:cs typeface="Calibri" panose="020F0502020204030204" pitchFamily="34" charset="0"/>
                  </a:rPr>
                  <a:t>For the first 5 minutes</a:t>
                </a:r>
              </a:p>
              <a:p>
                <a:pPr marL="996950" lvl="1" indent="-400050">
                  <a:lnSpc>
                    <a:spcPct val="114000"/>
                  </a:lnSpc>
                  <a:spcBef>
                    <a:spcPts val="600"/>
                  </a:spcBef>
                  <a:buFont typeface="+mj-lt"/>
                  <a:buAutoNum type="romanLcPeriod"/>
                </a:pPr>
                <a:r>
                  <a:rPr lang="en-IN" sz="1600" dirty="0">
                    <a:solidFill>
                      <a:schemeClr val="bg1"/>
                    </a:solidFill>
                    <a:latin typeface="Calibri" panose="020F0502020204030204" pitchFamily="34" charset="0"/>
                    <a:cs typeface="Calibri" panose="020F0502020204030204" pitchFamily="34" charset="0"/>
                  </a:rPr>
                  <a:t>At 10 minutes</a:t>
                </a:r>
              </a:p>
              <a:p>
                <a:pPr marL="127000" indent="0">
                  <a:lnSpc>
                    <a:spcPct val="114000"/>
                  </a:lnSpc>
                  <a:spcBef>
                    <a:spcPts val="600"/>
                  </a:spcBef>
                  <a:buNone/>
                </a:pPr>
                <a:r>
                  <a:rPr lang="en-IN" sz="1600" b="1" dirty="0">
                    <a:solidFill>
                      <a:schemeClr val="bg1"/>
                    </a:solidFill>
                    <a:latin typeface="Calibri" panose="020F0502020204030204" pitchFamily="34" charset="0"/>
                    <a:cs typeface="Calibri" panose="020F0502020204030204" pitchFamily="34" charset="0"/>
                  </a:rPr>
                  <a:t>Solution:</a:t>
                </a:r>
                <a:endParaRPr lang="en-IN" sz="1600" dirty="0">
                  <a:solidFill>
                    <a:schemeClr val="bg1"/>
                  </a:solidFill>
                  <a:latin typeface="Calibri" panose="020F0502020204030204" pitchFamily="34" charset="0"/>
                  <a:cs typeface="Calibri" panose="020F0502020204030204" pitchFamily="34" charset="0"/>
                </a:endParaRPr>
              </a:p>
              <a:p>
                <a:pPr marL="527050" lvl="0" indent="-400050" algn="just">
                  <a:lnSpc>
                    <a:spcPct val="114000"/>
                  </a:lnSpc>
                  <a:spcBef>
                    <a:spcPts val="600"/>
                  </a:spcBef>
                  <a:buFont typeface="+mj-lt"/>
                  <a:buAutoNum type="romanLcPeriod" startAt="2"/>
                </a:pPr>
                <a:r>
                  <a:rPr lang="en-IN" sz="1600" dirty="0">
                    <a:solidFill>
                      <a:schemeClr val="bg1"/>
                    </a:solidFill>
                    <a:latin typeface="Calibri" panose="020F0502020204030204" pitchFamily="34" charset="0"/>
                    <a:cs typeface="Calibri" panose="020F0502020204030204" pitchFamily="34" charset="0"/>
                  </a:rPr>
                  <a:t>Rate of reaction for the first 5 minutes is,</a:t>
                </a:r>
              </a:p>
              <a:p>
                <a:pPr marL="127000" indent="0" algn="just">
                  <a:lnSpc>
                    <a:spcPct val="114000"/>
                  </a:lnSpc>
                  <a:spcBef>
                    <a:spcPts val="600"/>
                  </a:spcBef>
                  <a:buNone/>
                </a:pPr>
                <a14:m>
                  <m:oMathPara xmlns:m="http://schemas.openxmlformats.org/officeDocument/2006/math">
                    <m:oMathParaPr>
                      <m:jc m:val="centerGroup"/>
                    </m:oMathParaPr>
                    <m:oMath xmlns:m="http://schemas.openxmlformats.org/officeDocument/2006/math">
                      <m:f>
                        <m:fPr>
                          <m:ctrlPr>
                            <a:rPr lang="ar-AE" sz="1600" i="1">
                              <a:solidFill>
                                <a:schemeClr val="bg1"/>
                              </a:solidFill>
                              <a:latin typeface="Cambria Math" panose="02040503050406030204" pitchFamily="18" charset="0"/>
                            </a:rPr>
                          </m:ctrlPr>
                        </m:fPr>
                        <m:num>
                          <m:r>
                            <a:rPr lang="ar-AE" sz="1600" i="1">
                              <a:solidFill>
                                <a:schemeClr val="bg1"/>
                              </a:solidFill>
                              <a:latin typeface="Cambria Math" panose="02040503050406030204" pitchFamily="18" charset="0"/>
                            </a:rPr>
                            <m:t>𝑐</m:t>
                          </m:r>
                          <m:r>
                            <a:rPr lang="ar-AE" sz="1600" i="1">
                              <a:solidFill>
                                <a:schemeClr val="bg1"/>
                              </a:solidFill>
                              <a:latin typeface="Cambria Math" panose="02040503050406030204" pitchFamily="18" charset="0"/>
                            </a:rPr>
                            <m:t>h</m:t>
                          </m:r>
                          <m:r>
                            <a:rPr lang="ar-AE" sz="1600" i="1">
                              <a:solidFill>
                                <a:schemeClr val="bg1"/>
                              </a:solidFill>
                              <a:latin typeface="Cambria Math" panose="02040503050406030204" pitchFamily="18" charset="0"/>
                            </a:rPr>
                            <m:t>𝑎𝑛𝑔𝑒</m:t>
                          </m:r>
                          <m:r>
                            <a:rPr lang="ar-AE" sz="1600" i="1">
                              <a:solidFill>
                                <a:schemeClr val="bg1"/>
                              </a:solidFill>
                              <a:latin typeface="Cambria Math" panose="02040503050406030204" pitchFamily="18" charset="0"/>
                            </a:rPr>
                            <m:t> </m:t>
                          </m:r>
                          <m:r>
                            <a:rPr lang="ar-AE" sz="1600" i="1">
                              <a:solidFill>
                                <a:schemeClr val="bg1"/>
                              </a:solidFill>
                              <a:latin typeface="Cambria Math" panose="02040503050406030204" pitchFamily="18" charset="0"/>
                            </a:rPr>
                            <m:t>𝑖𝑛</m:t>
                          </m:r>
                          <m:r>
                            <a:rPr lang="ar-AE" sz="1600" i="1">
                              <a:solidFill>
                                <a:schemeClr val="bg1"/>
                              </a:solidFill>
                              <a:latin typeface="Cambria Math" panose="02040503050406030204" pitchFamily="18" charset="0"/>
                            </a:rPr>
                            <m:t> </m:t>
                          </m:r>
                          <m:r>
                            <a:rPr lang="ar-AE" sz="1600" i="1">
                              <a:solidFill>
                                <a:schemeClr val="bg1"/>
                              </a:solidFill>
                              <a:latin typeface="Cambria Math" panose="02040503050406030204" pitchFamily="18" charset="0"/>
                            </a:rPr>
                            <m:t>𝑐𝑜𝑛𝑐𝑒𝑛𝑡𝑟𝑎𝑡𝑖𝑜𝑛</m:t>
                          </m:r>
                        </m:num>
                        <m:den>
                          <m:r>
                            <a:rPr lang="ar-AE" sz="1600" i="1">
                              <a:solidFill>
                                <a:schemeClr val="bg1"/>
                              </a:solidFill>
                              <a:latin typeface="Cambria Math" panose="02040503050406030204" pitchFamily="18" charset="0"/>
                            </a:rPr>
                            <m:t>𝑡𝑖𝑚𝑒</m:t>
                          </m:r>
                        </m:den>
                      </m:f>
                      <m:r>
                        <a:rPr lang="ar-AE" sz="1600" i="1">
                          <a:solidFill>
                            <a:schemeClr val="bg1"/>
                          </a:solidFill>
                          <a:latin typeface="Cambria Math" panose="02040503050406030204" pitchFamily="18" charset="0"/>
                        </a:rPr>
                        <m:t>=</m:t>
                      </m:r>
                      <m:f>
                        <m:fPr>
                          <m:ctrlPr>
                            <a:rPr lang="ar-AE" sz="1600" i="1">
                              <a:solidFill>
                                <a:schemeClr val="bg1"/>
                              </a:solidFill>
                              <a:latin typeface="Cambria Math" panose="02040503050406030204" pitchFamily="18" charset="0"/>
                            </a:rPr>
                          </m:ctrlPr>
                        </m:fPr>
                        <m:num>
                          <m:r>
                            <a:rPr lang="ar-AE" sz="1600" i="1">
                              <a:solidFill>
                                <a:schemeClr val="bg1"/>
                              </a:solidFill>
                              <a:latin typeface="Cambria Math" panose="02040503050406030204" pitchFamily="18" charset="0"/>
                            </a:rPr>
                            <m:t>1</m:t>
                          </m:r>
                          <m:r>
                            <a:rPr lang="ar-AE" sz="1600" i="1">
                              <a:solidFill>
                                <a:schemeClr val="bg1"/>
                              </a:solidFill>
                              <a:latin typeface="Cambria Math" panose="02040503050406030204" pitchFamily="18" charset="0"/>
                            </a:rPr>
                            <m:t>.</m:t>
                          </m:r>
                          <m:r>
                            <a:rPr lang="ar-AE" sz="1600" i="1">
                              <a:solidFill>
                                <a:schemeClr val="bg1"/>
                              </a:solidFill>
                              <a:latin typeface="Cambria Math" panose="02040503050406030204" pitchFamily="18" charset="0"/>
                            </a:rPr>
                            <m:t>5</m:t>
                          </m:r>
                          <m:r>
                            <a:rPr lang="ar-AE" sz="1600" i="1">
                              <a:solidFill>
                                <a:schemeClr val="bg1"/>
                              </a:solidFill>
                              <a:latin typeface="Cambria Math" panose="02040503050406030204" pitchFamily="18" charset="0"/>
                            </a:rPr>
                            <m:t>−</m:t>
                          </m:r>
                          <m:r>
                            <a:rPr lang="ar-AE" sz="1600" i="1">
                              <a:solidFill>
                                <a:schemeClr val="bg1"/>
                              </a:solidFill>
                              <a:latin typeface="Cambria Math" panose="02040503050406030204" pitchFamily="18" charset="0"/>
                            </a:rPr>
                            <m:t>1</m:t>
                          </m:r>
                          <m:r>
                            <a:rPr lang="ar-AE" sz="1600" i="1">
                              <a:solidFill>
                                <a:schemeClr val="bg1"/>
                              </a:solidFill>
                              <a:latin typeface="Cambria Math" panose="02040503050406030204" pitchFamily="18" charset="0"/>
                            </a:rPr>
                            <m:t>.</m:t>
                          </m:r>
                          <m:r>
                            <a:rPr lang="ar-AE" sz="1600" i="1">
                              <a:solidFill>
                                <a:schemeClr val="bg1"/>
                              </a:solidFill>
                              <a:latin typeface="Cambria Math" panose="02040503050406030204" pitchFamily="18" charset="0"/>
                            </a:rPr>
                            <m:t>2</m:t>
                          </m:r>
                        </m:num>
                        <m:den>
                          <m:r>
                            <a:rPr lang="ar-AE" sz="1600" i="1">
                              <a:solidFill>
                                <a:schemeClr val="bg1"/>
                              </a:solidFill>
                              <a:latin typeface="Cambria Math" panose="02040503050406030204" pitchFamily="18" charset="0"/>
                            </a:rPr>
                            <m:t>5</m:t>
                          </m:r>
                          <m:r>
                            <a:rPr lang="ar-AE" sz="1600" i="1">
                              <a:solidFill>
                                <a:schemeClr val="bg1"/>
                              </a:solidFill>
                              <a:latin typeface="Cambria Math" panose="02040503050406030204" pitchFamily="18" charset="0"/>
                            </a:rPr>
                            <m:t>×</m:t>
                          </m:r>
                          <m:r>
                            <a:rPr lang="ar-AE" sz="1600" i="1">
                              <a:solidFill>
                                <a:schemeClr val="bg1"/>
                              </a:solidFill>
                              <a:latin typeface="Cambria Math" panose="02040503050406030204" pitchFamily="18" charset="0"/>
                            </a:rPr>
                            <m:t>60</m:t>
                          </m:r>
                        </m:den>
                      </m:f>
                      <m:r>
                        <a:rPr lang="ar-AE" sz="1600" i="1">
                          <a:solidFill>
                            <a:schemeClr val="bg1"/>
                          </a:solidFill>
                          <a:latin typeface="Cambria Math" panose="02040503050406030204" pitchFamily="18" charset="0"/>
                        </a:rPr>
                        <m:t>=</m:t>
                      </m:r>
                      <m:r>
                        <a:rPr lang="ar-AE" sz="1600" i="1">
                          <a:solidFill>
                            <a:schemeClr val="bg1"/>
                          </a:solidFill>
                          <a:latin typeface="Cambria Math" panose="02040503050406030204" pitchFamily="18" charset="0"/>
                        </a:rPr>
                        <m:t>0</m:t>
                      </m:r>
                      <m:r>
                        <a:rPr lang="ar-AE" sz="1600" i="1">
                          <a:solidFill>
                            <a:schemeClr val="bg1"/>
                          </a:solidFill>
                          <a:latin typeface="Cambria Math" panose="02040503050406030204" pitchFamily="18" charset="0"/>
                        </a:rPr>
                        <m:t>.</m:t>
                      </m:r>
                      <m:r>
                        <a:rPr lang="ar-AE" sz="1600" i="1">
                          <a:solidFill>
                            <a:schemeClr val="bg1"/>
                          </a:solidFill>
                          <a:latin typeface="Cambria Math" panose="02040503050406030204" pitchFamily="18" charset="0"/>
                        </a:rPr>
                        <m:t>001</m:t>
                      </m:r>
                      <m:r>
                        <a:rPr lang="ar-AE" sz="1600" i="1">
                          <a:solidFill>
                            <a:schemeClr val="bg1"/>
                          </a:solidFill>
                          <a:latin typeface="Cambria Math" panose="02040503050406030204" pitchFamily="18" charset="0"/>
                        </a:rPr>
                        <m:t>𝑚𝑜𝑙</m:t>
                      </m:r>
                      <m:r>
                        <a:rPr lang="ar-AE" sz="1600" i="1">
                          <a:solidFill>
                            <a:schemeClr val="bg1"/>
                          </a:solidFill>
                          <a:latin typeface="Cambria Math" panose="02040503050406030204" pitchFamily="18" charset="0"/>
                        </a:rPr>
                        <m:t>/</m:t>
                      </m:r>
                      <m:sSup>
                        <m:sSupPr>
                          <m:ctrlPr>
                            <a:rPr lang="ar-AE" sz="1600" i="1">
                              <a:solidFill>
                                <a:schemeClr val="bg1"/>
                              </a:solidFill>
                              <a:latin typeface="Cambria Math" panose="02040503050406030204" pitchFamily="18" charset="0"/>
                            </a:rPr>
                          </m:ctrlPr>
                        </m:sSupPr>
                        <m:e>
                          <m:r>
                            <a:rPr lang="ar-AE" sz="1600" i="1">
                              <a:solidFill>
                                <a:schemeClr val="bg1"/>
                              </a:solidFill>
                              <a:latin typeface="Cambria Math" panose="02040503050406030204" pitchFamily="18" charset="0"/>
                            </a:rPr>
                            <m:t>𝑑𝑚</m:t>
                          </m:r>
                        </m:e>
                        <m:sup>
                          <m:r>
                            <a:rPr lang="ar-AE" sz="1600" i="1">
                              <a:solidFill>
                                <a:schemeClr val="bg1"/>
                              </a:solidFill>
                              <a:latin typeface="Cambria Math" panose="02040503050406030204" pitchFamily="18" charset="0"/>
                            </a:rPr>
                            <m:t>3</m:t>
                          </m:r>
                        </m:sup>
                      </m:sSup>
                      <m:r>
                        <a:rPr lang="ar-AE" sz="1600" i="1">
                          <a:solidFill>
                            <a:schemeClr val="bg1"/>
                          </a:solidFill>
                          <a:latin typeface="Cambria Math" panose="02040503050406030204" pitchFamily="18" charset="0"/>
                        </a:rPr>
                        <m:t>𝑠</m:t>
                      </m:r>
                    </m:oMath>
                  </m:oMathPara>
                </a14:m>
                <a:endParaRPr lang="ar-AE" sz="1600" dirty="0">
                  <a:solidFill>
                    <a:schemeClr val="bg1"/>
                  </a:solidFill>
                  <a:latin typeface="Calibri" panose="020F0502020204030204" pitchFamily="34" charset="0"/>
                  <a:cs typeface="Calibri" panose="020F0502020204030204" pitchFamily="34" charset="0"/>
                </a:endParaRPr>
              </a:p>
              <a:p>
                <a:pPr marL="0" lvl="0" indent="0" algn="l" rtl="0">
                  <a:lnSpc>
                    <a:spcPct val="114000"/>
                  </a:lnSpc>
                  <a:spcBef>
                    <a:spcPts val="600"/>
                  </a:spcBef>
                  <a:spcAft>
                    <a:spcPts val="1600"/>
                  </a:spcAft>
                  <a:buNone/>
                </a:pPr>
                <a:endParaRPr lang="ar-AE" sz="1600" dirty="0">
                  <a:solidFill>
                    <a:schemeClr val="bg1"/>
                  </a:solidFill>
                  <a:latin typeface="Calibri" panose="020F0502020204030204" pitchFamily="34" charset="0"/>
                  <a:cs typeface="Calibri" panose="020F0502020204030204" pitchFamily="34" charset="0"/>
                </a:endParaRPr>
              </a:p>
            </p:txBody>
          </p:sp>
        </mc:Choice>
        <mc:Fallback xmlns="">
          <p:sp>
            <p:nvSpPr>
              <p:cNvPr id="124" name="Google Shape;124;p27"/>
              <p:cNvSpPr txBox="1">
                <a:spLocks noGrp="1" noRot="1" noChangeAspect="1" noMove="1" noResize="1" noEditPoints="1" noAdjustHandles="1" noChangeArrowheads="1" noChangeShapeType="1" noTextEdit="1"/>
              </p:cNvSpPr>
              <p:nvPr>
                <p:ph type="body" idx="2"/>
              </p:nvPr>
            </p:nvSpPr>
            <p:spPr>
              <a:xfrm>
                <a:off x="4939500" y="338561"/>
                <a:ext cx="3837000" cy="3695100"/>
              </a:xfrm>
              <a:prstGeom prst="rect">
                <a:avLst/>
              </a:prstGeom>
              <a:blipFill>
                <a:blip r:embed="rId3"/>
                <a:stretch>
                  <a:fillRect l="-794" r="-794" b="-16832"/>
                </a:stretch>
              </a:blipFill>
            </p:spPr>
            <p:txBody>
              <a:bodyPr/>
              <a:lstStyle/>
              <a:p>
                <a:r>
                  <a:rPr lang="en-GB">
                    <a:noFill/>
                  </a:rPr>
                  <a:t> </a:t>
                </a:r>
              </a:p>
            </p:txBody>
          </p:sp>
        </mc:Fallback>
      </mc:AlternateContent>
      <p:sp>
        <p:nvSpPr>
          <p:cNvPr id="126" name="Google Shape;126;p27"/>
          <p:cNvSpPr txBox="1"/>
          <p:nvPr/>
        </p:nvSpPr>
        <p:spPr>
          <a:xfrm>
            <a:off x="2177143" y="4546950"/>
            <a:ext cx="2157682"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Concentration of reaction-time</a:t>
            </a:r>
          </a:p>
        </p:txBody>
      </p:sp>
      <p:pic>
        <p:nvPicPr>
          <p:cNvPr id="11" name="Picture 10">
            <a:extLst>
              <a:ext uri="{FF2B5EF4-FFF2-40B4-BE49-F238E27FC236}">
                <a16:creationId xmlns:a16="http://schemas.microsoft.com/office/drawing/2014/main" id="{5B28990B-0058-427B-8871-D7ADAE834626}"/>
              </a:ext>
            </a:extLst>
          </p:cNvPr>
          <p:cNvPicPr>
            <a:picLocks noChangeAspect="1"/>
          </p:cNvPicPr>
          <p:nvPr/>
        </p:nvPicPr>
        <p:blipFill>
          <a:blip r:embed="rId4"/>
          <a:stretch>
            <a:fillRect/>
          </a:stretch>
        </p:blipFill>
        <p:spPr>
          <a:xfrm>
            <a:off x="367500" y="1678767"/>
            <a:ext cx="3983276" cy="2389966"/>
          </a:xfrm>
          <a:prstGeom prst="rect">
            <a:avLst/>
          </a:prstGeom>
        </p:spPr>
      </p:pic>
      <p:cxnSp>
        <p:nvCxnSpPr>
          <p:cNvPr id="3" name="Straight Connector 2">
            <a:extLst>
              <a:ext uri="{FF2B5EF4-FFF2-40B4-BE49-F238E27FC236}">
                <a16:creationId xmlns:a16="http://schemas.microsoft.com/office/drawing/2014/main" id="{51B3B160-F506-4E7F-BBDC-7F2781BCD851}"/>
              </a:ext>
            </a:extLst>
          </p:cNvPr>
          <p:cNvCxnSpPr/>
          <p:nvPr/>
        </p:nvCxnSpPr>
        <p:spPr>
          <a:xfrm>
            <a:off x="982133" y="1930400"/>
            <a:ext cx="0" cy="1546578"/>
          </a:xfrm>
          <a:prstGeom prst="line">
            <a:avLst/>
          </a:prstGeom>
          <a:ln>
            <a:solidFill>
              <a:srgbClr val="FF0000"/>
            </a:solidFill>
            <a:prstDash val="dash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4B896FF-D921-4D0B-9564-7AB5D092F754}"/>
              </a:ext>
            </a:extLst>
          </p:cNvPr>
          <p:cNvCxnSpPr>
            <a:cxnSpLocks/>
          </p:cNvCxnSpPr>
          <p:nvPr/>
        </p:nvCxnSpPr>
        <p:spPr>
          <a:xfrm>
            <a:off x="1388533" y="2257778"/>
            <a:ext cx="0" cy="1230489"/>
          </a:xfrm>
          <a:prstGeom prst="line">
            <a:avLst/>
          </a:prstGeom>
          <a:ln>
            <a:solidFill>
              <a:srgbClr val="FF0000"/>
            </a:solidFill>
            <a:prstDash val="dash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196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chemeClr val="bg2">
                    <a:lumMod val="50000"/>
                  </a:schemeClr>
                </a:solidFill>
                <a:latin typeface="Calibri" panose="020F0502020204030204" pitchFamily="34" charset="0"/>
                <a:cs typeface="Calibri" panose="020F0502020204030204" pitchFamily="34" charset="0"/>
              </a:rPr>
              <a:t>Rate of reaction</a:t>
            </a:r>
            <a:endParaRPr sz="4800" dirty="0">
              <a:solidFill>
                <a:schemeClr val="bg2">
                  <a:lumMod val="50000"/>
                </a:schemeClr>
              </a:solidFill>
            </a:endParaRPr>
          </a:p>
        </p:txBody>
      </p:sp>
      <mc:AlternateContent xmlns:mc="http://schemas.openxmlformats.org/markup-compatibility/2006" xmlns:a14="http://schemas.microsoft.com/office/drawing/2010/main">
        <mc:Choice Requires="a14">
          <p:sp>
            <p:nvSpPr>
              <p:cNvPr id="124" name="Google Shape;124;p27"/>
              <p:cNvSpPr txBox="1">
                <a:spLocks noGrp="1"/>
              </p:cNvSpPr>
              <p:nvPr>
                <p:ph type="body" idx="2"/>
              </p:nvPr>
            </p:nvSpPr>
            <p:spPr>
              <a:xfrm>
                <a:off x="4939500" y="338561"/>
                <a:ext cx="3837000" cy="3695100"/>
              </a:xfrm>
              <a:prstGeom prst="rect">
                <a:avLst/>
              </a:prstGeom>
            </p:spPr>
            <p:txBody>
              <a:bodyPr spcFirstLastPara="1" wrap="square" lIns="91425" tIns="91425" rIns="91425" bIns="91425" anchor="t" anchorCtr="0">
                <a:noAutofit/>
              </a:bodyPr>
              <a:lstStyle/>
              <a:p>
                <a:pPr marL="114300" lvl="0" indent="0">
                  <a:lnSpc>
                    <a:spcPct val="114000"/>
                  </a:lnSpc>
                  <a:spcBef>
                    <a:spcPts val="600"/>
                  </a:spcBef>
                  <a:buNone/>
                </a:pPr>
                <a:r>
                  <a:rPr lang="en-IN" sz="1600" dirty="0">
                    <a:solidFill>
                      <a:schemeClr val="bg1"/>
                    </a:solidFill>
                    <a:latin typeface="Calibri" panose="020F0502020204030204" pitchFamily="34" charset="0"/>
                    <a:cs typeface="Calibri" panose="020F0502020204030204" pitchFamily="34" charset="0"/>
                  </a:rPr>
                  <a:t>Example 1: Find the rate of reaction for this concentration of reactant versus time graph.</a:t>
                </a:r>
              </a:p>
              <a:p>
                <a:pPr marL="996950" lvl="1" indent="-400050">
                  <a:lnSpc>
                    <a:spcPct val="114000"/>
                  </a:lnSpc>
                  <a:spcBef>
                    <a:spcPts val="600"/>
                  </a:spcBef>
                  <a:buFont typeface="+mj-lt"/>
                  <a:buAutoNum type="romanLcPeriod"/>
                </a:pPr>
                <a:r>
                  <a:rPr lang="en-IN" sz="1600" dirty="0">
                    <a:solidFill>
                      <a:schemeClr val="bg1"/>
                    </a:solidFill>
                    <a:latin typeface="Calibri" panose="020F0502020204030204" pitchFamily="34" charset="0"/>
                    <a:cs typeface="Calibri" panose="020F0502020204030204" pitchFamily="34" charset="0"/>
                  </a:rPr>
                  <a:t>At t=0</a:t>
                </a:r>
              </a:p>
              <a:p>
                <a:pPr marL="996950" lvl="1" indent="-400050">
                  <a:lnSpc>
                    <a:spcPct val="114000"/>
                  </a:lnSpc>
                  <a:spcBef>
                    <a:spcPts val="600"/>
                  </a:spcBef>
                  <a:buFont typeface="+mj-lt"/>
                  <a:buAutoNum type="romanLcPeriod"/>
                </a:pPr>
                <a:r>
                  <a:rPr lang="en-IN" sz="1600" dirty="0">
                    <a:solidFill>
                      <a:schemeClr val="bg1"/>
                    </a:solidFill>
                    <a:latin typeface="Calibri" panose="020F0502020204030204" pitchFamily="34" charset="0"/>
                    <a:cs typeface="Calibri" panose="020F0502020204030204" pitchFamily="34" charset="0"/>
                  </a:rPr>
                  <a:t>For the first 5 minutes</a:t>
                </a:r>
              </a:p>
              <a:p>
                <a:pPr marL="996950" lvl="1" indent="-400050">
                  <a:lnSpc>
                    <a:spcPct val="114000"/>
                  </a:lnSpc>
                  <a:spcBef>
                    <a:spcPts val="600"/>
                  </a:spcBef>
                  <a:buFont typeface="+mj-lt"/>
                  <a:buAutoNum type="romanLcPeriod"/>
                </a:pPr>
                <a:r>
                  <a:rPr lang="en-IN" sz="1600" dirty="0">
                    <a:solidFill>
                      <a:schemeClr val="bg1"/>
                    </a:solidFill>
                    <a:latin typeface="Calibri" panose="020F0502020204030204" pitchFamily="34" charset="0"/>
                    <a:cs typeface="Calibri" panose="020F0502020204030204" pitchFamily="34" charset="0"/>
                  </a:rPr>
                  <a:t>At 10 minutes</a:t>
                </a:r>
              </a:p>
              <a:p>
                <a:pPr marL="127000" indent="0">
                  <a:lnSpc>
                    <a:spcPct val="114000"/>
                  </a:lnSpc>
                  <a:spcBef>
                    <a:spcPts val="600"/>
                  </a:spcBef>
                  <a:buNone/>
                </a:pPr>
                <a:r>
                  <a:rPr lang="en-IN" sz="1600" b="1" dirty="0">
                    <a:solidFill>
                      <a:schemeClr val="bg1"/>
                    </a:solidFill>
                    <a:latin typeface="Calibri" panose="020F0502020204030204" pitchFamily="34" charset="0"/>
                    <a:cs typeface="Calibri" panose="020F0502020204030204" pitchFamily="34" charset="0"/>
                  </a:rPr>
                  <a:t>Solution:</a:t>
                </a:r>
                <a:endParaRPr lang="en-IN" sz="1600" dirty="0">
                  <a:solidFill>
                    <a:schemeClr val="bg1"/>
                  </a:solidFill>
                  <a:latin typeface="Calibri" panose="020F0502020204030204" pitchFamily="34" charset="0"/>
                  <a:cs typeface="Calibri" panose="020F0502020204030204" pitchFamily="34" charset="0"/>
                </a:endParaRPr>
              </a:p>
              <a:p>
                <a:pPr marL="527050" lvl="0" indent="-400050" algn="just">
                  <a:lnSpc>
                    <a:spcPct val="114000"/>
                  </a:lnSpc>
                  <a:spcBef>
                    <a:spcPts val="600"/>
                  </a:spcBef>
                  <a:buFont typeface="+mj-lt"/>
                  <a:buAutoNum type="romanLcPeriod" startAt="3"/>
                </a:pPr>
                <a:r>
                  <a:rPr lang="ar-AE" sz="1600" dirty="0">
                    <a:solidFill>
                      <a:schemeClr val="bg1"/>
                    </a:solidFill>
                    <a:latin typeface="Calibri" panose="020F0502020204030204" pitchFamily="34" charset="0"/>
                    <a:cs typeface="Calibri" panose="020F0502020204030204" pitchFamily="34" charset="0"/>
                  </a:rPr>
                  <a:t> </a:t>
                </a:r>
                <a:r>
                  <a:rPr lang="en-IN" sz="1600" dirty="0">
                    <a:solidFill>
                      <a:schemeClr val="bg1"/>
                    </a:solidFill>
                    <a:latin typeface="Calibri" panose="020F0502020204030204" pitchFamily="34" charset="0"/>
                    <a:cs typeface="Calibri" panose="020F0502020204030204" pitchFamily="34" charset="0"/>
                  </a:rPr>
                  <a:t>At t=10 min, the rate of reaction is the slope of the tangent of the curve at that point,</a:t>
                </a:r>
              </a:p>
              <a:p>
                <a:pPr marL="127000" indent="0" algn="just">
                  <a:lnSpc>
                    <a:spcPct val="114000"/>
                  </a:lnSpc>
                  <a:spcBef>
                    <a:spcPts val="600"/>
                  </a:spcBef>
                  <a:buNone/>
                </a:pPr>
                <a14:m>
                  <m:oMathPara xmlns:m="http://schemas.openxmlformats.org/officeDocument/2006/math">
                    <m:oMathParaPr>
                      <m:jc m:val="centerGroup"/>
                    </m:oMathParaPr>
                    <m:oMath xmlns:m="http://schemas.openxmlformats.org/officeDocument/2006/math">
                      <m:r>
                        <a:rPr lang="en-IN" sz="1600" i="1">
                          <a:solidFill>
                            <a:schemeClr val="bg1"/>
                          </a:solidFill>
                          <a:latin typeface="Cambria Math" panose="02040503050406030204" pitchFamily="18" charset="0"/>
                        </a:rPr>
                        <m:t>𝑟𝑎𝑡𝑒</m:t>
                      </m:r>
                      <m:r>
                        <a:rPr lang="en-IN" sz="1600" i="1">
                          <a:solidFill>
                            <a:schemeClr val="bg1"/>
                          </a:solidFill>
                          <a:latin typeface="Cambria Math" panose="02040503050406030204" pitchFamily="18" charset="0"/>
                        </a:rPr>
                        <m:t> </m:t>
                      </m:r>
                      <m:r>
                        <a:rPr lang="en-IN" sz="1600" i="1">
                          <a:solidFill>
                            <a:schemeClr val="bg1"/>
                          </a:solidFill>
                          <a:latin typeface="Cambria Math" panose="02040503050406030204" pitchFamily="18" charset="0"/>
                        </a:rPr>
                        <m:t>𝑜𝑓</m:t>
                      </m:r>
                      <m:r>
                        <a:rPr lang="en-IN" sz="1600" i="1">
                          <a:solidFill>
                            <a:schemeClr val="bg1"/>
                          </a:solidFill>
                          <a:latin typeface="Cambria Math" panose="02040503050406030204" pitchFamily="18" charset="0"/>
                        </a:rPr>
                        <m:t> </m:t>
                      </m:r>
                      <m:r>
                        <a:rPr lang="en-IN" sz="1600" i="1">
                          <a:solidFill>
                            <a:schemeClr val="bg1"/>
                          </a:solidFill>
                          <a:latin typeface="Cambria Math" panose="02040503050406030204" pitchFamily="18" charset="0"/>
                        </a:rPr>
                        <m:t>𝑟𝑒𝑎𝑐𝑡𝑖𝑜𝑛</m:t>
                      </m:r>
                      <m:r>
                        <a:rPr lang="en-IN" sz="1600" i="1">
                          <a:solidFill>
                            <a:schemeClr val="bg1"/>
                          </a:solidFill>
                          <a:latin typeface="Cambria Math" panose="02040503050406030204" pitchFamily="18" charset="0"/>
                        </a:rPr>
                        <m:t>=</m:t>
                      </m:r>
                      <m:f>
                        <m:fPr>
                          <m:ctrlPr>
                            <a:rPr lang="ar-AE" sz="1600" i="1">
                              <a:solidFill>
                                <a:schemeClr val="bg1"/>
                              </a:solidFill>
                              <a:latin typeface="Cambria Math" panose="02040503050406030204" pitchFamily="18" charset="0"/>
                            </a:rPr>
                          </m:ctrlPr>
                        </m:fPr>
                        <m:num>
                          <m:r>
                            <a:rPr lang="ar-AE" sz="1600" i="1">
                              <a:solidFill>
                                <a:schemeClr val="bg1"/>
                              </a:solidFill>
                              <a:latin typeface="Cambria Math" panose="02040503050406030204" pitchFamily="18" charset="0"/>
                            </a:rPr>
                            <m:t>1</m:t>
                          </m:r>
                          <m:r>
                            <a:rPr lang="ar-AE" sz="1600" i="1">
                              <a:solidFill>
                                <a:schemeClr val="bg1"/>
                              </a:solidFill>
                              <a:latin typeface="Cambria Math" panose="02040503050406030204" pitchFamily="18" charset="0"/>
                            </a:rPr>
                            <m:t>.</m:t>
                          </m:r>
                          <m:r>
                            <a:rPr lang="ar-AE" sz="1600" i="1">
                              <a:solidFill>
                                <a:schemeClr val="bg1"/>
                              </a:solidFill>
                              <a:latin typeface="Cambria Math" panose="02040503050406030204" pitchFamily="18" charset="0"/>
                            </a:rPr>
                            <m:t>4</m:t>
                          </m:r>
                          <m:r>
                            <a:rPr lang="ar-AE" sz="1600" i="1">
                              <a:solidFill>
                                <a:schemeClr val="bg1"/>
                              </a:solidFill>
                              <a:latin typeface="Cambria Math" panose="02040503050406030204" pitchFamily="18" charset="0"/>
                            </a:rPr>
                            <m:t>−</m:t>
                          </m:r>
                          <m:r>
                            <a:rPr lang="ar-AE" sz="1600" i="1">
                              <a:solidFill>
                                <a:schemeClr val="bg1"/>
                              </a:solidFill>
                              <a:latin typeface="Cambria Math" panose="02040503050406030204" pitchFamily="18" charset="0"/>
                            </a:rPr>
                            <m:t>0</m:t>
                          </m:r>
                        </m:num>
                        <m:den>
                          <m:r>
                            <a:rPr lang="ar-AE" sz="1600" i="1">
                              <a:solidFill>
                                <a:schemeClr val="bg1"/>
                              </a:solidFill>
                              <a:latin typeface="Cambria Math" panose="02040503050406030204" pitchFamily="18" charset="0"/>
                            </a:rPr>
                            <m:t>33</m:t>
                          </m:r>
                          <m:r>
                            <a:rPr lang="ar-AE" sz="1600" i="1">
                              <a:solidFill>
                                <a:schemeClr val="bg1"/>
                              </a:solidFill>
                              <a:latin typeface="Cambria Math" panose="02040503050406030204" pitchFamily="18" charset="0"/>
                            </a:rPr>
                            <m:t>×</m:t>
                          </m:r>
                          <m:r>
                            <a:rPr lang="ar-AE" sz="1600" i="1">
                              <a:solidFill>
                                <a:schemeClr val="bg1"/>
                              </a:solidFill>
                              <a:latin typeface="Cambria Math" panose="02040503050406030204" pitchFamily="18" charset="0"/>
                            </a:rPr>
                            <m:t>60</m:t>
                          </m:r>
                        </m:den>
                      </m:f>
                      <m:r>
                        <a:rPr lang="ar-AE" sz="1600" i="1">
                          <a:solidFill>
                            <a:schemeClr val="bg1"/>
                          </a:solidFill>
                          <a:latin typeface="Cambria Math" panose="02040503050406030204" pitchFamily="18" charset="0"/>
                        </a:rPr>
                        <m:t>=</m:t>
                      </m:r>
                      <m:r>
                        <a:rPr lang="ar-AE" sz="1600" i="1">
                          <a:solidFill>
                            <a:schemeClr val="bg1"/>
                          </a:solidFill>
                          <a:latin typeface="Cambria Math" panose="02040503050406030204" pitchFamily="18" charset="0"/>
                        </a:rPr>
                        <m:t>7</m:t>
                      </m:r>
                      <m:r>
                        <a:rPr lang="ar-AE" sz="1600" i="1">
                          <a:solidFill>
                            <a:schemeClr val="bg1"/>
                          </a:solidFill>
                          <a:latin typeface="Cambria Math" panose="02040503050406030204" pitchFamily="18" charset="0"/>
                        </a:rPr>
                        <m:t>.</m:t>
                      </m:r>
                      <m:r>
                        <a:rPr lang="ar-AE" sz="1600" i="1">
                          <a:solidFill>
                            <a:schemeClr val="bg1"/>
                          </a:solidFill>
                          <a:latin typeface="Cambria Math" panose="02040503050406030204" pitchFamily="18" charset="0"/>
                        </a:rPr>
                        <m:t>07</m:t>
                      </m:r>
                      <m:r>
                        <a:rPr lang="ar-AE" sz="1600" i="1">
                          <a:solidFill>
                            <a:schemeClr val="bg1"/>
                          </a:solidFill>
                          <a:latin typeface="Cambria Math" panose="02040503050406030204" pitchFamily="18" charset="0"/>
                        </a:rPr>
                        <m:t>×</m:t>
                      </m:r>
                      <m:sSup>
                        <m:sSupPr>
                          <m:ctrlPr>
                            <a:rPr lang="ar-AE" sz="1600" i="1">
                              <a:solidFill>
                                <a:schemeClr val="bg1"/>
                              </a:solidFill>
                              <a:latin typeface="Cambria Math" panose="02040503050406030204" pitchFamily="18" charset="0"/>
                            </a:rPr>
                          </m:ctrlPr>
                        </m:sSupPr>
                        <m:e>
                          <m:r>
                            <a:rPr lang="ar-AE" sz="1600" i="1">
                              <a:solidFill>
                                <a:schemeClr val="bg1"/>
                              </a:solidFill>
                              <a:latin typeface="Cambria Math" panose="02040503050406030204" pitchFamily="18" charset="0"/>
                            </a:rPr>
                            <m:t>10</m:t>
                          </m:r>
                        </m:e>
                        <m:sup>
                          <m:r>
                            <a:rPr lang="ar-AE" sz="1600" i="1">
                              <a:solidFill>
                                <a:schemeClr val="bg1"/>
                              </a:solidFill>
                              <a:latin typeface="Cambria Math" panose="02040503050406030204" pitchFamily="18" charset="0"/>
                            </a:rPr>
                            <m:t>−</m:t>
                          </m:r>
                          <m:r>
                            <a:rPr lang="ar-AE" sz="1600" i="1">
                              <a:solidFill>
                                <a:schemeClr val="bg1"/>
                              </a:solidFill>
                              <a:latin typeface="Cambria Math" panose="02040503050406030204" pitchFamily="18" charset="0"/>
                            </a:rPr>
                            <m:t>4</m:t>
                          </m:r>
                        </m:sup>
                      </m:sSup>
                      <m:r>
                        <a:rPr lang="ar-AE" sz="1600" i="1">
                          <a:solidFill>
                            <a:schemeClr val="bg1"/>
                          </a:solidFill>
                          <a:latin typeface="Cambria Math" panose="02040503050406030204" pitchFamily="18" charset="0"/>
                        </a:rPr>
                        <m:t> </m:t>
                      </m:r>
                      <m:r>
                        <a:rPr lang="ar-AE" sz="1600" i="1">
                          <a:solidFill>
                            <a:schemeClr val="bg1"/>
                          </a:solidFill>
                          <a:latin typeface="Cambria Math" panose="02040503050406030204" pitchFamily="18" charset="0"/>
                        </a:rPr>
                        <m:t>𝑚𝑜𝑙</m:t>
                      </m:r>
                      <m:r>
                        <a:rPr lang="ar-AE" sz="1600" i="1">
                          <a:solidFill>
                            <a:schemeClr val="bg1"/>
                          </a:solidFill>
                          <a:latin typeface="Cambria Math" panose="02040503050406030204" pitchFamily="18" charset="0"/>
                        </a:rPr>
                        <m:t>/</m:t>
                      </m:r>
                      <m:sSup>
                        <m:sSupPr>
                          <m:ctrlPr>
                            <a:rPr lang="ar-AE" sz="1600" i="1">
                              <a:solidFill>
                                <a:schemeClr val="bg1"/>
                              </a:solidFill>
                              <a:latin typeface="Cambria Math" panose="02040503050406030204" pitchFamily="18" charset="0"/>
                            </a:rPr>
                          </m:ctrlPr>
                        </m:sSupPr>
                        <m:e>
                          <m:r>
                            <a:rPr lang="ar-AE" sz="1600" i="1">
                              <a:solidFill>
                                <a:schemeClr val="bg1"/>
                              </a:solidFill>
                              <a:latin typeface="Cambria Math" panose="02040503050406030204" pitchFamily="18" charset="0"/>
                            </a:rPr>
                            <m:t>𝑑𝑚</m:t>
                          </m:r>
                        </m:e>
                        <m:sup>
                          <m:r>
                            <a:rPr lang="ar-AE" sz="1600" i="1">
                              <a:solidFill>
                                <a:schemeClr val="bg1"/>
                              </a:solidFill>
                              <a:latin typeface="Cambria Math" panose="02040503050406030204" pitchFamily="18" charset="0"/>
                            </a:rPr>
                            <m:t>3</m:t>
                          </m:r>
                        </m:sup>
                      </m:sSup>
                      <m:r>
                        <a:rPr lang="ar-AE" sz="1600" i="1">
                          <a:solidFill>
                            <a:schemeClr val="bg1"/>
                          </a:solidFill>
                          <a:latin typeface="Cambria Math" panose="02040503050406030204" pitchFamily="18" charset="0"/>
                        </a:rPr>
                        <m:t>𝑠</m:t>
                      </m:r>
                    </m:oMath>
                  </m:oMathPara>
                </a14:m>
                <a:endParaRPr lang="ar-AE" sz="1600" dirty="0">
                  <a:solidFill>
                    <a:schemeClr val="bg1"/>
                  </a:solidFill>
                  <a:latin typeface="Calibri" panose="020F0502020204030204" pitchFamily="34" charset="0"/>
                  <a:cs typeface="Calibri" panose="020F0502020204030204" pitchFamily="34" charset="0"/>
                </a:endParaRPr>
              </a:p>
              <a:p>
                <a:pPr marL="0" lvl="0" indent="0" algn="l" rtl="0">
                  <a:lnSpc>
                    <a:spcPct val="114000"/>
                  </a:lnSpc>
                  <a:spcBef>
                    <a:spcPts val="600"/>
                  </a:spcBef>
                  <a:spcAft>
                    <a:spcPts val="1600"/>
                  </a:spcAft>
                  <a:buNone/>
                </a:pPr>
                <a:endParaRPr lang="ar-AE" sz="1600" dirty="0">
                  <a:solidFill>
                    <a:schemeClr val="bg1"/>
                  </a:solidFill>
                  <a:latin typeface="Calibri" panose="020F0502020204030204" pitchFamily="34" charset="0"/>
                  <a:cs typeface="Calibri" panose="020F0502020204030204" pitchFamily="34" charset="0"/>
                </a:endParaRPr>
              </a:p>
            </p:txBody>
          </p:sp>
        </mc:Choice>
        <mc:Fallback xmlns="">
          <p:sp>
            <p:nvSpPr>
              <p:cNvPr id="124" name="Google Shape;124;p27"/>
              <p:cNvSpPr txBox="1">
                <a:spLocks noGrp="1" noRot="1" noChangeAspect="1" noMove="1" noResize="1" noEditPoints="1" noAdjustHandles="1" noChangeArrowheads="1" noChangeShapeType="1" noTextEdit="1"/>
              </p:cNvSpPr>
              <p:nvPr>
                <p:ph type="body" idx="2"/>
              </p:nvPr>
            </p:nvSpPr>
            <p:spPr>
              <a:xfrm>
                <a:off x="4939500" y="338561"/>
                <a:ext cx="3837000" cy="3695100"/>
              </a:xfrm>
              <a:prstGeom prst="rect">
                <a:avLst/>
              </a:prstGeom>
              <a:blipFill>
                <a:blip r:embed="rId3"/>
                <a:stretch>
                  <a:fillRect l="-794" r="-794" b="-24257"/>
                </a:stretch>
              </a:blipFill>
            </p:spPr>
            <p:txBody>
              <a:bodyPr/>
              <a:lstStyle/>
              <a:p>
                <a:r>
                  <a:rPr lang="en-GB">
                    <a:noFill/>
                  </a:rPr>
                  <a:t> </a:t>
                </a:r>
              </a:p>
            </p:txBody>
          </p:sp>
        </mc:Fallback>
      </mc:AlternateContent>
      <p:sp>
        <p:nvSpPr>
          <p:cNvPr id="126" name="Google Shape;126;p27"/>
          <p:cNvSpPr txBox="1"/>
          <p:nvPr/>
        </p:nvSpPr>
        <p:spPr>
          <a:xfrm>
            <a:off x="2177143" y="4546950"/>
            <a:ext cx="2157682"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Concentration of reaction-time</a:t>
            </a:r>
          </a:p>
        </p:txBody>
      </p:sp>
      <p:pic>
        <p:nvPicPr>
          <p:cNvPr id="3" name="Picture 2">
            <a:extLst>
              <a:ext uri="{FF2B5EF4-FFF2-40B4-BE49-F238E27FC236}">
                <a16:creationId xmlns:a16="http://schemas.microsoft.com/office/drawing/2014/main" id="{DA4343E1-2FCB-42A9-B734-15BE8330BCE5}"/>
              </a:ext>
            </a:extLst>
          </p:cNvPr>
          <p:cNvPicPr>
            <a:picLocks noChangeAspect="1"/>
          </p:cNvPicPr>
          <p:nvPr/>
        </p:nvPicPr>
        <p:blipFill>
          <a:blip r:embed="rId4"/>
          <a:stretch>
            <a:fillRect/>
          </a:stretch>
        </p:blipFill>
        <p:spPr>
          <a:xfrm>
            <a:off x="367500" y="1807662"/>
            <a:ext cx="4008328" cy="2404998"/>
          </a:xfrm>
          <a:prstGeom prst="rect">
            <a:avLst/>
          </a:prstGeom>
        </p:spPr>
      </p:pic>
    </p:spTree>
    <p:extLst>
      <p:ext uri="{BB962C8B-B14F-4D97-AF65-F5344CB8AC3E}">
        <p14:creationId xmlns:p14="http://schemas.microsoft.com/office/powerpoint/2010/main" val="2511265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Techniques to investigate the rate of reaction</a:t>
            </a:r>
          </a:p>
        </p:txBody>
      </p:sp>
      <p:sp>
        <p:nvSpPr>
          <p:cNvPr id="118" name="Google Shape;118;p26"/>
          <p:cNvSpPr txBox="1"/>
          <p:nvPr/>
        </p:nvSpPr>
        <p:spPr>
          <a:xfrm>
            <a:off x="725178" y="2058475"/>
            <a:ext cx="7330800" cy="2492100"/>
          </a:xfrm>
          <a:prstGeom prst="rect">
            <a:avLst/>
          </a:prstGeom>
          <a:noFill/>
          <a:ln>
            <a:noFill/>
          </a:ln>
        </p:spPr>
        <p:txBody>
          <a:bodyPr spcFirstLastPara="1" wrap="square" lIns="91425" tIns="91425" rIns="91425" bIns="91425" anchor="t" anchorCtr="0">
            <a:noAutofit/>
          </a:bodyPr>
          <a:lstStyle/>
          <a:p>
            <a:pPr marL="457200" lvl="0" indent="-342900" algn="just">
              <a:lnSpc>
                <a:spcPct val="114000"/>
              </a:lnSpc>
              <a:spcBef>
                <a:spcPts val="600"/>
              </a:spcBef>
              <a:buSzPts val="1800"/>
              <a:buFont typeface="Arial" panose="020B0604020202020204" pitchFamily="34" charset="0"/>
              <a:buChar char="•"/>
            </a:pPr>
            <a:r>
              <a:rPr lang="en-IN" sz="1600" dirty="0">
                <a:solidFill>
                  <a:schemeClr val="bg2">
                    <a:lumMod val="50000"/>
                  </a:schemeClr>
                </a:solidFill>
                <a:latin typeface="Calibri" panose="020F0502020204030204" pitchFamily="34" charset="0"/>
                <a:cs typeface="Calibri" panose="020F0502020204030204" pitchFamily="34" charset="0"/>
              </a:rPr>
              <a:t>To calculate the rate of reaction, either the amount of disappearance of reactant or the amount of appearance of product must be measured. There are two methods to measure these:</a:t>
            </a:r>
          </a:p>
          <a:p>
            <a:pPr marL="457200" lvl="0" indent="-342900" algn="just">
              <a:lnSpc>
                <a:spcPct val="114000"/>
              </a:lnSpc>
              <a:spcBef>
                <a:spcPts val="600"/>
              </a:spcBef>
              <a:buSzPct val="100000"/>
              <a:buFont typeface="+mj-lt"/>
              <a:buAutoNum type="alphaLcParenR"/>
            </a:pPr>
            <a:r>
              <a:rPr lang="en-IN" sz="1600" dirty="0">
                <a:latin typeface="Calibri" panose="020F0502020204030204" pitchFamily="34" charset="0"/>
                <a:cs typeface="Calibri" panose="020F0502020204030204" pitchFamily="34" charset="0"/>
              </a:rPr>
              <a:t>Sampling: Small samples of reaction mixture are taken at various times and analysed. </a:t>
            </a:r>
          </a:p>
          <a:p>
            <a:pPr marL="457200" lvl="0" indent="-342900" algn="just">
              <a:lnSpc>
                <a:spcPct val="114000"/>
              </a:lnSpc>
              <a:spcBef>
                <a:spcPts val="600"/>
              </a:spcBef>
              <a:buSzPct val="100000"/>
              <a:buFont typeface="+mj-lt"/>
              <a:buAutoNum type="alphaLcParenR"/>
            </a:pPr>
            <a:r>
              <a:rPr lang="en-IN" sz="1600" dirty="0">
                <a:solidFill>
                  <a:schemeClr val="bg2">
                    <a:lumMod val="50000"/>
                  </a:schemeClr>
                </a:solidFill>
                <a:latin typeface="Calibri" panose="020F0502020204030204" pitchFamily="34" charset="0"/>
                <a:cs typeface="Calibri" panose="020F0502020204030204" pitchFamily="34" charset="0"/>
              </a:rPr>
              <a:t>Continuous: The physical property is measured over a range of time period using different methods.</a:t>
            </a: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19890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Techniques to investigate the rate of reaction: </a:t>
            </a:r>
            <a:r>
              <a:rPr lang="en-IN" sz="3200" dirty="0">
                <a:latin typeface="Calibri" panose="020F0502020204030204" pitchFamily="34" charset="0"/>
                <a:cs typeface="Calibri" panose="020F0502020204030204" pitchFamily="34" charset="0"/>
              </a:rPr>
              <a:t>Sampling</a:t>
            </a:r>
            <a:endParaRPr lang="en-IN" dirty="0">
              <a:latin typeface="Calibri" panose="020F0502020204030204" pitchFamily="34" charset="0"/>
              <a:cs typeface="Calibri" panose="020F0502020204030204" pitchFamily="34" charset="0"/>
            </a:endParaRPr>
          </a:p>
        </p:txBody>
      </p:sp>
      <p:sp>
        <p:nvSpPr>
          <p:cNvPr id="118" name="Google Shape;118;p26"/>
          <p:cNvSpPr txBox="1"/>
          <p:nvPr/>
        </p:nvSpPr>
        <p:spPr>
          <a:xfrm>
            <a:off x="725178" y="2058475"/>
            <a:ext cx="7330800" cy="2492100"/>
          </a:xfrm>
          <a:prstGeom prst="rect">
            <a:avLst/>
          </a:prstGeom>
          <a:noFill/>
          <a:ln>
            <a:noFill/>
          </a:ln>
        </p:spPr>
        <p:txBody>
          <a:bodyPr spcFirstLastPara="1" wrap="square" lIns="91425" tIns="91425" rIns="91425" bIns="91425" anchor="t" anchorCtr="0">
            <a:noAutofit/>
          </a:bodyPr>
          <a:lstStyle/>
          <a:p>
            <a:pPr marL="736600" lvl="4" indent="-285750" algn="just">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Small samples of reaction mixture are taken at various times and analysed. Consider this reaction of bromobutane:</a:t>
            </a:r>
          </a:p>
          <a:p>
            <a:pPr marL="114300" lvl="2" algn="ctr">
              <a:lnSpc>
                <a:spcPct val="114000"/>
              </a:lnSpc>
              <a:spcBef>
                <a:spcPts val="600"/>
              </a:spcBef>
              <a:buSzPts val="1800"/>
            </a:pPr>
            <a:r>
              <a:rPr lang="en-IN" sz="1600" dirty="0">
                <a:solidFill>
                  <a:schemeClr val="bg2">
                    <a:lumMod val="50000"/>
                  </a:schemeClr>
                </a:solidFill>
                <a:latin typeface="Calibri" panose="020F0502020204030204" pitchFamily="34" charset="0"/>
                <a:cs typeface="Calibri" panose="020F0502020204030204" pitchFamily="34" charset="0"/>
              </a:rPr>
              <a:t>C</a:t>
            </a:r>
            <a:r>
              <a:rPr lang="en-IN" sz="1600" baseline="-25000" dirty="0">
                <a:solidFill>
                  <a:schemeClr val="bg2">
                    <a:lumMod val="50000"/>
                  </a:schemeClr>
                </a:solidFill>
                <a:latin typeface="Calibri" panose="020F0502020204030204" pitchFamily="34" charset="0"/>
                <a:cs typeface="Calibri" panose="020F0502020204030204" pitchFamily="34" charset="0"/>
              </a:rPr>
              <a:t>4</a:t>
            </a:r>
            <a:r>
              <a:rPr lang="en-IN" sz="1600" dirty="0">
                <a:solidFill>
                  <a:schemeClr val="bg2">
                    <a:lumMod val="50000"/>
                  </a:schemeClr>
                </a:solidFill>
                <a:latin typeface="Calibri" panose="020F0502020204030204" pitchFamily="34" charset="0"/>
                <a:cs typeface="Calibri" panose="020F0502020204030204" pitchFamily="34" charset="0"/>
              </a:rPr>
              <a:t>H</a:t>
            </a:r>
            <a:r>
              <a:rPr lang="en-IN" sz="1600" baseline="-25000" dirty="0">
                <a:solidFill>
                  <a:schemeClr val="bg2">
                    <a:lumMod val="50000"/>
                  </a:schemeClr>
                </a:solidFill>
                <a:latin typeface="Calibri" panose="020F0502020204030204" pitchFamily="34" charset="0"/>
                <a:cs typeface="Calibri" panose="020F0502020204030204" pitchFamily="34" charset="0"/>
              </a:rPr>
              <a:t>9</a:t>
            </a:r>
            <a:r>
              <a:rPr lang="en-IN" sz="1600" dirty="0">
                <a:solidFill>
                  <a:schemeClr val="bg2">
                    <a:lumMod val="50000"/>
                  </a:schemeClr>
                </a:solidFill>
                <a:latin typeface="Calibri" panose="020F0502020204030204" pitchFamily="34" charset="0"/>
                <a:cs typeface="Calibri" panose="020F0502020204030204" pitchFamily="34" charset="0"/>
              </a:rPr>
              <a:t>Br + OH</a:t>
            </a:r>
            <a:r>
              <a:rPr lang="en-IN" sz="1600" baseline="30000" dirty="0">
                <a:solidFill>
                  <a:schemeClr val="bg2">
                    <a:lumMod val="50000"/>
                  </a:schemeClr>
                </a:solidFill>
                <a:latin typeface="Calibri" panose="020F0502020204030204" pitchFamily="34" charset="0"/>
                <a:cs typeface="Calibri" panose="020F0502020204030204" pitchFamily="34" charset="0"/>
              </a:rPr>
              <a:t>-</a:t>
            </a:r>
            <a:r>
              <a:rPr lang="en-IN" sz="1600" dirty="0">
                <a:solidFill>
                  <a:schemeClr val="bg2">
                    <a:lumMod val="50000"/>
                  </a:schemeClr>
                </a:solidFill>
                <a:latin typeface="Calibri" panose="020F0502020204030204" pitchFamily="34" charset="0"/>
                <a:cs typeface="Calibri" panose="020F0502020204030204" pitchFamily="34" charset="0"/>
              </a:rPr>
              <a:t> →C</a:t>
            </a:r>
            <a:r>
              <a:rPr lang="en-IN" sz="1600" baseline="-25000" dirty="0">
                <a:solidFill>
                  <a:schemeClr val="bg2">
                    <a:lumMod val="50000"/>
                  </a:schemeClr>
                </a:solidFill>
                <a:latin typeface="Calibri" panose="020F0502020204030204" pitchFamily="34" charset="0"/>
                <a:cs typeface="Calibri" panose="020F0502020204030204" pitchFamily="34" charset="0"/>
              </a:rPr>
              <a:t>4</a:t>
            </a:r>
            <a:r>
              <a:rPr lang="en-IN" sz="1600" dirty="0">
                <a:solidFill>
                  <a:schemeClr val="bg2">
                    <a:lumMod val="50000"/>
                  </a:schemeClr>
                </a:solidFill>
                <a:latin typeface="Calibri" panose="020F0502020204030204" pitchFamily="34" charset="0"/>
                <a:cs typeface="Calibri" panose="020F0502020204030204" pitchFamily="34" charset="0"/>
              </a:rPr>
              <a:t>H</a:t>
            </a:r>
            <a:r>
              <a:rPr lang="en-IN" sz="1600" baseline="-25000" dirty="0">
                <a:solidFill>
                  <a:schemeClr val="bg2">
                    <a:lumMod val="50000"/>
                  </a:schemeClr>
                </a:solidFill>
                <a:latin typeface="Calibri" panose="020F0502020204030204" pitchFamily="34" charset="0"/>
                <a:cs typeface="Calibri" panose="020F0502020204030204" pitchFamily="34" charset="0"/>
              </a:rPr>
              <a:t>9</a:t>
            </a:r>
            <a:r>
              <a:rPr lang="en-IN" sz="1600" dirty="0">
                <a:solidFill>
                  <a:schemeClr val="bg2">
                    <a:lumMod val="50000"/>
                  </a:schemeClr>
                </a:solidFill>
                <a:latin typeface="Calibri" panose="020F0502020204030204" pitchFamily="34" charset="0"/>
                <a:cs typeface="Calibri" panose="020F0502020204030204" pitchFamily="34" charset="0"/>
              </a:rPr>
              <a:t>OH + Br</a:t>
            </a:r>
            <a:r>
              <a:rPr lang="en-IN" sz="1600" baseline="30000" dirty="0">
                <a:solidFill>
                  <a:schemeClr val="bg2">
                    <a:lumMod val="50000"/>
                  </a:schemeClr>
                </a:solidFill>
                <a:latin typeface="Calibri" panose="020F0502020204030204" pitchFamily="34" charset="0"/>
                <a:cs typeface="Calibri" panose="020F0502020204030204" pitchFamily="34" charset="0"/>
              </a:rPr>
              <a:t>-</a:t>
            </a:r>
            <a:endParaRPr lang="en-IN" sz="1600" dirty="0">
              <a:latin typeface="Calibri" panose="020F0502020204030204" pitchFamily="34" charset="0"/>
              <a:cs typeface="Calibri" panose="020F0502020204030204" pitchFamily="34" charset="0"/>
            </a:endParaRPr>
          </a:p>
          <a:p>
            <a:pPr marL="736600" lvl="2" indent="-285750" algn="just">
              <a:lnSpc>
                <a:spcPct val="114000"/>
              </a:lnSpc>
              <a:spcBef>
                <a:spcPts val="600"/>
              </a:spcBef>
              <a:buSzPts val="1800"/>
              <a:buFont typeface="Arial" panose="020B0604020202020204" pitchFamily="34" charset="0"/>
              <a:buChar char="•"/>
            </a:pPr>
            <a:r>
              <a:rPr lang="en-IN" sz="1600" dirty="0">
                <a:latin typeface="Calibri" panose="020F0502020204030204" pitchFamily="34" charset="0"/>
                <a:cs typeface="Calibri" panose="020F0502020204030204" pitchFamily="34" charset="0"/>
              </a:rPr>
              <a:t>The concentration of hydroxide ions at various times can be found by titration.</a:t>
            </a:r>
          </a:p>
          <a:p>
            <a:pPr marL="457200" lvl="0" indent="-342900" algn="just">
              <a:lnSpc>
                <a:spcPct val="114000"/>
              </a:lnSpc>
              <a:spcBef>
                <a:spcPts val="600"/>
              </a:spcBef>
              <a:buSzPts val="1800"/>
              <a:buChar char="●"/>
            </a:pPr>
            <a:endParaRPr lang="en-IN" sz="2000" dirty="0">
              <a:latin typeface="Calibri" panose="020F0502020204030204" pitchFamily="34" charset="0"/>
              <a:cs typeface="Calibri" panose="020F0502020204030204" pitchFamily="34" charset="0"/>
            </a:endParaRPr>
          </a:p>
          <a:p>
            <a:pPr marL="457200" lvl="0" indent="-342900" algn="just">
              <a:lnSpc>
                <a:spcPct val="114000"/>
              </a:lnSpc>
              <a:spcBef>
                <a:spcPts val="600"/>
              </a:spcBef>
              <a:buSzPts val="1800"/>
              <a:buChar char="●"/>
            </a:pPr>
            <a:endParaRPr sz="2000" dirty="0">
              <a:latin typeface="Calibri" panose="020F0502020204030204" pitchFamily="34" charset="0"/>
              <a:cs typeface="Calibri" panose="020F0502020204030204" pitchFamily="34" charset="0"/>
            </a:endParaRP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50257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865292" y="525192"/>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Techniques to investigate the rate of reaction: Continuous</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527050" lvl="0" indent="-400050">
              <a:lnSpc>
                <a:spcPct val="114000"/>
              </a:lnSpc>
              <a:spcBef>
                <a:spcPts val="600"/>
              </a:spcBef>
              <a:buFont typeface="+mj-lt"/>
              <a:buAutoNum type="romanLcPeriod"/>
            </a:pPr>
            <a:r>
              <a:rPr lang="en-IN" sz="1600" dirty="0">
                <a:solidFill>
                  <a:schemeClr val="bg2">
                    <a:lumMod val="50000"/>
                  </a:schemeClr>
                </a:solidFill>
                <a:latin typeface="Calibri" panose="020F0502020204030204" pitchFamily="34" charset="0"/>
                <a:cs typeface="Calibri" panose="020F0502020204030204" pitchFamily="34" charset="0"/>
              </a:rPr>
              <a:t>Colorimetry</a:t>
            </a:r>
          </a:p>
          <a:p>
            <a:pPr marL="127000" indent="0">
              <a:lnSpc>
                <a:spcPct val="114000"/>
              </a:lnSpc>
              <a:spcBef>
                <a:spcPts val="600"/>
              </a:spcBef>
              <a:buNone/>
            </a:pPr>
            <a:r>
              <a:rPr lang="en-IN" sz="1600" dirty="0">
                <a:solidFill>
                  <a:schemeClr val="bg2">
                    <a:lumMod val="50000"/>
                  </a:schemeClr>
                </a:solidFill>
                <a:latin typeface="Calibri" panose="020F0502020204030204" pitchFamily="34" charset="0"/>
                <a:cs typeface="Calibri" panose="020F0502020204030204" pitchFamily="34" charset="0"/>
              </a:rPr>
              <a:t>Colour of a particular reactant or product is noted throughout the time period. For example: </a:t>
            </a:r>
          </a:p>
          <a:p>
            <a:pPr marL="127000" indent="0" algn="ctr">
              <a:lnSpc>
                <a:spcPct val="114000"/>
              </a:lnSpc>
              <a:spcBef>
                <a:spcPts val="600"/>
              </a:spcBef>
              <a:buNone/>
            </a:pPr>
            <a:r>
              <a:rPr lang="en-IN" sz="1600" dirty="0">
                <a:solidFill>
                  <a:schemeClr val="bg2">
                    <a:lumMod val="50000"/>
                  </a:schemeClr>
                </a:solidFill>
                <a:latin typeface="Calibri" panose="020F0502020204030204" pitchFamily="34" charset="0"/>
                <a:cs typeface="Calibri" panose="020F0502020204030204" pitchFamily="34" charset="0"/>
              </a:rPr>
              <a:t>H</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O</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a:t>
            </a:r>
            <a:r>
              <a:rPr lang="en-IN" sz="1600" dirty="0" err="1">
                <a:solidFill>
                  <a:schemeClr val="bg2">
                    <a:lumMod val="50000"/>
                  </a:schemeClr>
                </a:solidFill>
                <a:latin typeface="Calibri" panose="020F0502020204030204" pitchFamily="34" charset="0"/>
                <a:cs typeface="Calibri" panose="020F0502020204030204" pitchFamily="34" charset="0"/>
              </a:rPr>
              <a:t>aq</a:t>
            </a:r>
            <a:r>
              <a:rPr lang="en-IN" sz="1600" dirty="0">
                <a:solidFill>
                  <a:schemeClr val="bg2">
                    <a:lumMod val="50000"/>
                  </a:schemeClr>
                </a:solidFill>
                <a:latin typeface="Calibri" panose="020F0502020204030204" pitchFamily="34" charset="0"/>
                <a:cs typeface="Calibri" panose="020F0502020204030204" pitchFamily="34" charset="0"/>
              </a:rPr>
              <a:t>) + 2I</a:t>
            </a:r>
            <a:r>
              <a:rPr lang="en-IN" sz="1600" baseline="30000" dirty="0">
                <a:solidFill>
                  <a:schemeClr val="bg2">
                    <a:lumMod val="50000"/>
                  </a:schemeClr>
                </a:solidFill>
                <a:latin typeface="Calibri" panose="020F0502020204030204" pitchFamily="34" charset="0"/>
                <a:cs typeface="Calibri" panose="020F0502020204030204" pitchFamily="34" charset="0"/>
              </a:rPr>
              <a:t>-</a:t>
            </a:r>
            <a:r>
              <a:rPr lang="en-IN" sz="1600" dirty="0">
                <a:solidFill>
                  <a:schemeClr val="bg2">
                    <a:lumMod val="50000"/>
                  </a:schemeClr>
                </a:solidFill>
                <a:latin typeface="Calibri" panose="020F0502020204030204" pitchFamily="34" charset="0"/>
                <a:cs typeface="Calibri" panose="020F0502020204030204" pitchFamily="34" charset="0"/>
              </a:rPr>
              <a:t> (</a:t>
            </a:r>
            <a:r>
              <a:rPr lang="en-IN" sz="1600" dirty="0" err="1">
                <a:solidFill>
                  <a:schemeClr val="bg2">
                    <a:lumMod val="50000"/>
                  </a:schemeClr>
                </a:solidFill>
                <a:latin typeface="Calibri" panose="020F0502020204030204" pitchFamily="34" charset="0"/>
                <a:cs typeface="Calibri" panose="020F0502020204030204" pitchFamily="34" charset="0"/>
              </a:rPr>
              <a:t>aq</a:t>
            </a:r>
            <a:r>
              <a:rPr lang="en-IN" sz="1600" dirty="0">
                <a:solidFill>
                  <a:schemeClr val="bg2">
                    <a:lumMod val="50000"/>
                  </a:schemeClr>
                </a:solidFill>
                <a:latin typeface="Calibri" panose="020F0502020204030204" pitchFamily="34" charset="0"/>
                <a:cs typeface="Calibri" panose="020F0502020204030204" pitchFamily="34" charset="0"/>
              </a:rPr>
              <a:t>) +2H</a:t>
            </a:r>
            <a:r>
              <a:rPr lang="en-IN" sz="1600" baseline="30000" dirty="0">
                <a:solidFill>
                  <a:schemeClr val="bg2">
                    <a:lumMod val="50000"/>
                  </a:schemeClr>
                </a:solidFill>
                <a:latin typeface="Calibri" panose="020F0502020204030204" pitchFamily="34" charset="0"/>
                <a:cs typeface="Calibri" panose="020F0502020204030204" pitchFamily="34" charset="0"/>
              </a:rPr>
              <a:t>+</a:t>
            </a:r>
            <a:r>
              <a:rPr lang="en-IN" sz="1600" dirty="0">
                <a:solidFill>
                  <a:schemeClr val="bg2">
                    <a:lumMod val="50000"/>
                  </a:schemeClr>
                </a:solidFill>
                <a:latin typeface="Calibri" panose="020F0502020204030204" pitchFamily="34" charset="0"/>
                <a:cs typeface="Calibri" panose="020F0502020204030204" pitchFamily="34" charset="0"/>
              </a:rPr>
              <a:t> (</a:t>
            </a:r>
            <a:r>
              <a:rPr lang="en-IN" sz="1600" dirty="0" err="1">
                <a:solidFill>
                  <a:schemeClr val="bg2">
                    <a:lumMod val="50000"/>
                  </a:schemeClr>
                </a:solidFill>
                <a:latin typeface="Calibri" panose="020F0502020204030204" pitchFamily="34" charset="0"/>
                <a:cs typeface="Calibri" panose="020F0502020204030204" pitchFamily="34" charset="0"/>
              </a:rPr>
              <a:t>aq</a:t>
            </a:r>
            <a:r>
              <a:rPr lang="en-IN" sz="1600" dirty="0">
                <a:solidFill>
                  <a:schemeClr val="bg2">
                    <a:lumMod val="50000"/>
                  </a:schemeClr>
                </a:solidFill>
                <a:latin typeface="Calibri" panose="020F0502020204030204" pitchFamily="34" charset="0"/>
                <a:cs typeface="Calibri" panose="020F0502020204030204" pitchFamily="34" charset="0"/>
              </a:rPr>
              <a:t>) → 2H</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O(l) +I</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 (</a:t>
            </a:r>
            <a:r>
              <a:rPr lang="en-IN" sz="1600" dirty="0" err="1">
                <a:solidFill>
                  <a:schemeClr val="bg2">
                    <a:lumMod val="50000"/>
                  </a:schemeClr>
                </a:solidFill>
                <a:latin typeface="Calibri" panose="020F0502020204030204" pitchFamily="34" charset="0"/>
                <a:cs typeface="Calibri" panose="020F0502020204030204" pitchFamily="34" charset="0"/>
              </a:rPr>
              <a:t>aq</a:t>
            </a:r>
            <a:r>
              <a:rPr lang="en-IN" sz="1600" dirty="0">
                <a:solidFill>
                  <a:schemeClr val="bg2">
                    <a:lumMod val="50000"/>
                  </a:schemeClr>
                </a:solidFill>
                <a:latin typeface="Calibri" panose="020F0502020204030204" pitchFamily="34" charset="0"/>
                <a:cs typeface="Calibri" panose="020F0502020204030204" pitchFamily="34" charset="0"/>
              </a:rPr>
              <a:t>)</a:t>
            </a:r>
          </a:p>
          <a:p>
            <a:pPr marL="127000" indent="0">
              <a:lnSpc>
                <a:spcPct val="114000"/>
              </a:lnSpc>
              <a:spcBef>
                <a:spcPts val="600"/>
              </a:spcBef>
              <a:buNone/>
            </a:pPr>
            <a:r>
              <a:rPr lang="en-IN" sz="1600" dirty="0">
                <a:solidFill>
                  <a:schemeClr val="bg2">
                    <a:lumMod val="50000"/>
                  </a:schemeClr>
                </a:solidFill>
                <a:latin typeface="Calibri" panose="020F0502020204030204" pitchFamily="34" charset="0"/>
                <a:cs typeface="Calibri" panose="020F0502020204030204" pitchFamily="34" charset="0"/>
              </a:rPr>
              <a:t>The iodine solution produced is brown in colour. As the reaction proceeds, the intensity of brown colour increases. </a:t>
            </a:r>
            <a:r>
              <a:rPr lang="en-US" sz="1600" dirty="0">
                <a:solidFill>
                  <a:schemeClr val="bg2">
                    <a:lumMod val="50000"/>
                  </a:schemeClr>
                </a:solidFill>
                <a:latin typeface="Calibri" panose="020F0502020204030204" pitchFamily="34" charset="0"/>
                <a:cs typeface="Calibri" panose="020F0502020204030204" pitchFamily="34" charset="0"/>
              </a:rPr>
              <a:t>The intensity of </a:t>
            </a:r>
            <a:r>
              <a:rPr lang="en-US" sz="1600" dirty="0" err="1">
                <a:solidFill>
                  <a:schemeClr val="bg2">
                    <a:lumMod val="50000"/>
                  </a:schemeClr>
                </a:solidFill>
                <a:latin typeface="Calibri" panose="020F0502020204030204" pitchFamily="34" charset="0"/>
                <a:cs typeface="Calibri" panose="020F0502020204030204" pitchFamily="34" charset="0"/>
              </a:rPr>
              <a:t>colour</a:t>
            </a:r>
            <a:r>
              <a:rPr lang="en-US" sz="1600" dirty="0">
                <a:solidFill>
                  <a:schemeClr val="bg2">
                    <a:lumMod val="50000"/>
                  </a:schemeClr>
                </a:solidFill>
                <a:latin typeface="Calibri" panose="020F0502020204030204" pitchFamily="34" charset="0"/>
                <a:cs typeface="Calibri" panose="020F0502020204030204" pitchFamily="34" charset="0"/>
              </a:rPr>
              <a:t> is measured using </a:t>
            </a:r>
            <a:r>
              <a:rPr lang="en-US" sz="1600" dirty="0" err="1">
                <a:solidFill>
                  <a:schemeClr val="bg2">
                    <a:lumMod val="50000"/>
                  </a:schemeClr>
                </a:solidFill>
                <a:latin typeface="Calibri" panose="020F0502020204030204" pitchFamily="34" charset="0"/>
                <a:cs typeface="Calibri" panose="020F0502020204030204" pitchFamily="34" charset="0"/>
              </a:rPr>
              <a:t>colourimeter</a:t>
            </a:r>
            <a:r>
              <a:rPr lang="en-US" sz="1600" dirty="0">
                <a:solidFill>
                  <a:schemeClr val="bg2">
                    <a:lumMod val="50000"/>
                  </a:schemeClr>
                </a:solidFill>
                <a:latin typeface="Calibri" panose="020F0502020204030204" pitchFamily="34" charset="0"/>
                <a:cs typeface="Calibri" panose="020F0502020204030204" pitchFamily="34" charset="0"/>
              </a:rPr>
              <a:t>.</a:t>
            </a:r>
            <a:endParaRPr lang="en-IN" sz="1600" dirty="0">
              <a:solidFill>
                <a:schemeClr val="bg2">
                  <a:lumMod val="50000"/>
                </a:schemeClr>
              </a:solidFill>
              <a:latin typeface="Calibri" panose="020F0502020204030204" pitchFamily="34" charset="0"/>
              <a:cs typeface="Calibri" panose="020F0502020204030204" pitchFamily="34" charset="0"/>
            </a:endParaRPr>
          </a:p>
          <a:p>
            <a:pPr marL="127000" indent="0">
              <a:lnSpc>
                <a:spcPct val="114000"/>
              </a:lnSpc>
              <a:spcBef>
                <a:spcPts val="600"/>
              </a:spcBef>
              <a:buNone/>
            </a:pPr>
            <a:endParaRPr lang="en-IN" sz="1600" dirty="0">
              <a:solidFill>
                <a:schemeClr val="bg2">
                  <a:lumMod val="50000"/>
                </a:schemeClr>
              </a:solidFill>
              <a:latin typeface="Calibri" panose="020F0502020204030204" pitchFamily="34" charset="0"/>
              <a:cs typeface="Calibri" panose="020F0502020204030204" pitchFamily="34" charset="0"/>
            </a:endParaRPr>
          </a:p>
          <a:p>
            <a:pPr marL="457200" lvl="0" indent="-342900" algn="just">
              <a:lnSpc>
                <a:spcPct val="114000"/>
              </a:lnSpc>
              <a:spcBef>
                <a:spcPts val="600"/>
              </a:spcBef>
              <a:buSzPts val="1800"/>
              <a:buChar char="●"/>
            </a:pPr>
            <a:endParaRPr lang="en-IN" sz="2000" dirty="0"/>
          </a:p>
          <a:p>
            <a:pPr marL="457200" lvl="0" indent="-342900" algn="just">
              <a:lnSpc>
                <a:spcPct val="114000"/>
              </a:lnSpc>
              <a:spcBef>
                <a:spcPts val="600"/>
              </a:spcBef>
              <a:buSzPts val="1800"/>
              <a:buChar char="●"/>
            </a:pPr>
            <a:endParaRPr sz="2000" dirty="0"/>
          </a:p>
          <a:p>
            <a:pPr marL="0" lvl="0" indent="0" algn="l" rtl="0">
              <a:lnSpc>
                <a:spcPct val="114000"/>
              </a:lnSpc>
              <a:spcBef>
                <a:spcPts val="600"/>
              </a:spcBef>
              <a:spcAft>
                <a:spcPts val="0"/>
              </a:spcAft>
              <a:buNone/>
            </a:pPr>
            <a:endParaRPr sz="1600" dirty="0"/>
          </a:p>
          <a:p>
            <a:pPr marL="0" lvl="0" indent="0" algn="l" rtl="0">
              <a:lnSpc>
                <a:spcPct val="114000"/>
              </a:lnSpc>
              <a:spcBef>
                <a:spcPts val="600"/>
              </a:spcBef>
              <a:spcAft>
                <a:spcPts val="0"/>
              </a:spcAft>
              <a:buNone/>
            </a:pPr>
            <a:endParaRPr sz="1600" dirty="0"/>
          </a:p>
          <a:p>
            <a:pPr marL="0" lvl="0" indent="0" algn="l" rtl="0">
              <a:lnSpc>
                <a:spcPct val="114000"/>
              </a:lnSpc>
              <a:spcBef>
                <a:spcPts val="600"/>
              </a:spcBef>
              <a:spcAft>
                <a:spcPts val="0"/>
              </a:spcAft>
              <a:buNone/>
            </a:pPr>
            <a:endParaRPr sz="1600" dirty="0"/>
          </a:p>
        </p:txBody>
      </p:sp>
    </p:spTree>
    <p:extLst>
      <p:ext uri="{BB962C8B-B14F-4D97-AF65-F5344CB8AC3E}">
        <p14:creationId xmlns:p14="http://schemas.microsoft.com/office/powerpoint/2010/main" val="12048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Techniques to investigate the rate of reaction: Continuous</a:t>
            </a:r>
          </a:p>
        </p:txBody>
      </p:sp>
      <p:sp>
        <p:nvSpPr>
          <p:cNvPr id="118" name="Google Shape;118;p26"/>
          <p:cNvSpPr txBox="1"/>
          <p:nvPr/>
        </p:nvSpPr>
        <p:spPr>
          <a:xfrm>
            <a:off x="702600" y="1915336"/>
            <a:ext cx="7330800" cy="2492100"/>
          </a:xfrm>
          <a:prstGeom prst="rect">
            <a:avLst/>
          </a:prstGeom>
          <a:noFill/>
          <a:ln>
            <a:noFill/>
          </a:ln>
        </p:spPr>
        <p:txBody>
          <a:bodyPr spcFirstLastPara="1" wrap="square" lIns="91425" tIns="91425" rIns="91425" bIns="91425" anchor="t" anchorCtr="0">
            <a:noAutofit/>
          </a:bodyPr>
          <a:lstStyle/>
          <a:p>
            <a:pPr marL="527050" lvl="0" indent="-400050">
              <a:lnSpc>
                <a:spcPct val="114000"/>
              </a:lnSpc>
              <a:spcBef>
                <a:spcPts val="600"/>
              </a:spcBef>
              <a:buFont typeface="+mj-lt"/>
              <a:buAutoNum type="romanLcPeriod" startAt="2"/>
            </a:pPr>
            <a:r>
              <a:rPr lang="en-IN" sz="1600" dirty="0">
                <a:solidFill>
                  <a:schemeClr val="bg2">
                    <a:lumMod val="50000"/>
                  </a:schemeClr>
                </a:solidFill>
                <a:latin typeface="Calibri" panose="020F0502020204030204" pitchFamily="34" charset="0"/>
                <a:cs typeface="Calibri" panose="020F0502020204030204" pitchFamily="34" charset="0"/>
              </a:rPr>
              <a:t>Changes in electrical conductivity</a:t>
            </a:r>
          </a:p>
          <a:p>
            <a:pPr marL="127000" indent="0" algn="just">
              <a:lnSpc>
                <a:spcPct val="114000"/>
              </a:lnSpc>
              <a:spcBef>
                <a:spcPts val="600"/>
              </a:spcBef>
              <a:buNone/>
            </a:pPr>
            <a:r>
              <a:rPr lang="en-IN" sz="1600" dirty="0">
                <a:solidFill>
                  <a:schemeClr val="bg2">
                    <a:lumMod val="50000"/>
                  </a:schemeClr>
                </a:solidFill>
                <a:latin typeface="Calibri" panose="020F0502020204030204" pitchFamily="34" charset="0"/>
                <a:cs typeface="Calibri" panose="020F0502020204030204" pitchFamily="34" charset="0"/>
              </a:rPr>
              <a:t>Electrical conductivity of a reaction mixture varies with the number of ions. </a:t>
            </a:r>
          </a:p>
          <a:p>
            <a:pPr marL="127000" indent="0" algn="just">
              <a:lnSpc>
                <a:spcPct val="114000"/>
              </a:lnSpc>
              <a:spcBef>
                <a:spcPts val="600"/>
              </a:spcBef>
              <a:buNone/>
            </a:pPr>
            <a:r>
              <a:rPr lang="en-IN" sz="1600" dirty="0">
                <a:solidFill>
                  <a:schemeClr val="bg2">
                    <a:lumMod val="50000"/>
                  </a:schemeClr>
                </a:solidFill>
                <a:latin typeface="Calibri" panose="020F0502020204030204" pitchFamily="34" charset="0"/>
                <a:cs typeface="Calibri" panose="020F0502020204030204" pitchFamily="34" charset="0"/>
              </a:rPr>
              <a:t>For example: As the following reaction proceeds, the conductivity of the solution increases due to production of ions.</a:t>
            </a:r>
          </a:p>
          <a:p>
            <a:pPr marL="127000" indent="0" algn="ctr">
              <a:lnSpc>
                <a:spcPct val="114000"/>
              </a:lnSpc>
              <a:spcBef>
                <a:spcPts val="600"/>
              </a:spcBef>
              <a:buNone/>
            </a:pPr>
            <a:r>
              <a:rPr lang="en-IN" sz="1600" dirty="0">
                <a:solidFill>
                  <a:schemeClr val="bg2">
                    <a:lumMod val="50000"/>
                  </a:schemeClr>
                </a:solidFill>
                <a:latin typeface="Calibri" panose="020F0502020204030204" pitchFamily="34" charset="0"/>
                <a:cs typeface="Calibri" panose="020F0502020204030204" pitchFamily="34" charset="0"/>
              </a:rPr>
              <a:t>(CH</a:t>
            </a:r>
            <a:r>
              <a:rPr lang="en-IN" sz="1600" baseline="-25000" dirty="0">
                <a:solidFill>
                  <a:schemeClr val="bg2">
                    <a:lumMod val="50000"/>
                  </a:schemeClr>
                </a:solidFill>
                <a:latin typeface="Calibri" panose="020F0502020204030204" pitchFamily="34" charset="0"/>
                <a:cs typeface="Calibri" panose="020F0502020204030204" pitchFamily="34" charset="0"/>
              </a:rPr>
              <a:t>3</a:t>
            </a:r>
            <a:r>
              <a:rPr lang="en-IN" sz="1600" dirty="0">
                <a:solidFill>
                  <a:schemeClr val="bg2">
                    <a:lumMod val="50000"/>
                  </a:schemeClr>
                </a:solidFill>
                <a:latin typeface="Calibri" panose="020F0502020204030204" pitchFamily="34" charset="0"/>
                <a:cs typeface="Calibri" panose="020F0502020204030204" pitchFamily="34" charset="0"/>
              </a:rPr>
              <a:t>)</a:t>
            </a:r>
            <a:r>
              <a:rPr lang="en-IN" sz="1600" baseline="-25000" dirty="0">
                <a:solidFill>
                  <a:schemeClr val="bg2">
                    <a:lumMod val="50000"/>
                  </a:schemeClr>
                </a:solidFill>
                <a:latin typeface="Calibri" panose="020F0502020204030204" pitchFamily="34" charset="0"/>
                <a:cs typeface="Calibri" panose="020F0502020204030204" pitchFamily="34" charset="0"/>
              </a:rPr>
              <a:t>3</a:t>
            </a:r>
            <a:r>
              <a:rPr lang="en-IN" sz="1600" dirty="0">
                <a:solidFill>
                  <a:schemeClr val="bg2">
                    <a:lumMod val="50000"/>
                  </a:schemeClr>
                </a:solidFill>
                <a:latin typeface="Calibri" panose="020F0502020204030204" pitchFamily="34" charset="0"/>
                <a:cs typeface="Calibri" panose="020F0502020204030204" pitchFamily="34" charset="0"/>
              </a:rPr>
              <a:t>CBr + H</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O → (CH</a:t>
            </a:r>
            <a:r>
              <a:rPr lang="en-IN" sz="1600" baseline="-25000" dirty="0">
                <a:solidFill>
                  <a:schemeClr val="bg2">
                    <a:lumMod val="50000"/>
                  </a:schemeClr>
                </a:solidFill>
                <a:latin typeface="Calibri" panose="020F0502020204030204" pitchFamily="34" charset="0"/>
                <a:cs typeface="Calibri" panose="020F0502020204030204" pitchFamily="34" charset="0"/>
              </a:rPr>
              <a:t>3</a:t>
            </a:r>
            <a:r>
              <a:rPr lang="en-IN" sz="1600" dirty="0">
                <a:solidFill>
                  <a:schemeClr val="bg2">
                    <a:lumMod val="50000"/>
                  </a:schemeClr>
                </a:solidFill>
                <a:latin typeface="Calibri" panose="020F0502020204030204" pitchFamily="34" charset="0"/>
                <a:cs typeface="Calibri" panose="020F0502020204030204" pitchFamily="34" charset="0"/>
              </a:rPr>
              <a:t>)</a:t>
            </a:r>
            <a:r>
              <a:rPr lang="en-IN" sz="1600" baseline="-25000" dirty="0">
                <a:solidFill>
                  <a:schemeClr val="bg2">
                    <a:lumMod val="50000"/>
                  </a:schemeClr>
                </a:solidFill>
                <a:latin typeface="Calibri" panose="020F0502020204030204" pitchFamily="34" charset="0"/>
                <a:cs typeface="Calibri" panose="020F0502020204030204" pitchFamily="34" charset="0"/>
              </a:rPr>
              <a:t>3</a:t>
            </a:r>
            <a:r>
              <a:rPr lang="en-IN" sz="1600" dirty="0">
                <a:solidFill>
                  <a:schemeClr val="bg2">
                    <a:lumMod val="50000"/>
                  </a:schemeClr>
                </a:solidFill>
                <a:latin typeface="Calibri" panose="020F0502020204030204" pitchFamily="34" charset="0"/>
                <a:cs typeface="Calibri" panose="020F0502020204030204" pitchFamily="34" charset="0"/>
              </a:rPr>
              <a:t>COH +</a:t>
            </a:r>
            <a:r>
              <a:rPr lang="en-US" sz="1600" dirty="0">
                <a:solidFill>
                  <a:schemeClr val="bg2">
                    <a:lumMod val="50000"/>
                  </a:schemeClr>
                </a:solidFill>
                <a:latin typeface="Calibri" panose="020F0502020204030204" pitchFamily="34" charset="0"/>
                <a:cs typeface="Calibri" panose="020F0502020204030204" pitchFamily="34" charset="0"/>
              </a:rPr>
              <a:t> H</a:t>
            </a:r>
            <a:r>
              <a:rPr lang="en-US" sz="1600" baseline="30000" dirty="0">
                <a:solidFill>
                  <a:schemeClr val="bg2">
                    <a:lumMod val="50000"/>
                  </a:schemeClr>
                </a:solidFill>
                <a:latin typeface="Calibri" panose="020F0502020204030204" pitchFamily="34" charset="0"/>
                <a:cs typeface="Calibri" panose="020F0502020204030204" pitchFamily="34" charset="0"/>
              </a:rPr>
              <a:t>+</a:t>
            </a:r>
            <a:r>
              <a:rPr lang="en-US" sz="1600" dirty="0">
                <a:solidFill>
                  <a:schemeClr val="bg2">
                    <a:lumMod val="50000"/>
                  </a:schemeClr>
                </a:solidFill>
                <a:latin typeface="Calibri" panose="020F0502020204030204" pitchFamily="34" charset="0"/>
                <a:cs typeface="Calibri" panose="020F0502020204030204" pitchFamily="34" charset="0"/>
              </a:rPr>
              <a:t> +Br</a:t>
            </a:r>
            <a:r>
              <a:rPr lang="en-US" sz="1600" baseline="30000" dirty="0">
                <a:solidFill>
                  <a:schemeClr val="bg2">
                    <a:lumMod val="50000"/>
                  </a:schemeClr>
                </a:solidFill>
                <a:latin typeface="Calibri" panose="020F0502020204030204" pitchFamily="34" charset="0"/>
                <a:cs typeface="Calibri" panose="020F0502020204030204" pitchFamily="34" charset="0"/>
              </a:rPr>
              <a:t>-</a:t>
            </a:r>
            <a:endParaRPr lang="en-IN" sz="1600" dirty="0">
              <a:solidFill>
                <a:schemeClr val="bg2">
                  <a:lumMod val="50000"/>
                </a:schemeClr>
              </a:solidFill>
              <a:latin typeface="Calibri" panose="020F0502020204030204" pitchFamily="34" charset="0"/>
              <a:cs typeface="Calibri" panose="020F0502020204030204" pitchFamily="34" charset="0"/>
            </a:endParaRPr>
          </a:p>
          <a:p>
            <a:pPr marL="127000" indent="0" algn="just">
              <a:lnSpc>
                <a:spcPct val="114000"/>
              </a:lnSpc>
              <a:spcBef>
                <a:spcPts val="600"/>
              </a:spcBef>
              <a:buNone/>
            </a:pPr>
            <a:r>
              <a:rPr lang="en-IN" sz="1600" dirty="0">
                <a:solidFill>
                  <a:schemeClr val="bg2">
                    <a:lumMod val="50000"/>
                  </a:schemeClr>
                </a:solidFill>
                <a:latin typeface="Calibri" panose="020F0502020204030204" pitchFamily="34" charset="0"/>
                <a:cs typeface="Calibri" panose="020F0502020204030204" pitchFamily="34" charset="0"/>
              </a:rPr>
              <a:t>This method can be used even when ions are present in both the reactants and products. H+ and OH- ions have high conductivities but ions such as Br- have low electrical conductivities. Hence, measure of electrical conductivities indirectly tells us about the concentration of reactants or products. </a:t>
            </a:r>
          </a:p>
          <a:p>
            <a:pPr marL="127000" indent="0">
              <a:lnSpc>
                <a:spcPct val="114000"/>
              </a:lnSpc>
              <a:spcBef>
                <a:spcPts val="600"/>
              </a:spcBef>
              <a:buNone/>
            </a:pPr>
            <a:endParaRPr lang="en-IN" sz="1600" dirty="0">
              <a:solidFill>
                <a:schemeClr val="bg2">
                  <a:lumMod val="50000"/>
                </a:schemeClr>
              </a:solidFill>
              <a:latin typeface="Calibri" panose="020F0502020204030204" pitchFamily="34" charset="0"/>
              <a:cs typeface="Calibri" panose="020F0502020204030204" pitchFamily="34" charset="0"/>
            </a:endParaRPr>
          </a:p>
          <a:p>
            <a:pPr marL="457200" lvl="0" indent="-342900" algn="just">
              <a:lnSpc>
                <a:spcPct val="114000"/>
              </a:lnSpc>
              <a:spcBef>
                <a:spcPts val="600"/>
              </a:spcBef>
              <a:buSzPts val="1800"/>
              <a:buChar char="●"/>
            </a:pPr>
            <a:endParaRPr lang="en-IN" sz="2000" dirty="0">
              <a:latin typeface="Calibri" panose="020F0502020204030204" pitchFamily="34" charset="0"/>
              <a:cs typeface="Calibri" panose="020F0502020204030204" pitchFamily="34" charset="0"/>
            </a:endParaRPr>
          </a:p>
          <a:p>
            <a:pPr marL="457200" lvl="0" indent="-342900" algn="just">
              <a:lnSpc>
                <a:spcPct val="114000"/>
              </a:lnSpc>
              <a:spcBef>
                <a:spcPts val="600"/>
              </a:spcBef>
              <a:buSzPts val="1800"/>
              <a:buChar char="●"/>
            </a:pPr>
            <a:endParaRPr sz="2000" dirty="0">
              <a:latin typeface="Calibri" panose="020F0502020204030204" pitchFamily="34" charset="0"/>
              <a:cs typeface="Calibri" panose="020F0502020204030204" pitchFamily="34" charset="0"/>
            </a:endParaRP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a:p>
            <a:pPr marL="0" lvl="0" indent="0" algn="l" rtl="0">
              <a:lnSpc>
                <a:spcPct val="114000"/>
              </a:lnSpc>
              <a:spcBef>
                <a:spcPts val="600"/>
              </a:spcBef>
              <a:spcAft>
                <a:spcPts val="0"/>
              </a:spcAft>
              <a:buNone/>
            </a:pPr>
            <a:endParaRPr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08164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2800" dirty="0">
                <a:latin typeface="Calibri" panose="020F0502020204030204" pitchFamily="34" charset="0"/>
                <a:cs typeface="Calibri" panose="020F0502020204030204" pitchFamily="34" charset="0"/>
              </a:rPr>
              <a:t>Techniques to investigate the rate of reaction</a:t>
            </a:r>
            <a:endParaRPr sz="2800" dirty="0"/>
          </a:p>
        </p:txBody>
      </p:sp>
      <p:sp>
        <p:nvSpPr>
          <p:cNvPr id="124" name="Google Shape;124;p27"/>
          <p:cNvSpPr txBox="1">
            <a:spLocks noGrp="1"/>
          </p:cNvSpPr>
          <p:nvPr>
            <p:ph type="body" idx="2"/>
          </p:nvPr>
        </p:nvSpPr>
        <p:spPr>
          <a:xfrm>
            <a:off x="4809177" y="340377"/>
            <a:ext cx="3837000" cy="3695100"/>
          </a:xfrm>
          <a:prstGeom prst="rect">
            <a:avLst/>
          </a:prstGeom>
        </p:spPr>
        <p:txBody>
          <a:bodyPr spcFirstLastPara="1" wrap="square" lIns="91425" tIns="91425" rIns="91425" bIns="91425" anchor="t" anchorCtr="0">
            <a:noAutofit/>
          </a:bodyPr>
          <a:lstStyle/>
          <a:p>
            <a:pPr marL="514350" lvl="0" indent="-400050">
              <a:spcBef>
                <a:spcPts val="600"/>
              </a:spcBef>
              <a:buFont typeface="+mj-lt"/>
              <a:buAutoNum type="romanLcPeriod" startAt="3"/>
            </a:pPr>
            <a:r>
              <a:rPr lang="en-IN" sz="1600" dirty="0">
                <a:latin typeface="Calibri" panose="020F0502020204030204" pitchFamily="34" charset="0"/>
                <a:cs typeface="Calibri" panose="020F0502020204030204" pitchFamily="34" charset="0"/>
              </a:rPr>
              <a:t>Changes in gas pressure or volume</a:t>
            </a:r>
          </a:p>
          <a:p>
            <a:pPr marL="722313"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In reactions wherein one of the products is in gaseous state, this method can be used. The volume of product in gaseous state can be measured using the marking in the syringe. </a:t>
            </a:r>
          </a:p>
          <a:p>
            <a:pPr marL="722313"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For example: When calcium carbonate reacts with hydrochloric acid, carbon dioxide gas is released. The volume of CO</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 can be measured using this experimental setup. </a:t>
            </a:r>
          </a:p>
          <a:p>
            <a:pPr marL="722313" algn="ctr">
              <a:spcBef>
                <a:spcPts val="600"/>
              </a:spcBef>
              <a:buNone/>
            </a:pPr>
            <a:r>
              <a:rPr lang="en-IN" sz="1600" dirty="0">
                <a:solidFill>
                  <a:schemeClr val="bg1"/>
                </a:solidFill>
                <a:latin typeface="Calibri" panose="020F0502020204030204" pitchFamily="34" charset="0"/>
                <a:cs typeface="Calibri" panose="020F0502020204030204" pitchFamily="34" charset="0"/>
              </a:rPr>
              <a:t>CaCO</a:t>
            </a:r>
            <a:r>
              <a:rPr lang="en-IN" sz="1600" baseline="-25000" dirty="0">
                <a:solidFill>
                  <a:schemeClr val="bg1"/>
                </a:solidFill>
                <a:latin typeface="Calibri" panose="020F0502020204030204" pitchFamily="34" charset="0"/>
                <a:cs typeface="Calibri" panose="020F0502020204030204" pitchFamily="34" charset="0"/>
              </a:rPr>
              <a:t>3</a:t>
            </a:r>
            <a:r>
              <a:rPr lang="en-IN" sz="1600" dirty="0">
                <a:solidFill>
                  <a:schemeClr val="bg1"/>
                </a:solidFill>
                <a:latin typeface="Calibri" panose="020F0502020204030204" pitchFamily="34" charset="0"/>
                <a:cs typeface="Calibri" panose="020F0502020204030204" pitchFamily="34" charset="0"/>
              </a:rPr>
              <a:t>(s)+2HCl(</a:t>
            </a:r>
            <a:r>
              <a:rPr lang="en-IN" sz="1600" dirty="0" err="1">
                <a:solidFill>
                  <a:schemeClr val="bg1"/>
                </a:solidFill>
                <a:latin typeface="Calibri" panose="020F0502020204030204" pitchFamily="34" charset="0"/>
                <a:cs typeface="Calibri" panose="020F0502020204030204" pitchFamily="34" charset="0"/>
              </a:rPr>
              <a:t>aq</a:t>
            </a:r>
            <a:r>
              <a:rPr lang="en-IN" sz="1600" dirty="0">
                <a:solidFill>
                  <a:schemeClr val="bg1"/>
                </a:solidFill>
                <a:latin typeface="Calibri" panose="020F0502020204030204" pitchFamily="34" charset="0"/>
                <a:cs typeface="Calibri" panose="020F0502020204030204" pitchFamily="34" charset="0"/>
              </a:rPr>
              <a:t>)→CaCl</a:t>
            </a:r>
            <a:r>
              <a:rPr lang="en-IN" sz="1600" baseline="-25000" dirty="0">
                <a:solidFill>
                  <a:schemeClr val="bg1"/>
                </a:solidFill>
                <a:latin typeface="Calibri" panose="020F0502020204030204" pitchFamily="34" charset="0"/>
                <a:cs typeface="Calibri" panose="020F0502020204030204" pitchFamily="34" charset="0"/>
              </a:rPr>
              <a:t>2</a:t>
            </a:r>
            <a:r>
              <a:rPr lang="en-IN" sz="1600" dirty="0">
                <a:solidFill>
                  <a:schemeClr val="bg1"/>
                </a:solidFill>
                <a:latin typeface="Calibri" panose="020F0502020204030204" pitchFamily="34" charset="0"/>
                <a:cs typeface="Calibri" panose="020F0502020204030204" pitchFamily="34" charset="0"/>
              </a:rPr>
              <a:t>(</a:t>
            </a:r>
            <a:r>
              <a:rPr lang="en-IN" sz="1600" dirty="0" err="1">
                <a:solidFill>
                  <a:schemeClr val="bg1"/>
                </a:solidFill>
                <a:latin typeface="Calibri" panose="020F0502020204030204" pitchFamily="34" charset="0"/>
                <a:cs typeface="Calibri" panose="020F0502020204030204" pitchFamily="34" charset="0"/>
              </a:rPr>
              <a:t>aq</a:t>
            </a:r>
            <a:r>
              <a:rPr lang="en-IN" sz="1600" dirty="0">
                <a:solidFill>
                  <a:schemeClr val="bg1"/>
                </a:solidFill>
                <a:latin typeface="Calibri" panose="020F0502020204030204" pitchFamily="34" charset="0"/>
                <a:cs typeface="Calibri" panose="020F0502020204030204" pitchFamily="34" charset="0"/>
              </a:rPr>
              <a:t>)+CO</a:t>
            </a:r>
            <a:r>
              <a:rPr lang="en-IN" sz="1600" baseline="-25000" dirty="0">
                <a:solidFill>
                  <a:schemeClr val="bg1"/>
                </a:solidFill>
                <a:latin typeface="Calibri" panose="020F0502020204030204" pitchFamily="34" charset="0"/>
                <a:cs typeface="Calibri" panose="020F0502020204030204" pitchFamily="34" charset="0"/>
              </a:rPr>
              <a:t>2</a:t>
            </a:r>
            <a:r>
              <a:rPr lang="en-IN" sz="1600" dirty="0">
                <a:solidFill>
                  <a:schemeClr val="bg1"/>
                </a:solidFill>
                <a:latin typeface="Calibri" panose="020F0502020204030204" pitchFamily="34" charset="0"/>
                <a:cs typeface="Calibri" panose="020F0502020204030204" pitchFamily="34" charset="0"/>
              </a:rPr>
              <a:t>(g)+H</a:t>
            </a:r>
            <a:r>
              <a:rPr lang="en-IN" sz="1600" baseline="-25000" dirty="0">
                <a:solidFill>
                  <a:schemeClr val="bg1"/>
                </a:solidFill>
                <a:latin typeface="Calibri" panose="020F0502020204030204" pitchFamily="34" charset="0"/>
                <a:cs typeface="Calibri" panose="020F0502020204030204" pitchFamily="34" charset="0"/>
              </a:rPr>
              <a:t>2</a:t>
            </a:r>
            <a:r>
              <a:rPr lang="en-IN" sz="1600" dirty="0">
                <a:solidFill>
                  <a:schemeClr val="bg1"/>
                </a:solidFill>
                <a:latin typeface="Calibri" panose="020F0502020204030204" pitchFamily="34" charset="0"/>
                <a:cs typeface="Calibri" panose="020F0502020204030204" pitchFamily="34" charset="0"/>
              </a:rPr>
              <a:t>O(l)</a:t>
            </a:r>
          </a:p>
          <a:p>
            <a:pPr marL="457200" lvl="0" indent="-342900" algn="l" rtl="0">
              <a:spcBef>
                <a:spcPts val="600"/>
              </a:spcBef>
              <a:spcAft>
                <a:spcPts val="0"/>
              </a:spcAft>
              <a:buSzPts val="1800"/>
              <a:buChar char="●"/>
            </a:pPr>
            <a:endParaRPr sz="2000" dirty="0"/>
          </a:p>
        </p:txBody>
      </p:sp>
      <p:sp>
        <p:nvSpPr>
          <p:cNvPr id="126" name="Google Shape;126;p27"/>
          <p:cNvSpPr txBox="1"/>
          <p:nvPr/>
        </p:nvSpPr>
        <p:spPr>
          <a:xfrm>
            <a:off x="2079171" y="4546950"/>
            <a:ext cx="2255654"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Investigating the rate of reaction</a:t>
            </a:r>
            <a:endParaRPr sz="1100" dirty="0">
              <a:solidFill>
                <a:srgbClr val="666666"/>
              </a:solidFill>
            </a:endParaRPr>
          </a:p>
        </p:txBody>
      </p:sp>
      <p:pic>
        <p:nvPicPr>
          <p:cNvPr id="3" name="Picture 2">
            <a:extLst>
              <a:ext uri="{FF2B5EF4-FFF2-40B4-BE49-F238E27FC236}">
                <a16:creationId xmlns:a16="http://schemas.microsoft.com/office/drawing/2014/main" id="{A8869744-2726-496C-9A1C-46D2709E9ADD}"/>
              </a:ext>
            </a:extLst>
          </p:cNvPr>
          <p:cNvPicPr>
            <a:picLocks noChangeAspect="1"/>
          </p:cNvPicPr>
          <p:nvPr/>
        </p:nvPicPr>
        <p:blipFill>
          <a:blip r:embed="rId3"/>
          <a:stretch>
            <a:fillRect/>
          </a:stretch>
        </p:blipFill>
        <p:spPr>
          <a:xfrm>
            <a:off x="323657" y="1718772"/>
            <a:ext cx="4011168" cy="2700528"/>
          </a:xfrm>
          <a:prstGeom prst="rect">
            <a:avLst/>
          </a:prstGeom>
        </p:spPr>
      </p:pic>
    </p:spTree>
    <p:extLst>
      <p:ext uri="{BB962C8B-B14F-4D97-AF65-F5344CB8AC3E}">
        <p14:creationId xmlns:p14="http://schemas.microsoft.com/office/powerpoint/2010/main" val="3799957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Techniques to investigate the rate of reaction</a:t>
            </a:r>
          </a:p>
        </p:txBody>
      </p:sp>
      <mc:AlternateContent xmlns:mc="http://schemas.openxmlformats.org/markup-compatibility/2006" xmlns:a14="http://schemas.microsoft.com/office/drawing/2010/main">
        <mc:Choice Requires="a14">
          <p:sp>
            <p:nvSpPr>
              <p:cNvPr id="118" name="Google Shape;118;p26"/>
              <p:cNvSpPr txBox="1"/>
              <p:nvPr/>
            </p:nvSpPr>
            <p:spPr>
              <a:xfrm>
                <a:off x="678678" y="1825026"/>
                <a:ext cx="7786644" cy="2492100"/>
              </a:xfrm>
              <a:prstGeom prst="rect">
                <a:avLst/>
              </a:prstGeom>
              <a:noFill/>
              <a:ln>
                <a:noFill/>
              </a:ln>
            </p:spPr>
            <p:txBody>
              <a:bodyPr spcFirstLastPara="1" wrap="square" lIns="91425" tIns="91425" rIns="91425" bIns="91425" anchor="t" anchorCtr="0">
                <a:noAutofit/>
              </a:bodyPr>
              <a:lstStyle/>
              <a:p>
                <a:pPr marL="527050" lvl="0" indent="-400050" algn="just">
                  <a:lnSpc>
                    <a:spcPct val="114000"/>
                  </a:lnSpc>
                  <a:spcBef>
                    <a:spcPts val="600"/>
                  </a:spcBef>
                  <a:buFont typeface="+mj-lt"/>
                  <a:buAutoNum type="romanLcPeriod" startAt="4"/>
                </a:pPr>
                <a:r>
                  <a:rPr lang="en-IN" sz="1600" dirty="0">
                    <a:solidFill>
                      <a:schemeClr val="bg2">
                        <a:lumMod val="50000"/>
                      </a:schemeClr>
                    </a:solidFill>
                    <a:latin typeface="Calibri" panose="020F0502020204030204" pitchFamily="34" charset="0"/>
                    <a:cs typeface="Calibri" panose="020F0502020204030204" pitchFamily="34" charset="0"/>
                  </a:rPr>
                  <a:t>Change in mass</a:t>
                </a:r>
              </a:p>
              <a:p>
                <a:pPr marL="127000" indent="0" algn="just">
                  <a:lnSpc>
                    <a:spcPct val="114000"/>
                  </a:lnSpc>
                  <a:spcBef>
                    <a:spcPts val="600"/>
                  </a:spcBef>
                  <a:buNone/>
                </a:pPr>
                <a:r>
                  <a:rPr lang="en-IN" sz="1600" dirty="0">
                    <a:solidFill>
                      <a:schemeClr val="bg2">
                        <a:lumMod val="50000"/>
                      </a:schemeClr>
                    </a:solidFill>
                    <a:latin typeface="Calibri" panose="020F0502020204030204" pitchFamily="34" charset="0"/>
                    <a:cs typeface="Calibri" panose="020F0502020204030204" pitchFamily="34" charset="0"/>
                  </a:rPr>
                  <a:t>Measurement in change of mass helps in the calculation of rate of reaction in case gases formed in a reaction are allowed to escape. This method highly suitable in case the gases are heavy. For example: carbon dioxide.</a:t>
                </a:r>
              </a:p>
              <a:p>
                <a:pPr marL="527050" lvl="0" indent="-400050" algn="just">
                  <a:lnSpc>
                    <a:spcPct val="114000"/>
                  </a:lnSpc>
                  <a:spcBef>
                    <a:spcPts val="600"/>
                  </a:spcBef>
                  <a:buFont typeface="+mj-lt"/>
                  <a:buAutoNum type="romanLcPeriod" startAt="5"/>
                </a:pPr>
                <a:r>
                  <a:rPr lang="en-IN" sz="1600" dirty="0">
                    <a:solidFill>
                      <a:schemeClr val="bg2">
                        <a:lumMod val="50000"/>
                      </a:schemeClr>
                    </a:solidFill>
                    <a:latin typeface="Calibri" panose="020F0502020204030204" pitchFamily="34" charset="0"/>
                    <a:cs typeface="Calibri" panose="020F0502020204030204" pitchFamily="34" charset="0"/>
                  </a:rPr>
                  <a:t>Small changes in volume</a:t>
                </a:r>
              </a:p>
              <a:p>
                <a:pPr marL="127000" indent="0" algn="just">
                  <a:lnSpc>
                    <a:spcPct val="114000"/>
                  </a:lnSpc>
                  <a:spcBef>
                    <a:spcPts val="600"/>
                  </a:spcBef>
                  <a:buNone/>
                </a:pPr>
                <a:r>
                  <a:rPr lang="en-IN" sz="1600" dirty="0">
                    <a:solidFill>
                      <a:schemeClr val="bg2">
                        <a:lumMod val="50000"/>
                      </a:schemeClr>
                    </a:solidFill>
                    <a:latin typeface="Calibri" panose="020F0502020204030204" pitchFamily="34" charset="0"/>
                    <a:cs typeface="Calibri" panose="020F0502020204030204" pitchFamily="34" charset="0"/>
                  </a:rPr>
                  <a:t>Rate of reaction can also be calculated by measuring the change in volume. For example: during hydration of </a:t>
                </a:r>
                <a:r>
                  <a:rPr lang="en-IN" sz="1600" dirty="0" err="1">
                    <a:solidFill>
                      <a:schemeClr val="bg2">
                        <a:lumMod val="50000"/>
                      </a:schemeClr>
                    </a:solidFill>
                    <a:latin typeface="Calibri" panose="020F0502020204030204" pitchFamily="34" charset="0"/>
                    <a:cs typeface="Calibri" panose="020F0502020204030204" pitchFamily="34" charset="0"/>
                  </a:rPr>
                  <a:t>methylpropene</a:t>
                </a:r>
                <a:r>
                  <a:rPr lang="en-IN" sz="1600" dirty="0">
                    <a:solidFill>
                      <a:schemeClr val="bg2">
                        <a:lumMod val="50000"/>
                      </a:schemeClr>
                    </a:solidFill>
                    <a:latin typeface="Calibri" panose="020F0502020204030204" pitchFamily="34" charset="0"/>
                    <a:cs typeface="Calibri" panose="020F0502020204030204" pitchFamily="34" charset="0"/>
                  </a:rPr>
                  <a:t>, the volume decreases. An instrument called dilatometer is used to measure small changes in volume.</a:t>
                </a:r>
              </a:p>
              <a:p>
                <a:pPr marL="127000" indent="0" algn="just">
                  <a:lnSpc>
                    <a:spcPct val="114000"/>
                  </a:lnSpc>
                  <a:spcBef>
                    <a:spcPts val="600"/>
                  </a:spcBef>
                  <a:buNone/>
                </a:pPr>
                <a14:m>
                  <m:oMathPara xmlns:m="http://schemas.openxmlformats.org/officeDocument/2006/math">
                    <m:oMathParaPr>
                      <m:jc m:val="centerGroup"/>
                    </m:oMathParaPr>
                    <m:oMath xmlns:m="http://schemas.openxmlformats.org/officeDocument/2006/math">
                      <m:sSub>
                        <m:sSubPr>
                          <m:ctrlPr>
                            <a:rPr lang="en-IN" sz="1600" i="1">
                              <a:solidFill>
                                <a:schemeClr val="bg2">
                                  <a:lumMod val="50000"/>
                                </a:schemeClr>
                              </a:solidFill>
                              <a:latin typeface="Cambria Math" panose="02040503050406030204" pitchFamily="18" charset="0"/>
                            </a:rPr>
                          </m:ctrlPr>
                        </m:sSubPr>
                        <m:e>
                          <m:r>
                            <a:rPr lang="en-IN" sz="1600" i="1">
                              <a:solidFill>
                                <a:schemeClr val="bg2">
                                  <a:lumMod val="50000"/>
                                </a:schemeClr>
                              </a:solidFill>
                              <a:latin typeface="Cambria Math" panose="02040503050406030204" pitchFamily="18" charset="0"/>
                            </a:rPr>
                            <m:t>(</m:t>
                          </m:r>
                          <m:r>
                            <a:rPr lang="en-IN" sz="1600" i="1">
                              <a:solidFill>
                                <a:schemeClr val="bg2">
                                  <a:lumMod val="50000"/>
                                </a:schemeClr>
                              </a:solidFill>
                              <a:latin typeface="Cambria Math" panose="02040503050406030204" pitchFamily="18" charset="0"/>
                            </a:rPr>
                            <m:t>𝐶</m:t>
                          </m:r>
                          <m:sSub>
                            <m:sSubPr>
                              <m:ctrlPr>
                                <a:rPr lang="en-IN" sz="1600" i="1">
                                  <a:solidFill>
                                    <a:schemeClr val="bg2">
                                      <a:lumMod val="50000"/>
                                    </a:schemeClr>
                                  </a:solidFill>
                                  <a:latin typeface="Cambria Math" panose="02040503050406030204" pitchFamily="18" charset="0"/>
                                </a:rPr>
                              </m:ctrlPr>
                            </m:sSubPr>
                            <m:e>
                              <m:r>
                                <a:rPr lang="en-IN" sz="1600" i="1">
                                  <a:solidFill>
                                    <a:schemeClr val="bg2">
                                      <a:lumMod val="50000"/>
                                    </a:schemeClr>
                                  </a:solidFill>
                                  <a:latin typeface="Cambria Math" panose="02040503050406030204" pitchFamily="18" charset="0"/>
                                </a:rPr>
                                <m:t>𝐻</m:t>
                              </m:r>
                            </m:e>
                            <m:sub>
                              <m:r>
                                <a:rPr lang="en-IN" sz="1600" i="1">
                                  <a:solidFill>
                                    <a:schemeClr val="bg2">
                                      <a:lumMod val="50000"/>
                                    </a:schemeClr>
                                  </a:solidFill>
                                  <a:latin typeface="Cambria Math" panose="02040503050406030204" pitchFamily="18" charset="0"/>
                                </a:rPr>
                                <m:t>3</m:t>
                              </m:r>
                            </m:sub>
                          </m:sSub>
                          <m:r>
                            <a:rPr lang="en-IN" sz="1600" i="1">
                              <a:solidFill>
                                <a:schemeClr val="bg2">
                                  <a:lumMod val="50000"/>
                                </a:schemeClr>
                              </a:solidFill>
                              <a:latin typeface="Cambria Math" panose="02040503050406030204" pitchFamily="18" charset="0"/>
                            </a:rPr>
                            <m:t>)</m:t>
                          </m:r>
                        </m:e>
                        <m:sub>
                          <m:r>
                            <a:rPr lang="en-IN" sz="1600" i="1">
                              <a:solidFill>
                                <a:schemeClr val="bg2">
                                  <a:lumMod val="50000"/>
                                </a:schemeClr>
                              </a:solidFill>
                              <a:latin typeface="Cambria Math" panose="02040503050406030204" pitchFamily="18" charset="0"/>
                            </a:rPr>
                            <m:t>2</m:t>
                          </m:r>
                        </m:sub>
                      </m:sSub>
                      <m:r>
                        <a:rPr lang="en-IN" sz="1600" i="1">
                          <a:solidFill>
                            <a:schemeClr val="bg2">
                              <a:lumMod val="50000"/>
                            </a:schemeClr>
                          </a:solidFill>
                          <a:latin typeface="Cambria Math" panose="02040503050406030204" pitchFamily="18" charset="0"/>
                        </a:rPr>
                        <m:t>𝐶</m:t>
                      </m:r>
                      <m:r>
                        <a:rPr lang="en-IN" sz="1600" i="1">
                          <a:solidFill>
                            <a:schemeClr val="bg2">
                              <a:lumMod val="50000"/>
                            </a:schemeClr>
                          </a:solidFill>
                          <a:latin typeface="Cambria Math" panose="02040503050406030204" pitchFamily="18" charset="0"/>
                        </a:rPr>
                        <m:t>=</m:t>
                      </m:r>
                      <m:r>
                        <a:rPr lang="en-IN" sz="1600" i="1">
                          <a:solidFill>
                            <a:schemeClr val="bg2">
                              <a:lumMod val="50000"/>
                            </a:schemeClr>
                          </a:solidFill>
                          <a:latin typeface="Cambria Math" panose="02040503050406030204" pitchFamily="18" charset="0"/>
                        </a:rPr>
                        <m:t>𝐶</m:t>
                      </m:r>
                      <m:sSub>
                        <m:sSubPr>
                          <m:ctrlPr>
                            <a:rPr lang="en-IN" sz="1600" i="1">
                              <a:solidFill>
                                <a:schemeClr val="bg2">
                                  <a:lumMod val="50000"/>
                                </a:schemeClr>
                              </a:solidFill>
                              <a:latin typeface="Cambria Math" panose="02040503050406030204" pitchFamily="18" charset="0"/>
                            </a:rPr>
                          </m:ctrlPr>
                        </m:sSubPr>
                        <m:e>
                          <m:r>
                            <a:rPr lang="en-IN" sz="1600" i="1">
                              <a:solidFill>
                                <a:schemeClr val="bg2">
                                  <a:lumMod val="50000"/>
                                </a:schemeClr>
                              </a:solidFill>
                              <a:latin typeface="Cambria Math" panose="02040503050406030204" pitchFamily="18" charset="0"/>
                            </a:rPr>
                            <m:t>𝐻</m:t>
                          </m:r>
                        </m:e>
                        <m:sub>
                          <m:r>
                            <a:rPr lang="en-IN" sz="1600" i="1">
                              <a:solidFill>
                                <a:schemeClr val="bg2">
                                  <a:lumMod val="50000"/>
                                </a:schemeClr>
                              </a:solidFill>
                              <a:latin typeface="Cambria Math" panose="02040503050406030204" pitchFamily="18" charset="0"/>
                            </a:rPr>
                            <m:t>2</m:t>
                          </m:r>
                        </m:sub>
                      </m:sSub>
                      <m:r>
                        <a:rPr lang="en-IN" sz="1600" i="1">
                          <a:solidFill>
                            <a:schemeClr val="bg2">
                              <a:lumMod val="50000"/>
                            </a:schemeClr>
                          </a:solidFill>
                          <a:latin typeface="Cambria Math" panose="02040503050406030204" pitchFamily="18" charset="0"/>
                        </a:rPr>
                        <m:t>+</m:t>
                      </m:r>
                      <m:sSub>
                        <m:sSubPr>
                          <m:ctrlPr>
                            <a:rPr lang="en-IN" sz="1600" i="1">
                              <a:solidFill>
                                <a:schemeClr val="bg2">
                                  <a:lumMod val="50000"/>
                                </a:schemeClr>
                              </a:solidFill>
                              <a:latin typeface="Cambria Math" panose="02040503050406030204" pitchFamily="18" charset="0"/>
                            </a:rPr>
                          </m:ctrlPr>
                        </m:sSubPr>
                        <m:e>
                          <m:r>
                            <a:rPr lang="en-IN" sz="1600" i="1">
                              <a:solidFill>
                                <a:schemeClr val="bg2">
                                  <a:lumMod val="50000"/>
                                </a:schemeClr>
                              </a:solidFill>
                              <a:latin typeface="Cambria Math" panose="02040503050406030204" pitchFamily="18" charset="0"/>
                            </a:rPr>
                            <m:t>𝐻</m:t>
                          </m:r>
                        </m:e>
                        <m:sub>
                          <m:r>
                            <a:rPr lang="en-IN" sz="1600" i="1">
                              <a:solidFill>
                                <a:schemeClr val="bg2">
                                  <a:lumMod val="50000"/>
                                </a:schemeClr>
                              </a:solidFill>
                              <a:latin typeface="Cambria Math" panose="02040503050406030204" pitchFamily="18" charset="0"/>
                            </a:rPr>
                            <m:t>2</m:t>
                          </m:r>
                        </m:sub>
                      </m:sSub>
                      <m:r>
                        <a:rPr lang="en-IN" sz="1600" i="1">
                          <a:solidFill>
                            <a:schemeClr val="bg2">
                              <a:lumMod val="50000"/>
                            </a:schemeClr>
                          </a:solidFill>
                          <a:latin typeface="Cambria Math" panose="02040503050406030204" pitchFamily="18" charset="0"/>
                        </a:rPr>
                        <m:t>𝑂</m:t>
                      </m:r>
                      <m:box>
                        <m:boxPr>
                          <m:ctrlPr>
                            <a:rPr lang="en-IN" sz="1600" i="1">
                              <a:solidFill>
                                <a:schemeClr val="bg2">
                                  <a:lumMod val="50000"/>
                                </a:schemeClr>
                              </a:solidFill>
                              <a:latin typeface="Cambria Math" panose="02040503050406030204" pitchFamily="18" charset="0"/>
                            </a:rPr>
                          </m:ctrlPr>
                        </m:boxPr>
                        <m:e>
                          <m:groupChr>
                            <m:groupChrPr>
                              <m:chr m:val="→"/>
                              <m:vertJc m:val="bot"/>
                              <m:ctrlPr>
                                <a:rPr lang="en-IN" sz="1600" i="1">
                                  <a:solidFill>
                                    <a:schemeClr val="bg2">
                                      <a:lumMod val="50000"/>
                                    </a:schemeClr>
                                  </a:solidFill>
                                  <a:latin typeface="Cambria Math" panose="02040503050406030204" pitchFamily="18" charset="0"/>
                                </a:rPr>
                              </m:ctrlPr>
                            </m:groupChrPr>
                            <m:e>
                              <m:sSup>
                                <m:sSupPr>
                                  <m:ctrlPr>
                                    <a:rPr lang="en-IN" sz="1600" i="1">
                                      <a:solidFill>
                                        <a:schemeClr val="bg2">
                                          <a:lumMod val="50000"/>
                                        </a:schemeClr>
                                      </a:solidFill>
                                      <a:latin typeface="Cambria Math" panose="02040503050406030204" pitchFamily="18" charset="0"/>
                                    </a:rPr>
                                  </m:ctrlPr>
                                </m:sSupPr>
                                <m:e>
                                  <m:r>
                                    <a:rPr lang="en-IN" sz="1600" i="1">
                                      <a:solidFill>
                                        <a:schemeClr val="bg2">
                                          <a:lumMod val="50000"/>
                                        </a:schemeClr>
                                      </a:solidFill>
                                      <a:latin typeface="Cambria Math" panose="02040503050406030204" pitchFamily="18" charset="0"/>
                                    </a:rPr>
                                    <m:t>𝐻</m:t>
                                  </m:r>
                                </m:e>
                                <m:sup>
                                  <m:r>
                                    <a:rPr lang="en-IN" sz="1600" i="1">
                                      <a:solidFill>
                                        <a:schemeClr val="bg2">
                                          <a:lumMod val="50000"/>
                                        </a:schemeClr>
                                      </a:solidFill>
                                      <a:latin typeface="Cambria Math" panose="02040503050406030204" pitchFamily="18" charset="0"/>
                                    </a:rPr>
                                    <m:t>+</m:t>
                                  </m:r>
                                </m:sup>
                              </m:sSup>
                            </m:e>
                          </m:groupChr>
                        </m:e>
                      </m:box>
                      <m:sSub>
                        <m:sSubPr>
                          <m:ctrlPr>
                            <a:rPr lang="en-IN" sz="1600" i="1">
                              <a:solidFill>
                                <a:schemeClr val="bg2">
                                  <a:lumMod val="50000"/>
                                </a:schemeClr>
                              </a:solidFill>
                              <a:latin typeface="Cambria Math" panose="02040503050406030204" pitchFamily="18" charset="0"/>
                            </a:rPr>
                          </m:ctrlPr>
                        </m:sSubPr>
                        <m:e>
                          <m:r>
                            <a:rPr lang="en-IN" sz="1600" i="1">
                              <a:solidFill>
                                <a:schemeClr val="bg2">
                                  <a:lumMod val="50000"/>
                                </a:schemeClr>
                              </a:solidFill>
                              <a:latin typeface="Cambria Math" panose="02040503050406030204" pitchFamily="18" charset="0"/>
                            </a:rPr>
                            <m:t>(</m:t>
                          </m:r>
                          <m:r>
                            <a:rPr lang="en-IN" sz="1600" i="1">
                              <a:solidFill>
                                <a:schemeClr val="bg2">
                                  <a:lumMod val="50000"/>
                                </a:schemeClr>
                              </a:solidFill>
                              <a:latin typeface="Cambria Math" panose="02040503050406030204" pitchFamily="18" charset="0"/>
                            </a:rPr>
                            <m:t>𝐶</m:t>
                          </m:r>
                          <m:sSub>
                            <m:sSubPr>
                              <m:ctrlPr>
                                <a:rPr lang="en-IN" sz="1600" i="1">
                                  <a:solidFill>
                                    <a:schemeClr val="bg2">
                                      <a:lumMod val="50000"/>
                                    </a:schemeClr>
                                  </a:solidFill>
                                  <a:latin typeface="Cambria Math" panose="02040503050406030204" pitchFamily="18" charset="0"/>
                                </a:rPr>
                              </m:ctrlPr>
                            </m:sSubPr>
                            <m:e>
                              <m:r>
                                <a:rPr lang="en-IN" sz="1600" i="1">
                                  <a:solidFill>
                                    <a:schemeClr val="bg2">
                                      <a:lumMod val="50000"/>
                                    </a:schemeClr>
                                  </a:solidFill>
                                  <a:latin typeface="Cambria Math" panose="02040503050406030204" pitchFamily="18" charset="0"/>
                                </a:rPr>
                                <m:t>𝐻</m:t>
                              </m:r>
                            </m:e>
                            <m:sub>
                              <m:r>
                                <a:rPr lang="en-IN" sz="1600" i="1">
                                  <a:solidFill>
                                    <a:schemeClr val="bg2">
                                      <a:lumMod val="50000"/>
                                    </a:schemeClr>
                                  </a:solidFill>
                                  <a:latin typeface="Cambria Math" panose="02040503050406030204" pitchFamily="18" charset="0"/>
                                </a:rPr>
                                <m:t>3</m:t>
                              </m:r>
                            </m:sub>
                          </m:sSub>
                          <m:r>
                            <a:rPr lang="en-IN" sz="1600" i="1">
                              <a:solidFill>
                                <a:schemeClr val="bg2">
                                  <a:lumMod val="50000"/>
                                </a:schemeClr>
                              </a:solidFill>
                              <a:latin typeface="Cambria Math" panose="02040503050406030204" pitchFamily="18" charset="0"/>
                            </a:rPr>
                            <m:t>)</m:t>
                          </m:r>
                        </m:e>
                        <m:sub>
                          <m:r>
                            <a:rPr lang="en-IN" sz="1600" i="1">
                              <a:solidFill>
                                <a:schemeClr val="bg2">
                                  <a:lumMod val="50000"/>
                                </a:schemeClr>
                              </a:solidFill>
                              <a:latin typeface="Cambria Math" panose="02040503050406030204" pitchFamily="18" charset="0"/>
                            </a:rPr>
                            <m:t>3</m:t>
                          </m:r>
                        </m:sub>
                      </m:sSub>
                      <m:r>
                        <a:rPr lang="en-IN" sz="1600" i="1">
                          <a:solidFill>
                            <a:schemeClr val="bg2">
                              <a:lumMod val="50000"/>
                            </a:schemeClr>
                          </a:solidFill>
                          <a:latin typeface="Cambria Math" panose="02040503050406030204" pitchFamily="18" charset="0"/>
                        </a:rPr>
                        <m:t>𝐶𝑂𝐻</m:t>
                      </m:r>
                    </m:oMath>
                  </m:oMathPara>
                </a14:m>
                <a:endParaRPr lang="en-IN" sz="1600" dirty="0">
                  <a:solidFill>
                    <a:schemeClr val="bg2">
                      <a:lumMod val="50000"/>
                    </a:schemeClr>
                  </a:solidFill>
                  <a:latin typeface="Calibri" panose="020F0502020204030204" pitchFamily="34" charset="0"/>
                  <a:cs typeface="Calibri" panose="020F0502020204030204" pitchFamily="34" charset="0"/>
                </a:endParaRPr>
              </a:p>
              <a:p>
                <a:pPr marL="127000" indent="0">
                  <a:lnSpc>
                    <a:spcPct val="114000"/>
                  </a:lnSpc>
                  <a:spcBef>
                    <a:spcPts val="600"/>
                  </a:spcBef>
                  <a:buNone/>
                </a:pPr>
                <a:endParaRPr lang="en-IN" sz="1600" dirty="0">
                  <a:solidFill>
                    <a:schemeClr val="bg2">
                      <a:lumMod val="50000"/>
                    </a:schemeClr>
                  </a:solidFill>
                  <a:latin typeface="Calibri" panose="020F0502020204030204" pitchFamily="34" charset="0"/>
                  <a:cs typeface="Calibri" panose="020F0502020204030204" pitchFamily="34" charset="0"/>
                </a:endParaRPr>
              </a:p>
              <a:p>
                <a:pPr marL="457200" lvl="0" indent="-342900" algn="just">
                  <a:lnSpc>
                    <a:spcPct val="114000"/>
                  </a:lnSpc>
                  <a:spcBef>
                    <a:spcPts val="600"/>
                  </a:spcBef>
                  <a:buSzPts val="1800"/>
                  <a:buChar char="●"/>
                </a:pPr>
                <a:endParaRPr lang="en-IN" sz="2000" dirty="0"/>
              </a:p>
              <a:p>
                <a:pPr marL="457200" lvl="0" indent="-342900" algn="just">
                  <a:lnSpc>
                    <a:spcPct val="114000"/>
                  </a:lnSpc>
                  <a:spcBef>
                    <a:spcPts val="600"/>
                  </a:spcBef>
                  <a:buSzPts val="1800"/>
                  <a:buChar char="●"/>
                </a:pPr>
                <a:endParaRPr sz="2000" dirty="0"/>
              </a:p>
              <a:p>
                <a:pPr marL="0" lvl="0" indent="0" algn="l" rtl="0">
                  <a:lnSpc>
                    <a:spcPct val="114000"/>
                  </a:lnSpc>
                  <a:spcBef>
                    <a:spcPts val="600"/>
                  </a:spcBef>
                  <a:spcAft>
                    <a:spcPts val="0"/>
                  </a:spcAft>
                  <a:buNone/>
                </a:pPr>
                <a:endParaRPr sz="1600" dirty="0"/>
              </a:p>
              <a:p>
                <a:pPr marL="0" lvl="0" indent="0" algn="l" rtl="0">
                  <a:lnSpc>
                    <a:spcPct val="114000"/>
                  </a:lnSpc>
                  <a:spcBef>
                    <a:spcPts val="600"/>
                  </a:spcBef>
                  <a:spcAft>
                    <a:spcPts val="0"/>
                  </a:spcAft>
                  <a:buNone/>
                </a:pPr>
                <a:endParaRPr sz="1600" dirty="0"/>
              </a:p>
              <a:p>
                <a:pPr marL="0" lvl="0" indent="0" algn="l" rtl="0">
                  <a:lnSpc>
                    <a:spcPct val="114000"/>
                  </a:lnSpc>
                  <a:spcBef>
                    <a:spcPts val="600"/>
                  </a:spcBef>
                  <a:spcAft>
                    <a:spcPts val="0"/>
                  </a:spcAft>
                  <a:buNone/>
                </a:pPr>
                <a:endParaRPr sz="1600" dirty="0"/>
              </a:p>
            </p:txBody>
          </p:sp>
        </mc:Choice>
        <mc:Fallback xmlns="">
          <p:sp>
            <p:nvSpPr>
              <p:cNvPr id="118" name="Google Shape;118;p26"/>
              <p:cNvSpPr txBox="1">
                <a:spLocks noRot="1" noChangeAspect="1" noMove="1" noResize="1" noEditPoints="1" noAdjustHandles="1" noChangeArrowheads="1" noChangeShapeType="1" noTextEdit="1"/>
              </p:cNvSpPr>
              <p:nvPr/>
            </p:nvSpPr>
            <p:spPr>
              <a:xfrm>
                <a:off x="678678" y="1825026"/>
                <a:ext cx="7786644" cy="2492100"/>
              </a:xfrm>
              <a:prstGeom prst="rect">
                <a:avLst/>
              </a:prstGeom>
              <a:blipFill>
                <a:blip r:embed="rId3"/>
                <a:stretch>
                  <a:fillRect r="-391" b="-19315"/>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3389240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Activation energy</a:t>
            </a:r>
          </a:p>
        </p:txBody>
      </p:sp>
      <p:sp>
        <p:nvSpPr>
          <p:cNvPr id="118" name="Google Shape;118;p26"/>
          <p:cNvSpPr txBox="1"/>
          <p:nvPr/>
        </p:nvSpPr>
        <p:spPr>
          <a:xfrm>
            <a:off x="702600" y="1857525"/>
            <a:ext cx="2196339" cy="2492100"/>
          </a:xfrm>
          <a:prstGeom prst="rect">
            <a:avLst/>
          </a:prstGeom>
          <a:noFill/>
          <a:ln>
            <a:noFill/>
          </a:ln>
        </p:spPr>
        <p:txBody>
          <a:bodyPr spcFirstLastPara="1" wrap="square" lIns="91425" tIns="91425" rIns="91425" bIns="91425" anchor="t" anchorCtr="0">
            <a:noAutofit/>
          </a:bodyPr>
          <a:lstStyle/>
          <a:p>
            <a:pPr marL="114300" lvl="0" algn="just">
              <a:lnSpc>
                <a:spcPct val="114000"/>
              </a:lnSpc>
              <a:buSzPts val="1800"/>
            </a:pPr>
            <a:r>
              <a:rPr lang="en-US" sz="1600" dirty="0">
                <a:latin typeface="Calibri" panose="020F0502020204030204" pitchFamily="34" charset="0"/>
                <a:cs typeface="Calibri" panose="020F0502020204030204" pitchFamily="34" charset="0"/>
              </a:rPr>
              <a:t>The minimum energy required by the reacting particles for a successful collision to take place is called as activation energy. </a:t>
            </a:r>
          </a:p>
          <a:p>
            <a:pPr marL="114300" lvl="0" algn="just">
              <a:lnSpc>
                <a:spcPct val="114000"/>
              </a:lnSpc>
              <a:buSzPts val="1800"/>
            </a:pPr>
            <a:r>
              <a:rPr lang="en-US" sz="1600" dirty="0">
                <a:latin typeface="Calibri" panose="020F0502020204030204" pitchFamily="34" charset="0"/>
                <a:cs typeface="Calibri" panose="020F0502020204030204" pitchFamily="34" charset="0"/>
              </a:rPr>
              <a:t>The reaction profile of exothermic reactions with small and large activation energies are given in the figure.</a:t>
            </a:r>
          </a:p>
        </p:txBody>
      </p:sp>
      <p:pic>
        <p:nvPicPr>
          <p:cNvPr id="2" name="Picture 1">
            <a:extLst>
              <a:ext uri="{FF2B5EF4-FFF2-40B4-BE49-F238E27FC236}">
                <a16:creationId xmlns:a16="http://schemas.microsoft.com/office/drawing/2014/main" id="{A7805A4D-FD4C-47AD-92AE-D68224838CEA}"/>
              </a:ext>
            </a:extLst>
          </p:cNvPr>
          <p:cNvPicPr>
            <a:picLocks noChangeAspect="1"/>
          </p:cNvPicPr>
          <p:nvPr/>
        </p:nvPicPr>
        <p:blipFill>
          <a:blip r:embed="rId3"/>
          <a:stretch>
            <a:fillRect/>
          </a:stretch>
        </p:blipFill>
        <p:spPr>
          <a:xfrm>
            <a:off x="3028147" y="1927099"/>
            <a:ext cx="5836836" cy="2980742"/>
          </a:xfrm>
          <a:prstGeom prst="rect">
            <a:avLst/>
          </a:prstGeom>
        </p:spPr>
      </p:pic>
    </p:spTree>
    <p:extLst>
      <p:ext uri="{BB962C8B-B14F-4D97-AF65-F5344CB8AC3E}">
        <p14:creationId xmlns:p14="http://schemas.microsoft.com/office/powerpoint/2010/main" val="1320228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Activation energy: Exothermic</a:t>
            </a:r>
          </a:p>
        </p:txBody>
      </p:sp>
      <p:sp>
        <p:nvSpPr>
          <p:cNvPr id="118" name="Google Shape;118;p26"/>
          <p:cNvSpPr txBox="1"/>
          <p:nvPr/>
        </p:nvSpPr>
        <p:spPr>
          <a:xfrm>
            <a:off x="702600" y="2057400"/>
            <a:ext cx="4585017" cy="2492100"/>
          </a:xfrm>
          <a:prstGeom prst="rect">
            <a:avLst/>
          </a:prstGeom>
          <a:noFill/>
          <a:ln>
            <a:noFill/>
          </a:ln>
        </p:spPr>
        <p:txBody>
          <a:bodyPr spcFirstLastPara="1" wrap="square" lIns="91425" tIns="91425" rIns="91425" bIns="91425" anchor="t" anchorCtr="0">
            <a:noAutofit/>
          </a:bodyPr>
          <a:lstStyle/>
          <a:p>
            <a:pPr marL="400050" lvl="0" indent="-285750" algn="just">
              <a:lnSpc>
                <a:spcPct val="114000"/>
              </a:lnSpc>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Exothermic reactions with smaller activation energy takes places slowly at room temperature. </a:t>
            </a:r>
          </a:p>
          <a:p>
            <a:pPr marL="400050" lvl="0" indent="-285750" algn="just">
              <a:lnSpc>
                <a:spcPct val="114000"/>
              </a:lnSpc>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This is because only fewer particles have energies greater than activation energy.</a:t>
            </a:r>
          </a:p>
          <a:p>
            <a:pPr marL="400050" lvl="0" indent="-285750" algn="just">
              <a:lnSpc>
                <a:spcPct val="114000"/>
              </a:lnSpc>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The particles at the peak of the curve are said to be in transition state. This represents some bonds that are either made or in the process of being broken. </a:t>
            </a:r>
          </a:p>
        </p:txBody>
      </p:sp>
      <p:pic>
        <p:nvPicPr>
          <p:cNvPr id="2" name="Picture 1">
            <a:extLst>
              <a:ext uri="{FF2B5EF4-FFF2-40B4-BE49-F238E27FC236}">
                <a16:creationId xmlns:a16="http://schemas.microsoft.com/office/drawing/2014/main" id="{A7805A4D-FD4C-47AD-92AE-D68224838CEA}"/>
              </a:ext>
            </a:extLst>
          </p:cNvPr>
          <p:cNvPicPr>
            <a:picLocks noChangeAspect="1"/>
          </p:cNvPicPr>
          <p:nvPr/>
        </p:nvPicPr>
        <p:blipFill rotWithShape="1">
          <a:blip r:embed="rId3"/>
          <a:srcRect l="568" t="2371" r="49029" b="2264"/>
          <a:stretch/>
        </p:blipFill>
        <p:spPr>
          <a:xfrm>
            <a:off x="5588229" y="1997765"/>
            <a:ext cx="2941983" cy="2842592"/>
          </a:xfrm>
          <a:prstGeom prst="rect">
            <a:avLst/>
          </a:prstGeom>
          <a:ln>
            <a:solidFill>
              <a:schemeClr val="bg2"/>
            </a:solidFill>
          </a:ln>
        </p:spPr>
      </p:pic>
    </p:spTree>
    <p:extLst>
      <p:ext uri="{BB962C8B-B14F-4D97-AF65-F5344CB8AC3E}">
        <p14:creationId xmlns:p14="http://schemas.microsoft.com/office/powerpoint/2010/main" val="1717522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Activation energy: Exothermic</a:t>
            </a:r>
          </a:p>
        </p:txBody>
      </p:sp>
      <p:sp>
        <p:nvSpPr>
          <p:cNvPr id="118" name="Google Shape;118;p26"/>
          <p:cNvSpPr txBox="1"/>
          <p:nvPr/>
        </p:nvSpPr>
        <p:spPr>
          <a:xfrm>
            <a:off x="702600" y="2007704"/>
            <a:ext cx="4813617" cy="2492100"/>
          </a:xfrm>
          <a:prstGeom prst="rect">
            <a:avLst/>
          </a:prstGeom>
          <a:noFill/>
          <a:ln>
            <a:noFill/>
          </a:ln>
        </p:spPr>
        <p:txBody>
          <a:bodyPr spcFirstLastPara="1" wrap="square" lIns="91425" tIns="91425" rIns="91425" bIns="91425" anchor="t" anchorCtr="0">
            <a:noAutofit/>
          </a:bodyPr>
          <a:lstStyle/>
          <a:p>
            <a:pPr marL="400050" lvl="0" indent="-285750" algn="just">
              <a:lnSpc>
                <a:spcPct val="114000"/>
              </a:lnSpc>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Exothermic reactions with larger activation energy takes places rapidly at room temperature. </a:t>
            </a:r>
          </a:p>
          <a:p>
            <a:pPr marL="400050" lvl="0" indent="-285750" algn="just">
              <a:lnSpc>
                <a:spcPct val="114000"/>
              </a:lnSpc>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This is because only more particles have energies greater than activation energy resulting in higher successful collisions.</a:t>
            </a:r>
          </a:p>
        </p:txBody>
      </p:sp>
      <p:pic>
        <p:nvPicPr>
          <p:cNvPr id="2" name="Picture 1">
            <a:extLst>
              <a:ext uri="{FF2B5EF4-FFF2-40B4-BE49-F238E27FC236}">
                <a16:creationId xmlns:a16="http://schemas.microsoft.com/office/drawing/2014/main" id="{A7805A4D-FD4C-47AD-92AE-D68224838CEA}"/>
              </a:ext>
            </a:extLst>
          </p:cNvPr>
          <p:cNvPicPr>
            <a:picLocks noChangeAspect="1"/>
          </p:cNvPicPr>
          <p:nvPr/>
        </p:nvPicPr>
        <p:blipFill rotWithShape="1">
          <a:blip r:embed="rId3"/>
          <a:srcRect l="50290" t="2704" r="1350" b="1596"/>
          <a:stretch/>
        </p:blipFill>
        <p:spPr>
          <a:xfrm>
            <a:off x="5826768" y="2007704"/>
            <a:ext cx="2822714" cy="2852532"/>
          </a:xfrm>
          <a:prstGeom prst="rect">
            <a:avLst/>
          </a:prstGeom>
          <a:ln>
            <a:solidFill>
              <a:schemeClr val="bg2"/>
            </a:solidFill>
          </a:ln>
        </p:spPr>
      </p:pic>
    </p:spTree>
    <p:extLst>
      <p:ext uri="{BB962C8B-B14F-4D97-AF65-F5344CB8AC3E}">
        <p14:creationId xmlns:p14="http://schemas.microsoft.com/office/powerpoint/2010/main" val="3912452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Activation energy: Endothermic</a:t>
            </a:r>
          </a:p>
        </p:txBody>
      </p:sp>
      <p:sp>
        <p:nvSpPr>
          <p:cNvPr id="118" name="Google Shape;118;p26"/>
          <p:cNvSpPr txBox="1"/>
          <p:nvPr/>
        </p:nvSpPr>
        <p:spPr>
          <a:xfrm>
            <a:off x="702600" y="2007704"/>
            <a:ext cx="4813617" cy="2492100"/>
          </a:xfrm>
          <a:prstGeom prst="rect">
            <a:avLst/>
          </a:prstGeom>
          <a:noFill/>
          <a:ln>
            <a:noFill/>
          </a:ln>
        </p:spPr>
        <p:txBody>
          <a:bodyPr spcFirstLastPara="1" wrap="square" lIns="91425" tIns="91425" rIns="91425" bIns="91425" anchor="t" anchorCtr="0">
            <a:noAutofit/>
          </a:bodyPr>
          <a:lstStyle/>
          <a:p>
            <a:pPr marL="400050" lvl="0" indent="-285750" algn="just">
              <a:lnSpc>
                <a:spcPct val="114000"/>
              </a:lnSpc>
              <a:buSzPts val="1800"/>
              <a:buFont typeface="Arial" panose="020B0604020202020204" pitchFamily="34" charset="0"/>
              <a:buChar char="•"/>
            </a:pPr>
            <a:r>
              <a:rPr lang="en-US" sz="1600" dirty="0">
                <a:latin typeface="Calibri" panose="020F0502020204030204" pitchFamily="34" charset="0"/>
                <a:cs typeface="Calibri" panose="020F0502020204030204" pitchFamily="34" charset="0"/>
              </a:rPr>
              <a:t>The reaction profile of endothermic reactions with activation energy </a:t>
            </a:r>
            <a:r>
              <a:rPr lang="en-US" sz="1600" dirty="0" err="1">
                <a:latin typeface="Calibri" panose="020F0502020204030204" pitchFamily="34" charset="0"/>
                <a:cs typeface="Calibri" panose="020F0502020204030204" pitchFamily="34" charset="0"/>
              </a:rPr>
              <a:t>Ea</a:t>
            </a:r>
            <a:r>
              <a:rPr lang="en-US" sz="1600" dirty="0">
                <a:latin typeface="Calibri" panose="020F0502020204030204" pitchFamily="34" charset="0"/>
                <a:cs typeface="Calibri" panose="020F0502020204030204" pitchFamily="34" charset="0"/>
              </a:rPr>
              <a:t> is given.</a:t>
            </a:r>
          </a:p>
        </p:txBody>
      </p:sp>
      <p:pic>
        <p:nvPicPr>
          <p:cNvPr id="3" name="Picture 2">
            <a:extLst>
              <a:ext uri="{FF2B5EF4-FFF2-40B4-BE49-F238E27FC236}">
                <a16:creationId xmlns:a16="http://schemas.microsoft.com/office/drawing/2014/main" id="{FEAB32CA-37FF-4743-B855-C10D05608F92}"/>
              </a:ext>
            </a:extLst>
          </p:cNvPr>
          <p:cNvPicPr>
            <a:picLocks noChangeAspect="1"/>
          </p:cNvPicPr>
          <p:nvPr/>
        </p:nvPicPr>
        <p:blipFill>
          <a:blip r:embed="rId3"/>
          <a:stretch>
            <a:fillRect/>
          </a:stretch>
        </p:blipFill>
        <p:spPr>
          <a:xfrm>
            <a:off x="5716982" y="2090045"/>
            <a:ext cx="2724418" cy="2327418"/>
          </a:xfrm>
          <a:prstGeom prst="rect">
            <a:avLst/>
          </a:prstGeom>
        </p:spPr>
      </p:pic>
    </p:spTree>
    <p:extLst>
      <p:ext uri="{BB962C8B-B14F-4D97-AF65-F5344CB8AC3E}">
        <p14:creationId xmlns:p14="http://schemas.microsoft.com/office/powerpoint/2010/main" val="3291546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latin typeface="Calibri" panose="020F0502020204030204" pitchFamily="34" charset="0"/>
                <a:cs typeface="Calibri" panose="020F0502020204030204" pitchFamily="34" charset="0"/>
              </a:rPr>
              <a:t>Catalysts</a:t>
            </a:r>
          </a:p>
        </p:txBody>
      </p:sp>
      <p:sp>
        <p:nvSpPr>
          <p:cNvPr id="124" name="Google Shape;124;p27"/>
          <p:cNvSpPr txBox="1">
            <a:spLocks noGrp="1"/>
          </p:cNvSpPr>
          <p:nvPr>
            <p:ph type="body" idx="2"/>
          </p:nvPr>
        </p:nvSpPr>
        <p:spPr>
          <a:xfrm>
            <a:off x="4850005" y="724200"/>
            <a:ext cx="3837000" cy="3695100"/>
          </a:xfrm>
          <a:prstGeom prst="rect">
            <a:avLst/>
          </a:prstGeom>
        </p:spPr>
        <p:txBody>
          <a:bodyPr spcFirstLastPara="1" wrap="square" lIns="91425" tIns="91425" rIns="91425" bIns="91425" anchor="t" anchorCtr="0">
            <a:noAutofit/>
          </a:bodyPr>
          <a:lstStyle/>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Catalyst is a chemical substance that increases the rate of reaction and remains chemically unchanged till the end of reaction. </a:t>
            </a:r>
          </a:p>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Catalyst increases the rate of reaction by choosing an alternate route for the reaction which has a lower activation energy.</a:t>
            </a:r>
          </a:p>
        </p:txBody>
      </p:sp>
      <p:sp>
        <p:nvSpPr>
          <p:cNvPr id="126" name="Google Shape;126;p27"/>
          <p:cNvSpPr txBox="1"/>
          <p:nvPr/>
        </p:nvSpPr>
        <p:spPr>
          <a:xfrm>
            <a:off x="2688771" y="4546950"/>
            <a:ext cx="1646054"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The effect of a catalyst</a:t>
            </a:r>
            <a:endParaRPr sz="1100" dirty="0">
              <a:solidFill>
                <a:srgbClr val="666666"/>
              </a:solidFill>
            </a:endParaRPr>
          </a:p>
        </p:txBody>
      </p:sp>
      <p:pic>
        <p:nvPicPr>
          <p:cNvPr id="3" name="Picture 2">
            <a:extLst>
              <a:ext uri="{FF2B5EF4-FFF2-40B4-BE49-F238E27FC236}">
                <a16:creationId xmlns:a16="http://schemas.microsoft.com/office/drawing/2014/main" id="{664CD553-5381-4E45-B606-5461EE26E3AC}"/>
              </a:ext>
            </a:extLst>
          </p:cNvPr>
          <p:cNvPicPr>
            <a:picLocks noChangeAspect="1"/>
          </p:cNvPicPr>
          <p:nvPr/>
        </p:nvPicPr>
        <p:blipFill>
          <a:blip r:embed="rId3"/>
          <a:stretch>
            <a:fillRect/>
          </a:stretch>
        </p:blipFill>
        <p:spPr>
          <a:xfrm>
            <a:off x="678646" y="1426831"/>
            <a:ext cx="3346704" cy="2718816"/>
          </a:xfrm>
          <a:prstGeom prst="rect">
            <a:avLst/>
          </a:prstGeom>
        </p:spPr>
      </p:pic>
    </p:spTree>
    <p:extLst>
      <p:ext uri="{BB962C8B-B14F-4D97-AF65-F5344CB8AC3E}">
        <p14:creationId xmlns:p14="http://schemas.microsoft.com/office/powerpoint/2010/main" val="3435045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Catalysts</a:t>
            </a:r>
          </a:p>
        </p:txBody>
      </p:sp>
      <p:sp>
        <p:nvSpPr>
          <p:cNvPr id="118" name="Google Shape;118;p26"/>
          <p:cNvSpPr txBox="1"/>
          <p:nvPr/>
        </p:nvSpPr>
        <p:spPr>
          <a:xfrm>
            <a:off x="702600" y="2028225"/>
            <a:ext cx="3620922" cy="2492100"/>
          </a:xfrm>
          <a:prstGeom prst="rect">
            <a:avLst/>
          </a:prstGeom>
          <a:noFill/>
          <a:ln>
            <a:noFill/>
          </a:ln>
        </p:spPr>
        <p:txBody>
          <a:bodyPr spcFirstLastPara="1" wrap="square" lIns="91425" tIns="91425" rIns="91425" bIns="91425" anchor="t" anchorCtr="0">
            <a:noAutofit/>
          </a:bodyPr>
          <a:lstStyle/>
          <a:p>
            <a:pPr marL="114300" lvl="0" algn="just">
              <a:lnSpc>
                <a:spcPct val="114000"/>
              </a:lnSpc>
              <a:buSzPts val="1800"/>
            </a:pPr>
            <a:r>
              <a:rPr lang="en-US" b="1" dirty="0">
                <a:solidFill>
                  <a:schemeClr val="bg2">
                    <a:lumMod val="50000"/>
                  </a:schemeClr>
                </a:solidFill>
                <a:latin typeface="Calibri" panose="020F0502020204030204" pitchFamily="34" charset="0"/>
                <a:cs typeface="Calibri" panose="020F0502020204030204" pitchFamily="34" charset="0"/>
              </a:rPr>
              <a:t>Homogenous</a:t>
            </a:r>
          </a:p>
          <a:p>
            <a:pPr marL="400050" lvl="0" indent="-285750" algn="just">
              <a:lnSpc>
                <a:spcPct val="114000"/>
              </a:lnSpc>
              <a:buSzPts val="1800"/>
              <a:buFont typeface="Arial" panose="020B0604020202020204" pitchFamily="34" charset="0"/>
              <a:buChar char="•"/>
            </a:pPr>
            <a:r>
              <a:rPr lang="en-US" dirty="0">
                <a:solidFill>
                  <a:schemeClr val="bg2">
                    <a:lumMod val="50000"/>
                  </a:schemeClr>
                </a:solidFill>
                <a:latin typeface="Calibri" panose="020F0502020204030204" pitchFamily="34" charset="0"/>
                <a:cs typeface="Calibri" panose="020F0502020204030204" pitchFamily="34" charset="0"/>
              </a:rPr>
              <a:t>A catalyst is said to be homogenous if it is in the same phase of that of reactants. </a:t>
            </a:r>
          </a:p>
          <a:p>
            <a:pPr marL="400050" lvl="0" indent="-285750" algn="just">
              <a:lnSpc>
                <a:spcPct val="114000"/>
              </a:lnSpc>
              <a:buSzPts val="1800"/>
              <a:buFont typeface="Arial" panose="020B0604020202020204" pitchFamily="34" charset="0"/>
              <a:buChar char="•"/>
            </a:pPr>
            <a:r>
              <a:rPr lang="en-US" dirty="0">
                <a:solidFill>
                  <a:schemeClr val="bg2">
                    <a:lumMod val="50000"/>
                  </a:schemeClr>
                </a:solidFill>
                <a:latin typeface="Calibri" panose="020F0502020204030204" pitchFamily="34" charset="0"/>
                <a:cs typeface="Calibri" panose="020F0502020204030204" pitchFamily="34" charset="0"/>
              </a:rPr>
              <a:t>For example, reactants are in aqueous form and the catalyst is also dissolved in water. </a:t>
            </a:r>
          </a:p>
          <a:p>
            <a:pPr marL="400050" lvl="0" indent="-285750" algn="just">
              <a:lnSpc>
                <a:spcPct val="114000"/>
              </a:lnSpc>
              <a:buSzPts val="1800"/>
              <a:buFont typeface="Arial" panose="020B0604020202020204" pitchFamily="34" charset="0"/>
              <a:buChar char="•"/>
            </a:pPr>
            <a:r>
              <a:rPr lang="en-US" dirty="0">
                <a:solidFill>
                  <a:schemeClr val="bg2">
                    <a:lumMod val="50000"/>
                  </a:schemeClr>
                </a:solidFill>
                <a:latin typeface="Calibri" panose="020F0502020204030204" pitchFamily="34" charset="0"/>
                <a:cs typeface="Calibri" panose="020F0502020204030204" pitchFamily="34" charset="0"/>
              </a:rPr>
              <a:t>Otherwise, all reactants and catalyst are in gaseous state. Example: Destruction of atmospheric ozone in the presence of ultraviolet radiation. The catalyst is chlorine radical. </a:t>
            </a:r>
          </a:p>
        </p:txBody>
      </p:sp>
      <p:sp>
        <p:nvSpPr>
          <p:cNvPr id="4" name="Google Shape;118;p26">
            <a:extLst>
              <a:ext uri="{FF2B5EF4-FFF2-40B4-BE49-F238E27FC236}">
                <a16:creationId xmlns:a16="http://schemas.microsoft.com/office/drawing/2014/main" id="{D2A81662-DD35-40DC-A8B0-FEA491A8BD7D}"/>
              </a:ext>
            </a:extLst>
          </p:cNvPr>
          <p:cNvSpPr txBox="1"/>
          <p:nvPr/>
        </p:nvSpPr>
        <p:spPr>
          <a:xfrm>
            <a:off x="4668312" y="2028225"/>
            <a:ext cx="3620921" cy="2492100"/>
          </a:xfrm>
          <a:prstGeom prst="rect">
            <a:avLst/>
          </a:prstGeom>
          <a:noFill/>
          <a:ln>
            <a:noFill/>
          </a:ln>
        </p:spPr>
        <p:txBody>
          <a:bodyPr spcFirstLastPara="1" wrap="square" lIns="91425" tIns="91425" rIns="91425" bIns="91425" anchor="t" anchorCtr="0">
            <a:noAutofit/>
          </a:bodyPr>
          <a:lstStyle/>
          <a:p>
            <a:pPr marL="114300" lvl="0" algn="just">
              <a:lnSpc>
                <a:spcPct val="114000"/>
              </a:lnSpc>
              <a:buSzPts val="1800"/>
            </a:pPr>
            <a:r>
              <a:rPr lang="en-US" b="1" dirty="0">
                <a:solidFill>
                  <a:schemeClr val="bg2">
                    <a:lumMod val="50000"/>
                  </a:schemeClr>
                </a:solidFill>
                <a:latin typeface="Calibri" panose="020F0502020204030204" pitchFamily="34" charset="0"/>
                <a:cs typeface="Calibri" panose="020F0502020204030204" pitchFamily="34" charset="0"/>
              </a:rPr>
              <a:t>Heterogenous</a:t>
            </a:r>
          </a:p>
          <a:p>
            <a:pPr marL="400050" lvl="0" indent="-285750" algn="just">
              <a:lnSpc>
                <a:spcPct val="114000"/>
              </a:lnSpc>
              <a:buSzPts val="1800"/>
              <a:buFont typeface="Arial" panose="020B0604020202020204" pitchFamily="34" charset="0"/>
              <a:buChar char="•"/>
            </a:pPr>
            <a:r>
              <a:rPr lang="en-US" dirty="0">
                <a:solidFill>
                  <a:schemeClr val="bg2">
                    <a:lumMod val="50000"/>
                  </a:schemeClr>
                </a:solidFill>
                <a:latin typeface="Calibri" panose="020F0502020204030204" pitchFamily="34" charset="0"/>
                <a:cs typeface="Calibri" panose="020F0502020204030204" pitchFamily="34" charset="0"/>
              </a:rPr>
              <a:t>A catalyst is said to be heterogenous when it is in a phase which is different from that of reactants. </a:t>
            </a:r>
          </a:p>
          <a:p>
            <a:pPr marL="400050" lvl="0" indent="-285750" algn="just">
              <a:lnSpc>
                <a:spcPct val="114000"/>
              </a:lnSpc>
              <a:buSzPts val="1800"/>
              <a:buFont typeface="Arial" panose="020B0604020202020204" pitchFamily="34" charset="0"/>
              <a:buChar char="•"/>
            </a:pPr>
            <a:r>
              <a:rPr lang="en-US" dirty="0">
                <a:solidFill>
                  <a:schemeClr val="bg2">
                    <a:lumMod val="50000"/>
                  </a:schemeClr>
                </a:solidFill>
                <a:latin typeface="Calibri" panose="020F0502020204030204" pitchFamily="34" charset="0"/>
                <a:cs typeface="Calibri" panose="020F0502020204030204" pitchFamily="34" charset="0"/>
              </a:rPr>
              <a:t>For example: Decomposition of hydrogen peroxide solution gives oxygen gas. This reaction is fastened by adding insoluble solid manganese (IV) oxide. This reaction takes place in the surface of heterogeneous catalysts. </a:t>
            </a:r>
          </a:p>
        </p:txBody>
      </p:sp>
    </p:spTree>
    <p:extLst>
      <p:ext uri="{BB962C8B-B14F-4D97-AF65-F5344CB8AC3E}">
        <p14:creationId xmlns:p14="http://schemas.microsoft.com/office/powerpoint/2010/main" val="2722786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Catalysts</a:t>
            </a: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gn="just">
              <a:lnSpc>
                <a:spcPct val="114000"/>
              </a:lnSpc>
              <a:spcBef>
                <a:spcPts val="600"/>
              </a:spcBef>
              <a:buSzPts val="1800"/>
              <a:buFont typeface="Arial" panose="020B0604020202020204" pitchFamily="34" charset="0"/>
              <a:buChar char="•"/>
            </a:pPr>
            <a:r>
              <a:rPr lang="en-IN" sz="1600" dirty="0">
                <a:solidFill>
                  <a:schemeClr val="bg2">
                    <a:lumMod val="50000"/>
                  </a:schemeClr>
                </a:solidFill>
                <a:latin typeface="Calibri" panose="020F0502020204030204" pitchFamily="34" charset="0"/>
                <a:cs typeface="Calibri" panose="020F0502020204030204" pitchFamily="34" charset="0"/>
              </a:rPr>
              <a:t>Catalyst lower the temperature and pressure constraints on a reaction. </a:t>
            </a:r>
          </a:p>
          <a:p>
            <a:pPr marL="457200" lvl="0" indent="-342900" algn="just">
              <a:lnSpc>
                <a:spcPct val="114000"/>
              </a:lnSpc>
              <a:spcBef>
                <a:spcPts val="600"/>
              </a:spcBef>
              <a:buSzPts val="1800"/>
              <a:buFont typeface="Arial" panose="020B0604020202020204" pitchFamily="34" charset="0"/>
              <a:buChar char="•"/>
            </a:pPr>
            <a:r>
              <a:rPr lang="en-IN" sz="1600" dirty="0">
                <a:solidFill>
                  <a:schemeClr val="bg2">
                    <a:lumMod val="50000"/>
                  </a:schemeClr>
                </a:solidFill>
                <a:latin typeface="Calibri" panose="020F0502020204030204" pitchFamily="34" charset="0"/>
                <a:cs typeface="Calibri" panose="020F0502020204030204" pitchFamily="34" charset="0"/>
              </a:rPr>
              <a:t>With the use of catalyst, a reaction can be successful at a much lower temperature and pressure. This saves cost of production in industries. </a:t>
            </a:r>
          </a:p>
          <a:p>
            <a:pPr marL="457200" lvl="0" indent="-342900" algn="just">
              <a:lnSpc>
                <a:spcPct val="114000"/>
              </a:lnSpc>
              <a:spcBef>
                <a:spcPts val="600"/>
              </a:spcBef>
              <a:buSzPts val="1800"/>
              <a:buFont typeface="Arial" panose="020B0604020202020204" pitchFamily="34" charset="0"/>
              <a:buChar char="•"/>
            </a:pPr>
            <a:r>
              <a:rPr lang="en-IN" sz="1600" dirty="0">
                <a:solidFill>
                  <a:schemeClr val="bg2">
                    <a:lumMod val="50000"/>
                  </a:schemeClr>
                </a:solidFill>
                <a:latin typeface="Calibri" panose="020F0502020204030204" pitchFamily="34" charset="0"/>
                <a:cs typeface="Calibri" panose="020F0502020204030204" pitchFamily="34" charset="0"/>
              </a:rPr>
              <a:t>The burning of fossil fuels is reduced thus fewer carbon dioxide emissions. </a:t>
            </a:r>
          </a:p>
          <a:p>
            <a:pPr marL="457200" lvl="0" indent="-342900" algn="just">
              <a:lnSpc>
                <a:spcPct val="114000"/>
              </a:lnSpc>
              <a:spcBef>
                <a:spcPts val="600"/>
              </a:spcBef>
              <a:buSzPts val="1800"/>
              <a:buFont typeface="Arial" panose="020B0604020202020204" pitchFamily="34" charset="0"/>
              <a:buChar char="•"/>
            </a:pPr>
            <a:r>
              <a:rPr lang="en-IN" sz="1600" dirty="0">
                <a:solidFill>
                  <a:schemeClr val="bg2">
                    <a:lumMod val="50000"/>
                  </a:schemeClr>
                </a:solidFill>
                <a:latin typeface="Calibri" panose="020F0502020204030204" pitchFamily="34" charset="0"/>
                <a:cs typeface="Calibri" panose="020F0502020204030204" pitchFamily="34" charset="0"/>
              </a:rPr>
              <a:t>Catalyst remains unused and hence, can be reused. It also improves the atom economy by minimising the number of waste products.</a:t>
            </a:r>
          </a:p>
          <a:p>
            <a:pPr marL="400050" lvl="0" indent="-285750">
              <a:lnSpc>
                <a:spcPct val="114000"/>
              </a:lnSpc>
              <a:spcBef>
                <a:spcPts val="600"/>
              </a:spcBef>
              <a:buSzPts val="1800"/>
              <a:buFont typeface="Arial" panose="020B0604020202020204" pitchFamily="34" charset="0"/>
              <a:buChar char="•"/>
            </a:pPr>
            <a:endParaRPr sz="2000" dirty="0"/>
          </a:p>
          <a:p>
            <a:pPr marL="285750" lvl="0" indent="-285750" algn="l" rtl="0">
              <a:lnSpc>
                <a:spcPct val="114000"/>
              </a:lnSpc>
              <a:spcBef>
                <a:spcPts val="600"/>
              </a:spcBef>
              <a:spcAft>
                <a:spcPts val="0"/>
              </a:spcAft>
              <a:buFont typeface="Arial" panose="020B0604020202020204" pitchFamily="34" charset="0"/>
              <a:buChar char="•"/>
            </a:pPr>
            <a:endParaRPr sz="1600" dirty="0"/>
          </a:p>
          <a:p>
            <a:pPr marL="285750" lvl="0" indent="-285750" algn="l" rtl="0">
              <a:lnSpc>
                <a:spcPct val="114000"/>
              </a:lnSpc>
              <a:spcBef>
                <a:spcPts val="600"/>
              </a:spcBef>
              <a:spcAft>
                <a:spcPts val="0"/>
              </a:spcAft>
              <a:buFont typeface="Arial" panose="020B0604020202020204" pitchFamily="34" charset="0"/>
              <a:buChar char="•"/>
            </a:pPr>
            <a:endParaRPr sz="1600" dirty="0"/>
          </a:p>
          <a:p>
            <a:pPr marL="285750" lvl="0" indent="-285750" algn="l" rtl="0">
              <a:lnSpc>
                <a:spcPct val="114000"/>
              </a:lnSpc>
              <a:spcBef>
                <a:spcPts val="600"/>
              </a:spcBef>
              <a:spcAft>
                <a:spcPts val="0"/>
              </a:spcAft>
              <a:buFont typeface="Arial" panose="020B0604020202020204" pitchFamily="34" charset="0"/>
              <a:buChar char="•"/>
            </a:pPr>
            <a:endParaRPr sz="1600" dirty="0"/>
          </a:p>
        </p:txBody>
      </p:sp>
    </p:spTree>
    <p:extLst>
      <p:ext uri="{BB962C8B-B14F-4D97-AF65-F5344CB8AC3E}">
        <p14:creationId xmlns:p14="http://schemas.microsoft.com/office/powerpoint/2010/main" val="762828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marL="127000" lvl="0">
              <a:lnSpc>
                <a:spcPct val="112000"/>
              </a:lnSpc>
            </a:pPr>
            <a:r>
              <a:rPr lang="en-IN" sz="3200" dirty="0">
                <a:solidFill>
                  <a:srgbClr val="000000"/>
                </a:solidFill>
                <a:latin typeface="Calibri" panose="020F0502020204030204" pitchFamily="34" charset="0"/>
                <a:cs typeface="Calibri" panose="020F0502020204030204" pitchFamily="34" charset="0"/>
              </a:rPr>
              <a:t>Boltzmann distribution</a:t>
            </a:r>
          </a:p>
        </p:txBody>
      </p:sp>
      <p:sp>
        <p:nvSpPr>
          <p:cNvPr id="124" name="Google Shape;124;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t" anchorCtr="0">
            <a:noAutofit/>
          </a:bodyPr>
          <a:lstStyle/>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In a sample of reaction mixture, all the particles do not possess the same amount of energy. </a:t>
            </a:r>
          </a:p>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Some particles have relatively high energy and some relatively low. </a:t>
            </a:r>
          </a:p>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Most of the particles have medium levels of energy. </a:t>
            </a:r>
          </a:p>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The energy distribution at a given temperature with respect to number of molecules is shown in figure. This is called as Boltzmann distribution.</a:t>
            </a:r>
          </a:p>
          <a:p>
            <a:pPr marL="114300" lvl="0" indent="0" algn="l" rtl="0">
              <a:spcBef>
                <a:spcPts val="0"/>
              </a:spcBef>
              <a:spcAft>
                <a:spcPts val="0"/>
              </a:spcAft>
              <a:buSzPts val="1800"/>
              <a:buNone/>
            </a:pPr>
            <a:endParaRPr sz="2000" dirty="0"/>
          </a:p>
        </p:txBody>
      </p:sp>
      <p:sp>
        <p:nvSpPr>
          <p:cNvPr id="126" name="Google Shape;126;p27"/>
          <p:cNvSpPr txBox="1"/>
          <p:nvPr/>
        </p:nvSpPr>
        <p:spPr>
          <a:xfrm>
            <a:off x="2743200" y="4546950"/>
            <a:ext cx="1591625"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Boltzmann distribution</a:t>
            </a:r>
            <a:endParaRPr sz="1100" dirty="0">
              <a:solidFill>
                <a:srgbClr val="666666"/>
              </a:solidFill>
            </a:endParaRPr>
          </a:p>
        </p:txBody>
      </p:sp>
      <p:pic>
        <p:nvPicPr>
          <p:cNvPr id="3" name="Picture 2">
            <a:extLst>
              <a:ext uri="{FF2B5EF4-FFF2-40B4-BE49-F238E27FC236}">
                <a16:creationId xmlns:a16="http://schemas.microsoft.com/office/drawing/2014/main" id="{FCB71DE9-F739-4611-9E9A-5F1C6457E4AD}"/>
              </a:ext>
            </a:extLst>
          </p:cNvPr>
          <p:cNvPicPr>
            <a:picLocks noChangeAspect="1"/>
          </p:cNvPicPr>
          <p:nvPr/>
        </p:nvPicPr>
        <p:blipFill>
          <a:blip r:embed="rId3"/>
          <a:stretch>
            <a:fillRect/>
          </a:stretch>
        </p:blipFill>
        <p:spPr>
          <a:xfrm>
            <a:off x="909207" y="1736846"/>
            <a:ext cx="3035808" cy="2273808"/>
          </a:xfrm>
          <a:prstGeom prst="rect">
            <a:avLst/>
          </a:prstGeom>
        </p:spPr>
      </p:pic>
    </p:spTree>
    <p:extLst>
      <p:ext uri="{BB962C8B-B14F-4D97-AF65-F5344CB8AC3E}">
        <p14:creationId xmlns:p14="http://schemas.microsoft.com/office/powerpoint/2010/main" val="3954380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marL="127000" lvl="0">
              <a:lnSpc>
                <a:spcPct val="112000"/>
              </a:lnSpc>
            </a:pPr>
            <a:r>
              <a:rPr lang="en-IN" sz="3200" dirty="0">
                <a:solidFill>
                  <a:srgbClr val="000000"/>
                </a:solidFill>
                <a:latin typeface="Calibri" panose="020F0502020204030204" pitchFamily="34" charset="0"/>
                <a:cs typeface="Calibri" panose="020F0502020204030204" pitchFamily="34" charset="0"/>
              </a:rPr>
              <a:t>Boltzmann distribution</a:t>
            </a:r>
          </a:p>
        </p:txBody>
      </p:sp>
      <p:sp>
        <p:nvSpPr>
          <p:cNvPr id="124" name="Google Shape;124;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t" anchorCtr="0">
            <a:noAutofit/>
          </a:bodyPr>
          <a:lstStyle/>
          <a:p>
            <a:pPr lvl="0">
              <a:buFont typeface="Arial" panose="020B0604020202020204" pitchFamily="34" charset="0"/>
              <a:buChar char="•"/>
            </a:pPr>
            <a:r>
              <a:rPr lang="en-US" sz="1600" dirty="0">
                <a:latin typeface="Calibri" panose="020F0502020204030204" pitchFamily="34" charset="0"/>
                <a:cs typeface="Calibri" panose="020F0502020204030204" pitchFamily="34" charset="0"/>
              </a:rPr>
              <a:t>No particles have zero energy. Even though most particles have intermediate energies, a few particles have higher energies. </a:t>
            </a:r>
          </a:p>
          <a:p>
            <a:pPr lvl="0">
              <a:buFont typeface="Arial" panose="020B0604020202020204" pitchFamily="34" charset="0"/>
              <a:buChar char="•"/>
            </a:pPr>
            <a:r>
              <a:rPr lang="en-US" sz="1600" dirty="0">
                <a:latin typeface="Calibri" panose="020F0502020204030204" pitchFamily="34" charset="0"/>
                <a:cs typeface="Calibri" panose="020F0502020204030204" pitchFamily="34" charset="0"/>
              </a:rPr>
              <a:t>There is no limit to the molecular energy. The most probable energy is different from average energy.</a:t>
            </a:r>
          </a:p>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The molecules with energies greater than activation energy (</a:t>
            </a:r>
            <a:r>
              <a:rPr lang="en-IN" sz="1600" dirty="0" err="1">
                <a:latin typeface="Calibri" panose="020F0502020204030204" pitchFamily="34" charset="0"/>
                <a:cs typeface="Calibri" panose="020F0502020204030204" pitchFamily="34" charset="0"/>
              </a:rPr>
              <a:t>E</a:t>
            </a:r>
            <a:r>
              <a:rPr lang="en-IN" sz="1600" baseline="-25000" dirty="0" err="1">
                <a:latin typeface="Calibri" panose="020F0502020204030204" pitchFamily="34" charset="0"/>
                <a:cs typeface="Calibri" panose="020F0502020204030204" pitchFamily="34" charset="0"/>
              </a:rPr>
              <a:t>a</a:t>
            </a:r>
            <a:r>
              <a:rPr lang="en-IN" sz="1600" dirty="0">
                <a:latin typeface="Calibri" panose="020F0502020204030204" pitchFamily="34" charset="0"/>
                <a:cs typeface="Calibri" panose="020F0502020204030204" pitchFamily="34" charset="0"/>
              </a:rPr>
              <a:t>) are responsible for the initial successful collisions. </a:t>
            </a:r>
          </a:p>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The shaded area shows the number of molecules with energies greater than activation energy. </a:t>
            </a:r>
          </a:p>
          <a:p>
            <a:pPr lvl="0">
              <a:buFont typeface="Arial" panose="020B0604020202020204" pitchFamily="34" charset="0"/>
              <a:buChar char="•"/>
            </a:pPr>
            <a:endParaRPr lang="en-IN" sz="1600" dirty="0">
              <a:latin typeface="Calibri" panose="020F0502020204030204" pitchFamily="34" charset="0"/>
              <a:cs typeface="Calibri" panose="020F0502020204030204" pitchFamily="34" charset="0"/>
            </a:endParaRPr>
          </a:p>
          <a:p>
            <a:pPr lvl="0" algn="l" rtl="0">
              <a:spcBef>
                <a:spcPts val="0"/>
              </a:spcBef>
              <a:spcAft>
                <a:spcPts val="0"/>
              </a:spcAft>
              <a:buSzPts val="1800"/>
              <a:buFont typeface="Arial" panose="020B0604020202020204" pitchFamily="34" charset="0"/>
              <a:buChar char="•"/>
            </a:pPr>
            <a:endParaRPr sz="2000" dirty="0"/>
          </a:p>
        </p:txBody>
      </p:sp>
      <p:sp>
        <p:nvSpPr>
          <p:cNvPr id="126" name="Google Shape;126;p27"/>
          <p:cNvSpPr txBox="1"/>
          <p:nvPr/>
        </p:nvSpPr>
        <p:spPr>
          <a:xfrm>
            <a:off x="2743200" y="4546950"/>
            <a:ext cx="1591625"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Boltzmann distribution</a:t>
            </a:r>
            <a:endParaRPr sz="1100" dirty="0">
              <a:solidFill>
                <a:srgbClr val="666666"/>
              </a:solidFill>
            </a:endParaRPr>
          </a:p>
        </p:txBody>
      </p:sp>
      <p:pic>
        <p:nvPicPr>
          <p:cNvPr id="5" name="Picture 4">
            <a:extLst>
              <a:ext uri="{FF2B5EF4-FFF2-40B4-BE49-F238E27FC236}">
                <a16:creationId xmlns:a16="http://schemas.microsoft.com/office/drawing/2014/main" id="{CD5455B5-FA27-4551-979F-FA9665423781}"/>
              </a:ext>
            </a:extLst>
          </p:cNvPr>
          <p:cNvPicPr>
            <a:picLocks noChangeAspect="1"/>
          </p:cNvPicPr>
          <p:nvPr/>
        </p:nvPicPr>
        <p:blipFill>
          <a:blip r:embed="rId3"/>
          <a:stretch>
            <a:fillRect/>
          </a:stretch>
        </p:blipFill>
        <p:spPr>
          <a:xfrm>
            <a:off x="989279" y="1842252"/>
            <a:ext cx="3036071" cy="2274005"/>
          </a:xfrm>
          <a:prstGeom prst="rect">
            <a:avLst/>
          </a:prstGeom>
        </p:spPr>
      </p:pic>
    </p:spTree>
    <p:extLst>
      <p:ext uri="{BB962C8B-B14F-4D97-AF65-F5344CB8AC3E}">
        <p14:creationId xmlns:p14="http://schemas.microsoft.com/office/powerpoint/2010/main" val="35242098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marL="127000" lvl="0">
              <a:lnSpc>
                <a:spcPct val="112000"/>
              </a:lnSpc>
            </a:pPr>
            <a:r>
              <a:rPr lang="en-IN" sz="3200" dirty="0">
                <a:solidFill>
                  <a:srgbClr val="000000"/>
                </a:solidFill>
                <a:latin typeface="Calibri" panose="020F0502020204030204" pitchFamily="34" charset="0"/>
                <a:cs typeface="Calibri" panose="020F0502020204030204" pitchFamily="34" charset="0"/>
              </a:rPr>
              <a:t>Boltzmann distribution</a:t>
            </a:r>
          </a:p>
        </p:txBody>
      </p:sp>
      <p:sp>
        <p:nvSpPr>
          <p:cNvPr id="124" name="Google Shape;124;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t" anchorCtr="0">
            <a:noAutofit/>
          </a:bodyPr>
          <a:lstStyle/>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The molecules with energies greater than activation energy (</a:t>
            </a:r>
            <a:r>
              <a:rPr lang="en-IN" sz="1600" dirty="0" err="1">
                <a:latin typeface="Calibri" panose="020F0502020204030204" pitchFamily="34" charset="0"/>
                <a:cs typeface="Calibri" panose="020F0502020204030204" pitchFamily="34" charset="0"/>
              </a:rPr>
              <a:t>E</a:t>
            </a:r>
            <a:r>
              <a:rPr lang="en-IN" sz="1600" baseline="-25000" dirty="0" err="1">
                <a:latin typeface="Calibri" panose="020F0502020204030204" pitchFamily="34" charset="0"/>
                <a:cs typeface="Calibri" panose="020F0502020204030204" pitchFamily="34" charset="0"/>
              </a:rPr>
              <a:t>a</a:t>
            </a:r>
            <a:r>
              <a:rPr lang="en-IN" sz="1600" dirty="0">
                <a:latin typeface="Calibri" panose="020F0502020204030204" pitchFamily="34" charset="0"/>
                <a:cs typeface="Calibri" panose="020F0502020204030204" pitchFamily="34" charset="0"/>
              </a:rPr>
              <a:t>) are responsible for the initial successful collisions. </a:t>
            </a:r>
          </a:p>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The shaded area shows the number of molecules with energies greater than activation energy. </a:t>
            </a:r>
          </a:p>
          <a:p>
            <a:pPr lvl="0">
              <a:buFont typeface="Arial" panose="020B0604020202020204" pitchFamily="34" charset="0"/>
              <a:buChar char="•"/>
            </a:pPr>
            <a:r>
              <a:rPr lang="en-US" sz="1600" dirty="0">
                <a:latin typeface="Calibri" panose="020F0502020204030204" pitchFamily="34" charset="0"/>
                <a:cs typeface="Calibri" panose="020F0502020204030204" pitchFamily="34" charset="0"/>
              </a:rPr>
              <a:t>The total area under the curve denotes the total number of particles. </a:t>
            </a:r>
          </a:p>
          <a:p>
            <a:pPr lvl="0">
              <a:buFont typeface="Arial" panose="020B0604020202020204" pitchFamily="34" charset="0"/>
              <a:buChar char="•"/>
            </a:pPr>
            <a:endParaRPr lang="en-IN" sz="1600" dirty="0">
              <a:latin typeface="Calibri" panose="020F0502020204030204" pitchFamily="34" charset="0"/>
              <a:cs typeface="Calibri" panose="020F0502020204030204" pitchFamily="34" charset="0"/>
            </a:endParaRPr>
          </a:p>
          <a:p>
            <a:pPr lvl="0">
              <a:buFont typeface="Arial" panose="020B0604020202020204" pitchFamily="34" charset="0"/>
              <a:buChar char="•"/>
            </a:pPr>
            <a:endParaRPr lang="en-IN" sz="1600" dirty="0">
              <a:latin typeface="Calibri" panose="020F0502020204030204" pitchFamily="34" charset="0"/>
              <a:cs typeface="Calibri" panose="020F0502020204030204" pitchFamily="34" charset="0"/>
            </a:endParaRPr>
          </a:p>
          <a:p>
            <a:pPr lvl="0" algn="l" rtl="0">
              <a:spcBef>
                <a:spcPts val="0"/>
              </a:spcBef>
              <a:spcAft>
                <a:spcPts val="0"/>
              </a:spcAft>
              <a:buSzPts val="1800"/>
              <a:buFont typeface="Arial" panose="020B0604020202020204" pitchFamily="34" charset="0"/>
              <a:buChar char="•"/>
            </a:pPr>
            <a:endParaRPr sz="2000" dirty="0"/>
          </a:p>
        </p:txBody>
      </p:sp>
      <p:sp>
        <p:nvSpPr>
          <p:cNvPr id="126" name="Google Shape;126;p27"/>
          <p:cNvSpPr txBox="1"/>
          <p:nvPr/>
        </p:nvSpPr>
        <p:spPr>
          <a:xfrm>
            <a:off x="2743200" y="4546950"/>
            <a:ext cx="1591625"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Boltzmann distribution</a:t>
            </a:r>
            <a:endParaRPr sz="1100" dirty="0">
              <a:solidFill>
                <a:srgbClr val="666666"/>
              </a:solidFill>
            </a:endParaRPr>
          </a:p>
        </p:txBody>
      </p:sp>
      <p:pic>
        <p:nvPicPr>
          <p:cNvPr id="2" name="Picture 1">
            <a:extLst>
              <a:ext uri="{FF2B5EF4-FFF2-40B4-BE49-F238E27FC236}">
                <a16:creationId xmlns:a16="http://schemas.microsoft.com/office/drawing/2014/main" id="{E8B60595-53E1-4AA9-BAA6-07F9A6A2989C}"/>
              </a:ext>
            </a:extLst>
          </p:cNvPr>
          <p:cNvPicPr>
            <a:picLocks noChangeAspect="1"/>
          </p:cNvPicPr>
          <p:nvPr/>
        </p:nvPicPr>
        <p:blipFill>
          <a:blip r:embed="rId3"/>
          <a:stretch>
            <a:fillRect/>
          </a:stretch>
        </p:blipFill>
        <p:spPr>
          <a:xfrm>
            <a:off x="909207" y="1736846"/>
            <a:ext cx="3035808" cy="2273808"/>
          </a:xfrm>
          <a:prstGeom prst="rect">
            <a:avLst/>
          </a:prstGeom>
        </p:spPr>
      </p:pic>
    </p:spTree>
    <p:extLst>
      <p:ext uri="{BB962C8B-B14F-4D97-AF65-F5344CB8AC3E}">
        <p14:creationId xmlns:p14="http://schemas.microsoft.com/office/powerpoint/2010/main" val="2988217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marL="127000" lvl="0">
              <a:lnSpc>
                <a:spcPct val="112000"/>
              </a:lnSpc>
            </a:pPr>
            <a:r>
              <a:rPr lang="en-IN" sz="2800" dirty="0">
                <a:solidFill>
                  <a:schemeClr val="bg2">
                    <a:lumMod val="50000"/>
                  </a:schemeClr>
                </a:solidFill>
                <a:latin typeface="Calibri" panose="020F0502020204030204" pitchFamily="34" charset="0"/>
                <a:cs typeface="Calibri" panose="020F0502020204030204" pitchFamily="34" charset="0"/>
              </a:rPr>
              <a:t>Effect of temperature on rate of reaction</a:t>
            </a:r>
          </a:p>
        </p:txBody>
      </p:sp>
      <p:sp>
        <p:nvSpPr>
          <p:cNvPr id="124" name="Google Shape;124;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t" anchorCtr="0">
            <a:noAutofit/>
          </a:bodyPr>
          <a:lstStyle/>
          <a:p>
            <a:pPr lvl="0"/>
            <a:r>
              <a:rPr lang="en-IN" sz="1400" dirty="0">
                <a:latin typeface="Calibri" panose="020F0502020204030204" pitchFamily="34" charset="0"/>
                <a:cs typeface="Calibri" panose="020F0502020204030204" pitchFamily="34" charset="0"/>
              </a:rPr>
              <a:t>When temperature increases, the average kinetic energy of the molecules increases, resulting in more frequent collisions. </a:t>
            </a:r>
          </a:p>
          <a:p>
            <a:pPr lvl="0"/>
            <a:r>
              <a:rPr lang="en-IN" sz="1400" dirty="0">
                <a:latin typeface="Calibri" panose="020F0502020204030204" pitchFamily="34" charset="0"/>
                <a:cs typeface="Calibri" panose="020F0502020204030204" pitchFamily="34" charset="0"/>
              </a:rPr>
              <a:t>The graph of increased temperature ((T+10) ⁰C) shifts to right, resulting in increase of proportion of molecules with energies greater than the activation energy. </a:t>
            </a:r>
          </a:p>
          <a:p>
            <a:pPr lvl="0"/>
            <a:r>
              <a:rPr lang="en-IN" sz="1400" dirty="0">
                <a:latin typeface="Calibri" panose="020F0502020204030204" pitchFamily="34" charset="0"/>
                <a:cs typeface="Calibri" panose="020F0502020204030204" pitchFamily="34" charset="0"/>
              </a:rPr>
              <a:t>Hence, with increase in temperature, more successful collisions take place and the rate of reaction increases.</a:t>
            </a:r>
          </a:p>
          <a:p>
            <a:pPr marL="0" lvl="0" indent="0" algn="l" rtl="0">
              <a:spcBef>
                <a:spcPts val="1600"/>
              </a:spcBef>
              <a:spcAft>
                <a:spcPts val="1600"/>
              </a:spcAft>
              <a:buNone/>
            </a:pPr>
            <a:endParaRPr dirty="0"/>
          </a:p>
        </p:txBody>
      </p:sp>
      <p:sp>
        <p:nvSpPr>
          <p:cNvPr id="126" name="Google Shape;126;p27"/>
          <p:cNvSpPr txBox="1"/>
          <p:nvPr/>
        </p:nvSpPr>
        <p:spPr>
          <a:xfrm>
            <a:off x="2344150" y="4558239"/>
            <a:ext cx="2173721"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Effect of temperature change on Boltzmann distribution</a:t>
            </a:r>
            <a:endParaRPr sz="1100" dirty="0">
              <a:solidFill>
                <a:srgbClr val="666666"/>
              </a:solidFill>
            </a:endParaRPr>
          </a:p>
        </p:txBody>
      </p:sp>
      <p:pic>
        <p:nvPicPr>
          <p:cNvPr id="3" name="Picture 2">
            <a:extLst>
              <a:ext uri="{FF2B5EF4-FFF2-40B4-BE49-F238E27FC236}">
                <a16:creationId xmlns:a16="http://schemas.microsoft.com/office/drawing/2014/main" id="{C79A1380-79C8-496F-B9F6-95AED20107F6}"/>
              </a:ext>
            </a:extLst>
          </p:cNvPr>
          <p:cNvPicPr>
            <a:picLocks noChangeAspect="1"/>
          </p:cNvPicPr>
          <p:nvPr/>
        </p:nvPicPr>
        <p:blipFill>
          <a:blip r:embed="rId3"/>
          <a:stretch>
            <a:fillRect/>
          </a:stretch>
        </p:blipFill>
        <p:spPr>
          <a:xfrm>
            <a:off x="983446" y="1712676"/>
            <a:ext cx="3041904" cy="2706624"/>
          </a:xfrm>
          <a:prstGeom prst="rect">
            <a:avLst/>
          </a:prstGeom>
        </p:spPr>
      </p:pic>
    </p:spTree>
    <p:extLst>
      <p:ext uri="{BB962C8B-B14F-4D97-AF65-F5344CB8AC3E}">
        <p14:creationId xmlns:p14="http://schemas.microsoft.com/office/powerpoint/2010/main" val="9778313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marL="127000" lvl="0">
              <a:lnSpc>
                <a:spcPct val="112000"/>
              </a:lnSpc>
            </a:pPr>
            <a:r>
              <a:rPr lang="en-IN" sz="2800" dirty="0">
                <a:solidFill>
                  <a:schemeClr val="bg2">
                    <a:lumMod val="50000"/>
                  </a:schemeClr>
                </a:solidFill>
                <a:latin typeface="Calibri" panose="020F0502020204030204" pitchFamily="34" charset="0"/>
                <a:cs typeface="Calibri" panose="020F0502020204030204" pitchFamily="34" charset="0"/>
              </a:rPr>
              <a:t>Effect of catalysts on rate of reaction</a:t>
            </a:r>
          </a:p>
        </p:txBody>
      </p:sp>
      <p:sp>
        <p:nvSpPr>
          <p:cNvPr id="124" name="Google Shape;124;p27"/>
          <p:cNvSpPr txBox="1">
            <a:spLocks noGrp="1"/>
          </p:cNvSpPr>
          <p:nvPr>
            <p:ph type="body" idx="2"/>
          </p:nvPr>
        </p:nvSpPr>
        <p:spPr>
          <a:xfrm>
            <a:off x="4939500" y="485661"/>
            <a:ext cx="3837000" cy="3695100"/>
          </a:xfrm>
          <a:prstGeom prst="rect">
            <a:avLst/>
          </a:prstGeom>
        </p:spPr>
        <p:txBody>
          <a:bodyPr spcFirstLastPara="1" wrap="square" lIns="91425" tIns="91425" rIns="91425" bIns="91425" anchor="t" anchorCtr="0">
            <a:noAutofit/>
          </a:bodyPr>
          <a:lstStyle/>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Catalysis increases the rate of reaction by lowering the activation energy. </a:t>
            </a:r>
          </a:p>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The Boltzmann distribution in the presence of catalyst is shown in figure.</a:t>
            </a:r>
          </a:p>
          <a:p>
            <a:pPr>
              <a:buFont typeface="Arial" panose="020B0604020202020204" pitchFamily="34" charset="0"/>
              <a:buChar char="•"/>
            </a:pPr>
            <a:r>
              <a:rPr lang="en-IN" sz="1600" dirty="0">
                <a:solidFill>
                  <a:schemeClr val="bg1"/>
                </a:solidFill>
                <a:latin typeface="Calibri" panose="020F0502020204030204" pitchFamily="34" charset="0"/>
                <a:cs typeface="Calibri" panose="020F0502020204030204" pitchFamily="34" charset="0"/>
              </a:rPr>
              <a:t>The shape of the curve remains the same.</a:t>
            </a:r>
          </a:p>
          <a:p>
            <a:pPr>
              <a:buFont typeface="Arial" panose="020B0604020202020204" pitchFamily="34" charset="0"/>
              <a:buChar char="•"/>
            </a:pPr>
            <a:r>
              <a:rPr lang="en-IN" sz="1600" dirty="0">
                <a:solidFill>
                  <a:schemeClr val="bg1"/>
                </a:solidFill>
                <a:latin typeface="Calibri" panose="020F0502020204030204" pitchFamily="34" charset="0"/>
                <a:cs typeface="Calibri" panose="020F0502020204030204" pitchFamily="34" charset="0"/>
              </a:rPr>
              <a:t> The activation energy drops due to the presence of catalysts. </a:t>
            </a:r>
          </a:p>
          <a:p>
            <a:pPr>
              <a:buFont typeface="Arial" panose="020B0604020202020204" pitchFamily="34" charset="0"/>
              <a:buChar char="•"/>
            </a:pPr>
            <a:r>
              <a:rPr lang="en-IN" sz="1600" dirty="0">
                <a:solidFill>
                  <a:schemeClr val="bg1"/>
                </a:solidFill>
                <a:latin typeface="Calibri" panose="020F0502020204030204" pitchFamily="34" charset="0"/>
                <a:cs typeface="Calibri" panose="020F0502020204030204" pitchFamily="34" charset="0"/>
              </a:rPr>
              <a:t>This increases the proportion of molecules with energies greater than activation energy. </a:t>
            </a:r>
          </a:p>
          <a:p>
            <a:pPr>
              <a:buFont typeface="Arial" panose="020B0604020202020204" pitchFamily="34" charset="0"/>
              <a:buChar char="•"/>
            </a:pPr>
            <a:r>
              <a:rPr lang="en-IN" sz="1600" dirty="0">
                <a:solidFill>
                  <a:schemeClr val="bg1"/>
                </a:solidFill>
                <a:latin typeface="Calibri" panose="020F0502020204030204" pitchFamily="34" charset="0"/>
                <a:cs typeface="Calibri" panose="020F0502020204030204" pitchFamily="34" charset="0"/>
              </a:rPr>
              <a:t>Therefore, in the presence of catalysts more successful collisions takes place resulting in increase of rate of reaction. </a:t>
            </a:r>
          </a:p>
          <a:p>
            <a:pPr lvl="0">
              <a:buFont typeface="Arial" panose="020B0604020202020204" pitchFamily="34" charset="0"/>
              <a:buChar char="•"/>
            </a:pPr>
            <a:endParaRPr lang="en-IN" sz="1600" dirty="0">
              <a:latin typeface="Calibri" panose="020F0502020204030204" pitchFamily="34" charset="0"/>
              <a:cs typeface="Calibri" panose="020F0502020204030204" pitchFamily="34" charset="0"/>
            </a:endParaRPr>
          </a:p>
          <a:p>
            <a:pPr marL="285750" indent="-285750">
              <a:spcBef>
                <a:spcPts val="1600"/>
              </a:spcBef>
              <a:spcAft>
                <a:spcPts val="1600"/>
              </a:spcAft>
              <a:buFont typeface="Arial" panose="020B0604020202020204" pitchFamily="34" charset="0"/>
              <a:buChar char="•"/>
            </a:pPr>
            <a:endParaRPr sz="2000" dirty="0"/>
          </a:p>
        </p:txBody>
      </p:sp>
      <p:sp>
        <p:nvSpPr>
          <p:cNvPr id="126" name="Google Shape;126;p27"/>
          <p:cNvSpPr txBox="1"/>
          <p:nvPr/>
        </p:nvSpPr>
        <p:spPr>
          <a:xfrm>
            <a:off x="2895600" y="4558239"/>
            <a:ext cx="1622271"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Effect of catalyst on Boltzmann distribution</a:t>
            </a:r>
            <a:endParaRPr sz="1100" dirty="0">
              <a:solidFill>
                <a:srgbClr val="666666"/>
              </a:solidFill>
            </a:endParaRPr>
          </a:p>
        </p:txBody>
      </p:sp>
      <p:pic>
        <p:nvPicPr>
          <p:cNvPr id="4" name="Picture 3">
            <a:extLst>
              <a:ext uri="{FF2B5EF4-FFF2-40B4-BE49-F238E27FC236}">
                <a16:creationId xmlns:a16="http://schemas.microsoft.com/office/drawing/2014/main" id="{E893C1E0-8CBB-47EC-9D75-862E76DC38C3}"/>
              </a:ext>
            </a:extLst>
          </p:cNvPr>
          <p:cNvPicPr>
            <a:picLocks noChangeAspect="1"/>
          </p:cNvPicPr>
          <p:nvPr/>
        </p:nvPicPr>
        <p:blipFill>
          <a:blip r:embed="rId3"/>
          <a:stretch>
            <a:fillRect/>
          </a:stretch>
        </p:blipFill>
        <p:spPr>
          <a:xfrm>
            <a:off x="974473" y="1567265"/>
            <a:ext cx="3041904" cy="2279904"/>
          </a:xfrm>
          <a:prstGeom prst="rect">
            <a:avLst/>
          </a:prstGeom>
        </p:spPr>
      </p:pic>
    </p:spTree>
    <p:extLst>
      <p:ext uri="{BB962C8B-B14F-4D97-AF65-F5344CB8AC3E}">
        <p14:creationId xmlns:p14="http://schemas.microsoft.com/office/powerpoint/2010/main" val="35010414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marL="127000" lvl="0">
              <a:lnSpc>
                <a:spcPct val="112000"/>
              </a:lnSpc>
            </a:pPr>
            <a:r>
              <a:rPr lang="en-IN" sz="2000" dirty="0">
                <a:solidFill>
                  <a:schemeClr val="bg2">
                    <a:lumMod val="50000"/>
                  </a:schemeClr>
                </a:solidFill>
                <a:latin typeface="Calibri" panose="020F0502020204030204" pitchFamily="34" charset="0"/>
                <a:cs typeface="Calibri" panose="020F0502020204030204" pitchFamily="34" charset="0"/>
              </a:rPr>
              <a:t>Effect of change in concentration and pressure on rate of reaction</a:t>
            </a:r>
          </a:p>
        </p:txBody>
      </p:sp>
      <p:sp>
        <p:nvSpPr>
          <p:cNvPr id="124" name="Google Shape;124;p27"/>
          <p:cNvSpPr txBox="1">
            <a:spLocks noGrp="1"/>
          </p:cNvSpPr>
          <p:nvPr>
            <p:ph type="body" idx="2"/>
          </p:nvPr>
        </p:nvSpPr>
        <p:spPr>
          <a:xfrm>
            <a:off x="4939500" y="525419"/>
            <a:ext cx="3837000" cy="3695100"/>
          </a:xfrm>
          <a:prstGeom prst="rect">
            <a:avLst/>
          </a:prstGeom>
        </p:spPr>
        <p:txBody>
          <a:bodyPr spcFirstLastPara="1" wrap="square" lIns="91425" tIns="91425" rIns="91425" bIns="91425" anchor="t" anchorCtr="0">
            <a:noAutofit/>
          </a:bodyPr>
          <a:lstStyle/>
          <a:p>
            <a:pPr lvl="0">
              <a:buFont typeface="Arial" panose="020B0604020202020204" pitchFamily="34" charset="0"/>
              <a:buChar char="•"/>
            </a:pPr>
            <a:r>
              <a:rPr lang="en-IN" sz="1400" dirty="0">
                <a:latin typeface="Calibri" panose="020F0502020204030204" pitchFamily="34" charset="0"/>
                <a:cs typeface="Calibri" panose="020F0502020204030204" pitchFamily="34" charset="0"/>
              </a:rPr>
              <a:t>When pressure or concentration increases, the average number of molecules per unit volume increases, resulting in more frequent collisions. </a:t>
            </a:r>
          </a:p>
          <a:p>
            <a:pPr lvl="0">
              <a:buFont typeface="Arial" panose="020B0604020202020204" pitchFamily="34" charset="0"/>
              <a:buChar char="•"/>
            </a:pPr>
            <a:r>
              <a:rPr lang="en-IN" sz="1400" dirty="0">
                <a:latin typeface="Calibri" panose="020F0502020204030204" pitchFamily="34" charset="0"/>
                <a:cs typeface="Calibri" panose="020F0502020204030204" pitchFamily="34" charset="0"/>
              </a:rPr>
              <a:t>The Boltzmann distribution for a greater concentration is shown in figure. </a:t>
            </a:r>
          </a:p>
          <a:p>
            <a:pPr lvl="0">
              <a:buFont typeface="Arial" panose="020B0604020202020204" pitchFamily="34" charset="0"/>
              <a:buChar char="•"/>
            </a:pPr>
            <a:r>
              <a:rPr lang="en-IN" sz="1400" dirty="0">
                <a:latin typeface="Calibri" panose="020F0502020204030204" pitchFamily="34" charset="0"/>
                <a:cs typeface="Calibri" panose="020F0502020204030204" pitchFamily="34" charset="0"/>
              </a:rPr>
              <a:t>The graph of increased concentration has the same shape, </a:t>
            </a:r>
            <a:r>
              <a:rPr lang="en-US" sz="1400" dirty="0">
                <a:latin typeface="Calibri" panose="020F0502020204030204" pitchFamily="34" charset="0"/>
                <a:cs typeface="Calibri" panose="020F0502020204030204" pitchFamily="34" charset="0"/>
              </a:rPr>
              <a:t>and the peak is at the same energy level. The most probable energy or the mean energy does not change.</a:t>
            </a:r>
          </a:p>
          <a:p>
            <a:pPr lvl="0">
              <a:buFont typeface="Arial" panose="020B0604020202020204" pitchFamily="34" charset="0"/>
              <a:buChar char="•"/>
            </a:pPr>
            <a:r>
              <a:rPr lang="en-IN" sz="1400" dirty="0">
                <a:latin typeface="Calibri" panose="020F0502020204030204" pitchFamily="34" charset="0"/>
                <a:cs typeface="Calibri" panose="020F0502020204030204" pitchFamily="34" charset="0"/>
              </a:rPr>
              <a:t>It can be noted that the curve is higher now and more molecules have energy greater than the activation energy. </a:t>
            </a:r>
          </a:p>
          <a:p>
            <a:pPr lvl="0">
              <a:buFont typeface="Arial" panose="020B0604020202020204" pitchFamily="34" charset="0"/>
              <a:buChar char="•"/>
            </a:pPr>
            <a:r>
              <a:rPr lang="en-IN" sz="1400" dirty="0">
                <a:latin typeface="Calibri" panose="020F0502020204030204" pitchFamily="34" charset="0"/>
                <a:cs typeface="Calibri" panose="020F0502020204030204" pitchFamily="34" charset="0"/>
              </a:rPr>
              <a:t>Hence, with increase in concentration, more successful collisions take place and the rate of reaction increases.</a:t>
            </a:r>
          </a:p>
          <a:p>
            <a:pPr lvl="0">
              <a:buFont typeface="Arial" panose="020B0604020202020204" pitchFamily="34" charset="0"/>
              <a:buChar char="•"/>
            </a:pPr>
            <a:endParaRPr lang="en-IN" sz="1400" dirty="0">
              <a:latin typeface="Calibri" panose="020F0502020204030204" pitchFamily="34" charset="0"/>
              <a:cs typeface="Calibri" panose="020F0502020204030204" pitchFamily="34" charset="0"/>
            </a:endParaRPr>
          </a:p>
          <a:p>
            <a:pPr marL="285750" indent="-285750">
              <a:spcBef>
                <a:spcPts val="1600"/>
              </a:spcBef>
              <a:spcAft>
                <a:spcPts val="1600"/>
              </a:spcAft>
              <a:buFont typeface="Arial" panose="020B0604020202020204" pitchFamily="34" charset="0"/>
              <a:buChar char="•"/>
            </a:pPr>
            <a:endParaRPr dirty="0"/>
          </a:p>
        </p:txBody>
      </p:sp>
      <p:sp>
        <p:nvSpPr>
          <p:cNvPr id="126" name="Google Shape;126;p27"/>
          <p:cNvSpPr txBox="1"/>
          <p:nvPr/>
        </p:nvSpPr>
        <p:spPr>
          <a:xfrm>
            <a:off x="2727755" y="4558239"/>
            <a:ext cx="1844245"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Effect of concentration on Boltzmann distribution</a:t>
            </a:r>
            <a:endParaRPr sz="1100" dirty="0">
              <a:solidFill>
                <a:srgbClr val="666666"/>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446" y="1706580"/>
            <a:ext cx="3041904" cy="2712720"/>
          </a:xfrm>
          <a:prstGeom prst="rect">
            <a:avLst/>
          </a:prstGeom>
        </p:spPr>
      </p:pic>
    </p:spTree>
    <p:extLst>
      <p:ext uri="{BB962C8B-B14F-4D97-AF65-F5344CB8AC3E}">
        <p14:creationId xmlns:p14="http://schemas.microsoft.com/office/powerpoint/2010/main" val="1159234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mn-lt"/>
              </a:rPr>
              <a:t>Enzymes</a:t>
            </a:r>
          </a:p>
        </p:txBody>
      </p:sp>
      <p:sp>
        <p:nvSpPr>
          <p:cNvPr id="118" name="Google Shape;118;p26"/>
          <p:cNvSpPr txBox="1"/>
          <p:nvPr/>
        </p:nvSpPr>
        <p:spPr>
          <a:xfrm>
            <a:off x="268957" y="2089659"/>
            <a:ext cx="5647100" cy="2492100"/>
          </a:xfrm>
          <a:prstGeom prst="rect">
            <a:avLst/>
          </a:prstGeom>
          <a:noFill/>
          <a:ln>
            <a:noFill/>
          </a:ln>
        </p:spPr>
        <p:txBody>
          <a:bodyPr spcFirstLastPara="1" wrap="square" lIns="91425" tIns="91425" rIns="91425" bIns="91425" anchor="t" anchorCtr="0">
            <a:noAutofit/>
          </a:bodyPr>
          <a:lstStyle/>
          <a:p>
            <a:pPr marL="457200" lvl="0" indent="-342900">
              <a:buSzPts val="1800"/>
              <a:buFont typeface="Arial"/>
              <a:buChar char="●"/>
            </a:pPr>
            <a:r>
              <a:rPr lang="en-IN" dirty="0">
                <a:solidFill>
                  <a:srgbClr val="424242">
                    <a:lumMod val="50000"/>
                  </a:srgbClr>
                </a:solidFill>
                <a:latin typeface="Calibri" panose="020F0502020204030204" pitchFamily="34" charset="0"/>
                <a:cs typeface="Calibri" panose="020F0502020204030204" pitchFamily="34" charset="0"/>
              </a:rPr>
              <a:t>A substrate bonded to active site of an enzyme is shown in the figure. </a:t>
            </a:r>
          </a:p>
          <a:p>
            <a:pPr marL="457200" lvl="0" indent="-342900">
              <a:buSzPts val="1800"/>
              <a:buFont typeface="Arial"/>
              <a:buChar char="●"/>
            </a:pPr>
            <a:r>
              <a:rPr lang="en-IN" dirty="0">
                <a:solidFill>
                  <a:srgbClr val="424242">
                    <a:lumMod val="50000"/>
                  </a:srgbClr>
                </a:solidFill>
                <a:latin typeface="Calibri" panose="020F0502020204030204" pitchFamily="34" charset="0"/>
                <a:cs typeface="Calibri" panose="020F0502020204030204" pitchFamily="34" charset="0"/>
              </a:rPr>
              <a:t>The presence of hydrogen in both active site and substrate denotes that hydrogen bonding is possible. ‘+’ and ‘-’ represents the ionic interactions. </a:t>
            </a:r>
          </a:p>
          <a:p>
            <a:pPr marL="457200" lvl="0" indent="-342900">
              <a:buSzPts val="1800"/>
              <a:buFont typeface="Arial"/>
              <a:buChar char="●"/>
            </a:pPr>
            <a:r>
              <a:rPr lang="en-IN" dirty="0">
                <a:solidFill>
                  <a:srgbClr val="424242">
                    <a:lumMod val="50000"/>
                  </a:srgbClr>
                </a:solidFill>
                <a:latin typeface="Calibri" panose="020F0502020204030204" pitchFamily="34" charset="0"/>
                <a:cs typeface="Calibri" panose="020F0502020204030204" pitchFamily="34" charset="0"/>
              </a:rPr>
              <a:t>Van der </a:t>
            </a:r>
            <a:r>
              <a:rPr lang="en-IN" dirty="0" err="1">
                <a:solidFill>
                  <a:srgbClr val="424242">
                    <a:lumMod val="50000"/>
                  </a:srgbClr>
                </a:solidFill>
                <a:latin typeface="Calibri" panose="020F0502020204030204" pitchFamily="34" charset="0"/>
                <a:cs typeface="Calibri" panose="020F0502020204030204" pitchFamily="34" charset="0"/>
              </a:rPr>
              <a:t>waals</a:t>
            </a:r>
            <a:r>
              <a:rPr lang="en-IN" dirty="0">
                <a:solidFill>
                  <a:srgbClr val="424242">
                    <a:lumMod val="50000"/>
                  </a:srgbClr>
                </a:solidFill>
                <a:latin typeface="Calibri" panose="020F0502020204030204" pitchFamily="34" charset="0"/>
                <a:cs typeface="Calibri" panose="020F0502020204030204" pitchFamily="34" charset="0"/>
              </a:rPr>
              <a:t>’ forces are present between the substrate and R in active site. R groups are the side chain of amino acids.</a:t>
            </a:r>
          </a:p>
          <a:p>
            <a:pPr marL="457200" lvl="0" indent="-342900">
              <a:buSzPts val="1800"/>
              <a:buFont typeface="Arial"/>
              <a:buChar char="●"/>
            </a:pPr>
            <a:endParaRPr lang="en-IN" dirty="0">
              <a:solidFill>
                <a:srgbClr val="424242">
                  <a:lumMod val="50000"/>
                </a:srgbClr>
              </a:solidFill>
              <a:latin typeface="Calibri" panose="020F0502020204030204" pitchFamily="34" charset="0"/>
              <a:cs typeface="Calibri" panose="020F0502020204030204" pitchFamily="34" charset="0"/>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457200" marR="0" lvl="0" indent="-342900" algn="l" defTabSz="914400" rtl="0" eaLnBrk="1" fontAlgn="auto" latinLnBrk="0" hangingPunct="1">
              <a:lnSpc>
                <a:spcPct val="100000"/>
              </a:lnSpc>
              <a:spcBef>
                <a:spcPts val="0"/>
              </a:spcBef>
              <a:spcAft>
                <a:spcPts val="0"/>
              </a:spcAft>
              <a:buClr>
                <a:srgbClr val="000000"/>
              </a:buClr>
              <a:buSzPts val="1800"/>
              <a:buFont typeface="Arial"/>
              <a:buChar char="●"/>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100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2217" y="2089659"/>
            <a:ext cx="2688336" cy="1877568"/>
          </a:xfrm>
          <a:prstGeom prst="rect">
            <a:avLst/>
          </a:prstGeom>
        </p:spPr>
      </p:pic>
      <p:sp>
        <p:nvSpPr>
          <p:cNvPr id="4" name="Rectangle 3"/>
          <p:cNvSpPr/>
          <p:nvPr/>
        </p:nvSpPr>
        <p:spPr>
          <a:xfrm>
            <a:off x="5916057" y="3957365"/>
            <a:ext cx="3156376" cy="587853"/>
          </a:xfrm>
          <a:prstGeom prst="rect">
            <a:avLst/>
          </a:prstGeom>
        </p:spPr>
        <p:txBody>
          <a:bodyPr wrap="square">
            <a:spAutoFit/>
          </a:bodyPr>
          <a:lstStyle/>
          <a:p>
            <a:pPr algn="ctr">
              <a:lnSpc>
                <a:spcPct val="115000"/>
              </a:lnSpc>
              <a:spcAft>
                <a:spcPts val="1000"/>
              </a:spcAft>
            </a:pPr>
            <a:r>
              <a:rPr lang="en-IN"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Bonding between active site and substrate of an enzyme</a:t>
            </a:r>
          </a:p>
        </p:txBody>
      </p:sp>
    </p:spTree>
    <p:extLst>
      <p:ext uri="{BB962C8B-B14F-4D97-AF65-F5344CB8AC3E}">
        <p14:creationId xmlns:p14="http://schemas.microsoft.com/office/powerpoint/2010/main" val="24841107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mn-lt"/>
              </a:rPr>
              <a:t>Enzymes</a:t>
            </a:r>
          </a:p>
        </p:txBody>
      </p:sp>
      <p:sp>
        <p:nvSpPr>
          <p:cNvPr id="118" name="Google Shape;118;p26"/>
          <p:cNvSpPr txBox="1"/>
          <p:nvPr/>
        </p:nvSpPr>
        <p:spPr>
          <a:xfrm>
            <a:off x="268957" y="2089659"/>
            <a:ext cx="8456402" cy="2492100"/>
          </a:xfrm>
          <a:prstGeom prst="rect">
            <a:avLst/>
          </a:prstGeom>
          <a:noFill/>
          <a:ln>
            <a:noFill/>
          </a:ln>
        </p:spPr>
        <p:txBody>
          <a:bodyPr spcFirstLastPara="1" wrap="square" lIns="91425" tIns="91425" rIns="91425" bIns="91425" anchor="t" anchorCtr="0">
            <a:noAutofit/>
          </a:bodyPr>
          <a:lstStyle/>
          <a:p>
            <a:pPr marL="457200" lvl="0" indent="-342900">
              <a:buSzPts val="1800"/>
              <a:buFont typeface="Arial"/>
              <a:buChar char="●"/>
            </a:pPr>
            <a:r>
              <a:rPr lang="en-IN" dirty="0">
                <a:solidFill>
                  <a:srgbClr val="424242">
                    <a:lumMod val="50000"/>
                  </a:srgbClr>
                </a:solidFill>
                <a:latin typeface="Calibri" panose="020F0502020204030204" pitchFamily="34" charset="0"/>
                <a:cs typeface="Calibri" panose="020F0502020204030204" pitchFamily="34" charset="0"/>
              </a:rPr>
              <a:t>The enzyme and substrate form a complex and the reaction takes place and products are released from the active site. </a:t>
            </a:r>
          </a:p>
          <a:p>
            <a:pPr marL="114300" lvl="0">
              <a:buSzPts val="1800"/>
            </a:pPr>
            <a:endParaRPr lang="en-IN" dirty="0">
              <a:solidFill>
                <a:srgbClr val="424242">
                  <a:lumMod val="50000"/>
                </a:srgbClr>
              </a:solidFill>
              <a:latin typeface="Calibri" panose="020F0502020204030204" pitchFamily="34" charset="0"/>
              <a:cs typeface="Calibri" panose="020F0502020204030204" pitchFamily="34" charset="0"/>
            </a:endParaRPr>
          </a:p>
          <a:p>
            <a:pPr marL="457200" lvl="0" indent="-342900">
              <a:buSzPts val="1800"/>
              <a:buFont typeface="Arial"/>
              <a:buChar char="●"/>
            </a:pPr>
            <a:r>
              <a:rPr lang="en-IN" dirty="0">
                <a:solidFill>
                  <a:srgbClr val="424242">
                    <a:lumMod val="50000"/>
                  </a:srgbClr>
                </a:solidFill>
                <a:latin typeface="Calibri" panose="020F0502020204030204" pitchFamily="34" charset="0"/>
                <a:cs typeface="Calibri" panose="020F0502020204030204" pitchFamily="34" charset="0"/>
              </a:rPr>
              <a:t>In case of substrates with chirality, it is possible that the active site will bind with one type of enantiomer only. This type of active site is called as stereospecific active site. This is because the other enantiomer’s structure and shape are not favourable to form bonds with active </a:t>
            </a:r>
            <a:r>
              <a:rPr lang="en-IN">
                <a:solidFill>
                  <a:srgbClr val="424242">
                    <a:lumMod val="50000"/>
                  </a:srgbClr>
                </a:solidFill>
                <a:latin typeface="Calibri" panose="020F0502020204030204" pitchFamily="34" charset="0"/>
                <a:cs typeface="Calibri" panose="020F0502020204030204" pitchFamily="34" charset="0"/>
              </a:rPr>
              <a:t>site.</a:t>
            </a:r>
          </a:p>
          <a:p>
            <a:pPr marL="114300" lvl="0">
              <a:buSzPts val="1800"/>
            </a:pPr>
            <a:endParaRPr lang="en-IN" dirty="0">
              <a:solidFill>
                <a:srgbClr val="424242">
                  <a:lumMod val="50000"/>
                </a:srgbClr>
              </a:solidFill>
              <a:latin typeface="Calibri" panose="020F0502020204030204" pitchFamily="34" charset="0"/>
              <a:cs typeface="Calibri" panose="020F0502020204030204" pitchFamily="34" charset="0"/>
            </a:endParaRPr>
          </a:p>
          <a:p>
            <a:pPr marL="457200" lvl="0" indent="-342900">
              <a:buSzPts val="1800"/>
              <a:buFont typeface="Arial"/>
              <a:buChar char="●"/>
            </a:pPr>
            <a:r>
              <a:rPr lang="en-IN" dirty="0">
                <a:solidFill>
                  <a:srgbClr val="424242">
                    <a:lumMod val="50000"/>
                  </a:srgbClr>
                </a:solidFill>
                <a:latin typeface="Calibri" panose="020F0502020204030204" pitchFamily="34" charset="0"/>
                <a:cs typeface="Calibri" panose="020F0502020204030204" pitchFamily="34" charset="0"/>
              </a:rPr>
              <a:t>Enzymes can be inhibited by drugs. Some drugs designed using computers may bind with the active site of enzyme strongly. Thus, blocking the substrate to bind with enzyme. Some drugs attach to other places of enzymes but may change the shape of the enzyme. Again, the substrate is blocked.</a:t>
            </a:r>
          </a:p>
          <a:p>
            <a:pPr marL="457200" lvl="0" indent="-342900">
              <a:buSzPts val="1800"/>
              <a:buFont typeface="Arial"/>
              <a:buChar char="●"/>
            </a:pPr>
            <a:endParaRPr lang="en-IN" dirty="0">
              <a:solidFill>
                <a:srgbClr val="424242">
                  <a:lumMod val="50000"/>
                </a:srgbClr>
              </a:solidFill>
              <a:latin typeface="Calibri" panose="020F0502020204030204" pitchFamily="34" charset="0"/>
              <a:cs typeface="Calibri" panose="020F0502020204030204" pitchFamily="34" charset="0"/>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11430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457200" marR="0" lvl="0" indent="-342900" algn="l" defTabSz="914400" rtl="0" eaLnBrk="1" fontAlgn="auto" latinLnBrk="0" hangingPunct="1">
              <a:lnSpc>
                <a:spcPct val="100000"/>
              </a:lnSpc>
              <a:spcBef>
                <a:spcPts val="0"/>
              </a:spcBef>
              <a:spcAft>
                <a:spcPts val="0"/>
              </a:spcAft>
              <a:buClr>
                <a:srgbClr val="000000"/>
              </a:buClr>
              <a:buSzPts val="1800"/>
              <a:buFont typeface="Arial"/>
              <a:buChar char="●"/>
              <a:tabLst/>
              <a:defRPr/>
            </a:pPr>
            <a:endParaRPr kumimoji="0" lang="en-IN"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100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424242">
                  <a:lumMod val="50000"/>
                </a:srgbClr>
              </a:solidFill>
              <a:effectLst/>
              <a:uLnTx/>
              <a:uFillTx/>
              <a:latin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30415214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6" name="Rectangle 5"/>
          <p:cNvSpPr/>
          <p:nvPr/>
        </p:nvSpPr>
        <p:spPr>
          <a:xfrm>
            <a:off x="0" y="1755325"/>
            <a:ext cx="9144000" cy="3409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Catalysis</a:t>
            </a:r>
          </a:p>
        </p:txBody>
      </p:sp>
      <p:sp>
        <p:nvSpPr>
          <p:cNvPr id="118" name="Google Shape;118;p26"/>
          <p:cNvSpPr txBox="1"/>
          <p:nvPr/>
        </p:nvSpPr>
        <p:spPr>
          <a:xfrm>
            <a:off x="577680" y="1889142"/>
            <a:ext cx="7527742" cy="2492100"/>
          </a:xfrm>
          <a:prstGeom prst="rect">
            <a:avLst/>
          </a:prstGeom>
          <a:noFill/>
          <a:ln>
            <a:noFill/>
          </a:ln>
        </p:spPr>
        <p:txBody>
          <a:bodyPr spcFirstLastPara="1" wrap="square" lIns="91425" tIns="91425" rIns="91425" bIns="91425" anchor="t" anchorCtr="0">
            <a:noAutofit/>
          </a:bodyPr>
          <a:lstStyle/>
          <a:p>
            <a:pPr marL="457200" lvl="1" indent="-342900">
              <a:lnSpc>
                <a:spcPct val="113000"/>
              </a:lnSpc>
              <a:spcBef>
                <a:spcPts val="600"/>
              </a:spcBef>
              <a:buSzPts val="1800"/>
              <a:buFont typeface="Arial" panose="020B0604020202020204" pitchFamily="34" charset="0"/>
              <a:buChar char="•"/>
            </a:pPr>
            <a:r>
              <a:rPr lang="en-IN" sz="1600" dirty="0">
                <a:solidFill>
                  <a:srgbClr val="080808"/>
                </a:solidFill>
                <a:latin typeface="Calibri" panose="020F0502020204030204" pitchFamily="34" charset="0"/>
                <a:cs typeface="Calibri" panose="020F0502020204030204" pitchFamily="34" charset="0"/>
              </a:rPr>
              <a:t>Catalysts are chemicals that speed up the reaction by lowering the activation energy and remain unchanged at the end of the reaction. </a:t>
            </a:r>
          </a:p>
          <a:p>
            <a:pPr marL="457200" lvl="1" indent="-342900">
              <a:lnSpc>
                <a:spcPct val="113000"/>
              </a:lnSpc>
              <a:spcBef>
                <a:spcPts val="600"/>
              </a:spcBef>
              <a:buSzPts val="1800"/>
              <a:buFont typeface="Arial" panose="020B0604020202020204" pitchFamily="34" charset="0"/>
              <a:buChar char="•"/>
            </a:pPr>
            <a:r>
              <a:rPr lang="en-IN" sz="1600" b="1" dirty="0">
                <a:solidFill>
                  <a:schemeClr val="bg2">
                    <a:lumMod val="50000"/>
                  </a:schemeClr>
                </a:solidFill>
                <a:latin typeface="Calibri" panose="020F0502020204030204" pitchFamily="34" charset="0"/>
                <a:cs typeface="Calibri" panose="020F0502020204030204" pitchFamily="34" charset="0"/>
              </a:rPr>
              <a:t>Homogenous catalysts:</a:t>
            </a:r>
            <a:r>
              <a:rPr lang="en-IN" sz="1600" dirty="0">
                <a:solidFill>
                  <a:schemeClr val="bg2">
                    <a:lumMod val="50000"/>
                  </a:schemeClr>
                </a:solidFill>
                <a:latin typeface="Calibri" panose="020F0502020204030204" pitchFamily="34" charset="0"/>
                <a:cs typeface="Calibri" panose="020F0502020204030204" pitchFamily="34" charset="0"/>
              </a:rPr>
              <a:t> </a:t>
            </a:r>
          </a:p>
          <a:p>
            <a:pPr marL="457200" lvl="1" indent="-342900">
              <a:lnSpc>
                <a:spcPct val="113000"/>
              </a:lnSpc>
              <a:spcBef>
                <a:spcPts val="600"/>
              </a:spcBef>
              <a:buSzPts val="1800"/>
              <a:buFont typeface="Arial" panose="020B0604020202020204" pitchFamily="34" charset="0"/>
              <a:buChar char="•"/>
            </a:pPr>
            <a:r>
              <a:rPr lang="en-IN" sz="1600" dirty="0">
                <a:solidFill>
                  <a:schemeClr val="bg2">
                    <a:lumMod val="50000"/>
                  </a:schemeClr>
                </a:solidFill>
                <a:latin typeface="Calibri" panose="020F0502020204030204" pitchFamily="34" charset="0"/>
                <a:cs typeface="Calibri" panose="020F0502020204030204" pitchFamily="34" charset="0"/>
              </a:rPr>
              <a:t>Catalysts which are in same phase as that of reactants are called as homogenous catalysts. For example: The reaction between iodine and </a:t>
            </a:r>
            <a:r>
              <a:rPr lang="en-IN" sz="1600" dirty="0" err="1">
                <a:solidFill>
                  <a:schemeClr val="bg2">
                    <a:lumMod val="50000"/>
                  </a:schemeClr>
                </a:solidFill>
                <a:latin typeface="Calibri" panose="020F0502020204030204" pitchFamily="34" charset="0"/>
                <a:cs typeface="Calibri" panose="020F0502020204030204" pitchFamily="34" charset="0"/>
              </a:rPr>
              <a:t>peroxodisulfate</a:t>
            </a:r>
            <a:r>
              <a:rPr lang="en-IN" sz="1600" dirty="0">
                <a:solidFill>
                  <a:schemeClr val="bg2">
                    <a:lumMod val="50000"/>
                  </a:schemeClr>
                </a:solidFill>
                <a:latin typeface="Calibri" panose="020F0502020204030204" pitchFamily="34" charset="0"/>
                <a:cs typeface="Calibri" panose="020F0502020204030204" pitchFamily="34" charset="0"/>
              </a:rPr>
              <a:t>.</a:t>
            </a:r>
          </a:p>
          <a:p>
            <a:pPr marL="114300" lvl="1" algn="ctr">
              <a:lnSpc>
                <a:spcPct val="113000"/>
              </a:lnSpc>
              <a:spcBef>
                <a:spcPts val="600"/>
              </a:spcBef>
              <a:buSzPts val="1800"/>
            </a:pPr>
            <a:r>
              <a:rPr lang="en-IN" sz="1600" dirty="0">
                <a:solidFill>
                  <a:schemeClr val="bg2">
                    <a:lumMod val="50000"/>
                  </a:schemeClr>
                </a:solidFill>
                <a:latin typeface="Calibri" panose="020F0502020204030204" pitchFamily="34" charset="0"/>
                <a:cs typeface="Calibri" panose="020F0502020204030204" pitchFamily="34" charset="0"/>
              </a:rPr>
              <a:t>S</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O</a:t>
            </a:r>
            <a:r>
              <a:rPr lang="en-IN" sz="1600" baseline="-25000" dirty="0">
                <a:solidFill>
                  <a:schemeClr val="bg2">
                    <a:lumMod val="50000"/>
                  </a:schemeClr>
                </a:solidFill>
                <a:latin typeface="Calibri" panose="020F0502020204030204" pitchFamily="34" charset="0"/>
                <a:cs typeface="Calibri" panose="020F0502020204030204" pitchFamily="34" charset="0"/>
              </a:rPr>
              <a:t>8</a:t>
            </a:r>
            <a:r>
              <a:rPr lang="en-IN" sz="1600" baseline="30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 (</a:t>
            </a:r>
            <a:r>
              <a:rPr lang="en-IN" sz="1600" dirty="0" err="1">
                <a:solidFill>
                  <a:schemeClr val="bg2">
                    <a:lumMod val="50000"/>
                  </a:schemeClr>
                </a:solidFill>
                <a:latin typeface="Calibri" panose="020F0502020204030204" pitchFamily="34" charset="0"/>
                <a:cs typeface="Calibri" panose="020F0502020204030204" pitchFamily="34" charset="0"/>
              </a:rPr>
              <a:t>aq</a:t>
            </a:r>
            <a:r>
              <a:rPr lang="en-IN" sz="1600" dirty="0">
                <a:solidFill>
                  <a:schemeClr val="bg2">
                    <a:lumMod val="50000"/>
                  </a:schemeClr>
                </a:solidFill>
                <a:latin typeface="Calibri" panose="020F0502020204030204" pitchFamily="34" charset="0"/>
                <a:cs typeface="Calibri" panose="020F0502020204030204" pitchFamily="34" charset="0"/>
              </a:rPr>
              <a:t>) + 2I</a:t>
            </a:r>
            <a:r>
              <a:rPr lang="en-IN" sz="1600" baseline="30000" dirty="0">
                <a:solidFill>
                  <a:schemeClr val="bg2">
                    <a:lumMod val="50000"/>
                  </a:schemeClr>
                </a:solidFill>
                <a:latin typeface="Calibri" panose="020F0502020204030204" pitchFamily="34" charset="0"/>
                <a:cs typeface="Calibri" panose="020F0502020204030204" pitchFamily="34" charset="0"/>
              </a:rPr>
              <a:t>-</a:t>
            </a:r>
            <a:r>
              <a:rPr lang="en-IN" sz="1600" dirty="0">
                <a:solidFill>
                  <a:schemeClr val="bg2">
                    <a:lumMod val="50000"/>
                  </a:schemeClr>
                </a:solidFill>
                <a:latin typeface="Calibri" panose="020F0502020204030204" pitchFamily="34" charset="0"/>
                <a:cs typeface="Calibri" panose="020F0502020204030204" pitchFamily="34" charset="0"/>
              </a:rPr>
              <a:t> (</a:t>
            </a:r>
            <a:r>
              <a:rPr lang="en-IN" sz="1600" dirty="0" err="1">
                <a:solidFill>
                  <a:schemeClr val="bg2">
                    <a:lumMod val="50000"/>
                  </a:schemeClr>
                </a:solidFill>
                <a:latin typeface="Calibri" panose="020F0502020204030204" pitchFamily="34" charset="0"/>
                <a:cs typeface="Calibri" panose="020F0502020204030204" pitchFamily="34" charset="0"/>
              </a:rPr>
              <a:t>aq</a:t>
            </a:r>
            <a:r>
              <a:rPr lang="en-IN" sz="1600" dirty="0">
                <a:solidFill>
                  <a:schemeClr val="bg2">
                    <a:lumMod val="50000"/>
                  </a:schemeClr>
                </a:solidFill>
                <a:latin typeface="Calibri" panose="020F0502020204030204" pitchFamily="34" charset="0"/>
                <a:cs typeface="Calibri" panose="020F0502020204030204" pitchFamily="34" charset="0"/>
              </a:rPr>
              <a:t>) →2SO</a:t>
            </a:r>
            <a:r>
              <a:rPr lang="en-IN" sz="1600" baseline="-25000" dirty="0">
                <a:solidFill>
                  <a:schemeClr val="bg2">
                    <a:lumMod val="50000"/>
                  </a:schemeClr>
                </a:solidFill>
                <a:latin typeface="Calibri" panose="020F0502020204030204" pitchFamily="34" charset="0"/>
                <a:cs typeface="Calibri" panose="020F0502020204030204" pitchFamily="34" charset="0"/>
              </a:rPr>
              <a:t>4</a:t>
            </a:r>
            <a:r>
              <a:rPr lang="en-IN" sz="1600" baseline="30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 (</a:t>
            </a:r>
            <a:r>
              <a:rPr lang="en-IN" sz="1600" dirty="0" err="1">
                <a:solidFill>
                  <a:schemeClr val="bg2">
                    <a:lumMod val="50000"/>
                  </a:schemeClr>
                </a:solidFill>
                <a:latin typeface="Calibri" panose="020F0502020204030204" pitchFamily="34" charset="0"/>
                <a:cs typeface="Calibri" panose="020F0502020204030204" pitchFamily="34" charset="0"/>
              </a:rPr>
              <a:t>aq</a:t>
            </a:r>
            <a:r>
              <a:rPr lang="en-IN" sz="1600" dirty="0">
                <a:solidFill>
                  <a:schemeClr val="bg2">
                    <a:lumMod val="50000"/>
                  </a:schemeClr>
                </a:solidFill>
                <a:latin typeface="Calibri" panose="020F0502020204030204" pitchFamily="34" charset="0"/>
                <a:cs typeface="Calibri" panose="020F0502020204030204" pitchFamily="34" charset="0"/>
              </a:rPr>
              <a:t>) + I</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 (</a:t>
            </a:r>
            <a:r>
              <a:rPr lang="en-IN" sz="1600" dirty="0" err="1">
                <a:solidFill>
                  <a:schemeClr val="bg2">
                    <a:lumMod val="50000"/>
                  </a:schemeClr>
                </a:solidFill>
                <a:latin typeface="Calibri" panose="020F0502020204030204" pitchFamily="34" charset="0"/>
                <a:cs typeface="Calibri" panose="020F0502020204030204" pitchFamily="34" charset="0"/>
              </a:rPr>
              <a:t>aq</a:t>
            </a:r>
            <a:r>
              <a:rPr lang="en-IN" sz="1600" dirty="0">
                <a:solidFill>
                  <a:schemeClr val="bg2">
                    <a:lumMod val="50000"/>
                  </a:schemeClr>
                </a:solidFill>
                <a:latin typeface="Calibri" panose="020F0502020204030204" pitchFamily="34" charset="0"/>
                <a:cs typeface="Calibri" panose="020F0502020204030204" pitchFamily="34" charset="0"/>
              </a:rPr>
              <a:t>)</a:t>
            </a:r>
          </a:p>
          <a:p>
            <a:pPr marL="457200" lvl="1" indent="-342900">
              <a:lnSpc>
                <a:spcPct val="113000"/>
              </a:lnSpc>
              <a:spcBef>
                <a:spcPts val="600"/>
              </a:spcBef>
              <a:buSzPts val="1800"/>
              <a:buFont typeface="Arial" panose="020B0604020202020204" pitchFamily="34" charset="0"/>
              <a:buChar char="•"/>
            </a:pPr>
            <a:r>
              <a:rPr lang="en-IN" sz="1600" dirty="0">
                <a:solidFill>
                  <a:schemeClr val="bg2">
                    <a:lumMod val="50000"/>
                  </a:schemeClr>
                </a:solidFill>
                <a:latin typeface="Calibri" panose="020F0502020204030204" pitchFamily="34" charset="0"/>
                <a:cs typeface="Calibri" panose="020F0502020204030204" pitchFamily="34" charset="0"/>
              </a:rPr>
              <a:t>Both iodine and </a:t>
            </a:r>
            <a:r>
              <a:rPr lang="en-IN" sz="1600" dirty="0" err="1">
                <a:solidFill>
                  <a:schemeClr val="bg2">
                    <a:lumMod val="50000"/>
                  </a:schemeClr>
                </a:solidFill>
                <a:latin typeface="Calibri" panose="020F0502020204030204" pitchFamily="34" charset="0"/>
                <a:cs typeface="Calibri" panose="020F0502020204030204" pitchFamily="34" charset="0"/>
              </a:rPr>
              <a:t>peroxodisulfate</a:t>
            </a:r>
            <a:r>
              <a:rPr lang="en-IN" sz="1600" dirty="0">
                <a:solidFill>
                  <a:schemeClr val="bg2">
                    <a:lumMod val="50000"/>
                  </a:schemeClr>
                </a:solidFill>
                <a:latin typeface="Calibri" panose="020F0502020204030204" pitchFamily="34" charset="0"/>
                <a:cs typeface="Calibri" panose="020F0502020204030204" pitchFamily="34" charset="0"/>
              </a:rPr>
              <a:t> are negatively charged and in order to overcome the force of repulsion during collision these molecules need energy.  Fe</a:t>
            </a:r>
            <a:r>
              <a:rPr lang="en-IN" sz="1600" baseline="30000" dirty="0">
                <a:solidFill>
                  <a:schemeClr val="bg2">
                    <a:lumMod val="50000"/>
                  </a:schemeClr>
                </a:solidFill>
                <a:latin typeface="Calibri" panose="020F0502020204030204" pitchFamily="34" charset="0"/>
                <a:cs typeface="Calibri" panose="020F0502020204030204" pitchFamily="34" charset="0"/>
              </a:rPr>
              <a:t>3+ </a:t>
            </a:r>
            <a:r>
              <a:rPr lang="en-IN" sz="1600" dirty="0">
                <a:solidFill>
                  <a:schemeClr val="bg2">
                    <a:lumMod val="50000"/>
                  </a:schemeClr>
                </a:solidFill>
                <a:latin typeface="Calibri" panose="020F0502020204030204" pitchFamily="34" charset="0"/>
                <a:cs typeface="Calibri" panose="020F0502020204030204" pitchFamily="34" charset="0"/>
              </a:rPr>
              <a:t>catalyses the reaction between iodine and </a:t>
            </a:r>
            <a:r>
              <a:rPr lang="en-IN" sz="1600" dirty="0" err="1">
                <a:solidFill>
                  <a:schemeClr val="bg2">
                    <a:lumMod val="50000"/>
                  </a:schemeClr>
                </a:solidFill>
                <a:latin typeface="Calibri" panose="020F0502020204030204" pitchFamily="34" charset="0"/>
                <a:cs typeface="Calibri" panose="020F0502020204030204" pitchFamily="34" charset="0"/>
              </a:rPr>
              <a:t>peroxodisulfate</a:t>
            </a:r>
            <a:r>
              <a:rPr lang="en-IN" sz="1600" dirty="0">
                <a:solidFill>
                  <a:schemeClr val="bg2">
                    <a:lumMod val="50000"/>
                  </a:schemeClr>
                </a:solidFill>
                <a:latin typeface="Calibri" panose="020F0502020204030204" pitchFamily="34" charset="0"/>
                <a:cs typeface="Calibri" panose="020F0502020204030204" pitchFamily="34" charset="0"/>
              </a:rPr>
              <a:t>.</a:t>
            </a: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3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3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457200" indent="-342900">
              <a:lnSpc>
                <a:spcPct val="113000"/>
              </a:lnSpc>
              <a:spcBef>
                <a:spcPts val="600"/>
              </a:spcBef>
              <a:buSzPts val="1800"/>
              <a:buFont typeface="Arial"/>
              <a:buChar char="●"/>
            </a:pPr>
            <a:endParaRPr lang="en-IN" sz="1600" dirty="0">
              <a:solidFill>
                <a:srgbClr val="080808"/>
              </a:solidFill>
              <a:latin typeface="Calibri" panose="020F0502020204030204" pitchFamily="34" charset="0"/>
              <a:cs typeface="Calibri" panose="020F0502020204030204" pitchFamily="34" charset="0"/>
            </a:endParaRPr>
          </a:p>
          <a:p>
            <a:pPr marL="457200" indent="-342900">
              <a:lnSpc>
                <a:spcPct val="113000"/>
              </a:lnSpc>
              <a:spcBef>
                <a:spcPts val="600"/>
              </a:spcBef>
              <a:buSzPts val="1800"/>
              <a:buFont typeface="Arial"/>
              <a:buChar char="●"/>
            </a:pPr>
            <a:endParaRPr lang="en-IN" sz="1600" dirty="0">
              <a:solidFill>
                <a:srgbClr val="080808"/>
              </a:solidFill>
              <a:latin typeface="Calibri" panose="020F0502020204030204" pitchFamily="34" charset="0"/>
              <a:cs typeface="Calibri" panose="020F0502020204030204" pitchFamily="34" charset="0"/>
            </a:endParaRPr>
          </a:p>
          <a:p>
            <a:pPr marL="1116013" lvl="1" indent="-400050">
              <a:lnSpc>
                <a:spcPct val="113000"/>
              </a:lnSpc>
              <a:spcBef>
                <a:spcPts val="600"/>
              </a:spcBef>
              <a:buSzPts val="1800"/>
              <a:buFont typeface="+mj-lt"/>
              <a:buAutoNum type="romanLcPeriod" startAt="2"/>
            </a:pPr>
            <a:endParaRPr lang="en-IN" sz="1600" dirty="0">
              <a:solidFill>
                <a:srgbClr val="080808"/>
              </a:solidFill>
              <a:latin typeface="Calibri" panose="020F0502020204030204" pitchFamily="34" charset="0"/>
              <a:cs typeface="Calibri" panose="020F0502020204030204" pitchFamily="34" charset="0"/>
            </a:endParaRPr>
          </a:p>
          <a:p>
            <a:pPr marL="1116013" lvl="1" indent="-400050">
              <a:lnSpc>
                <a:spcPct val="113000"/>
              </a:lnSpc>
              <a:spcBef>
                <a:spcPts val="600"/>
              </a:spcBef>
              <a:buSzPts val="1800"/>
              <a:buFont typeface="+mj-lt"/>
              <a:buAutoNum type="romanLcPeriod" startAt="2"/>
            </a:pPr>
            <a:endParaRPr lang="en-IN" sz="1600" dirty="0">
              <a:solidFill>
                <a:srgbClr val="080808"/>
              </a:solidFill>
              <a:latin typeface="Calibri" panose="020F0502020204030204" pitchFamily="34" charset="0"/>
              <a:cs typeface="Calibri" panose="020F0502020204030204" pitchFamily="34" charset="0"/>
            </a:endParaRPr>
          </a:p>
          <a:p>
            <a:pPr marL="373063" lvl="1">
              <a:lnSpc>
                <a:spcPct val="113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373063" lvl="1">
              <a:lnSpc>
                <a:spcPct val="113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373063" lvl="1">
              <a:lnSpc>
                <a:spcPct val="113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715963" lvl="1" indent="-342900">
              <a:lnSpc>
                <a:spcPct val="113000"/>
              </a:lnSpc>
              <a:spcBef>
                <a:spcPts val="600"/>
              </a:spcBef>
              <a:buSzPts val="1800"/>
              <a:buFont typeface="+mj-lt"/>
              <a:buAutoNum type="alphaLcParenR" startAt="2"/>
            </a:pPr>
            <a:endParaRPr sz="1600" dirty="0">
              <a:solidFill>
                <a:srgbClr val="080808"/>
              </a:solidFill>
              <a:latin typeface="Calibri" panose="020F0502020204030204" pitchFamily="34" charset="0"/>
              <a:cs typeface="Calibri" panose="020F0502020204030204" pitchFamily="34" charset="0"/>
            </a:endParaRPr>
          </a:p>
          <a:p>
            <a:pPr marL="0" lvl="0" indent="0" algn="l" rtl="0">
              <a:spcBef>
                <a:spcPts val="600"/>
              </a:spcBef>
              <a:spcAft>
                <a:spcPts val="0"/>
              </a:spcAft>
              <a:buNone/>
            </a:pPr>
            <a:endParaRPr sz="1600" dirty="0">
              <a:solidFill>
                <a:srgbClr val="0808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332952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6" name="Rectangle 5"/>
          <p:cNvSpPr/>
          <p:nvPr/>
        </p:nvSpPr>
        <p:spPr>
          <a:xfrm>
            <a:off x="0" y="1755325"/>
            <a:ext cx="9144000" cy="3409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Catalysis</a:t>
            </a:r>
          </a:p>
        </p:txBody>
      </p:sp>
      <p:sp>
        <p:nvSpPr>
          <p:cNvPr id="118" name="Google Shape;118;p26"/>
          <p:cNvSpPr txBox="1"/>
          <p:nvPr/>
        </p:nvSpPr>
        <p:spPr>
          <a:xfrm>
            <a:off x="509947" y="2213995"/>
            <a:ext cx="7527742" cy="2492100"/>
          </a:xfrm>
          <a:prstGeom prst="rect">
            <a:avLst/>
          </a:prstGeom>
          <a:noFill/>
          <a:ln>
            <a:noFill/>
          </a:ln>
        </p:spPr>
        <p:txBody>
          <a:bodyPr spcFirstLastPara="1" wrap="square" lIns="91425" tIns="91425" rIns="91425" bIns="91425" anchor="t" anchorCtr="0">
            <a:noAutofit/>
          </a:bodyPr>
          <a:lstStyle/>
          <a:p>
            <a:pPr marL="457200" lvl="1" indent="-342900">
              <a:lnSpc>
                <a:spcPct val="113000"/>
              </a:lnSpc>
              <a:buSzPts val="1800"/>
              <a:buFont typeface="Arial" panose="020B0604020202020204" pitchFamily="34" charset="0"/>
              <a:buChar char="•"/>
            </a:pPr>
            <a:r>
              <a:rPr lang="en-IN" sz="1600" dirty="0">
                <a:solidFill>
                  <a:schemeClr val="bg2">
                    <a:lumMod val="50000"/>
                  </a:schemeClr>
                </a:solidFill>
                <a:latin typeface="Calibri" panose="020F0502020204030204" pitchFamily="34" charset="0"/>
                <a:cs typeface="Calibri" panose="020F0502020204030204" pitchFamily="34" charset="0"/>
              </a:rPr>
              <a:t> Fe</a:t>
            </a:r>
            <a:r>
              <a:rPr lang="en-IN" sz="1600" baseline="30000" dirty="0">
                <a:solidFill>
                  <a:schemeClr val="bg2">
                    <a:lumMod val="50000"/>
                  </a:schemeClr>
                </a:solidFill>
                <a:latin typeface="Calibri" panose="020F0502020204030204" pitchFamily="34" charset="0"/>
                <a:cs typeface="Calibri" panose="020F0502020204030204" pitchFamily="34" charset="0"/>
              </a:rPr>
              <a:t>3+</a:t>
            </a:r>
            <a:r>
              <a:rPr lang="en-IN" sz="1600" dirty="0">
                <a:solidFill>
                  <a:schemeClr val="bg2">
                    <a:lumMod val="50000"/>
                  </a:schemeClr>
                </a:solidFill>
                <a:latin typeface="Calibri" panose="020F0502020204030204" pitchFamily="34" charset="0"/>
                <a:cs typeface="Calibri" panose="020F0502020204030204" pitchFamily="34" charset="0"/>
              </a:rPr>
              <a:t> catalyses the reaction between iodine and </a:t>
            </a:r>
            <a:r>
              <a:rPr lang="en-IN" sz="1600" dirty="0" err="1">
                <a:solidFill>
                  <a:schemeClr val="bg2">
                    <a:lumMod val="50000"/>
                  </a:schemeClr>
                </a:solidFill>
                <a:latin typeface="Calibri" panose="020F0502020204030204" pitchFamily="34" charset="0"/>
                <a:cs typeface="Calibri" panose="020F0502020204030204" pitchFamily="34" charset="0"/>
              </a:rPr>
              <a:t>peroxodisulfate</a:t>
            </a:r>
            <a:r>
              <a:rPr lang="en-IN" sz="1600" dirty="0">
                <a:solidFill>
                  <a:schemeClr val="bg2">
                    <a:lumMod val="50000"/>
                  </a:schemeClr>
                </a:solidFill>
                <a:latin typeface="Calibri" panose="020F0502020204030204" pitchFamily="34" charset="0"/>
                <a:cs typeface="Calibri" panose="020F0502020204030204" pitchFamily="34" charset="0"/>
              </a:rPr>
              <a:t>. The redox reactions are:</a:t>
            </a:r>
          </a:p>
          <a:p>
            <a:pPr marL="0" lvl="0" indent="0" algn="ctr">
              <a:lnSpc>
                <a:spcPct val="113000"/>
              </a:lnSpc>
              <a:buNone/>
            </a:pPr>
            <a:r>
              <a:rPr lang="en-IN" sz="1600" dirty="0">
                <a:solidFill>
                  <a:schemeClr val="bg2">
                    <a:lumMod val="50000"/>
                  </a:schemeClr>
                </a:solidFill>
                <a:latin typeface="Calibri" panose="020F0502020204030204" pitchFamily="34" charset="0"/>
                <a:cs typeface="Calibri" panose="020F0502020204030204" pitchFamily="34" charset="0"/>
              </a:rPr>
              <a:t>2Fe</a:t>
            </a:r>
            <a:r>
              <a:rPr lang="en-IN" sz="1600" baseline="30000" dirty="0">
                <a:solidFill>
                  <a:schemeClr val="bg2">
                    <a:lumMod val="50000"/>
                  </a:schemeClr>
                </a:solidFill>
                <a:latin typeface="Calibri" panose="020F0502020204030204" pitchFamily="34" charset="0"/>
                <a:cs typeface="Calibri" panose="020F0502020204030204" pitchFamily="34" charset="0"/>
              </a:rPr>
              <a:t>3+ </a:t>
            </a:r>
            <a:r>
              <a:rPr lang="en-IN" sz="1600" dirty="0">
                <a:solidFill>
                  <a:schemeClr val="bg2">
                    <a:lumMod val="50000"/>
                  </a:schemeClr>
                </a:solidFill>
                <a:latin typeface="Calibri" panose="020F0502020204030204" pitchFamily="34" charset="0"/>
                <a:cs typeface="Calibri" panose="020F0502020204030204" pitchFamily="34" charset="0"/>
              </a:rPr>
              <a:t>+ 2I</a:t>
            </a:r>
            <a:r>
              <a:rPr lang="en-IN" sz="1600" baseline="30000" dirty="0">
                <a:solidFill>
                  <a:schemeClr val="bg2">
                    <a:lumMod val="50000"/>
                  </a:schemeClr>
                </a:solidFill>
                <a:latin typeface="Calibri" panose="020F0502020204030204" pitchFamily="34" charset="0"/>
                <a:cs typeface="Calibri" panose="020F0502020204030204" pitchFamily="34" charset="0"/>
              </a:rPr>
              <a:t>-</a:t>
            </a:r>
            <a:r>
              <a:rPr lang="en-IN" sz="1600" dirty="0">
                <a:solidFill>
                  <a:schemeClr val="bg2">
                    <a:lumMod val="50000"/>
                  </a:schemeClr>
                </a:solidFill>
                <a:latin typeface="Calibri" panose="020F0502020204030204" pitchFamily="34" charset="0"/>
                <a:cs typeface="Calibri" panose="020F0502020204030204" pitchFamily="34" charset="0"/>
              </a:rPr>
              <a:t> (</a:t>
            </a:r>
            <a:r>
              <a:rPr lang="en-IN" sz="1600" dirty="0" err="1">
                <a:solidFill>
                  <a:schemeClr val="bg2">
                    <a:lumMod val="50000"/>
                  </a:schemeClr>
                </a:solidFill>
                <a:latin typeface="Calibri" panose="020F0502020204030204" pitchFamily="34" charset="0"/>
                <a:cs typeface="Calibri" panose="020F0502020204030204" pitchFamily="34" charset="0"/>
              </a:rPr>
              <a:t>aq</a:t>
            </a:r>
            <a:r>
              <a:rPr lang="en-IN" sz="1600" dirty="0">
                <a:solidFill>
                  <a:schemeClr val="bg2">
                    <a:lumMod val="50000"/>
                  </a:schemeClr>
                </a:solidFill>
                <a:latin typeface="Calibri" panose="020F0502020204030204" pitchFamily="34" charset="0"/>
                <a:cs typeface="Calibri" panose="020F0502020204030204" pitchFamily="34" charset="0"/>
              </a:rPr>
              <a:t>) → 2Fe</a:t>
            </a:r>
            <a:r>
              <a:rPr lang="en-IN" sz="1600" baseline="30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a:t>
            </a:r>
            <a:r>
              <a:rPr lang="en-IN" sz="1600" dirty="0" err="1">
                <a:solidFill>
                  <a:schemeClr val="bg2">
                    <a:lumMod val="50000"/>
                  </a:schemeClr>
                </a:solidFill>
                <a:latin typeface="Calibri" panose="020F0502020204030204" pitchFamily="34" charset="0"/>
                <a:cs typeface="Calibri" panose="020F0502020204030204" pitchFamily="34" charset="0"/>
              </a:rPr>
              <a:t>aq</a:t>
            </a:r>
            <a:r>
              <a:rPr lang="en-IN" sz="1600" dirty="0">
                <a:solidFill>
                  <a:schemeClr val="bg2">
                    <a:lumMod val="50000"/>
                  </a:schemeClr>
                </a:solidFill>
                <a:latin typeface="Calibri" panose="020F0502020204030204" pitchFamily="34" charset="0"/>
                <a:cs typeface="Calibri" panose="020F0502020204030204" pitchFamily="34" charset="0"/>
              </a:rPr>
              <a:t>) + I</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a:t>
            </a:r>
            <a:r>
              <a:rPr lang="en-IN" sz="1600" dirty="0" err="1">
                <a:solidFill>
                  <a:schemeClr val="bg2">
                    <a:lumMod val="50000"/>
                  </a:schemeClr>
                </a:solidFill>
                <a:latin typeface="Calibri" panose="020F0502020204030204" pitchFamily="34" charset="0"/>
                <a:cs typeface="Calibri" panose="020F0502020204030204" pitchFamily="34" charset="0"/>
              </a:rPr>
              <a:t>aq</a:t>
            </a:r>
            <a:r>
              <a:rPr lang="en-IN" sz="1600" dirty="0">
                <a:solidFill>
                  <a:schemeClr val="bg2">
                    <a:lumMod val="50000"/>
                  </a:schemeClr>
                </a:solidFill>
                <a:latin typeface="Calibri" panose="020F0502020204030204" pitchFamily="34" charset="0"/>
                <a:cs typeface="Calibri" panose="020F0502020204030204" pitchFamily="34" charset="0"/>
              </a:rPr>
              <a:t>)</a:t>
            </a:r>
          </a:p>
          <a:p>
            <a:pPr algn="ctr">
              <a:lnSpc>
                <a:spcPct val="113000"/>
              </a:lnSpc>
            </a:pPr>
            <a:r>
              <a:rPr lang="en-IN" sz="1600" dirty="0">
                <a:solidFill>
                  <a:schemeClr val="bg2">
                    <a:lumMod val="50000"/>
                  </a:schemeClr>
                </a:solidFill>
                <a:latin typeface="Calibri" panose="020F0502020204030204" pitchFamily="34" charset="0"/>
                <a:cs typeface="Calibri" panose="020F0502020204030204" pitchFamily="34" charset="0"/>
              </a:rPr>
              <a:t>2Fe</a:t>
            </a:r>
            <a:r>
              <a:rPr lang="en-IN" sz="1600" baseline="30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a:t>
            </a:r>
            <a:r>
              <a:rPr lang="en-IN" sz="1600" dirty="0" err="1">
                <a:solidFill>
                  <a:schemeClr val="bg2">
                    <a:lumMod val="50000"/>
                  </a:schemeClr>
                </a:solidFill>
                <a:latin typeface="Calibri" panose="020F0502020204030204" pitchFamily="34" charset="0"/>
                <a:cs typeface="Calibri" panose="020F0502020204030204" pitchFamily="34" charset="0"/>
              </a:rPr>
              <a:t>aq</a:t>
            </a:r>
            <a:r>
              <a:rPr lang="en-IN" sz="1600" dirty="0">
                <a:solidFill>
                  <a:schemeClr val="bg2">
                    <a:lumMod val="50000"/>
                  </a:schemeClr>
                </a:solidFill>
                <a:latin typeface="Calibri" panose="020F0502020204030204" pitchFamily="34" charset="0"/>
                <a:cs typeface="Calibri" panose="020F0502020204030204" pitchFamily="34" charset="0"/>
              </a:rPr>
              <a:t>) + S</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O</a:t>
            </a:r>
            <a:r>
              <a:rPr lang="en-IN" sz="1600" baseline="-25000" dirty="0">
                <a:solidFill>
                  <a:schemeClr val="bg2">
                    <a:lumMod val="50000"/>
                  </a:schemeClr>
                </a:solidFill>
                <a:latin typeface="Calibri" panose="020F0502020204030204" pitchFamily="34" charset="0"/>
                <a:cs typeface="Calibri" panose="020F0502020204030204" pitchFamily="34" charset="0"/>
              </a:rPr>
              <a:t>8</a:t>
            </a:r>
            <a:r>
              <a:rPr lang="en-IN" sz="1600" baseline="30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 (</a:t>
            </a:r>
            <a:r>
              <a:rPr lang="en-IN" sz="1600" dirty="0" err="1">
                <a:solidFill>
                  <a:schemeClr val="bg2">
                    <a:lumMod val="50000"/>
                  </a:schemeClr>
                </a:solidFill>
                <a:latin typeface="Calibri" panose="020F0502020204030204" pitchFamily="34" charset="0"/>
                <a:cs typeface="Calibri" panose="020F0502020204030204" pitchFamily="34" charset="0"/>
              </a:rPr>
              <a:t>aq</a:t>
            </a:r>
            <a:r>
              <a:rPr lang="en-IN" sz="1600" dirty="0">
                <a:solidFill>
                  <a:schemeClr val="bg2">
                    <a:lumMod val="50000"/>
                  </a:schemeClr>
                </a:solidFill>
                <a:latin typeface="Calibri" panose="020F0502020204030204" pitchFamily="34" charset="0"/>
                <a:cs typeface="Calibri" panose="020F0502020204030204" pitchFamily="34" charset="0"/>
              </a:rPr>
              <a:t>) → 2Fe</a:t>
            </a:r>
            <a:r>
              <a:rPr lang="en-IN" sz="1600" baseline="30000" dirty="0">
                <a:solidFill>
                  <a:schemeClr val="bg2">
                    <a:lumMod val="50000"/>
                  </a:schemeClr>
                </a:solidFill>
                <a:latin typeface="Calibri" panose="020F0502020204030204" pitchFamily="34" charset="0"/>
                <a:cs typeface="Calibri" panose="020F0502020204030204" pitchFamily="34" charset="0"/>
              </a:rPr>
              <a:t>3+</a:t>
            </a:r>
            <a:r>
              <a:rPr lang="en-IN" sz="1600" dirty="0">
                <a:solidFill>
                  <a:schemeClr val="bg2">
                    <a:lumMod val="50000"/>
                  </a:schemeClr>
                </a:solidFill>
                <a:latin typeface="Calibri" panose="020F0502020204030204" pitchFamily="34" charset="0"/>
                <a:cs typeface="Calibri" panose="020F0502020204030204" pitchFamily="34" charset="0"/>
              </a:rPr>
              <a:t>(</a:t>
            </a:r>
            <a:r>
              <a:rPr lang="en-IN" sz="1600" dirty="0" err="1">
                <a:solidFill>
                  <a:schemeClr val="bg2">
                    <a:lumMod val="50000"/>
                  </a:schemeClr>
                </a:solidFill>
                <a:latin typeface="Calibri" panose="020F0502020204030204" pitchFamily="34" charset="0"/>
                <a:cs typeface="Calibri" panose="020F0502020204030204" pitchFamily="34" charset="0"/>
              </a:rPr>
              <a:t>aq</a:t>
            </a:r>
            <a:r>
              <a:rPr lang="en-IN" sz="1600" dirty="0">
                <a:solidFill>
                  <a:schemeClr val="bg2">
                    <a:lumMod val="50000"/>
                  </a:schemeClr>
                </a:solidFill>
                <a:latin typeface="Calibri" panose="020F0502020204030204" pitchFamily="34" charset="0"/>
                <a:cs typeface="Calibri" panose="020F0502020204030204" pitchFamily="34" charset="0"/>
              </a:rPr>
              <a:t>) + 2SO</a:t>
            </a:r>
            <a:r>
              <a:rPr lang="en-IN" sz="1600" baseline="-25000" dirty="0">
                <a:solidFill>
                  <a:schemeClr val="bg2">
                    <a:lumMod val="50000"/>
                  </a:schemeClr>
                </a:solidFill>
                <a:latin typeface="Calibri" panose="020F0502020204030204" pitchFamily="34" charset="0"/>
                <a:cs typeface="Calibri" panose="020F0502020204030204" pitchFamily="34" charset="0"/>
              </a:rPr>
              <a:t>4</a:t>
            </a:r>
            <a:r>
              <a:rPr lang="en-IN" sz="1600" baseline="30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 (</a:t>
            </a:r>
            <a:r>
              <a:rPr lang="en-IN" sz="1600" dirty="0" err="1">
                <a:solidFill>
                  <a:schemeClr val="bg2">
                    <a:lumMod val="50000"/>
                  </a:schemeClr>
                </a:solidFill>
                <a:latin typeface="Calibri" panose="020F0502020204030204" pitchFamily="34" charset="0"/>
                <a:cs typeface="Calibri" panose="020F0502020204030204" pitchFamily="34" charset="0"/>
              </a:rPr>
              <a:t>aq</a:t>
            </a:r>
            <a:r>
              <a:rPr lang="en-IN" sz="1600" dirty="0">
                <a:solidFill>
                  <a:schemeClr val="bg2">
                    <a:lumMod val="50000"/>
                  </a:schemeClr>
                </a:solidFill>
                <a:latin typeface="Calibri" panose="020F0502020204030204" pitchFamily="34" charset="0"/>
                <a:cs typeface="Calibri" panose="020F0502020204030204" pitchFamily="34" charset="0"/>
              </a:rPr>
              <a:t>) </a:t>
            </a:r>
          </a:p>
          <a:p>
            <a:pPr marL="285750" lvl="0" indent="-285750" algn="just">
              <a:lnSpc>
                <a:spcPct val="113000"/>
              </a:lnSpc>
              <a:buFont typeface="Arial" panose="020B0604020202020204" pitchFamily="34" charset="0"/>
              <a:buChar char="•"/>
            </a:pPr>
            <a:r>
              <a:rPr lang="en-IN" sz="1600" dirty="0">
                <a:latin typeface="Calibri" panose="020F0502020204030204" pitchFamily="34" charset="0"/>
                <a:cs typeface="Calibri" panose="020F0502020204030204" pitchFamily="34" charset="0"/>
                <a:sym typeface="Roboto Condensed"/>
              </a:rPr>
              <a:t>The </a:t>
            </a:r>
            <a:r>
              <a:rPr lang="en-IN" sz="1600" dirty="0" err="1">
                <a:latin typeface="Calibri" panose="020F0502020204030204" pitchFamily="34" charset="0"/>
                <a:cs typeface="Calibri" panose="020F0502020204030204" pitchFamily="34" charset="0"/>
                <a:sym typeface="Roboto Condensed"/>
              </a:rPr>
              <a:t>peroxodisulphate</a:t>
            </a:r>
            <a:r>
              <a:rPr lang="en-IN" sz="1600" dirty="0">
                <a:latin typeface="Calibri" panose="020F0502020204030204" pitchFamily="34" charset="0"/>
                <a:cs typeface="Calibri" panose="020F0502020204030204" pitchFamily="34" charset="0"/>
                <a:sym typeface="Roboto Condensed"/>
              </a:rPr>
              <a:t> ions oxidise Fe</a:t>
            </a:r>
            <a:r>
              <a:rPr lang="en-IN" sz="1600" baseline="30000" dirty="0">
                <a:latin typeface="Calibri" panose="020F0502020204030204" pitchFamily="34" charset="0"/>
                <a:cs typeface="Calibri" panose="020F0502020204030204" pitchFamily="34" charset="0"/>
                <a:sym typeface="Roboto Condensed"/>
              </a:rPr>
              <a:t>2+</a:t>
            </a:r>
            <a:r>
              <a:rPr lang="en-IN" sz="1600" dirty="0">
                <a:latin typeface="Calibri" panose="020F0502020204030204" pitchFamily="34" charset="0"/>
                <a:cs typeface="Calibri" panose="020F0502020204030204" pitchFamily="34" charset="0"/>
                <a:sym typeface="Roboto Condensed"/>
              </a:rPr>
              <a:t> ions to Fe</a:t>
            </a:r>
            <a:r>
              <a:rPr lang="en-IN" sz="1600" baseline="30000" dirty="0">
                <a:latin typeface="Calibri" panose="020F0502020204030204" pitchFamily="34" charset="0"/>
                <a:cs typeface="Calibri" panose="020F0502020204030204" pitchFamily="34" charset="0"/>
                <a:sym typeface="Roboto Condensed"/>
              </a:rPr>
              <a:t>3+</a:t>
            </a:r>
            <a:r>
              <a:rPr lang="en-IN" sz="1600" dirty="0">
                <a:latin typeface="Calibri" panose="020F0502020204030204" pitchFamily="34" charset="0"/>
                <a:cs typeface="Calibri" panose="020F0502020204030204" pitchFamily="34" charset="0"/>
                <a:sym typeface="Roboto Condensed"/>
              </a:rPr>
              <a:t> ions and in this process </a:t>
            </a:r>
            <a:r>
              <a:rPr lang="en-IN" sz="1600" dirty="0" err="1">
                <a:latin typeface="Calibri" panose="020F0502020204030204" pitchFamily="34" charset="0"/>
                <a:cs typeface="Calibri" panose="020F0502020204030204" pitchFamily="34" charset="0"/>
                <a:sym typeface="Roboto Condensed"/>
              </a:rPr>
              <a:t>peroxodisulphate</a:t>
            </a:r>
            <a:r>
              <a:rPr lang="en-IN" sz="1600" dirty="0">
                <a:latin typeface="Calibri" panose="020F0502020204030204" pitchFamily="34" charset="0"/>
                <a:cs typeface="Calibri" panose="020F0502020204030204" pitchFamily="34" charset="0"/>
                <a:sym typeface="Roboto Condensed"/>
              </a:rPr>
              <a:t> ions are reduced to sulphate ions. </a:t>
            </a:r>
          </a:p>
          <a:p>
            <a:pPr marL="285750" lvl="0" indent="-285750" algn="just">
              <a:lnSpc>
                <a:spcPct val="113000"/>
              </a:lnSpc>
              <a:buFont typeface="Arial" panose="020B0604020202020204" pitchFamily="34" charset="0"/>
              <a:buChar char="•"/>
            </a:pPr>
            <a:r>
              <a:rPr lang="en-IN" sz="1600" dirty="0">
                <a:latin typeface="Calibri" panose="020F0502020204030204" pitchFamily="34" charset="0"/>
                <a:cs typeface="Calibri" panose="020F0502020204030204" pitchFamily="34" charset="0"/>
                <a:sym typeface="Roboto Condensed"/>
              </a:rPr>
              <a:t>The Fe</a:t>
            </a:r>
            <a:r>
              <a:rPr lang="en-IN" sz="1600" baseline="30000" dirty="0">
                <a:latin typeface="Calibri" panose="020F0502020204030204" pitchFamily="34" charset="0"/>
                <a:cs typeface="Calibri" panose="020F0502020204030204" pitchFamily="34" charset="0"/>
                <a:sym typeface="Roboto Condensed"/>
              </a:rPr>
              <a:t>3+</a:t>
            </a:r>
            <a:r>
              <a:rPr lang="en-IN" sz="1600" dirty="0">
                <a:latin typeface="Calibri" panose="020F0502020204030204" pitchFamily="34" charset="0"/>
                <a:cs typeface="Calibri" panose="020F0502020204030204" pitchFamily="34" charset="0"/>
                <a:sym typeface="Roboto Condensed"/>
              </a:rPr>
              <a:t> ions are strong oxidising agents and oxidise iodine ions to iodine. In this reaction, Fe</a:t>
            </a:r>
            <a:r>
              <a:rPr lang="en-IN" sz="1600" baseline="30000" dirty="0">
                <a:latin typeface="Calibri" panose="020F0502020204030204" pitchFamily="34" charset="0"/>
                <a:cs typeface="Calibri" panose="020F0502020204030204" pitchFamily="34" charset="0"/>
                <a:sym typeface="Roboto Condensed"/>
              </a:rPr>
              <a:t>3+</a:t>
            </a:r>
            <a:r>
              <a:rPr lang="en-IN" sz="1600" dirty="0">
                <a:latin typeface="Calibri" panose="020F0502020204030204" pitchFamily="34" charset="0"/>
                <a:cs typeface="Calibri" panose="020F0502020204030204" pitchFamily="34" charset="0"/>
                <a:sym typeface="Roboto Condensed"/>
              </a:rPr>
              <a:t> ions are reduced back to Fe</a:t>
            </a:r>
            <a:r>
              <a:rPr lang="en-IN" sz="1600" baseline="30000" dirty="0">
                <a:latin typeface="Calibri" panose="020F0502020204030204" pitchFamily="34" charset="0"/>
                <a:cs typeface="Calibri" panose="020F0502020204030204" pitchFamily="34" charset="0"/>
                <a:sym typeface="Roboto Condensed"/>
              </a:rPr>
              <a:t>2+</a:t>
            </a:r>
            <a:r>
              <a:rPr lang="en-IN" sz="1600" dirty="0">
                <a:latin typeface="Calibri" panose="020F0502020204030204" pitchFamily="34" charset="0"/>
                <a:cs typeface="Calibri" panose="020F0502020204030204" pitchFamily="34" charset="0"/>
                <a:sym typeface="Roboto Condensed"/>
              </a:rPr>
              <a:t> ions. </a:t>
            </a:r>
          </a:p>
          <a:p>
            <a:pPr marL="285750" lvl="0" indent="-285750" algn="just">
              <a:lnSpc>
                <a:spcPct val="113000"/>
              </a:lnSpc>
              <a:buFont typeface="Arial" panose="020B0604020202020204" pitchFamily="34" charset="0"/>
              <a:buChar char="•"/>
            </a:pPr>
            <a:r>
              <a:rPr lang="en-IN" sz="1600" dirty="0">
                <a:solidFill>
                  <a:schemeClr val="bg2">
                    <a:lumMod val="50000"/>
                  </a:schemeClr>
                </a:solidFill>
                <a:latin typeface="Calibri" panose="020F0502020204030204" pitchFamily="34" charset="0"/>
                <a:cs typeface="Calibri" panose="020F0502020204030204" pitchFamily="34" charset="0"/>
              </a:rPr>
              <a:t>According to the above reactions, now the reactants are oppositely charged and require a much lower activation energy.</a:t>
            </a:r>
          </a:p>
          <a:p>
            <a:pPr marL="452438" lvl="1">
              <a:lnSpc>
                <a:spcPct val="113000"/>
              </a:lnSpc>
              <a:buSzPts val="1800"/>
            </a:pPr>
            <a:endParaRPr lang="en-IN" sz="1600" dirty="0">
              <a:solidFill>
                <a:srgbClr val="080808"/>
              </a:solidFill>
              <a:latin typeface="Calibri" panose="020F0502020204030204" pitchFamily="34" charset="0"/>
              <a:cs typeface="Calibri" panose="020F0502020204030204" pitchFamily="34" charset="0"/>
            </a:endParaRPr>
          </a:p>
          <a:p>
            <a:pPr marL="452438" lvl="1">
              <a:lnSpc>
                <a:spcPct val="113000"/>
              </a:lnSpc>
              <a:buSzPts val="1800"/>
            </a:pP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3000"/>
              </a:lnSpc>
              <a:buSzPts val="1800"/>
            </a:pP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3000"/>
              </a:lnSpc>
              <a:buSzPts val="1800"/>
            </a:pP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3000"/>
              </a:lnSpc>
              <a:buSzPts val="1800"/>
            </a:pPr>
            <a:endParaRPr lang="en-IN" sz="1600" dirty="0">
              <a:solidFill>
                <a:srgbClr val="080808"/>
              </a:solidFill>
              <a:latin typeface="Calibri" panose="020F0502020204030204" pitchFamily="34" charset="0"/>
              <a:cs typeface="Calibri" panose="020F0502020204030204" pitchFamily="34" charset="0"/>
            </a:endParaRPr>
          </a:p>
          <a:p>
            <a:pPr marL="457200" lvl="1" indent="-342900">
              <a:lnSpc>
                <a:spcPct val="113000"/>
              </a:lnSpc>
              <a:buSzPts val="1800"/>
              <a:buFont typeface="Arial"/>
              <a:buChar char="●"/>
            </a:pP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3000"/>
              </a:lnSpc>
              <a:buSzPts val="1800"/>
            </a:pP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3000"/>
              </a:lnSpc>
              <a:buSzPts val="1800"/>
            </a:pP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3000"/>
              </a:lnSpc>
              <a:buSzPts val="1800"/>
            </a:pPr>
            <a:endParaRPr lang="en-IN" sz="1600" dirty="0">
              <a:solidFill>
                <a:srgbClr val="080808"/>
              </a:solidFill>
              <a:latin typeface="Calibri" panose="020F0502020204030204" pitchFamily="34" charset="0"/>
              <a:cs typeface="Calibri" panose="020F0502020204030204" pitchFamily="34" charset="0"/>
            </a:endParaRPr>
          </a:p>
          <a:p>
            <a:pPr marL="457200" indent="-342900">
              <a:lnSpc>
                <a:spcPct val="113000"/>
              </a:lnSpc>
              <a:buSzPts val="1800"/>
              <a:buFont typeface="Arial"/>
              <a:buChar char="●"/>
            </a:pPr>
            <a:endParaRPr lang="en-IN" sz="1600" dirty="0">
              <a:solidFill>
                <a:srgbClr val="080808"/>
              </a:solidFill>
              <a:latin typeface="Calibri" panose="020F0502020204030204" pitchFamily="34" charset="0"/>
              <a:cs typeface="Calibri" panose="020F0502020204030204" pitchFamily="34" charset="0"/>
            </a:endParaRPr>
          </a:p>
          <a:p>
            <a:pPr marL="457200" indent="-342900">
              <a:lnSpc>
                <a:spcPct val="113000"/>
              </a:lnSpc>
              <a:buSzPts val="1800"/>
              <a:buFont typeface="Arial"/>
              <a:buChar char="●"/>
            </a:pPr>
            <a:endParaRPr lang="en-IN" sz="1600" dirty="0">
              <a:solidFill>
                <a:srgbClr val="080808"/>
              </a:solidFill>
              <a:latin typeface="Calibri" panose="020F0502020204030204" pitchFamily="34" charset="0"/>
              <a:cs typeface="Calibri" panose="020F0502020204030204" pitchFamily="34" charset="0"/>
            </a:endParaRPr>
          </a:p>
          <a:p>
            <a:pPr marL="1116013" lvl="1" indent="-400050">
              <a:lnSpc>
                <a:spcPct val="113000"/>
              </a:lnSpc>
              <a:buSzPts val="1800"/>
              <a:buFont typeface="+mj-lt"/>
              <a:buAutoNum type="romanLcPeriod" startAt="2"/>
            </a:pPr>
            <a:endParaRPr lang="en-IN" sz="1600" dirty="0">
              <a:solidFill>
                <a:srgbClr val="080808"/>
              </a:solidFill>
              <a:latin typeface="Calibri" panose="020F0502020204030204" pitchFamily="34" charset="0"/>
              <a:cs typeface="Calibri" panose="020F0502020204030204" pitchFamily="34" charset="0"/>
            </a:endParaRPr>
          </a:p>
          <a:p>
            <a:pPr marL="1116013" lvl="1" indent="-400050">
              <a:lnSpc>
                <a:spcPct val="113000"/>
              </a:lnSpc>
              <a:buSzPts val="1800"/>
              <a:buFont typeface="+mj-lt"/>
              <a:buAutoNum type="romanLcPeriod" startAt="2"/>
            </a:pPr>
            <a:endParaRPr lang="en-IN" sz="1600" dirty="0">
              <a:solidFill>
                <a:srgbClr val="080808"/>
              </a:solidFill>
              <a:latin typeface="Calibri" panose="020F0502020204030204" pitchFamily="34" charset="0"/>
              <a:cs typeface="Calibri" panose="020F0502020204030204" pitchFamily="34" charset="0"/>
            </a:endParaRPr>
          </a:p>
          <a:p>
            <a:pPr marL="373063" lvl="1">
              <a:lnSpc>
                <a:spcPct val="113000"/>
              </a:lnSpc>
              <a:buSzPts val="1800"/>
            </a:pPr>
            <a:endParaRPr lang="en-IN" sz="1600" dirty="0">
              <a:solidFill>
                <a:srgbClr val="080808"/>
              </a:solidFill>
              <a:latin typeface="Calibri" panose="020F0502020204030204" pitchFamily="34" charset="0"/>
              <a:cs typeface="Calibri" panose="020F0502020204030204" pitchFamily="34" charset="0"/>
            </a:endParaRPr>
          </a:p>
          <a:p>
            <a:pPr marL="373063" lvl="1">
              <a:lnSpc>
                <a:spcPct val="113000"/>
              </a:lnSpc>
              <a:buSzPts val="1800"/>
            </a:pPr>
            <a:endParaRPr lang="en-IN" sz="1600" dirty="0">
              <a:solidFill>
                <a:srgbClr val="080808"/>
              </a:solidFill>
              <a:latin typeface="Calibri" panose="020F0502020204030204" pitchFamily="34" charset="0"/>
              <a:cs typeface="Calibri" panose="020F0502020204030204" pitchFamily="34" charset="0"/>
            </a:endParaRPr>
          </a:p>
          <a:p>
            <a:pPr marL="373063" lvl="1">
              <a:lnSpc>
                <a:spcPct val="113000"/>
              </a:lnSpc>
              <a:buSzPts val="1800"/>
            </a:pPr>
            <a:endParaRPr lang="en-IN" sz="1600" dirty="0">
              <a:solidFill>
                <a:srgbClr val="080808"/>
              </a:solidFill>
              <a:latin typeface="Calibri" panose="020F0502020204030204" pitchFamily="34" charset="0"/>
              <a:cs typeface="Calibri" panose="020F0502020204030204" pitchFamily="34" charset="0"/>
            </a:endParaRPr>
          </a:p>
          <a:p>
            <a:pPr marL="715963" lvl="1" indent="-342900">
              <a:lnSpc>
                <a:spcPct val="113000"/>
              </a:lnSpc>
              <a:buSzPts val="1800"/>
              <a:buFont typeface="+mj-lt"/>
              <a:buAutoNum type="alphaLcParenR" startAt="2"/>
            </a:pPr>
            <a:endParaRPr sz="1600" dirty="0">
              <a:solidFill>
                <a:srgbClr val="080808"/>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sz="1600" dirty="0">
              <a:solidFill>
                <a:srgbClr val="0808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776084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6" name="Rectangle 5"/>
          <p:cNvSpPr/>
          <p:nvPr/>
        </p:nvSpPr>
        <p:spPr>
          <a:xfrm>
            <a:off x="0" y="1734060"/>
            <a:ext cx="9144000" cy="3409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Heterogeneous catalysts</a:t>
            </a:r>
          </a:p>
        </p:txBody>
      </p:sp>
      <mc:AlternateContent xmlns:mc="http://schemas.openxmlformats.org/markup-compatibility/2006" xmlns:a14="http://schemas.microsoft.com/office/drawing/2010/main">
        <mc:Choice Requires="a14">
          <p:sp>
            <p:nvSpPr>
              <p:cNvPr id="118" name="Google Shape;118;p26"/>
              <p:cNvSpPr txBox="1"/>
              <p:nvPr/>
            </p:nvSpPr>
            <p:spPr>
              <a:xfrm>
                <a:off x="510682" y="2192730"/>
                <a:ext cx="8324845" cy="2492100"/>
              </a:xfrm>
              <a:prstGeom prst="rect">
                <a:avLst/>
              </a:prstGeom>
              <a:noFill/>
              <a:ln>
                <a:noFill/>
              </a:ln>
            </p:spPr>
            <p:txBody>
              <a:bodyPr spcFirstLastPara="1" wrap="square" lIns="91425" tIns="91425" rIns="91425" bIns="91425" anchor="t" anchorCtr="0">
                <a:noAutofit/>
              </a:bodyPr>
              <a:lstStyle/>
              <a:p>
                <a:pPr marL="285750" lvl="0" indent="-285750" algn="just">
                  <a:lnSpc>
                    <a:spcPct val="114000"/>
                  </a:lnSpc>
                  <a:spcBef>
                    <a:spcPts val="600"/>
                  </a:spcBef>
                  <a:buFont typeface="Arial" panose="020B0604020202020204" pitchFamily="34" charset="0"/>
                  <a:buChar char="•"/>
                </a:pPr>
                <a:r>
                  <a:rPr lang="en-IN" sz="1600" dirty="0">
                    <a:solidFill>
                      <a:schemeClr val="bg2">
                        <a:lumMod val="50000"/>
                      </a:schemeClr>
                    </a:solidFill>
                    <a:latin typeface="Calibri" panose="020F0502020204030204" pitchFamily="34" charset="0"/>
                    <a:cs typeface="Calibri" panose="020F0502020204030204" pitchFamily="34" charset="0"/>
                  </a:rPr>
                  <a:t>Catalysts which are in different phase as that of reactants are called as heterogeneous catalysts. For example: the decomposition of hydrogen peroxide is catalysed by manganese (IV) oxide. </a:t>
                </a:r>
              </a:p>
              <a:p>
                <a:pPr marL="0" lvl="0" indent="0" algn="ctr">
                  <a:lnSpc>
                    <a:spcPct val="114000"/>
                  </a:lnSpc>
                  <a:spcBef>
                    <a:spcPts val="600"/>
                  </a:spcBef>
                  <a:buNone/>
                </a:pPr>
                <a:r>
                  <a:rPr lang="en-IN" sz="1600" dirty="0">
                    <a:solidFill>
                      <a:schemeClr val="bg2">
                        <a:lumMod val="50000"/>
                      </a:schemeClr>
                    </a:solidFill>
                    <a:latin typeface="Calibri" panose="020F0502020204030204" pitchFamily="34" charset="0"/>
                    <a:cs typeface="Calibri" panose="020F0502020204030204" pitchFamily="34" charset="0"/>
                  </a:rPr>
                  <a:t>2</a:t>
                </a:r>
                <a14:m>
                  <m:oMath xmlns:m="http://schemas.openxmlformats.org/officeDocument/2006/math">
                    <m:r>
                      <a:rPr lang="en-IN" sz="1600">
                        <a:solidFill>
                          <a:schemeClr val="bg2">
                            <a:lumMod val="50000"/>
                          </a:schemeClr>
                        </a:solidFill>
                        <a:latin typeface="Cambria Math" panose="02040503050406030204" pitchFamily="18" charset="0"/>
                        <a:cs typeface="Calibri" panose="020F0502020204030204" pitchFamily="34" charset="0"/>
                      </a:rPr>
                      <m:t>𝐻</m:t>
                    </m:r>
                    <m:r>
                      <a:rPr lang="en-IN" sz="1600" baseline="-25000">
                        <a:solidFill>
                          <a:schemeClr val="bg2">
                            <a:lumMod val="50000"/>
                          </a:schemeClr>
                        </a:solidFill>
                        <a:latin typeface="Cambria Math" panose="02040503050406030204" pitchFamily="18" charset="0"/>
                        <a:cs typeface="Calibri" panose="020F0502020204030204" pitchFamily="34" charset="0"/>
                      </a:rPr>
                      <m:t>2</m:t>
                    </m:r>
                    <m:r>
                      <a:rPr lang="en-IN" sz="1600">
                        <a:solidFill>
                          <a:schemeClr val="bg2">
                            <a:lumMod val="50000"/>
                          </a:schemeClr>
                        </a:solidFill>
                        <a:latin typeface="Cambria Math" panose="02040503050406030204" pitchFamily="18" charset="0"/>
                        <a:cs typeface="Calibri" panose="020F0502020204030204" pitchFamily="34" charset="0"/>
                      </a:rPr>
                      <m:t>𝑂</m:t>
                    </m:r>
                    <m:r>
                      <a:rPr lang="en-IN" sz="1600" baseline="-25000">
                        <a:solidFill>
                          <a:schemeClr val="bg2">
                            <a:lumMod val="50000"/>
                          </a:schemeClr>
                        </a:solidFill>
                        <a:latin typeface="Cambria Math" panose="02040503050406030204" pitchFamily="18" charset="0"/>
                        <a:cs typeface="Calibri" panose="020F0502020204030204" pitchFamily="34" charset="0"/>
                      </a:rPr>
                      <m:t>2</m:t>
                    </m:r>
                    <m:r>
                      <a:rPr lang="en-IN" sz="1600">
                        <a:solidFill>
                          <a:schemeClr val="bg2">
                            <a:lumMod val="50000"/>
                          </a:schemeClr>
                        </a:solidFill>
                        <a:latin typeface="Cambria Math" panose="02040503050406030204" pitchFamily="18" charset="0"/>
                        <a:cs typeface="Calibri" panose="020F0502020204030204" pitchFamily="34" charset="0"/>
                      </a:rPr>
                      <m:t>(</m:t>
                    </m:r>
                    <m:r>
                      <a:rPr lang="en-IN" sz="1600">
                        <a:solidFill>
                          <a:schemeClr val="bg2">
                            <a:lumMod val="50000"/>
                          </a:schemeClr>
                        </a:solidFill>
                        <a:latin typeface="Cambria Math" panose="02040503050406030204" pitchFamily="18" charset="0"/>
                        <a:cs typeface="Calibri" panose="020F0502020204030204" pitchFamily="34" charset="0"/>
                      </a:rPr>
                      <m:t>𝑎𝑞</m:t>
                    </m:r>
                    <m:r>
                      <a:rPr lang="en-IN" sz="1600">
                        <a:solidFill>
                          <a:schemeClr val="bg2">
                            <a:lumMod val="50000"/>
                          </a:schemeClr>
                        </a:solidFill>
                        <a:latin typeface="Cambria Math" panose="02040503050406030204" pitchFamily="18" charset="0"/>
                        <a:cs typeface="Calibri" panose="020F0502020204030204" pitchFamily="34" charset="0"/>
                      </a:rPr>
                      <m:t>)</m:t>
                    </m:r>
                    <m:groupChr>
                      <m:groupChrPr>
                        <m:chr m:val="→"/>
                        <m:vertJc m:val="bot"/>
                        <m:ctrlPr>
                          <a:rPr lang="en-IN" sz="1600" i="1">
                            <a:solidFill>
                              <a:schemeClr val="bg2">
                                <a:lumMod val="50000"/>
                              </a:schemeClr>
                            </a:solidFill>
                            <a:latin typeface="Cambria Math" panose="02040503050406030204" pitchFamily="18" charset="0"/>
                            <a:cs typeface="Calibri" panose="020F0502020204030204" pitchFamily="34" charset="0"/>
                          </a:rPr>
                        </m:ctrlPr>
                      </m:groupChrPr>
                      <m:e>
                        <m:r>
                          <m:rPr>
                            <m:brk m:alnAt="2"/>
                          </m:rPr>
                          <a:rPr lang="en-IN" sz="1600">
                            <a:solidFill>
                              <a:schemeClr val="bg2">
                                <a:lumMod val="50000"/>
                              </a:schemeClr>
                            </a:solidFill>
                            <a:latin typeface="Cambria Math" panose="02040503050406030204" pitchFamily="18" charset="0"/>
                            <a:cs typeface="Calibri" panose="020F0502020204030204" pitchFamily="34" charset="0"/>
                          </a:rPr>
                          <m:t>𝑀</m:t>
                        </m:r>
                        <m:r>
                          <a:rPr lang="en-IN" sz="1600">
                            <a:solidFill>
                              <a:schemeClr val="bg2">
                                <a:lumMod val="50000"/>
                              </a:schemeClr>
                            </a:solidFill>
                            <a:latin typeface="Cambria Math" panose="02040503050406030204" pitchFamily="18" charset="0"/>
                            <a:cs typeface="Calibri" panose="020F0502020204030204" pitchFamily="34" charset="0"/>
                          </a:rPr>
                          <m:t>𝑛𝑂</m:t>
                        </m:r>
                        <m:r>
                          <a:rPr lang="en-IN" sz="1600" baseline="-25000">
                            <a:solidFill>
                              <a:schemeClr val="bg2">
                                <a:lumMod val="50000"/>
                              </a:schemeClr>
                            </a:solidFill>
                            <a:latin typeface="Cambria Math" panose="02040503050406030204" pitchFamily="18" charset="0"/>
                            <a:cs typeface="Calibri" panose="020F0502020204030204" pitchFamily="34" charset="0"/>
                          </a:rPr>
                          <m:t>2</m:t>
                        </m:r>
                        <m:r>
                          <a:rPr lang="en-IN" sz="1600">
                            <a:solidFill>
                              <a:schemeClr val="bg2">
                                <a:lumMod val="50000"/>
                              </a:schemeClr>
                            </a:solidFill>
                            <a:latin typeface="Cambria Math" panose="02040503050406030204" pitchFamily="18" charset="0"/>
                            <a:cs typeface="Calibri" panose="020F0502020204030204" pitchFamily="34" charset="0"/>
                          </a:rPr>
                          <m:t> (</m:t>
                        </m:r>
                        <m:r>
                          <a:rPr lang="en-IN" sz="1600">
                            <a:solidFill>
                              <a:schemeClr val="bg2">
                                <a:lumMod val="50000"/>
                              </a:schemeClr>
                            </a:solidFill>
                            <a:latin typeface="Cambria Math" panose="02040503050406030204" pitchFamily="18" charset="0"/>
                            <a:cs typeface="Calibri" panose="020F0502020204030204" pitchFamily="34" charset="0"/>
                          </a:rPr>
                          <m:t>𝑠</m:t>
                        </m:r>
                        <m:r>
                          <a:rPr lang="en-IN" sz="1600">
                            <a:solidFill>
                              <a:schemeClr val="bg2">
                                <a:lumMod val="50000"/>
                              </a:schemeClr>
                            </a:solidFill>
                            <a:latin typeface="Cambria Math" panose="02040503050406030204" pitchFamily="18" charset="0"/>
                            <a:cs typeface="Calibri" panose="020F0502020204030204" pitchFamily="34" charset="0"/>
                          </a:rPr>
                          <m:t>)</m:t>
                        </m:r>
                      </m:e>
                    </m:groupChr>
                    <m:r>
                      <a:rPr lang="en-IN" sz="1600">
                        <a:solidFill>
                          <a:schemeClr val="bg2">
                            <a:lumMod val="50000"/>
                          </a:schemeClr>
                        </a:solidFill>
                        <a:latin typeface="Cambria Math" panose="02040503050406030204" pitchFamily="18" charset="0"/>
                        <a:cs typeface="Calibri" panose="020F0502020204030204" pitchFamily="34" charset="0"/>
                      </a:rPr>
                      <m:t> 2</m:t>
                    </m:r>
                    <m:r>
                      <a:rPr lang="en-IN" sz="1600">
                        <a:solidFill>
                          <a:schemeClr val="bg2">
                            <a:lumMod val="50000"/>
                          </a:schemeClr>
                        </a:solidFill>
                        <a:latin typeface="Cambria Math" panose="02040503050406030204" pitchFamily="18" charset="0"/>
                        <a:cs typeface="Calibri" panose="020F0502020204030204" pitchFamily="34" charset="0"/>
                      </a:rPr>
                      <m:t>𝐻</m:t>
                    </m:r>
                    <m:r>
                      <a:rPr lang="en-IN" sz="1600" baseline="-25000">
                        <a:solidFill>
                          <a:schemeClr val="bg2">
                            <a:lumMod val="50000"/>
                          </a:schemeClr>
                        </a:solidFill>
                        <a:latin typeface="Cambria Math" panose="02040503050406030204" pitchFamily="18" charset="0"/>
                        <a:cs typeface="Calibri" panose="020F0502020204030204" pitchFamily="34" charset="0"/>
                      </a:rPr>
                      <m:t>2</m:t>
                    </m:r>
                    <m:r>
                      <a:rPr lang="en-IN" sz="1600">
                        <a:solidFill>
                          <a:schemeClr val="bg2">
                            <a:lumMod val="50000"/>
                          </a:schemeClr>
                        </a:solidFill>
                        <a:latin typeface="Cambria Math" panose="02040503050406030204" pitchFamily="18" charset="0"/>
                        <a:cs typeface="Calibri" panose="020F0502020204030204" pitchFamily="34" charset="0"/>
                      </a:rPr>
                      <m:t>𝑂</m:t>
                    </m:r>
                    <m:r>
                      <a:rPr lang="en-IN" sz="1600">
                        <a:solidFill>
                          <a:schemeClr val="bg2">
                            <a:lumMod val="50000"/>
                          </a:schemeClr>
                        </a:solidFill>
                        <a:latin typeface="Cambria Math" panose="02040503050406030204" pitchFamily="18" charset="0"/>
                        <a:cs typeface="Calibri" panose="020F0502020204030204" pitchFamily="34" charset="0"/>
                      </a:rPr>
                      <m:t> </m:t>
                    </m:r>
                    <m:d>
                      <m:dPr>
                        <m:ctrlPr>
                          <a:rPr lang="en-IN" sz="1600" i="1">
                            <a:solidFill>
                              <a:schemeClr val="bg2">
                                <a:lumMod val="50000"/>
                              </a:schemeClr>
                            </a:solidFill>
                            <a:latin typeface="Cambria Math" panose="02040503050406030204" pitchFamily="18" charset="0"/>
                            <a:cs typeface="Calibri" panose="020F0502020204030204" pitchFamily="34" charset="0"/>
                          </a:rPr>
                        </m:ctrlPr>
                      </m:dPr>
                      <m:e>
                        <m:r>
                          <a:rPr lang="en-IN" sz="1600">
                            <a:solidFill>
                              <a:schemeClr val="bg2">
                                <a:lumMod val="50000"/>
                              </a:schemeClr>
                            </a:solidFill>
                            <a:latin typeface="Cambria Math" panose="02040503050406030204" pitchFamily="18" charset="0"/>
                            <a:cs typeface="Calibri" panose="020F0502020204030204" pitchFamily="34" charset="0"/>
                          </a:rPr>
                          <m:t>𝑙</m:t>
                        </m:r>
                      </m:e>
                    </m:d>
                    <m:r>
                      <a:rPr lang="en-IN" sz="1600">
                        <a:solidFill>
                          <a:schemeClr val="bg2">
                            <a:lumMod val="50000"/>
                          </a:schemeClr>
                        </a:solidFill>
                        <a:latin typeface="Cambria Math" panose="02040503050406030204" pitchFamily="18" charset="0"/>
                        <a:cs typeface="Calibri" panose="020F0502020204030204" pitchFamily="34" charset="0"/>
                      </a:rPr>
                      <m:t>+</m:t>
                    </m:r>
                    <m:r>
                      <a:rPr lang="en-IN" sz="1600">
                        <a:solidFill>
                          <a:schemeClr val="bg2">
                            <a:lumMod val="50000"/>
                          </a:schemeClr>
                        </a:solidFill>
                        <a:latin typeface="Cambria Math" panose="02040503050406030204" pitchFamily="18" charset="0"/>
                        <a:cs typeface="Calibri" panose="020F0502020204030204" pitchFamily="34" charset="0"/>
                      </a:rPr>
                      <m:t>𝑂</m:t>
                    </m:r>
                    <m:r>
                      <a:rPr lang="en-IN" sz="1600" baseline="-25000">
                        <a:solidFill>
                          <a:schemeClr val="bg2">
                            <a:lumMod val="50000"/>
                          </a:schemeClr>
                        </a:solidFill>
                        <a:latin typeface="Cambria Math" panose="02040503050406030204" pitchFamily="18" charset="0"/>
                        <a:cs typeface="Calibri" panose="020F0502020204030204" pitchFamily="34" charset="0"/>
                      </a:rPr>
                      <m:t>2</m:t>
                    </m:r>
                    <m:r>
                      <a:rPr lang="en-IN" sz="1600">
                        <a:solidFill>
                          <a:schemeClr val="bg2">
                            <a:lumMod val="50000"/>
                          </a:schemeClr>
                        </a:solidFill>
                        <a:latin typeface="Cambria Math" panose="02040503050406030204" pitchFamily="18" charset="0"/>
                        <a:cs typeface="Calibri" panose="020F0502020204030204" pitchFamily="34" charset="0"/>
                      </a:rPr>
                      <m:t> (</m:t>
                    </m:r>
                    <m:r>
                      <a:rPr lang="en-IN" sz="1600">
                        <a:solidFill>
                          <a:schemeClr val="bg2">
                            <a:lumMod val="50000"/>
                          </a:schemeClr>
                        </a:solidFill>
                        <a:latin typeface="Cambria Math" panose="02040503050406030204" pitchFamily="18" charset="0"/>
                        <a:cs typeface="Calibri" panose="020F0502020204030204" pitchFamily="34" charset="0"/>
                      </a:rPr>
                      <m:t>𝑔</m:t>
                    </m:r>
                    <m:r>
                      <a:rPr lang="en-IN" sz="1600">
                        <a:solidFill>
                          <a:schemeClr val="bg2">
                            <a:lumMod val="50000"/>
                          </a:schemeClr>
                        </a:solidFill>
                        <a:latin typeface="Cambria Math" panose="02040503050406030204" pitchFamily="18" charset="0"/>
                        <a:cs typeface="Calibri" panose="020F0502020204030204" pitchFamily="34" charset="0"/>
                      </a:rPr>
                      <m:t>)</m:t>
                    </m:r>
                  </m:oMath>
                </a14:m>
                <a:endParaRPr lang="en-IN" sz="1600" dirty="0">
                  <a:solidFill>
                    <a:schemeClr val="bg2">
                      <a:lumMod val="50000"/>
                    </a:schemeClr>
                  </a:solidFill>
                  <a:latin typeface="Calibri" panose="020F0502020204030204" pitchFamily="34" charset="0"/>
                  <a:cs typeface="Calibri" panose="020F0502020204030204" pitchFamily="34" charset="0"/>
                </a:endParaRPr>
              </a:p>
              <a:p>
                <a:pPr marL="285750" lvl="0" indent="-285750" algn="just">
                  <a:lnSpc>
                    <a:spcPct val="114000"/>
                  </a:lnSpc>
                  <a:spcBef>
                    <a:spcPts val="600"/>
                  </a:spcBef>
                  <a:buFont typeface="Arial" panose="020B0604020202020204" pitchFamily="34" charset="0"/>
                  <a:buChar char="•"/>
                </a:pPr>
                <a:r>
                  <a:rPr lang="en-IN" sz="1600" dirty="0">
                    <a:solidFill>
                      <a:schemeClr val="bg2">
                        <a:lumMod val="50000"/>
                      </a:schemeClr>
                    </a:solidFill>
                    <a:latin typeface="Calibri" panose="020F0502020204030204" pitchFamily="34" charset="0"/>
                    <a:cs typeface="Calibri" panose="020F0502020204030204" pitchFamily="34" charset="0"/>
                  </a:rPr>
                  <a:t>The solid catalyst adsorb the reactant molecules at active sites. As a result, the bond in the reactants are weakened. Due to higher concentration of reactants in surface, the chances of collision also increases. </a:t>
                </a:r>
              </a:p>
              <a:p>
                <a:pPr marL="114300"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457200" indent="-342900">
                  <a:lnSpc>
                    <a:spcPct val="114000"/>
                  </a:lnSpc>
                  <a:spcBef>
                    <a:spcPts val="600"/>
                  </a:spcBef>
                  <a:buSzPts val="1800"/>
                  <a:buFont typeface="Arial"/>
                  <a:buChar char="●"/>
                </a:pPr>
                <a:endParaRPr lang="en-IN" sz="1600" dirty="0">
                  <a:solidFill>
                    <a:srgbClr val="080808"/>
                  </a:solidFill>
                  <a:latin typeface="Calibri" panose="020F0502020204030204" pitchFamily="34" charset="0"/>
                  <a:cs typeface="Calibri" panose="020F0502020204030204" pitchFamily="34" charset="0"/>
                </a:endParaRPr>
              </a:p>
              <a:p>
                <a:pPr marL="457200" indent="-342900">
                  <a:lnSpc>
                    <a:spcPct val="114000"/>
                  </a:lnSpc>
                  <a:spcBef>
                    <a:spcPts val="600"/>
                  </a:spcBef>
                  <a:buSzPts val="1800"/>
                  <a:buFont typeface="Arial"/>
                  <a:buChar char="●"/>
                </a:pPr>
                <a:endParaRPr lang="en-IN" sz="1600" dirty="0">
                  <a:solidFill>
                    <a:srgbClr val="080808"/>
                  </a:solidFill>
                  <a:latin typeface="Calibri" panose="020F0502020204030204" pitchFamily="34" charset="0"/>
                  <a:cs typeface="Calibri" panose="020F0502020204030204" pitchFamily="34" charset="0"/>
                </a:endParaRPr>
              </a:p>
              <a:p>
                <a:pPr marL="1116013" lvl="1" indent="-400050">
                  <a:lnSpc>
                    <a:spcPct val="114000"/>
                  </a:lnSpc>
                  <a:spcBef>
                    <a:spcPts val="600"/>
                  </a:spcBef>
                  <a:buSzPts val="1800"/>
                  <a:buFont typeface="+mj-lt"/>
                  <a:buAutoNum type="romanLcPeriod" startAt="2"/>
                </a:pPr>
                <a:endParaRPr lang="en-IN" sz="1600" dirty="0">
                  <a:solidFill>
                    <a:srgbClr val="080808"/>
                  </a:solidFill>
                  <a:latin typeface="Calibri" panose="020F0502020204030204" pitchFamily="34" charset="0"/>
                  <a:cs typeface="Calibri" panose="020F0502020204030204" pitchFamily="34" charset="0"/>
                </a:endParaRPr>
              </a:p>
              <a:p>
                <a:pPr marL="1116013" lvl="1" indent="-400050">
                  <a:lnSpc>
                    <a:spcPct val="114000"/>
                  </a:lnSpc>
                  <a:spcBef>
                    <a:spcPts val="600"/>
                  </a:spcBef>
                  <a:buSzPts val="1800"/>
                  <a:buFont typeface="+mj-lt"/>
                  <a:buAutoNum type="romanLcPeriod" startAt="2"/>
                </a:pPr>
                <a:endParaRPr lang="en-IN" sz="1600" dirty="0">
                  <a:solidFill>
                    <a:srgbClr val="080808"/>
                  </a:solidFill>
                  <a:latin typeface="Calibri" panose="020F0502020204030204" pitchFamily="34" charset="0"/>
                  <a:cs typeface="Calibri" panose="020F0502020204030204" pitchFamily="34" charset="0"/>
                </a:endParaRPr>
              </a:p>
              <a:p>
                <a:pPr marL="373063"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373063"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373063"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715963" lvl="1" indent="-342900">
                  <a:lnSpc>
                    <a:spcPct val="114000"/>
                  </a:lnSpc>
                  <a:spcBef>
                    <a:spcPts val="600"/>
                  </a:spcBef>
                  <a:buSzPts val="1800"/>
                  <a:buFont typeface="+mj-lt"/>
                  <a:buAutoNum type="alphaLcParenR" startAt="2"/>
                </a:pPr>
                <a:endParaRPr sz="1600" dirty="0">
                  <a:solidFill>
                    <a:srgbClr val="080808"/>
                  </a:solidFill>
                  <a:latin typeface="Calibri" panose="020F0502020204030204" pitchFamily="34" charset="0"/>
                  <a:cs typeface="Calibri" panose="020F0502020204030204" pitchFamily="34" charset="0"/>
                </a:endParaRPr>
              </a:p>
              <a:p>
                <a:pPr marL="0" lvl="0" indent="0" algn="l" rtl="0">
                  <a:lnSpc>
                    <a:spcPct val="114000"/>
                  </a:lnSpc>
                  <a:spcBef>
                    <a:spcPts val="600"/>
                  </a:spcBef>
                  <a:spcAft>
                    <a:spcPts val="0"/>
                  </a:spcAft>
                  <a:buNone/>
                </a:pPr>
                <a:endParaRPr sz="1600" dirty="0">
                  <a:solidFill>
                    <a:srgbClr val="080808"/>
                  </a:solidFill>
                  <a:latin typeface="Calibri" panose="020F0502020204030204" pitchFamily="34" charset="0"/>
                  <a:cs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510682" y="2192730"/>
                <a:ext cx="8324845" cy="2492100"/>
              </a:xfrm>
              <a:prstGeom prst="rect">
                <a:avLst/>
              </a:prstGeom>
              <a:blipFill>
                <a:blip r:embed="rId3"/>
                <a:stretch>
                  <a:fillRect l="-293" r="-366"/>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35140254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6" name="Rectangle 5"/>
          <p:cNvSpPr/>
          <p:nvPr/>
        </p:nvSpPr>
        <p:spPr>
          <a:xfrm>
            <a:off x="0" y="1734060"/>
            <a:ext cx="9144000" cy="3409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Heterogeneous catalysts: Contact process</a:t>
            </a:r>
          </a:p>
        </p:txBody>
      </p:sp>
      <p:sp>
        <p:nvSpPr>
          <p:cNvPr id="118" name="Google Shape;118;p26"/>
          <p:cNvSpPr txBox="1"/>
          <p:nvPr/>
        </p:nvSpPr>
        <p:spPr>
          <a:xfrm>
            <a:off x="510682" y="1890671"/>
            <a:ext cx="8324845" cy="2492100"/>
          </a:xfrm>
          <a:prstGeom prst="rect">
            <a:avLst/>
          </a:prstGeom>
          <a:noFill/>
          <a:ln>
            <a:noFill/>
          </a:ln>
        </p:spPr>
        <p:txBody>
          <a:bodyPr spcFirstLastPara="1" wrap="square" lIns="91425" tIns="91425" rIns="91425" bIns="91425" anchor="t" anchorCtr="0">
            <a:noAutofit/>
          </a:bodyPr>
          <a:lstStyle/>
          <a:p>
            <a:pPr marL="285750" lvl="0" indent="-285750" algn="just">
              <a:lnSpc>
                <a:spcPct val="114000"/>
              </a:lnSpc>
              <a:spcBef>
                <a:spcPts val="600"/>
              </a:spcBef>
              <a:buFont typeface="Arial" panose="020B0604020202020204" pitchFamily="34" charset="0"/>
              <a:buChar char="•"/>
            </a:pPr>
            <a:r>
              <a:rPr lang="en-IN" sz="1600" dirty="0">
                <a:solidFill>
                  <a:schemeClr val="bg2">
                    <a:lumMod val="50000"/>
                  </a:schemeClr>
                </a:solidFill>
                <a:latin typeface="Calibri" panose="020F0502020204030204" pitchFamily="34" charset="0"/>
                <a:cs typeface="Calibri" panose="020F0502020204030204" pitchFamily="34" charset="0"/>
              </a:rPr>
              <a:t>Vanadium pentoxide catalyses the contact process. Contact process is used for the production of sulphuric acid. The overall reaction is,</a:t>
            </a:r>
          </a:p>
          <a:p>
            <a:pPr marL="0" lvl="0" indent="0" algn="ctr">
              <a:lnSpc>
                <a:spcPct val="114000"/>
              </a:lnSpc>
              <a:spcBef>
                <a:spcPts val="600"/>
              </a:spcBef>
              <a:buNone/>
            </a:pPr>
            <a:r>
              <a:rPr lang="en-IN" sz="1600" dirty="0">
                <a:solidFill>
                  <a:schemeClr val="bg2">
                    <a:lumMod val="50000"/>
                  </a:schemeClr>
                </a:solidFill>
                <a:latin typeface="Calibri" panose="020F0502020204030204" pitchFamily="34" charset="0"/>
                <a:cs typeface="Calibri" panose="020F0502020204030204" pitchFamily="34" charset="0"/>
              </a:rPr>
              <a:t>2SO</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 + O</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 ⇋ 2SO</a:t>
            </a:r>
            <a:r>
              <a:rPr lang="en-IN" sz="1600" baseline="-25000" dirty="0">
                <a:solidFill>
                  <a:schemeClr val="bg2">
                    <a:lumMod val="50000"/>
                  </a:schemeClr>
                </a:solidFill>
                <a:latin typeface="Calibri" panose="020F0502020204030204" pitchFamily="34" charset="0"/>
                <a:cs typeface="Calibri" panose="020F0502020204030204" pitchFamily="34" charset="0"/>
              </a:rPr>
              <a:t>3</a:t>
            </a:r>
          </a:p>
          <a:p>
            <a:pPr marL="285750" lvl="0" indent="-285750" algn="just">
              <a:lnSpc>
                <a:spcPct val="114000"/>
              </a:lnSpc>
              <a:spcBef>
                <a:spcPts val="600"/>
              </a:spcBef>
              <a:buFont typeface="Arial" panose="020B0604020202020204" pitchFamily="34" charset="0"/>
              <a:buChar char="•"/>
            </a:pPr>
            <a:r>
              <a:rPr lang="en-IN" sz="1600" dirty="0">
                <a:solidFill>
                  <a:schemeClr val="bg2">
                    <a:lumMod val="50000"/>
                  </a:schemeClr>
                </a:solidFill>
                <a:latin typeface="Calibri" panose="020F0502020204030204" pitchFamily="34" charset="0"/>
                <a:cs typeface="Calibri" panose="020F0502020204030204" pitchFamily="34" charset="0"/>
              </a:rPr>
              <a:t>The reactions in the presence of vanadium pentoxide are:</a:t>
            </a:r>
          </a:p>
          <a:p>
            <a:pPr marL="0" lvl="0" indent="0" algn="ctr">
              <a:lnSpc>
                <a:spcPct val="114000"/>
              </a:lnSpc>
              <a:spcBef>
                <a:spcPts val="600"/>
              </a:spcBef>
              <a:buNone/>
            </a:pPr>
            <a:r>
              <a:rPr lang="en-IN" sz="1600" dirty="0">
                <a:solidFill>
                  <a:schemeClr val="bg2">
                    <a:lumMod val="50000"/>
                  </a:schemeClr>
                </a:solidFill>
                <a:latin typeface="Calibri" panose="020F0502020204030204" pitchFamily="34" charset="0"/>
                <a:cs typeface="Calibri" panose="020F0502020204030204" pitchFamily="34" charset="0"/>
              </a:rPr>
              <a:t>SO</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 + V</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O</a:t>
            </a:r>
            <a:r>
              <a:rPr lang="en-IN" sz="1600" baseline="-25000" dirty="0">
                <a:solidFill>
                  <a:schemeClr val="bg2">
                    <a:lumMod val="50000"/>
                  </a:schemeClr>
                </a:solidFill>
                <a:latin typeface="Calibri" panose="020F0502020204030204" pitchFamily="34" charset="0"/>
                <a:cs typeface="Calibri" panose="020F0502020204030204" pitchFamily="34" charset="0"/>
              </a:rPr>
              <a:t>5</a:t>
            </a:r>
            <a:r>
              <a:rPr lang="en-IN" sz="1600" dirty="0">
                <a:solidFill>
                  <a:schemeClr val="bg2">
                    <a:lumMod val="50000"/>
                  </a:schemeClr>
                </a:solidFill>
                <a:latin typeface="Calibri" panose="020F0502020204030204" pitchFamily="34" charset="0"/>
                <a:cs typeface="Calibri" panose="020F0502020204030204" pitchFamily="34" charset="0"/>
              </a:rPr>
              <a:t> → SO</a:t>
            </a:r>
            <a:r>
              <a:rPr lang="en-IN" sz="1600" baseline="-25000" dirty="0">
                <a:solidFill>
                  <a:schemeClr val="bg2">
                    <a:lumMod val="50000"/>
                  </a:schemeClr>
                </a:solidFill>
                <a:latin typeface="Calibri" panose="020F0502020204030204" pitchFamily="34" charset="0"/>
                <a:cs typeface="Calibri" panose="020F0502020204030204" pitchFamily="34" charset="0"/>
              </a:rPr>
              <a:t>3 </a:t>
            </a:r>
            <a:r>
              <a:rPr lang="en-IN" sz="1600" dirty="0">
                <a:solidFill>
                  <a:schemeClr val="bg2">
                    <a:lumMod val="50000"/>
                  </a:schemeClr>
                </a:solidFill>
                <a:latin typeface="Calibri" panose="020F0502020204030204" pitchFamily="34" charset="0"/>
                <a:cs typeface="Calibri" panose="020F0502020204030204" pitchFamily="34" charset="0"/>
              </a:rPr>
              <a:t>+ V</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O</a:t>
            </a:r>
            <a:r>
              <a:rPr lang="en-IN" sz="1600" baseline="-25000" dirty="0">
                <a:solidFill>
                  <a:schemeClr val="bg2">
                    <a:lumMod val="50000"/>
                  </a:schemeClr>
                </a:solidFill>
                <a:latin typeface="Calibri" panose="020F0502020204030204" pitchFamily="34" charset="0"/>
                <a:cs typeface="Calibri" panose="020F0502020204030204" pitchFamily="34" charset="0"/>
              </a:rPr>
              <a:t>4</a:t>
            </a:r>
          </a:p>
          <a:p>
            <a:pPr marL="0" lvl="0" indent="0" algn="ctr">
              <a:lnSpc>
                <a:spcPct val="114000"/>
              </a:lnSpc>
              <a:spcBef>
                <a:spcPts val="600"/>
              </a:spcBef>
              <a:buNone/>
            </a:pPr>
            <a:r>
              <a:rPr lang="en-IN" sz="1600" dirty="0">
                <a:solidFill>
                  <a:schemeClr val="bg2">
                    <a:lumMod val="50000"/>
                  </a:schemeClr>
                </a:solidFill>
                <a:latin typeface="Calibri" panose="020F0502020204030204" pitchFamily="34" charset="0"/>
                <a:cs typeface="Calibri" panose="020F0502020204030204" pitchFamily="34" charset="0"/>
              </a:rPr>
              <a:t>2V</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O</a:t>
            </a:r>
            <a:r>
              <a:rPr lang="en-IN" sz="1600" baseline="-25000" dirty="0">
                <a:solidFill>
                  <a:schemeClr val="bg2">
                    <a:lumMod val="50000"/>
                  </a:schemeClr>
                </a:solidFill>
                <a:latin typeface="Calibri" panose="020F0502020204030204" pitchFamily="34" charset="0"/>
                <a:cs typeface="Calibri" panose="020F0502020204030204" pitchFamily="34" charset="0"/>
              </a:rPr>
              <a:t>4 </a:t>
            </a:r>
            <a:r>
              <a:rPr lang="en-IN" sz="1600" dirty="0">
                <a:solidFill>
                  <a:schemeClr val="bg2">
                    <a:lumMod val="50000"/>
                  </a:schemeClr>
                </a:solidFill>
                <a:latin typeface="Calibri" panose="020F0502020204030204" pitchFamily="34" charset="0"/>
                <a:cs typeface="Calibri" panose="020F0502020204030204" pitchFamily="34" charset="0"/>
              </a:rPr>
              <a:t>+ O</a:t>
            </a:r>
            <a:r>
              <a:rPr lang="en-IN" sz="1600" baseline="-25000" dirty="0">
                <a:solidFill>
                  <a:schemeClr val="bg2">
                    <a:lumMod val="50000"/>
                  </a:schemeClr>
                </a:solidFill>
                <a:latin typeface="Calibri" panose="020F0502020204030204" pitchFamily="34" charset="0"/>
                <a:cs typeface="Calibri" panose="020F0502020204030204" pitchFamily="34" charset="0"/>
              </a:rPr>
              <a:t>2 </a:t>
            </a:r>
            <a:r>
              <a:rPr lang="en-IN" sz="1600" dirty="0">
                <a:solidFill>
                  <a:schemeClr val="bg2">
                    <a:lumMod val="50000"/>
                  </a:schemeClr>
                </a:solidFill>
                <a:latin typeface="Calibri" panose="020F0502020204030204" pitchFamily="34" charset="0"/>
                <a:cs typeface="Calibri" panose="020F0502020204030204" pitchFamily="34" charset="0"/>
              </a:rPr>
              <a:t>→ 2V</a:t>
            </a:r>
            <a:r>
              <a:rPr lang="en-IN" sz="1600" baseline="-25000" dirty="0">
                <a:solidFill>
                  <a:schemeClr val="bg2">
                    <a:lumMod val="50000"/>
                  </a:schemeClr>
                </a:solidFill>
                <a:latin typeface="Calibri" panose="020F0502020204030204" pitchFamily="34" charset="0"/>
                <a:cs typeface="Calibri" panose="020F0502020204030204" pitchFamily="34" charset="0"/>
              </a:rPr>
              <a:t>2</a:t>
            </a:r>
            <a:r>
              <a:rPr lang="en-IN" sz="1600" dirty="0">
                <a:solidFill>
                  <a:schemeClr val="bg2">
                    <a:lumMod val="50000"/>
                  </a:schemeClr>
                </a:solidFill>
                <a:latin typeface="Calibri" panose="020F0502020204030204" pitchFamily="34" charset="0"/>
                <a:cs typeface="Calibri" panose="020F0502020204030204" pitchFamily="34" charset="0"/>
              </a:rPr>
              <a:t>O</a:t>
            </a:r>
            <a:r>
              <a:rPr lang="en-IN" sz="1600" baseline="-25000" dirty="0">
                <a:solidFill>
                  <a:schemeClr val="bg2">
                    <a:lumMod val="50000"/>
                  </a:schemeClr>
                </a:solidFill>
                <a:latin typeface="Calibri" panose="020F0502020204030204" pitchFamily="34" charset="0"/>
                <a:cs typeface="Calibri" panose="020F0502020204030204" pitchFamily="34" charset="0"/>
              </a:rPr>
              <a:t>5</a:t>
            </a:r>
          </a:p>
          <a:p>
            <a:pPr marL="285750" lvl="1" indent="-285750">
              <a:lnSpc>
                <a:spcPct val="114000"/>
              </a:lnSpc>
              <a:spcBef>
                <a:spcPts val="600"/>
              </a:spcBef>
              <a:buSzPts val="1800"/>
              <a:buFont typeface="Arial" panose="020B0604020202020204" pitchFamily="34" charset="0"/>
              <a:buChar char="•"/>
            </a:pPr>
            <a:r>
              <a:rPr lang="en-US" sz="1600" dirty="0">
                <a:solidFill>
                  <a:srgbClr val="080808"/>
                </a:solidFill>
                <a:latin typeface="Calibri" panose="020F0502020204030204" pitchFamily="34" charset="0"/>
                <a:cs typeface="Calibri" panose="020F0502020204030204" pitchFamily="34" charset="0"/>
              </a:rPr>
              <a:t>Each of these two steps require a lower activation energy when compared to the </a:t>
            </a:r>
            <a:r>
              <a:rPr lang="en-US" sz="1600" dirty="0" err="1">
                <a:solidFill>
                  <a:srgbClr val="080808"/>
                </a:solidFill>
                <a:latin typeface="Calibri" panose="020F0502020204030204" pitchFamily="34" charset="0"/>
                <a:cs typeface="Calibri" panose="020F0502020204030204" pitchFamily="34" charset="0"/>
              </a:rPr>
              <a:t>uncatalysed</a:t>
            </a:r>
            <a:r>
              <a:rPr lang="en-US" sz="1600" dirty="0">
                <a:solidFill>
                  <a:srgbClr val="080808"/>
                </a:solidFill>
                <a:latin typeface="Calibri" panose="020F0502020204030204" pitchFamily="34" charset="0"/>
                <a:cs typeface="Calibri" panose="020F0502020204030204" pitchFamily="34" charset="0"/>
              </a:rPr>
              <a:t> single step. </a:t>
            </a:r>
          </a:p>
          <a:p>
            <a:pPr marL="452438"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452438"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457200" lvl="1" indent="-342900">
              <a:lnSpc>
                <a:spcPct val="114000"/>
              </a:lnSpc>
              <a:spcBef>
                <a:spcPts val="600"/>
              </a:spcBef>
              <a:buSzPts val="1800"/>
              <a:buFont typeface="Arial"/>
              <a:buChar char="●"/>
            </a:pP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114300"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457200" indent="-342900">
              <a:lnSpc>
                <a:spcPct val="114000"/>
              </a:lnSpc>
              <a:spcBef>
                <a:spcPts val="600"/>
              </a:spcBef>
              <a:buSzPts val="1800"/>
              <a:buFont typeface="Arial"/>
              <a:buChar char="●"/>
            </a:pPr>
            <a:endParaRPr lang="en-IN" sz="1600" dirty="0">
              <a:solidFill>
                <a:srgbClr val="080808"/>
              </a:solidFill>
              <a:latin typeface="Calibri" panose="020F0502020204030204" pitchFamily="34" charset="0"/>
              <a:cs typeface="Calibri" panose="020F0502020204030204" pitchFamily="34" charset="0"/>
            </a:endParaRPr>
          </a:p>
          <a:p>
            <a:pPr marL="457200" indent="-342900">
              <a:lnSpc>
                <a:spcPct val="114000"/>
              </a:lnSpc>
              <a:spcBef>
                <a:spcPts val="600"/>
              </a:spcBef>
              <a:buSzPts val="1800"/>
              <a:buFont typeface="Arial"/>
              <a:buChar char="●"/>
            </a:pPr>
            <a:endParaRPr lang="en-IN" sz="1600" dirty="0">
              <a:solidFill>
                <a:srgbClr val="080808"/>
              </a:solidFill>
              <a:latin typeface="Calibri" panose="020F0502020204030204" pitchFamily="34" charset="0"/>
              <a:cs typeface="Calibri" panose="020F0502020204030204" pitchFamily="34" charset="0"/>
            </a:endParaRPr>
          </a:p>
          <a:p>
            <a:pPr marL="1116013" lvl="1" indent="-400050">
              <a:lnSpc>
                <a:spcPct val="114000"/>
              </a:lnSpc>
              <a:spcBef>
                <a:spcPts val="600"/>
              </a:spcBef>
              <a:buSzPts val="1800"/>
              <a:buFont typeface="+mj-lt"/>
              <a:buAutoNum type="romanLcPeriod" startAt="2"/>
            </a:pPr>
            <a:endParaRPr lang="en-IN" sz="1600" dirty="0">
              <a:solidFill>
                <a:srgbClr val="080808"/>
              </a:solidFill>
              <a:latin typeface="Calibri" panose="020F0502020204030204" pitchFamily="34" charset="0"/>
              <a:cs typeface="Calibri" panose="020F0502020204030204" pitchFamily="34" charset="0"/>
            </a:endParaRPr>
          </a:p>
          <a:p>
            <a:pPr marL="1116013" lvl="1" indent="-400050">
              <a:lnSpc>
                <a:spcPct val="114000"/>
              </a:lnSpc>
              <a:spcBef>
                <a:spcPts val="600"/>
              </a:spcBef>
              <a:buSzPts val="1800"/>
              <a:buFont typeface="+mj-lt"/>
              <a:buAutoNum type="romanLcPeriod" startAt="2"/>
            </a:pPr>
            <a:endParaRPr lang="en-IN" sz="1600" dirty="0">
              <a:solidFill>
                <a:srgbClr val="080808"/>
              </a:solidFill>
              <a:latin typeface="Calibri" panose="020F0502020204030204" pitchFamily="34" charset="0"/>
              <a:cs typeface="Calibri" panose="020F0502020204030204" pitchFamily="34" charset="0"/>
            </a:endParaRPr>
          </a:p>
          <a:p>
            <a:pPr marL="373063"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373063"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373063"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715963" lvl="1" indent="-342900">
              <a:lnSpc>
                <a:spcPct val="114000"/>
              </a:lnSpc>
              <a:spcBef>
                <a:spcPts val="600"/>
              </a:spcBef>
              <a:buSzPts val="1800"/>
              <a:buFont typeface="+mj-lt"/>
              <a:buAutoNum type="alphaLcParenR" startAt="2"/>
            </a:pPr>
            <a:endParaRPr sz="1600" dirty="0">
              <a:solidFill>
                <a:srgbClr val="080808"/>
              </a:solidFill>
              <a:latin typeface="Calibri" panose="020F0502020204030204" pitchFamily="34" charset="0"/>
              <a:cs typeface="Calibri" panose="020F0502020204030204" pitchFamily="34" charset="0"/>
            </a:endParaRPr>
          </a:p>
          <a:p>
            <a:pPr marL="0" lvl="0" indent="0" algn="l" rtl="0">
              <a:lnSpc>
                <a:spcPct val="114000"/>
              </a:lnSpc>
              <a:spcBef>
                <a:spcPts val="600"/>
              </a:spcBef>
              <a:spcAft>
                <a:spcPts val="0"/>
              </a:spcAft>
              <a:buNone/>
            </a:pPr>
            <a:endParaRPr sz="1600" dirty="0">
              <a:solidFill>
                <a:srgbClr val="0808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85168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6" name="Rectangle 5"/>
          <p:cNvSpPr/>
          <p:nvPr/>
        </p:nvSpPr>
        <p:spPr>
          <a:xfrm>
            <a:off x="0" y="1734060"/>
            <a:ext cx="9144000" cy="3409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Catalytic converters</a:t>
            </a:r>
          </a:p>
        </p:txBody>
      </p:sp>
      <p:sp>
        <p:nvSpPr>
          <p:cNvPr id="118" name="Google Shape;118;p26"/>
          <p:cNvSpPr txBox="1"/>
          <p:nvPr/>
        </p:nvSpPr>
        <p:spPr>
          <a:xfrm>
            <a:off x="686952" y="2058475"/>
            <a:ext cx="7917221" cy="2492100"/>
          </a:xfrm>
          <a:prstGeom prst="rect">
            <a:avLst/>
          </a:prstGeom>
          <a:noFill/>
          <a:ln>
            <a:noFill/>
          </a:ln>
        </p:spPr>
        <p:txBody>
          <a:bodyPr spcFirstLastPara="1" wrap="square" lIns="91425" tIns="91425" rIns="91425" bIns="91425" anchor="t" anchorCtr="0">
            <a:noAutofit/>
          </a:bodyPr>
          <a:lstStyle/>
          <a:p>
            <a:pPr marL="457200" lvl="1" indent="-342900">
              <a:lnSpc>
                <a:spcPct val="114000"/>
              </a:lnSpc>
              <a:spcBef>
                <a:spcPts val="600"/>
              </a:spcBef>
              <a:buSzPts val="1800"/>
              <a:buFont typeface="Arial" panose="020B0604020202020204" pitchFamily="34" charset="0"/>
              <a:buChar char="•"/>
            </a:pPr>
            <a:r>
              <a:rPr lang="en-IN" sz="1600" dirty="0">
                <a:solidFill>
                  <a:srgbClr val="080808"/>
                </a:solidFill>
                <a:latin typeface="Calibri" panose="020F0502020204030204" pitchFamily="34" charset="0"/>
                <a:cs typeface="Calibri" panose="020F0502020204030204" pitchFamily="34" charset="0"/>
              </a:rPr>
              <a:t>Transition metals are used in catalytic converters to convert the harmful exhaust gases such as carbon monoxide,  nitrogen oxides and unburnt hydrocarbons from vehicles to harmless carbon dioxide, nitrogen and water. </a:t>
            </a:r>
          </a:p>
          <a:p>
            <a:pPr marL="457200" lvl="1" indent="-342900">
              <a:lnSpc>
                <a:spcPct val="114000"/>
              </a:lnSpc>
              <a:spcBef>
                <a:spcPts val="600"/>
              </a:spcBef>
              <a:buSzPts val="1800"/>
              <a:buFont typeface="Arial" panose="020B0604020202020204" pitchFamily="34" charset="0"/>
              <a:buChar char="•"/>
            </a:pPr>
            <a:r>
              <a:rPr lang="en-IN" sz="1600" dirty="0">
                <a:solidFill>
                  <a:srgbClr val="080808"/>
                </a:solidFill>
                <a:latin typeface="Calibri" panose="020F0502020204030204" pitchFamily="34" charset="0"/>
                <a:cs typeface="Calibri" panose="020F0502020204030204" pitchFamily="34" charset="0"/>
              </a:rPr>
              <a:t>The catalytic converters consists of a honeycomb structure which are coated with metals such platinum, palladium or rhodium. </a:t>
            </a:r>
          </a:p>
          <a:p>
            <a:pPr marL="285750" lvl="0" indent="-285750" algn="l" rtl="0">
              <a:lnSpc>
                <a:spcPct val="114000"/>
              </a:lnSpc>
              <a:spcBef>
                <a:spcPts val="600"/>
              </a:spcBef>
              <a:spcAft>
                <a:spcPts val="0"/>
              </a:spcAft>
              <a:buFont typeface="Arial" panose="020B0604020202020204" pitchFamily="34" charset="0"/>
              <a:buChar char="•"/>
            </a:pPr>
            <a:endParaRPr sz="1600" dirty="0">
              <a:solidFill>
                <a:srgbClr val="0808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328352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6" name="Rectangle 5"/>
          <p:cNvSpPr/>
          <p:nvPr/>
        </p:nvSpPr>
        <p:spPr>
          <a:xfrm>
            <a:off x="0" y="1734060"/>
            <a:ext cx="9144000" cy="3409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Catalytic converters</a:t>
            </a:r>
          </a:p>
        </p:txBody>
      </p:sp>
      <p:sp>
        <p:nvSpPr>
          <p:cNvPr id="118" name="Google Shape;118;p26"/>
          <p:cNvSpPr txBox="1"/>
          <p:nvPr/>
        </p:nvSpPr>
        <p:spPr>
          <a:xfrm>
            <a:off x="686952" y="2058475"/>
            <a:ext cx="7917221" cy="2492100"/>
          </a:xfrm>
          <a:prstGeom prst="rect">
            <a:avLst/>
          </a:prstGeom>
          <a:noFill/>
          <a:ln>
            <a:noFill/>
          </a:ln>
        </p:spPr>
        <p:txBody>
          <a:bodyPr spcFirstLastPara="1" wrap="square" lIns="91425" tIns="91425" rIns="91425" bIns="91425" anchor="t" anchorCtr="0">
            <a:noAutofit/>
          </a:bodyPr>
          <a:lstStyle/>
          <a:p>
            <a:pPr marL="0" lvl="0" indent="0" algn="ctr">
              <a:lnSpc>
                <a:spcPct val="114000"/>
              </a:lnSpc>
              <a:spcBef>
                <a:spcPts val="600"/>
              </a:spcBef>
              <a:buNone/>
            </a:pPr>
            <a:r>
              <a:rPr lang="en-IN" sz="1600" dirty="0">
                <a:latin typeface="Calibri" panose="020F0502020204030204" pitchFamily="34" charset="0"/>
                <a:cs typeface="Calibri" panose="020F0502020204030204" pitchFamily="34" charset="0"/>
              </a:rPr>
              <a:t>2CO + 2NO→2CO</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 + N</a:t>
            </a:r>
            <a:r>
              <a:rPr lang="en-IN" sz="1600" baseline="-25000" dirty="0">
                <a:latin typeface="Calibri" panose="020F0502020204030204" pitchFamily="34" charset="0"/>
                <a:cs typeface="Calibri" panose="020F0502020204030204" pitchFamily="34" charset="0"/>
              </a:rPr>
              <a:t>2</a:t>
            </a:r>
          </a:p>
          <a:p>
            <a:pPr marL="457200" lvl="1" indent="-342900">
              <a:lnSpc>
                <a:spcPct val="114000"/>
              </a:lnSpc>
              <a:spcBef>
                <a:spcPts val="600"/>
              </a:spcBef>
              <a:buSzPts val="1800"/>
              <a:buFont typeface="Arial" panose="020B0604020202020204" pitchFamily="34" charset="0"/>
              <a:buChar char="•"/>
            </a:pPr>
            <a:r>
              <a:rPr lang="en-IN" sz="1600" dirty="0">
                <a:solidFill>
                  <a:srgbClr val="080808"/>
                </a:solidFill>
                <a:latin typeface="Calibri" panose="020F0502020204030204" pitchFamily="34" charset="0"/>
                <a:cs typeface="Calibri" panose="020F0502020204030204" pitchFamily="34" charset="0"/>
              </a:rPr>
              <a:t>Firstly, the harmful gases are adsorbed onto the active sites of catalyst. The covalent bonds within the reactants are weakened. </a:t>
            </a:r>
          </a:p>
          <a:p>
            <a:pPr marL="457200" lvl="1" indent="-342900">
              <a:lnSpc>
                <a:spcPct val="114000"/>
              </a:lnSpc>
              <a:spcBef>
                <a:spcPts val="600"/>
              </a:spcBef>
              <a:buSzPts val="1800"/>
              <a:buFont typeface="Arial" panose="020B0604020202020204" pitchFamily="34" charset="0"/>
              <a:buChar char="•"/>
            </a:pPr>
            <a:r>
              <a:rPr lang="en-IN" sz="1600" dirty="0">
                <a:solidFill>
                  <a:srgbClr val="080808"/>
                </a:solidFill>
                <a:latin typeface="Calibri" panose="020F0502020204030204" pitchFamily="34" charset="0"/>
                <a:cs typeface="Calibri" panose="020F0502020204030204" pitchFamily="34" charset="0"/>
              </a:rPr>
              <a:t>New bonds are formed between adjacent nitrogen atoms. Also, new bonds are formed between carbon monoxide and oxygen to form carbon dioxide. </a:t>
            </a:r>
          </a:p>
          <a:p>
            <a:pPr marL="457200" lvl="1" indent="-342900">
              <a:lnSpc>
                <a:spcPct val="114000"/>
              </a:lnSpc>
              <a:spcBef>
                <a:spcPts val="600"/>
              </a:spcBef>
              <a:buSzPts val="1800"/>
              <a:buFont typeface="Arial" panose="020B0604020202020204" pitchFamily="34" charset="0"/>
              <a:buChar char="•"/>
            </a:pPr>
            <a:r>
              <a:rPr lang="en-IN" sz="1600" dirty="0">
                <a:solidFill>
                  <a:srgbClr val="080808"/>
                </a:solidFill>
                <a:latin typeface="Calibri" panose="020F0502020204030204" pitchFamily="34" charset="0"/>
                <a:cs typeface="Calibri" panose="020F0502020204030204" pitchFamily="34" charset="0"/>
              </a:rPr>
              <a:t>The nitrogen molecule and carbon dioxide molecule are released from the surface of the catalyst. This is called as desorption.</a:t>
            </a:r>
          </a:p>
          <a:p>
            <a:pPr marL="400050" lvl="1" indent="-285750">
              <a:lnSpc>
                <a:spcPct val="114000"/>
              </a:lnSpc>
              <a:spcBef>
                <a:spcPts val="600"/>
              </a:spcBef>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457200" lvl="1" indent="-342900">
              <a:lnSpc>
                <a:spcPct val="114000"/>
              </a:lnSpc>
              <a:spcBef>
                <a:spcPts val="600"/>
              </a:spcBef>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400050" lvl="1" indent="-285750">
              <a:lnSpc>
                <a:spcPct val="114000"/>
              </a:lnSpc>
              <a:spcBef>
                <a:spcPts val="600"/>
              </a:spcBef>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400050" lvl="1" indent="-285750">
              <a:lnSpc>
                <a:spcPct val="114000"/>
              </a:lnSpc>
              <a:spcBef>
                <a:spcPts val="600"/>
              </a:spcBef>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400050" lvl="1" indent="-285750">
              <a:lnSpc>
                <a:spcPct val="114000"/>
              </a:lnSpc>
              <a:spcBef>
                <a:spcPts val="600"/>
              </a:spcBef>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457200" indent="-342900">
              <a:lnSpc>
                <a:spcPct val="114000"/>
              </a:lnSpc>
              <a:spcBef>
                <a:spcPts val="600"/>
              </a:spcBef>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457200" indent="-342900">
              <a:lnSpc>
                <a:spcPct val="114000"/>
              </a:lnSpc>
              <a:spcBef>
                <a:spcPts val="600"/>
              </a:spcBef>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1116013" lvl="1" indent="-400050">
              <a:lnSpc>
                <a:spcPct val="114000"/>
              </a:lnSpc>
              <a:spcBef>
                <a:spcPts val="600"/>
              </a:spcBef>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1116013" lvl="1" indent="-400050">
              <a:lnSpc>
                <a:spcPct val="114000"/>
              </a:lnSpc>
              <a:spcBef>
                <a:spcPts val="600"/>
              </a:spcBef>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658813" lvl="1" indent="-285750">
              <a:lnSpc>
                <a:spcPct val="114000"/>
              </a:lnSpc>
              <a:spcBef>
                <a:spcPts val="600"/>
              </a:spcBef>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658813" lvl="1" indent="-285750">
              <a:lnSpc>
                <a:spcPct val="114000"/>
              </a:lnSpc>
              <a:spcBef>
                <a:spcPts val="600"/>
              </a:spcBef>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658813" lvl="1" indent="-285750">
              <a:lnSpc>
                <a:spcPct val="114000"/>
              </a:lnSpc>
              <a:spcBef>
                <a:spcPts val="600"/>
              </a:spcBef>
              <a:buSzPts val="1800"/>
              <a:buFont typeface="Arial" panose="020B0604020202020204" pitchFamily="34" charset="0"/>
              <a:buChar char="•"/>
            </a:pPr>
            <a:endParaRPr lang="en-IN" sz="1600" dirty="0">
              <a:solidFill>
                <a:srgbClr val="080808"/>
              </a:solidFill>
              <a:latin typeface="Calibri" panose="020F0502020204030204" pitchFamily="34" charset="0"/>
              <a:cs typeface="Calibri" panose="020F0502020204030204" pitchFamily="34" charset="0"/>
            </a:endParaRPr>
          </a:p>
          <a:p>
            <a:pPr marL="715963" lvl="1" indent="-342900">
              <a:lnSpc>
                <a:spcPct val="114000"/>
              </a:lnSpc>
              <a:spcBef>
                <a:spcPts val="600"/>
              </a:spcBef>
              <a:buSzPts val="1800"/>
              <a:buFont typeface="Arial" panose="020B0604020202020204" pitchFamily="34" charset="0"/>
              <a:buChar char="•"/>
            </a:pPr>
            <a:endParaRPr sz="1600" dirty="0">
              <a:solidFill>
                <a:srgbClr val="080808"/>
              </a:solidFill>
              <a:latin typeface="Calibri" panose="020F0502020204030204" pitchFamily="34" charset="0"/>
              <a:cs typeface="Calibri" panose="020F0502020204030204" pitchFamily="34" charset="0"/>
            </a:endParaRPr>
          </a:p>
          <a:p>
            <a:pPr marL="285750" lvl="0" indent="-285750" algn="l" rtl="0">
              <a:lnSpc>
                <a:spcPct val="114000"/>
              </a:lnSpc>
              <a:spcBef>
                <a:spcPts val="600"/>
              </a:spcBef>
              <a:spcAft>
                <a:spcPts val="0"/>
              </a:spcAft>
              <a:buFont typeface="Arial" panose="020B0604020202020204" pitchFamily="34" charset="0"/>
              <a:buChar char="•"/>
            </a:pPr>
            <a:endParaRPr sz="1600" dirty="0">
              <a:solidFill>
                <a:srgbClr val="0808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13321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6" name="Rectangle 5"/>
          <p:cNvSpPr/>
          <p:nvPr/>
        </p:nvSpPr>
        <p:spPr>
          <a:xfrm>
            <a:off x="0" y="1734060"/>
            <a:ext cx="9144000" cy="3409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Catalysis</a:t>
            </a:r>
          </a:p>
        </p:txBody>
      </p:sp>
      <p:sp>
        <p:nvSpPr>
          <p:cNvPr id="118" name="Google Shape;118;p26"/>
          <p:cNvSpPr txBox="1"/>
          <p:nvPr/>
        </p:nvSpPr>
        <p:spPr>
          <a:xfrm>
            <a:off x="613389" y="2058475"/>
            <a:ext cx="7917221" cy="2492100"/>
          </a:xfrm>
          <a:prstGeom prst="rect">
            <a:avLst/>
          </a:prstGeom>
          <a:noFill/>
          <a:ln>
            <a:noFill/>
          </a:ln>
        </p:spPr>
        <p:txBody>
          <a:bodyPr spcFirstLastPara="1" wrap="square" lIns="91425" tIns="91425" rIns="91425" bIns="91425" anchor="t" anchorCtr="0">
            <a:noAutofit/>
          </a:bodyPr>
          <a:lstStyle/>
          <a:p>
            <a:pPr marL="376238" lvl="0" indent="-285750" algn="just">
              <a:lnSpc>
                <a:spcPct val="114000"/>
              </a:lnSpc>
              <a:spcBef>
                <a:spcPts val="600"/>
              </a:spcBef>
              <a:buClr>
                <a:srgbClr val="434343"/>
              </a:buClr>
              <a:buSzPts val="1600"/>
              <a:buFont typeface="Arial" panose="020B0604020202020204" pitchFamily="34" charset="0"/>
              <a:buChar char="•"/>
            </a:pPr>
            <a:r>
              <a:rPr lang="en-IN" sz="1600" dirty="0">
                <a:latin typeface="Calibri" panose="020F0502020204030204" pitchFamily="34" charset="0"/>
                <a:cs typeface="Calibri" panose="020F0502020204030204" pitchFamily="34" charset="0"/>
                <a:sym typeface="Roboto Condensed"/>
              </a:rPr>
              <a:t>Ammonia is synthesised using Haber’s process and the reaction is</a:t>
            </a:r>
          </a:p>
          <a:p>
            <a:pPr marL="127000" lvl="0" algn="ctr">
              <a:lnSpc>
                <a:spcPct val="114000"/>
              </a:lnSpc>
              <a:spcBef>
                <a:spcPts val="600"/>
              </a:spcBef>
              <a:buClr>
                <a:srgbClr val="434343"/>
              </a:buClr>
              <a:buSzPts val="1600"/>
            </a:pPr>
            <a:r>
              <a:rPr lang="en-IN" sz="1600" dirty="0">
                <a:latin typeface="Calibri" panose="020F0502020204030204" pitchFamily="34" charset="0"/>
                <a:cs typeface="Calibri" panose="020F0502020204030204" pitchFamily="34" charset="0"/>
                <a:sym typeface="Roboto Condensed"/>
              </a:rPr>
              <a:t>N</a:t>
            </a:r>
            <a:r>
              <a:rPr lang="en-IN" sz="1600" baseline="-25000" dirty="0">
                <a:latin typeface="Calibri" panose="020F0502020204030204" pitchFamily="34" charset="0"/>
                <a:cs typeface="Calibri" panose="020F0502020204030204" pitchFamily="34" charset="0"/>
                <a:sym typeface="Roboto Condensed"/>
              </a:rPr>
              <a:t>2 </a:t>
            </a:r>
            <a:r>
              <a:rPr lang="en-IN" sz="1600" dirty="0">
                <a:latin typeface="Calibri" panose="020F0502020204030204" pitchFamily="34" charset="0"/>
                <a:cs typeface="Calibri" panose="020F0502020204030204" pitchFamily="34" charset="0"/>
                <a:sym typeface="Roboto Condensed"/>
              </a:rPr>
              <a:t>(g) + 3H</a:t>
            </a:r>
            <a:r>
              <a:rPr lang="en-IN" sz="1600" baseline="-25000" dirty="0">
                <a:latin typeface="Calibri" panose="020F0502020204030204" pitchFamily="34" charset="0"/>
                <a:cs typeface="Calibri" panose="020F0502020204030204" pitchFamily="34" charset="0"/>
                <a:sym typeface="Roboto Condensed"/>
              </a:rPr>
              <a:t>2</a:t>
            </a:r>
            <a:r>
              <a:rPr lang="en-IN" sz="1600" dirty="0">
                <a:latin typeface="Calibri" panose="020F0502020204030204" pitchFamily="34" charset="0"/>
                <a:cs typeface="Calibri" panose="020F0502020204030204" pitchFamily="34" charset="0"/>
                <a:sym typeface="Roboto Condensed"/>
              </a:rPr>
              <a:t> (g) ⇋ 2NH</a:t>
            </a:r>
            <a:r>
              <a:rPr lang="en-IN" sz="1600" baseline="-25000" dirty="0">
                <a:latin typeface="Calibri" panose="020F0502020204030204" pitchFamily="34" charset="0"/>
                <a:cs typeface="Calibri" panose="020F0502020204030204" pitchFamily="34" charset="0"/>
                <a:sym typeface="Roboto Condensed"/>
              </a:rPr>
              <a:t>3</a:t>
            </a:r>
            <a:r>
              <a:rPr lang="en-IN" sz="1600" dirty="0">
                <a:latin typeface="Calibri" panose="020F0502020204030204" pitchFamily="34" charset="0"/>
                <a:cs typeface="Calibri" panose="020F0502020204030204" pitchFamily="34" charset="0"/>
                <a:sym typeface="Roboto Condensed"/>
              </a:rPr>
              <a:t> (g) </a:t>
            </a:r>
            <a:r>
              <a:rPr lang="en-IN" sz="1600" dirty="0" err="1">
                <a:latin typeface="Calibri" panose="020F0502020204030204" pitchFamily="34" charset="0"/>
                <a:cs typeface="Calibri" panose="020F0502020204030204" pitchFamily="34" charset="0"/>
                <a:sym typeface="Roboto Condensed"/>
              </a:rPr>
              <a:t>ΔH</a:t>
            </a:r>
            <a:r>
              <a:rPr lang="en-IN" sz="1600" baseline="-25000" dirty="0" err="1">
                <a:latin typeface="Calibri" panose="020F0502020204030204" pitchFamily="34" charset="0"/>
                <a:cs typeface="Calibri" panose="020F0502020204030204" pitchFamily="34" charset="0"/>
                <a:sym typeface="Roboto Condensed"/>
              </a:rPr>
              <a:t>r</a:t>
            </a:r>
            <a:r>
              <a:rPr lang="en-IN" sz="1600" dirty="0">
                <a:latin typeface="Calibri" panose="020F0502020204030204" pitchFamily="34" charset="0"/>
                <a:cs typeface="Calibri" panose="020F0502020204030204" pitchFamily="34" charset="0"/>
                <a:sym typeface="Roboto Condensed"/>
              </a:rPr>
              <a:t>=-92 kJ/mol</a:t>
            </a:r>
          </a:p>
          <a:p>
            <a:pPr marL="376238" lvl="0" indent="-285750" algn="just">
              <a:lnSpc>
                <a:spcPct val="114000"/>
              </a:lnSpc>
              <a:spcBef>
                <a:spcPts val="600"/>
              </a:spcBef>
              <a:buClr>
                <a:srgbClr val="434343"/>
              </a:buClr>
              <a:buSzPts val="1600"/>
              <a:buFont typeface="Arial" panose="020B0604020202020204" pitchFamily="34" charset="0"/>
              <a:buChar char="•"/>
            </a:pPr>
            <a:r>
              <a:rPr lang="en-IN" sz="1600" dirty="0">
                <a:latin typeface="Calibri" panose="020F0502020204030204" pitchFamily="34" charset="0"/>
                <a:cs typeface="Calibri" panose="020F0502020204030204" pitchFamily="34" charset="0"/>
                <a:sym typeface="Roboto Condensed"/>
              </a:rPr>
              <a:t>In this reaction, iron acts as catalyst. The molecules of hydrogen and nitrogen come closer on the surface of iron. The various steps are:</a:t>
            </a:r>
          </a:p>
          <a:p>
            <a:pPr marL="490538" lvl="0" indent="-400050" algn="just">
              <a:lnSpc>
                <a:spcPct val="114000"/>
              </a:lnSpc>
              <a:spcBef>
                <a:spcPts val="600"/>
              </a:spcBef>
              <a:buClr>
                <a:srgbClr val="434343"/>
              </a:buClr>
              <a:buSzPts val="1600"/>
              <a:buFont typeface="+mj-lt"/>
              <a:buAutoNum type="romanLcPeriod"/>
            </a:pPr>
            <a:r>
              <a:rPr lang="en-IN" sz="1600" dirty="0">
                <a:latin typeface="Calibri" panose="020F0502020204030204" pitchFamily="34" charset="0"/>
                <a:cs typeface="Calibri" panose="020F0502020204030204" pitchFamily="34" charset="0"/>
                <a:sym typeface="Roboto Condensed"/>
              </a:rPr>
              <a:t>Diffusion: Hydrogen gas and nitrogen gas diffuse to the surface of iron.</a:t>
            </a:r>
          </a:p>
          <a:p>
            <a:pPr marL="490538" lvl="0" indent="-400050" algn="just">
              <a:lnSpc>
                <a:spcPct val="114000"/>
              </a:lnSpc>
              <a:spcBef>
                <a:spcPts val="600"/>
              </a:spcBef>
              <a:buClr>
                <a:srgbClr val="434343"/>
              </a:buClr>
              <a:buSzPts val="1600"/>
              <a:buFont typeface="+mj-lt"/>
              <a:buAutoNum type="romanLcPeriod"/>
            </a:pPr>
            <a:r>
              <a:rPr lang="en-IN" sz="1600" dirty="0">
                <a:latin typeface="Calibri" panose="020F0502020204030204" pitchFamily="34" charset="0"/>
                <a:cs typeface="Calibri" panose="020F0502020204030204" pitchFamily="34" charset="0"/>
                <a:sym typeface="Roboto Condensed"/>
              </a:rPr>
              <a:t>Adsorption: The molecules form chemical bonds with iron, which weaken the covalent bonds within the molecules and allow them to react with each other to form product and leave the catalyst.</a:t>
            </a:r>
            <a:endParaRPr sz="1600" dirty="0">
              <a:solidFill>
                <a:srgbClr val="0808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35555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6" name="Rectangle 5"/>
          <p:cNvSpPr/>
          <p:nvPr/>
        </p:nvSpPr>
        <p:spPr>
          <a:xfrm>
            <a:off x="0" y="1734060"/>
            <a:ext cx="9144000" cy="3409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cs typeface="Calibri" panose="020F0502020204030204" pitchFamily="34" charset="0"/>
              </a:rPr>
              <a:t>Catalysis</a:t>
            </a:r>
          </a:p>
        </p:txBody>
      </p:sp>
      <p:sp>
        <p:nvSpPr>
          <p:cNvPr id="118" name="Google Shape;118;p26"/>
          <p:cNvSpPr txBox="1"/>
          <p:nvPr/>
        </p:nvSpPr>
        <p:spPr>
          <a:xfrm>
            <a:off x="613389" y="2192730"/>
            <a:ext cx="7917221" cy="2492100"/>
          </a:xfrm>
          <a:prstGeom prst="rect">
            <a:avLst/>
          </a:prstGeom>
          <a:noFill/>
          <a:ln>
            <a:noFill/>
          </a:ln>
        </p:spPr>
        <p:txBody>
          <a:bodyPr spcFirstLastPara="1" wrap="square" lIns="91425" tIns="91425" rIns="91425" bIns="91425" anchor="t" anchorCtr="0">
            <a:noAutofit/>
          </a:bodyPr>
          <a:lstStyle/>
          <a:p>
            <a:pPr marL="490538" lvl="0" indent="-400050" algn="just">
              <a:lnSpc>
                <a:spcPct val="114000"/>
              </a:lnSpc>
              <a:spcBef>
                <a:spcPts val="600"/>
              </a:spcBef>
              <a:buClr>
                <a:srgbClr val="434343"/>
              </a:buClr>
              <a:buSzPts val="1600"/>
              <a:buFont typeface="+mj-lt"/>
              <a:buAutoNum type="romanLcPeriod" startAt="3"/>
            </a:pPr>
            <a:r>
              <a:rPr lang="en-IN" sz="1600" dirty="0">
                <a:latin typeface="Calibri" panose="020F0502020204030204" pitchFamily="34" charset="0"/>
                <a:cs typeface="Calibri" panose="020F0502020204030204" pitchFamily="34" charset="0"/>
                <a:sym typeface="Roboto Condensed"/>
              </a:rPr>
              <a:t>Reaction: Chemical reaction between hydrogen and nitrogen results in formation of ammonia.</a:t>
            </a:r>
          </a:p>
          <a:p>
            <a:pPr marL="490538" lvl="0" indent="-400050" algn="just">
              <a:lnSpc>
                <a:spcPct val="114000"/>
              </a:lnSpc>
              <a:spcBef>
                <a:spcPts val="600"/>
              </a:spcBef>
              <a:buClr>
                <a:srgbClr val="434343"/>
              </a:buClr>
              <a:buSzPts val="1600"/>
              <a:buFont typeface="+mj-lt"/>
              <a:buAutoNum type="romanLcPeriod" startAt="3"/>
            </a:pPr>
            <a:r>
              <a:rPr lang="en-IN" sz="1600" dirty="0">
                <a:latin typeface="Calibri" panose="020F0502020204030204" pitchFamily="34" charset="0"/>
                <a:cs typeface="Calibri" panose="020F0502020204030204" pitchFamily="34" charset="0"/>
                <a:sym typeface="Roboto Condensed"/>
              </a:rPr>
              <a:t>Desorption: The bonds between ammonia and iron is weakened so that it can be released from the surface of catalyst.</a:t>
            </a:r>
          </a:p>
          <a:p>
            <a:pPr marL="490538" lvl="0" indent="-400050" algn="just">
              <a:lnSpc>
                <a:spcPct val="114000"/>
              </a:lnSpc>
              <a:spcBef>
                <a:spcPts val="600"/>
              </a:spcBef>
              <a:buClr>
                <a:srgbClr val="434343"/>
              </a:buClr>
              <a:buSzPts val="1600"/>
              <a:buFont typeface="+mj-lt"/>
              <a:buAutoNum type="romanLcPeriod" startAt="3"/>
            </a:pPr>
            <a:r>
              <a:rPr lang="en-IN" sz="1600" dirty="0">
                <a:latin typeface="Calibri" panose="020F0502020204030204" pitchFamily="34" charset="0"/>
                <a:cs typeface="Calibri" panose="020F0502020204030204" pitchFamily="34" charset="0"/>
                <a:sym typeface="Roboto Condensed"/>
              </a:rPr>
              <a:t>Diffusion: Ammonia diffuses away from catalyst.</a:t>
            </a:r>
          </a:p>
          <a:p>
            <a:pPr marL="373063"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373063" lvl="1">
              <a:lnSpc>
                <a:spcPct val="114000"/>
              </a:lnSpc>
              <a:spcBef>
                <a:spcPts val="600"/>
              </a:spcBef>
              <a:buSzPts val="1800"/>
            </a:pPr>
            <a:endParaRPr lang="en-IN" sz="1600" dirty="0">
              <a:solidFill>
                <a:srgbClr val="080808"/>
              </a:solidFill>
              <a:latin typeface="Calibri" panose="020F0502020204030204" pitchFamily="34" charset="0"/>
              <a:cs typeface="Calibri" panose="020F0502020204030204" pitchFamily="34" charset="0"/>
            </a:endParaRPr>
          </a:p>
          <a:p>
            <a:pPr marL="715963" lvl="1" indent="-342900">
              <a:lnSpc>
                <a:spcPct val="114000"/>
              </a:lnSpc>
              <a:spcBef>
                <a:spcPts val="600"/>
              </a:spcBef>
              <a:buSzPts val="1800"/>
              <a:buFont typeface="+mj-lt"/>
              <a:buAutoNum type="alphaLcParenR" startAt="2"/>
            </a:pPr>
            <a:endParaRPr sz="1600" dirty="0">
              <a:solidFill>
                <a:srgbClr val="080808"/>
              </a:solidFill>
              <a:latin typeface="Calibri" panose="020F0502020204030204" pitchFamily="34" charset="0"/>
              <a:cs typeface="Calibri" panose="020F0502020204030204" pitchFamily="34" charset="0"/>
            </a:endParaRPr>
          </a:p>
          <a:p>
            <a:pPr marL="0" lvl="0" indent="0" algn="l" rtl="0">
              <a:lnSpc>
                <a:spcPct val="114000"/>
              </a:lnSpc>
              <a:spcBef>
                <a:spcPts val="600"/>
              </a:spcBef>
              <a:spcAft>
                <a:spcPts val="0"/>
              </a:spcAft>
              <a:buNone/>
            </a:pPr>
            <a:endParaRPr sz="1600" dirty="0">
              <a:solidFill>
                <a:srgbClr val="08080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7049108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2839</Words>
  <Application>Microsoft Office PowerPoint</Application>
  <PresentationFormat>On-screen Show (16:9)</PresentationFormat>
  <Paragraphs>308</Paragraphs>
  <Slides>37</Slides>
  <Notes>37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37</vt:i4>
      </vt:variant>
    </vt:vector>
  </HeadingPairs>
  <TitlesOfParts>
    <vt:vector size="44" baseType="lpstr">
      <vt:lpstr>Arial</vt:lpstr>
      <vt:lpstr>Roboto Condensed</vt:lpstr>
      <vt:lpstr>Roboto</vt:lpstr>
      <vt:lpstr>Calibri</vt:lpstr>
      <vt:lpstr>Cambria Math</vt:lpstr>
      <vt:lpstr>Simple Light</vt:lpstr>
      <vt:lpstr>Material</vt:lpstr>
      <vt:lpstr>Reaction kinetics</vt:lpstr>
      <vt:lpstr>Introduction</vt:lpstr>
      <vt:lpstr>Simple collision theory  </vt:lpstr>
      <vt:lpstr>Simple collision theory  </vt:lpstr>
      <vt:lpstr>Rate of a reaction</vt:lpstr>
      <vt:lpstr>Rate of reaction</vt:lpstr>
      <vt:lpstr>Rate of reaction</vt:lpstr>
      <vt:lpstr>Rate of reaction</vt:lpstr>
      <vt:lpstr>Techniques to investigate the rate of reaction</vt:lpstr>
      <vt:lpstr>Techniques to investigate the rate of reaction: Sampling</vt:lpstr>
      <vt:lpstr>Techniques to investigate the rate of reaction: Continuous</vt:lpstr>
      <vt:lpstr>Techniques to investigate the rate of reaction: Continuous</vt:lpstr>
      <vt:lpstr>Techniques to investigate the rate of reaction</vt:lpstr>
      <vt:lpstr>Techniques to investigate the rate of reaction</vt:lpstr>
      <vt:lpstr>Activation energy</vt:lpstr>
      <vt:lpstr>Activation energy: Exothermic</vt:lpstr>
      <vt:lpstr>Activation energy: Exothermic</vt:lpstr>
      <vt:lpstr>Activation energy: Endothermic</vt:lpstr>
      <vt:lpstr>Catalysts</vt:lpstr>
      <vt:lpstr>Catalysts</vt:lpstr>
      <vt:lpstr>Catalysts</vt:lpstr>
      <vt:lpstr>Boltzmann distribution</vt:lpstr>
      <vt:lpstr>Boltzmann distribution</vt:lpstr>
      <vt:lpstr>Boltzmann distribution</vt:lpstr>
      <vt:lpstr>Effect of temperature on rate of reaction</vt:lpstr>
      <vt:lpstr>Effect of catalysts on rate of reaction</vt:lpstr>
      <vt:lpstr>Effect of change in concentration and pressure on rate of reaction</vt:lpstr>
      <vt:lpstr>Enzymes</vt:lpstr>
      <vt:lpstr>Enzymes</vt:lpstr>
      <vt:lpstr>Catalysis</vt:lpstr>
      <vt:lpstr>Catalysis</vt:lpstr>
      <vt:lpstr>Heterogeneous catalysts</vt:lpstr>
      <vt:lpstr>Heterogeneous catalysts: Contact process</vt:lpstr>
      <vt:lpstr>Catalytic converters</vt:lpstr>
      <vt:lpstr>Catalytic converters</vt:lpstr>
      <vt:lpstr>Catalysis</vt:lpstr>
      <vt:lpstr>Catalysis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cp:lastModifiedBy>SUTHAN SELVARAJ</cp:lastModifiedBy>
  <cp:revision>30</cp:revision>
  <dcterms:modified xsi:type="dcterms:W3CDTF">2021-05-17T07:40:39Z</dcterms:modified>
</cp:coreProperties>
</file>