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5" r:id="rId6"/>
    <p:sldId id="264" r:id="rId7"/>
    <p:sldId id="263" r:id="rId8"/>
    <p:sldId id="262" r:id="rId9"/>
    <p:sldId id="259" r:id="rId10"/>
    <p:sldId id="260" r:id="rId11"/>
    <p:sldId id="267" r:id="rId12"/>
    <p:sldId id="268" r:id="rId13"/>
    <p:sldId id="269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2969-0676-E3E1-9BC5-E3D1CF03D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F1AC9-11C1-6627-8EA5-37592BB60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AB738-4815-EC11-30D4-23B31205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EB4A-6B5E-47B3-9562-7607420E41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FA344-82A0-733C-AA72-A4A3BF478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8F3F4-8C63-C539-12EE-EE848A60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DEFE-6FFE-443B-8CDA-AD37663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77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47C0-23AA-7935-5A5C-04486E5B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AD79E-1AD7-A14F-8A01-8DF4355B0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ED43E-1F34-8EE8-CF82-EBE7F5C48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EB4A-6B5E-47B3-9562-7607420E41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0239A-DCE7-A01C-C86B-1F19FB4B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0DBB6-5B3D-A127-EDC4-54EE8477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DEFE-6FFE-443B-8CDA-AD37663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08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4597A-0B7D-DEC9-CDB9-7AC8F7BD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8D311-8871-6BFF-2DAA-15238AF97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936C2-1010-1F58-539B-8A6C2B53D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EB4A-6B5E-47B3-9562-7607420E41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C8D4-1468-1396-F269-B4AB33703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2A35-655A-20BF-B9D2-D25DBEA7A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DEFE-6FFE-443B-8CDA-AD37663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7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5A38-E042-4D20-A43F-60E7071BB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5D57E-98D3-8753-8A00-015389B67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5AABC-96AE-AAF2-083B-753F8A6B6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54739-61CC-93D5-350F-E6C19498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EB4A-6B5E-47B3-9562-7607420E41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988DE-DFA3-BB81-F41F-C38721C3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CD0CC-AECB-9248-121D-65371C6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DEFE-6FFE-443B-8CDA-AD37663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7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DDE85-291F-1ADE-0BD8-83C86C82D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B0DBD-862F-C66B-CBDB-33B04298F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7FA9A-13F1-5B8D-4EE8-D6E9DE3D8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B8E6A2-5D8B-ACB5-B5F6-53194D933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AA4BC-E790-A508-05F0-F603D38AE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05A2D9-4C92-8935-7C5C-BD33FEDB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EB4A-6B5E-47B3-9562-7607420E41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B9542-FB7F-BEB0-E973-CBE3CF68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B131FA-45C2-5413-BD4C-F53D9145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DEFE-6FFE-443B-8CDA-AD37663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06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F2A2-7999-90C3-AF2D-CBFBB393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36429-456D-EBD4-B15E-E00D76330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EB4A-6B5E-47B3-9562-7607420E41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93699-ADB3-B5B3-301B-9AB152BD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045CC-422F-E22E-9478-3807589A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DEFE-6FFE-443B-8CDA-AD37663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30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6C0D10-2263-FA50-522D-D7398DAB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EB4A-6B5E-47B3-9562-7607420E41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1329BC-3A45-DA8A-6E74-38C51D57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0460A-398E-EB0C-C84C-49CCFBBF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DEFE-6FFE-443B-8CDA-AD37663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45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4E1D-F08D-1786-F781-A01356179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8B0F7-8905-0DF3-9C68-86E475237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E3F2C-68CF-2F42-8C71-02856637C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8E506-01FA-0A71-26A2-3D7593B1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EB4A-6B5E-47B3-9562-7607420E41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A51BE-5A17-7D7F-D018-F298ACB32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1027E-D2C0-1A42-FC66-B13E3120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DEFE-6FFE-443B-8CDA-AD37663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26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FF38-78B2-1DF3-7506-44DDD002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8F870-1074-A417-6B39-F9515B14C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FD98A-DCAD-1FF4-9FA9-A1CA5F057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B7F01-3CB0-54DA-1D7E-160A28823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EB4A-6B5E-47B3-9562-7607420E41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4C719-A3C2-DA43-6F16-B68BF499B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24800-A3EF-CC22-BF6D-D29301F14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DEFE-6FFE-443B-8CDA-AD37663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04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E75D4-45E4-71A4-039F-22F02BF1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DAC8C-64F1-5AC0-D5AA-F4808524B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8CF51-7A7A-35AB-BE89-25E8CAB6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EB4A-6B5E-47B3-9562-7607420E41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C0A04-9235-48AD-D3B1-B82B8D7EF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D9ECA-FDED-8713-92C9-C9FE02DC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DEFE-6FFE-443B-8CDA-AD37663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44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605426-73D3-BE3D-00F0-C0043A5545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53B93-6A57-711F-5599-D32CD1927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D57B0-0AB6-F1B0-FAE7-BF884739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EB4A-6B5E-47B3-9562-7607420E41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57516-4949-6945-639C-BF091B49F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4819C-62EA-CCF3-DD5B-FB2EE925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DEFE-6FFE-443B-8CDA-AD37663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9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712D2-2DC9-E8AB-B3E9-3E6E48A42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1B06B-5E48-4A01-064A-53F14A259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44395-A1FC-A4D3-A565-D3DD57313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0EB4A-6B5E-47B3-9562-7607420E41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DCA5F-70CF-8183-5475-FC328E1F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C9FC1-094E-159B-F0CF-9E39483AC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9DEFE-6FFE-443B-8CDA-AD37663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8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vemyexams.com/a-level/physics/aqa/17/revision-notes/1-measurements-and-their-errors/1-2-limitation-of-physical-measurements/1-2-3-determining-uncertainties-from-graphs/" TargetMode="External"/><Relationship Id="rId2" Type="http://schemas.openxmlformats.org/officeDocument/2006/relationships/hyperlink" Target="https://www.savemyexams.com/international-a-level/physics/edexcel/19/revision-notes/6-practical-skills-in-physics-ii/practical-skills-ii-analysis/6-15-plotting-graphs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4D95-59DC-4A64-B11B-E960BF637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829" y="576943"/>
            <a:ext cx="9144000" cy="3967163"/>
          </a:xfrm>
        </p:spPr>
        <p:txBody>
          <a:bodyPr>
            <a:noAutofit/>
          </a:bodyPr>
          <a:lstStyle/>
          <a:p>
            <a:r>
              <a:rPr lang="en-US" sz="9600" b="1" dirty="0"/>
              <a:t>PLOTTING GRAPHS</a:t>
            </a:r>
          </a:p>
        </p:txBody>
      </p:sp>
    </p:spTree>
    <p:extLst>
      <p:ext uri="{BB962C8B-B14F-4D97-AF65-F5344CB8AC3E}">
        <p14:creationId xmlns:p14="http://schemas.microsoft.com/office/powerpoint/2010/main" val="8695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3204C-E69A-4D60-89BD-6C38D17DA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942FDD-48FD-6C64-A159-EB4DC768F816}"/>
              </a:ext>
            </a:extLst>
          </p:cNvPr>
          <p:cNvSpPr txBox="1"/>
          <p:nvPr/>
        </p:nvSpPr>
        <p:spPr>
          <a:xfrm>
            <a:off x="1186541" y="1460250"/>
            <a:ext cx="1062445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0" i="0" dirty="0">
                <a:solidFill>
                  <a:srgbClr val="323232"/>
                </a:solidFill>
                <a:effectLst/>
                <a:latin typeface="jakarta"/>
              </a:rPr>
              <a:t>When plotting graphs, it is important to consider the importance of the following factors: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323232"/>
                </a:solidFill>
                <a:effectLst/>
                <a:latin typeface="jakarta"/>
              </a:rPr>
              <a:t>Selecting appropriate scales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323232"/>
                </a:solidFill>
                <a:effectLst/>
                <a:latin typeface="jakarta"/>
              </a:rPr>
              <a:t>Labelling axes with quantities and units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323232"/>
                </a:solidFill>
                <a:effectLst/>
                <a:latin typeface="jakarta"/>
              </a:rPr>
              <a:t>Carefully plotting the points</a:t>
            </a:r>
          </a:p>
        </p:txBody>
      </p:sp>
    </p:spTree>
    <p:extLst>
      <p:ext uri="{BB962C8B-B14F-4D97-AF65-F5344CB8AC3E}">
        <p14:creationId xmlns:p14="http://schemas.microsoft.com/office/powerpoint/2010/main" val="122146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8AD68-36DC-7267-7D58-A2BBFA6D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1ADD0E-1282-8690-516C-FC746E9996A3}"/>
              </a:ext>
            </a:extLst>
          </p:cNvPr>
          <p:cNvSpPr txBox="1"/>
          <p:nvPr/>
        </p:nvSpPr>
        <p:spPr>
          <a:xfrm>
            <a:off x="511628" y="28694"/>
            <a:ext cx="11440885" cy="669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300" b="1" i="0" dirty="0">
                <a:solidFill>
                  <a:srgbClr val="323232"/>
                </a:solidFill>
                <a:effectLst/>
                <a:latin typeface="jakarta"/>
              </a:rPr>
              <a:t>Choice of Scale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300" b="0" i="0" dirty="0">
                <a:solidFill>
                  <a:srgbClr val="323232"/>
                </a:solidFill>
                <a:effectLst/>
                <a:latin typeface="jakarta"/>
              </a:rPr>
              <a:t>When choosing a scale, it must be big enough to accommodate all the collected values using as much of the graph paper as possible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300" b="0" i="0" dirty="0">
                <a:solidFill>
                  <a:srgbClr val="323232"/>
                </a:solidFill>
                <a:effectLst/>
                <a:latin typeface="jakarta"/>
              </a:rPr>
              <a:t>At least half of the graph grid should be occupied in both the x and y directions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300" b="0" i="0" dirty="0">
                <a:solidFill>
                  <a:srgbClr val="323232"/>
                </a:solidFill>
                <a:effectLst/>
                <a:latin typeface="jakarta"/>
              </a:rPr>
              <a:t>Scales should be clearly indicated and have suitable, sensible ranges that are easy to work with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300" b="0" i="0" dirty="0">
                <a:solidFill>
                  <a:srgbClr val="323232"/>
                </a:solidFill>
                <a:effectLst/>
                <a:latin typeface="jakarta"/>
              </a:rPr>
              <a:t>For example, scales with multiples of 3 should be avoided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300" b="0" i="0" dirty="0">
                <a:solidFill>
                  <a:srgbClr val="323232"/>
                </a:solidFill>
                <a:effectLst/>
                <a:latin typeface="jakarta"/>
              </a:rPr>
              <a:t>The scales should increase outwards and upwards from the origin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300" b="0" i="0" dirty="0">
                <a:solidFill>
                  <a:srgbClr val="323232"/>
                </a:solidFill>
                <a:effectLst/>
                <a:latin typeface="jakarta"/>
              </a:rPr>
              <a:t>Each axis should be labelled with the quantity that is being plotted, along with the correct unit</a:t>
            </a:r>
          </a:p>
        </p:txBody>
      </p:sp>
    </p:spTree>
    <p:extLst>
      <p:ext uri="{BB962C8B-B14F-4D97-AF65-F5344CB8AC3E}">
        <p14:creationId xmlns:p14="http://schemas.microsoft.com/office/powerpoint/2010/main" val="802064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4FAE0-677C-B1D1-28FE-8D6E76312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C88519-C2D2-1FFF-CC4F-41ED0808094A}"/>
              </a:ext>
            </a:extLst>
          </p:cNvPr>
          <p:cNvSpPr txBox="1"/>
          <p:nvPr/>
        </p:nvSpPr>
        <p:spPr>
          <a:xfrm>
            <a:off x="533400" y="811296"/>
            <a:ext cx="11125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323232"/>
                </a:solidFill>
                <a:effectLst/>
              </a:rPr>
              <a:t>Labelling the Axes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</a:rPr>
              <a:t>Label each axis with the name of the quantity and its unit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</a:rPr>
              <a:t>For example, </a:t>
            </a:r>
            <a:r>
              <a:rPr lang="en-US" sz="3600" i="1" dirty="0">
                <a:effectLst/>
              </a:rPr>
              <a:t>F</a:t>
            </a:r>
            <a:r>
              <a:rPr lang="en-US" sz="3600" dirty="0">
                <a:effectLst/>
              </a:rPr>
              <a:t> / N means force measured in Newtons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</a:rPr>
              <a:t>The convention is that a forward slash ( / ) is used to separate the quantity and the unit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23232"/>
                </a:solidFill>
                <a:effectLst/>
                <a:latin typeface="jakarta"/>
              </a:rPr>
              <a:t>In general: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23232"/>
                </a:solidFill>
                <a:effectLst/>
                <a:latin typeface="jakarta"/>
              </a:rPr>
              <a:t>The </a:t>
            </a:r>
            <a:r>
              <a:rPr lang="en-US" sz="3600" b="1" i="0" dirty="0">
                <a:solidFill>
                  <a:srgbClr val="265BF6"/>
                </a:solidFill>
                <a:effectLst/>
                <a:latin typeface="jakarta"/>
              </a:rPr>
              <a:t>independent variable</a:t>
            </a:r>
            <a:r>
              <a:rPr lang="en-US" sz="3600" b="0" i="0" dirty="0">
                <a:solidFill>
                  <a:srgbClr val="323232"/>
                </a:solidFill>
                <a:effectLst/>
                <a:latin typeface="jakarta"/>
              </a:rPr>
              <a:t> goes on the x-axis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23232"/>
                </a:solidFill>
                <a:effectLst/>
                <a:latin typeface="jakarta"/>
              </a:rPr>
              <a:t>The </a:t>
            </a:r>
            <a:r>
              <a:rPr lang="en-US" sz="3600" b="1" i="0" dirty="0">
                <a:solidFill>
                  <a:srgbClr val="265BF6"/>
                </a:solidFill>
                <a:effectLst/>
                <a:latin typeface="jakarta"/>
              </a:rPr>
              <a:t>dependent variable</a:t>
            </a:r>
            <a:r>
              <a:rPr lang="en-US" sz="3600" b="0" i="0" dirty="0">
                <a:solidFill>
                  <a:srgbClr val="323232"/>
                </a:solidFill>
                <a:effectLst/>
                <a:latin typeface="jakarta"/>
              </a:rPr>
              <a:t> goes on the y-axis</a:t>
            </a:r>
          </a:p>
        </p:txBody>
      </p:sp>
    </p:spTree>
    <p:extLst>
      <p:ext uri="{BB962C8B-B14F-4D97-AF65-F5344CB8AC3E}">
        <p14:creationId xmlns:p14="http://schemas.microsoft.com/office/powerpoint/2010/main" val="299516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A55A0-A538-8F1D-A73B-386F10641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547B6C-45E5-F693-016A-251FCDC9D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66" y="555172"/>
            <a:ext cx="11163878" cy="555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40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EBC35-621C-CCFA-95AE-18ECE0C2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2DA539-8987-96EE-1191-A1773D59EBA2}"/>
              </a:ext>
            </a:extLst>
          </p:cNvPr>
          <p:cNvSpPr txBox="1"/>
          <p:nvPr/>
        </p:nvSpPr>
        <p:spPr>
          <a:xfrm>
            <a:off x="511629" y="364982"/>
            <a:ext cx="1168037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i="0" dirty="0">
                <a:solidFill>
                  <a:srgbClr val="323232"/>
                </a:solidFill>
                <a:effectLst/>
                <a:latin typeface="jakarta"/>
              </a:rPr>
              <a:t>Plotting the Points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23232"/>
                </a:solidFill>
                <a:effectLst/>
                <a:latin typeface="jakarta"/>
              </a:rPr>
              <a:t>Points should be plotted so that they all fit on the graph grid and not outside it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23232"/>
                </a:solidFill>
                <a:effectLst/>
                <a:latin typeface="jakarta"/>
              </a:rPr>
              <a:t>All values should be plotted, and the points must be precise to within </a:t>
            </a:r>
            <a:r>
              <a:rPr lang="en-US" sz="3600" b="1" i="0" dirty="0">
                <a:solidFill>
                  <a:srgbClr val="323232"/>
                </a:solidFill>
                <a:effectLst/>
                <a:latin typeface="jakarta"/>
              </a:rPr>
              <a:t>half a small square</a:t>
            </a:r>
            <a:endParaRPr lang="en-US" sz="3600" b="0" i="0" dirty="0">
              <a:solidFill>
                <a:srgbClr val="323232"/>
              </a:solidFill>
              <a:effectLst/>
              <a:latin typeface="jakart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23232"/>
                </a:solidFill>
                <a:effectLst/>
                <a:latin typeface="jakarta"/>
              </a:rPr>
              <a:t>Points must be clear, and not obscured by the line of best fit, and they need to be plotted with a sharp pencil so that they are thin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23232"/>
                </a:solidFill>
                <a:effectLst/>
                <a:latin typeface="jakarta"/>
              </a:rPr>
              <a:t>There should be at least six points plotted on the graph, with any major outliers identified</a:t>
            </a:r>
          </a:p>
        </p:txBody>
      </p:sp>
    </p:spTree>
    <p:extLst>
      <p:ext uri="{BB962C8B-B14F-4D97-AF65-F5344CB8AC3E}">
        <p14:creationId xmlns:p14="http://schemas.microsoft.com/office/powerpoint/2010/main" val="3157516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FE4E5-4D78-D746-97D6-B007A1716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58C3EC-35CF-F029-CAC1-B8B03446130F}"/>
              </a:ext>
            </a:extLst>
          </p:cNvPr>
          <p:cNvSpPr txBox="1"/>
          <p:nvPr/>
        </p:nvSpPr>
        <p:spPr>
          <a:xfrm>
            <a:off x="544286" y="181957"/>
            <a:ext cx="11310257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1" i="0" dirty="0">
                <a:solidFill>
                  <a:srgbClr val="323232"/>
                </a:solidFill>
                <a:effectLst/>
                <a:latin typeface="jakarta"/>
              </a:rPr>
              <a:t>Line or Curve of Best Fit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23232"/>
                </a:solidFill>
                <a:effectLst/>
                <a:latin typeface="jakarta"/>
              </a:rPr>
              <a:t>There should be equal numbers of points above and below the line of best fit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23232"/>
                </a:solidFill>
                <a:effectLst/>
                <a:latin typeface="jakarta"/>
              </a:rPr>
              <a:t>Using a clear plastic ruler will help with this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23232"/>
                </a:solidFill>
                <a:effectLst/>
                <a:latin typeface="jakarta"/>
              </a:rPr>
              <a:t>Not all lines will pass through the origin and nor should they be forced to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23232"/>
                </a:solidFill>
                <a:effectLst/>
                <a:latin typeface="jakarta"/>
              </a:rPr>
              <a:t>The line (or curve) of best fit should not be too thick or joined dot-to-dot like a frequency polygon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23232"/>
                </a:solidFill>
                <a:effectLst/>
                <a:latin typeface="jakarta"/>
              </a:rPr>
              <a:t>Anomalous values that have not been identified during the implementation stage should be ignored if they are obviously incorrect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23232"/>
                </a:solidFill>
                <a:effectLst/>
                <a:latin typeface="jakarta"/>
              </a:rPr>
              <a:t>This is because they will have a large effect on the gradient of the line of best fit</a:t>
            </a:r>
          </a:p>
        </p:txBody>
      </p:sp>
    </p:spTree>
    <p:extLst>
      <p:ext uri="{BB962C8B-B14F-4D97-AF65-F5344CB8AC3E}">
        <p14:creationId xmlns:p14="http://schemas.microsoft.com/office/powerpoint/2010/main" val="3716383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049D3-F024-729C-4FB2-41723365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FBE4E1-E957-47C3-B46B-8D2C084E0E00}"/>
              </a:ext>
            </a:extLst>
          </p:cNvPr>
          <p:cNvSpPr txBox="1"/>
          <p:nvPr/>
        </p:nvSpPr>
        <p:spPr>
          <a:xfrm>
            <a:off x="876300" y="1460250"/>
            <a:ext cx="106135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i="0" dirty="0">
                <a:solidFill>
                  <a:srgbClr val="323232"/>
                </a:solidFill>
                <a:effectLst/>
                <a:latin typeface="jakarta"/>
              </a:rPr>
              <a:t>Determining the y-intercept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23232"/>
                </a:solidFill>
                <a:effectLst/>
                <a:latin typeface="jakarta"/>
              </a:rPr>
              <a:t>The y-intercept is the y value obtained where the line crosses the y-axis at x = 0</a:t>
            </a:r>
          </a:p>
          <a:p>
            <a:pPr algn="l"/>
            <a:endParaRPr lang="en-US" sz="3600" b="0" i="0" dirty="0">
              <a:solidFill>
                <a:srgbClr val="323232"/>
              </a:solidFill>
              <a:effectLst/>
              <a:latin typeface="jakart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23232"/>
                </a:solidFill>
                <a:effectLst/>
                <a:latin typeface="jakarta"/>
              </a:rPr>
              <a:t>Values should be read accurately from the graph, with the scale on the y-axis being interpreted correctly</a:t>
            </a:r>
          </a:p>
        </p:txBody>
      </p:sp>
    </p:spTree>
    <p:extLst>
      <p:ext uri="{BB962C8B-B14F-4D97-AF65-F5344CB8AC3E}">
        <p14:creationId xmlns:p14="http://schemas.microsoft.com/office/powerpoint/2010/main" val="271365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37494-8FE1-6898-55E8-EB838AFF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96466B-1AA3-A1F1-7CEA-F13918F161C6}"/>
              </a:ext>
            </a:extLst>
          </p:cNvPr>
          <p:cNvSpPr txBox="1"/>
          <p:nvPr/>
        </p:nvSpPr>
        <p:spPr>
          <a:xfrm>
            <a:off x="283028" y="108858"/>
            <a:ext cx="116259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i="0" dirty="0">
                <a:solidFill>
                  <a:srgbClr val="323232"/>
                </a:solidFill>
                <a:effectLst/>
                <a:latin typeface="jakarta"/>
              </a:rPr>
              <a:t>Determining the gradient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To find the gradient, two points (x</a:t>
            </a:r>
            <a:r>
              <a:rPr lang="en-US" sz="3600" baseline="-25000" dirty="0"/>
              <a:t>1</a:t>
            </a:r>
            <a:r>
              <a:rPr lang="en-US" sz="3600" dirty="0"/>
              <a:t> , y</a:t>
            </a:r>
            <a:r>
              <a:rPr lang="en-US" sz="3600" baseline="-25000" dirty="0"/>
              <a:t>1</a:t>
            </a:r>
            <a:r>
              <a:rPr lang="en-US" sz="3600" dirty="0"/>
              <a:t> ) and (x</a:t>
            </a:r>
            <a:r>
              <a:rPr lang="en-US" sz="3600" baseline="-25000" dirty="0"/>
              <a:t>2</a:t>
            </a:r>
            <a:r>
              <a:rPr lang="en-US" sz="3600" dirty="0"/>
              <a:t> , y</a:t>
            </a:r>
            <a:r>
              <a:rPr lang="en-US" sz="3600" baseline="-25000" dirty="0"/>
              <a:t>2</a:t>
            </a:r>
            <a:r>
              <a:rPr lang="en-US" sz="3600" dirty="0"/>
              <a:t> ) that lie on the best-fit line should be chosen. The two points should be at least half the length of the line apart.</a:t>
            </a:r>
          </a:p>
          <a:p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It is helpful to try to use points where the best-fit line crosses grid lines. You should only use plots from the table of results if the plots are clearly on the best-fit line.</a:t>
            </a:r>
            <a:endParaRPr lang="en-US" sz="3600" b="0" i="0" dirty="0">
              <a:solidFill>
                <a:srgbClr val="323232"/>
              </a:solidFill>
              <a:effectLst/>
              <a:latin typeface="jakart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4292AA-00C8-68E6-F68F-6CE46D271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7574" y="4822359"/>
            <a:ext cx="4448382" cy="10232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0486BE-9B2D-49A8-95CF-D09FB027E6F7}"/>
              </a:ext>
            </a:extLst>
          </p:cNvPr>
          <p:cNvSpPr txBox="1"/>
          <p:nvPr/>
        </p:nvSpPr>
        <p:spPr>
          <a:xfrm>
            <a:off x="391885" y="5947726"/>
            <a:ext cx="98733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Using this method, negative gradients are identified.</a:t>
            </a:r>
          </a:p>
        </p:txBody>
      </p:sp>
    </p:spTree>
    <p:extLst>
      <p:ext uri="{BB962C8B-B14F-4D97-AF65-F5344CB8AC3E}">
        <p14:creationId xmlns:p14="http://schemas.microsoft.com/office/powerpoint/2010/main" val="1676402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6C831-999D-929B-9014-E51C0BF9F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EDE426-18EB-00CA-6D93-87DA305E18B2}"/>
              </a:ext>
            </a:extLst>
          </p:cNvPr>
          <p:cNvSpPr txBox="1"/>
          <p:nvPr/>
        </p:nvSpPr>
        <p:spPr>
          <a:xfrm>
            <a:off x="310243" y="262821"/>
            <a:ext cx="1157151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23232"/>
                </a:solidFill>
                <a:effectLst/>
              </a:rPr>
              <a:t>Worked Example</a:t>
            </a:r>
          </a:p>
          <a:p>
            <a:pPr algn="l">
              <a:buNone/>
            </a:pPr>
            <a:r>
              <a:rPr lang="en-US" sz="3200" b="0" i="0" dirty="0">
                <a:solidFill>
                  <a:srgbClr val="323232"/>
                </a:solidFill>
                <a:effectLst/>
                <a:latin typeface="jakarta"/>
              </a:rPr>
              <a:t>A student investigates the effect of placing an electric fan in front of a wind turbine. The wind turbine is connected to a voltmeter. When the wind turbine turns, it generates voltage. The student obtains the following results:</a:t>
            </a:r>
          </a:p>
        </p:txBody>
      </p:sp>
    </p:spTree>
    <p:extLst>
      <p:ext uri="{BB962C8B-B14F-4D97-AF65-F5344CB8AC3E}">
        <p14:creationId xmlns:p14="http://schemas.microsoft.com/office/powerpoint/2010/main" val="1003240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F1231-9E7C-A8C9-56C9-517617563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219D5-87E5-11ED-9392-379C479F1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514" y="0"/>
            <a:ext cx="4929045" cy="680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7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D739-BA1C-4DAB-5574-1A24DDAF5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3FD922-3B2C-2566-49CD-9F933C9D4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3" y="74388"/>
            <a:ext cx="11658600" cy="646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413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293C9-68B2-BFCD-7681-AD4296FF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6C0FD9-B886-789A-86D0-0432AE7E7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41" y="63336"/>
            <a:ext cx="10613572" cy="669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42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1F58F-51D0-3632-F8D7-C6FC86FC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4BF780-1C10-25B6-82B2-266C6159FE2A}"/>
              </a:ext>
            </a:extLst>
          </p:cNvPr>
          <p:cNvSpPr txBox="1"/>
          <p:nvPr/>
        </p:nvSpPr>
        <p:spPr>
          <a:xfrm>
            <a:off x="2634343" y="105932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Plotting Graphs | Edexcel International A Level (IAL) Physics Revision Notes 2018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EA1F7-BFC4-701F-D2E3-FE7B82DF08BC}"/>
              </a:ext>
            </a:extLst>
          </p:cNvPr>
          <p:cNvSpPr txBox="1"/>
          <p:nvPr/>
        </p:nvSpPr>
        <p:spPr>
          <a:xfrm>
            <a:off x="2634343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Determining Uncertainties from Graphs - AQA A Level Physics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39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579</Words>
  <Application>Microsoft Office PowerPoint</Application>
  <PresentationFormat>Widescreen</PresentationFormat>
  <Paragraphs>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jakarta</vt:lpstr>
      <vt:lpstr>Office Theme</vt:lpstr>
      <vt:lpstr>PLOTTING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ADESOJI ADESIYAN</dc:creator>
  <cp:lastModifiedBy>ADESOJI ADESIYAN</cp:lastModifiedBy>
  <cp:revision>5</cp:revision>
  <dcterms:created xsi:type="dcterms:W3CDTF">2025-10-07T09:38:15Z</dcterms:created>
  <dcterms:modified xsi:type="dcterms:W3CDTF">2025-10-07T15:05:36Z</dcterms:modified>
</cp:coreProperties>
</file>