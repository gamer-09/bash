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5" r:id="rId6"/>
    <p:sldId id="260" r:id="rId7"/>
    <p:sldId id="266" r:id="rId8"/>
    <p:sldId id="261" r:id="rId9"/>
    <p:sldId id="263" r:id="rId10"/>
    <p:sldId id="262" r:id="rId11"/>
    <p:sldId id="264"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DAE057B-291E-42BF-B1E7-ACFDDE6FBD04}">
          <p14:sldIdLst>
            <p14:sldId id="256"/>
            <p14:sldId id="257"/>
            <p14:sldId id="258"/>
            <p14:sldId id="259"/>
            <p14:sldId id="265"/>
            <p14:sldId id="260"/>
            <p14:sldId id="266"/>
            <p14:sldId id="261"/>
            <p14:sldId id="263"/>
            <p14:sldId id="262"/>
            <p14:sldId id="264"/>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68" autoAdjust="0"/>
    <p:restoredTop sz="94660"/>
  </p:normalViewPr>
  <p:slideViewPr>
    <p:cSldViewPr snapToGrid="0">
      <p:cViewPr varScale="1">
        <p:scale>
          <a:sx n="59" d="100"/>
          <a:sy n="59" d="100"/>
        </p:scale>
        <p:origin x="5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22"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6"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5" y="2733709"/>
            <a:ext cx="8144135" cy="1373070"/>
          </a:xfrm>
        </p:spPr>
        <p:txBody>
          <a:bodyPr anchor="b">
            <a:noAutofit/>
          </a:bodyPr>
          <a:lstStyle>
            <a:lvl1pPr algn="r">
              <a:defRPr sz="5401"/>
            </a:lvl1pPr>
          </a:lstStyle>
          <a:p>
            <a:r>
              <a:rPr lang="en-US"/>
              <a:t>Click to edit Master title style</a:t>
            </a:r>
            <a:endParaRPr lang="en-US" dirty="0"/>
          </a:p>
        </p:txBody>
      </p:sp>
      <p:sp>
        <p:nvSpPr>
          <p:cNvPr id="3" name="Subtitle 2"/>
          <p:cNvSpPr>
            <a:spLocks noGrp="1"/>
          </p:cNvSpPr>
          <p:nvPr>
            <p:ph type="subTitle" idx="1"/>
          </p:nvPr>
        </p:nvSpPr>
        <p:spPr>
          <a:xfrm>
            <a:off x="680325" y="4394045"/>
            <a:ext cx="8144135" cy="1117687"/>
          </a:xfrm>
        </p:spPr>
        <p:txBody>
          <a:bodyPr>
            <a:normAutofit/>
          </a:bodyPr>
          <a:lstStyle>
            <a:lvl1pPr marL="0" indent="0" algn="r">
              <a:buNone/>
              <a:defRPr sz="20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63BBFF-77C1-4BF1-A3B2-2505841100BA}"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8"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17" name="Rectangle 16"/>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ED2BB1-BB31-4EB8-A961-18800A74EAA8}"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1"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8"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3" y="4232175"/>
            <a:ext cx="9613860" cy="1704017"/>
          </a:xfrm>
        </p:spPr>
        <p:txBody>
          <a:bodyPr>
            <a:normAutofit/>
          </a:bodyPr>
          <a:lstStyle>
            <a:lvl1pPr marL="0" indent="0" algn="r">
              <a:buNone/>
              <a:defRPr sz="20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40B886-74BB-4D5E-9EA9-584482FE40E6}"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8" y="2869901"/>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10" name="Rectangle 9"/>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5" y="2336873"/>
            <a:ext cx="469835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7" y="2336873"/>
            <a:ext cx="470005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A4CCD1-3502-4C30-947C-75FC88992007}"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12" name="Rectangle 11"/>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753234"/>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4" y="2336879"/>
            <a:ext cx="4472327" cy="693135"/>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4" y="3030012"/>
            <a:ext cx="4698356"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8" y="2336873"/>
            <a:ext cx="4474028" cy="692076"/>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9" y="3030012"/>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0B797A-E8AF-4231-9C64-308C5BB9ED3E}" type="datetimeFigureOut">
              <a:rPr lang="en-US" dirty="0"/>
              <a:t>9/26/2025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8" name="Rectangle 7"/>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B24146-07E2-48CA-8629-5887ED47FCDB}" type="datetimeFigureOut">
              <a:rPr lang="en-US" dirty="0"/>
              <a:t>9/26/2025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6" name="Rectangle 5"/>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D407E718-B4F0-433E-A285-0013249184C0}" type="datetimeFigureOut">
              <a:rPr lang="en-US" dirty="0"/>
              <a:t>9/26/2025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10" name="Rectangle 9"/>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753227"/>
            <a:ext cx="9613860"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50" y="2336879"/>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6" y="2336878"/>
            <a:ext cx="3790078" cy="3599317"/>
          </a:xfrm>
        </p:spPr>
        <p:txBody>
          <a:bodyPr anchor="ct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2B8E44C4-3D72-4D6E-86A4-F5491DC49E6D}"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10" name="Rectangle 9"/>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6" y="753228"/>
            <a:ext cx="9613858"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6" y="2336875"/>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4" y="2336879"/>
            <a:ext cx="3876256" cy="3599315"/>
          </a:xfrm>
        </p:spPr>
        <p:txBody>
          <a:bodyPr anchor="ct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06B8EA14-E6AC-4B59-973C-7A06B0EDE3E3}"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5929622"/>
            <a:ext cx="1602997" cy="144270"/>
          </a:xfrm>
          <a:prstGeom prst="rect">
            <a:avLst/>
          </a:prstGeom>
        </p:spPr>
      </p:pic>
      <p:sp>
        <p:nvSpPr>
          <p:cNvPr id="10" name="Rectangle 9"/>
          <p:cNvSpPr/>
          <p:nvPr/>
        </p:nvSpPr>
        <p:spPr bwMode="ltGray">
          <a:xfrm>
            <a:off x="2"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4711620"/>
            <a:ext cx="9613860"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3" y="609603"/>
            <a:ext cx="9613860"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2" y="5169589"/>
            <a:ext cx="9613863" cy="622971"/>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5EC93879-1153-42D3-8EC7-7A3CC94658D3}"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8" y="4711314"/>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5929622"/>
            <a:ext cx="1602997" cy="144270"/>
          </a:xfrm>
          <a:prstGeom prst="rect">
            <a:avLst/>
          </a:prstGeom>
        </p:spPr>
      </p:pic>
      <p:sp>
        <p:nvSpPr>
          <p:cNvPr id="10" name="Rectangle 9"/>
          <p:cNvSpPr/>
          <p:nvPr/>
        </p:nvSpPr>
        <p:spPr bwMode="ltGray">
          <a:xfrm>
            <a:off x="2"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60"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3" y="4711620"/>
            <a:ext cx="9613860" cy="1090789"/>
          </a:xfrm>
        </p:spPr>
        <p:txBody>
          <a:bodyPr anchor="ct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382E1496-D8B1-4FDC-98A5-AD2561A2EE12}"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8" y="4711620"/>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5929622"/>
            <a:ext cx="1602997" cy="144270"/>
          </a:xfrm>
          <a:prstGeom prst="rect">
            <a:avLst/>
          </a:prstGeom>
        </p:spPr>
      </p:pic>
      <p:sp>
        <p:nvSpPr>
          <p:cNvPr id="14" name="Rectangle 13"/>
          <p:cNvSpPr/>
          <p:nvPr/>
        </p:nvSpPr>
        <p:spPr bwMode="ltGray">
          <a:xfrm>
            <a:off x="2"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603"/>
            <a:ext cx="8718876"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90" y="3653379"/>
            <a:ext cx="8156580" cy="548968"/>
          </a:xfrm>
        </p:spPr>
        <p:txBody>
          <a:bodyPr anchor="t">
            <a:normAutofit/>
          </a:bodyPr>
          <a:lstStyle>
            <a:lvl1pPr marL="0" indent="0">
              <a:buNone/>
              <a:defRPr sz="1401"/>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4" name="Text Placeholder 3"/>
          <p:cNvSpPr>
            <a:spLocks noGrp="1"/>
          </p:cNvSpPr>
          <p:nvPr>
            <p:ph type="body" sz="half" idx="2"/>
          </p:nvPr>
        </p:nvSpPr>
        <p:spPr>
          <a:xfrm>
            <a:off x="680323" y="4711620"/>
            <a:ext cx="9613860" cy="1090789"/>
          </a:xfrm>
        </p:spPr>
        <p:txBody>
          <a:bodyPr anchor="ctr">
            <a:normAutofit/>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08AD3855-5B08-4570-810C-DE4498675D2C}"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8" y="4709929"/>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1" rIns="91440" bIns="45721"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1" rIns="91440" bIns="45721"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5929622"/>
            <a:ext cx="1602997" cy="144270"/>
          </a:xfrm>
          <a:prstGeom prst="rect">
            <a:avLst/>
          </a:prstGeom>
        </p:spPr>
      </p:pic>
      <p:sp>
        <p:nvSpPr>
          <p:cNvPr id="11" name="Rectangle 10"/>
          <p:cNvSpPr/>
          <p:nvPr/>
        </p:nvSpPr>
        <p:spPr bwMode="ltGray">
          <a:xfrm>
            <a:off x="2"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20"/>
            <a:ext cx="9613863"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5300155"/>
            <a:ext cx="9613863" cy="502255"/>
          </a:xfrm>
        </p:spPr>
        <p:txBody>
          <a:bodyPr anchor="t"/>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95FC1B1A-3400-4A09-B018-5620D6ADA4AF}"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8" y="470992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16" name="Rectangle 15"/>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3"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6" cy="576262"/>
          </a:xfrm>
        </p:spPr>
        <p:txBody>
          <a:bodyPr anchor="b">
            <a:noAutofit/>
          </a:bodyPr>
          <a:lstStyle>
            <a:lvl1pPr marL="0" indent="0">
              <a:buNone/>
              <a:defRPr sz="2400" b="0">
                <a:solidFill>
                  <a:schemeClr val="tx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5" y="3022679"/>
            <a:ext cx="3049703" cy="2913513"/>
          </a:xfrm>
        </p:spPr>
        <p:txBody>
          <a:bodyPr anchor="t">
            <a:normAutofit/>
          </a:bodyPr>
          <a:lstStyle>
            <a:lvl1pPr marL="0" indent="0">
              <a:buNone/>
              <a:defRPr sz="1401"/>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8" y="2336873"/>
            <a:ext cx="3063241" cy="576262"/>
          </a:xfrm>
        </p:spPr>
        <p:txBody>
          <a:bodyPr anchor="b">
            <a:noAutofit/>
          </a:bodyPr>
          <a:lstStyle>
            <a:lvl1pPr marL="0" indent="0">
              <a:buNone/>
              <a:defRPr sz="2400" b="0">
                <a:solidFill>
                  <a:schemeClr val="tx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3" y="3022679"/>
            <a:ext cx="3063241" cy="2913513"/>
          </a:xfrm>
        </p:spPr>
        <p:txBody>
          <a:bodyPr anchor="t">
            <a:normAutofit/>
          </a:bodyPr>
          <a:lstStyle>
            <a:lvl1pPr marL="0" indent="0">
              <a:buNone/>
              <a:defRPr sz="1401"/>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61" y="2336873"/>
            <a:ext cx="3070025" cy="576262"/>
          </a:xfrm>
        </p:spPr>
        <p:txBody>
          <a:bodyPr anchor="b">
            <a:noAutofit/>
          </a:bodyPr>
          <a:lstStyle>
            <a:lvl1pPr marL="0" indent="0">
              <a:buNone/>
              <a:defRPr sz="2400" b="0">
                <a:solidFill>
                  <a:schemeClr val="tx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61" y="3022679"/>
            <a:ext cx="3070025" cy="2913513"/>
          </a:xfrm>
        </p:spPr>
        <p:txBody>
          <a:bodyPr anchor="t">
            <a:normAutofit/>
          </a:bodyPr>
          <a:lstStyle>
            <a:lvl1pPr marL="0" indent="0">
              <a:buNone/>
              <a:defRPr sz="1401"/>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33EE65E-8B04-4250-B4A9-5C65F355F1A2}" type="datetimeFigureOut">
              <a:rPr lang="en-US" dirty="0"/>
              <a:t>9/26/2025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17" name="Rectangle 16"/>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3"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24" y="4297503"/>
            <a:ext cx="3049705" cy="576262"/>
          </a:xfrm>
        </p:spPr>
        <p:txBody>
          <a:bodyPr anchor="b">
            <a:noAutofit/>
          </a:bodyPr>
          <a:lstStyle>
            <a:lvl1pPr marL="0" indent="0">
              <a:buNone/>
              <a:defRPr sz="2400" b="0">
                <a:solidFill>
                  <a:schemeClr val="tx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24"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6" indent="0">
              <a:buNone/>
              <a:defRPr sz="1600"/>
            </a:lvl2pPr>
            <a:lvl3pPr marL="914411" indent="0">
              <a:buNone/>
              <a:defRPr sz="1600"/>
            </a:lvl3pPr>
            <a:lvl4pPr marL="1371617" indent="0">
              <a:buNone/>
              <a:defRPr sz="1600"/>
            </a:lvl4pPr>
            <a:lvl5pPr marL="1828823" indent="0">
              <a:buNone/>
              <a:defRPr sz="1600"/>
            </a:lvl5pPr>
            <a:lvl6pPr marL="2286029" indent="0">
              <a:buNone/>
              <a:defRPr sz="1600"/>
            </a:lvl6pPr>
            <a:lvl7pPr marL="2743234" indent="0">
              <a:buNone/>
              <a:defRPr sz="1600"/>
            </a:lvl7pPr>
            <a:lvl8pPr marL="3200440" indent="0">
              <a:buNone/>
              <a:defRPr sz="1600"/>
            </a:lvl8pPr>
            <a:lvl9pPr marL="3657646"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24" y="4873765"/>
            <a:ext cx="3049705" cy="1062422"/>
          </a:xfrm>
        </p:spPr>
        <p:txBody>
          <a:bodyPr anchor="t">
            <a:normAutofit/>
          </a:bodyPr>
          <a:lstStyle>
            <a:lvl1pPr marL="0" indent="0">
              <a:buNone/>
              <a:defRPr sz="1401"/>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3" y="4297503"/>
            <a:ext cx="3063241" cy="576262"/>
          </a:xfrm>
        </p:spPr>
        <p:txBody>
          <a:bodyPr anchor="b">
            <a:noAutofit/>
          </a:bodyPr>
          <a:lstStyle>
            <a:lvl1pPr marL="0" indent="0">
              <a:buNone/>
              <a:defRPr sz="2400" b="0">
                <a:solidFill>
                  <a:schemeClr val="tx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3" y="2336873"/>
            <a:ext cx="3063241"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6" indent="0">
              <a:buNone/>
              <a:defRPr sz="1600"/>
            </a:lvl2pPr>
            <a:lvl3pPr marL="914411" indent="0">
              <a:buNone/>
              <a:defRPr sz="1600"/>
            </a:lvl3pPr>
            <a:lvl4pPr marL="1371617" indent="0">
              <a:buNone/>
              <a:defRPr sz="1600"/>
            </a:lvl4pPr>
            <a:lvl5pPr marL="1828823" indent="0">
              <a:buNone/>
              <a:defRPr sz="1600"/>
            </a:lvl5pPr>
            <a:lvl6pPr marL="2286029" indent="0">
              <a:buNone/>
              <a:defRPr sz="1600"/>
            </a:lvl6pPr>
            <a:lvl7pPr marL="2743234" indent="0">
              <a:buNone/>
              <a:defRPr sz="1600"/>
            </a:lvl7pPr>
            <a:lvl8pPr marL="3200440" indent="0">
              <a:buNone/>
              <a:defRPr sz="1600"/>
            </a:lvl8pPr>
            <a:lvl9pPr marL="3657646"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23" y="4873764"/>
            <a:ext cx="3067298" cy="1062422"/>
          </a:xfrm>
        </p:spPr>
        <p:txBody>
          <a:bodyPr anchor="t">
            <a:normAutofit/>
          </a:bodyPr>
          <a:lstStyle>
            <a:lvl1pPr marL="0" indent="0">
              <a:buNone/>
              <a:defRPr sz="1401"/>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81" y="4297503"/>
            <a:ext cx="3063506" cy="576262"/>
          </a:xfrm>
        </p:spPr>
        <p:txBody>
          <a:bodyPr anchor="b">
            <a:noAutofit/>
          </a:bodyPr>
          <a:lstStyle>
            <a:lvl1pPr marL="0" indent="0">
              <a:buNone/>
              <a:defRPr sz="2400" b="0">
                <a:solidFill>
                  <a:schemeClr val="tx1"/>
                </a:solidFill>
              </a:defRPr>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81" y="2336873"/>
            <a:ext cx="306350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6" indent="0">
              <a:buNone/>
              <a:defRPr sz="1600"/>
            </a:lvl2pPr>
            <a:lvl3pPr marL="914411" indent="0">
              <a:buNone/>
              <a:defRPr sz="1600"/>
            </a:lvl3pPr>
            <a:lvl4pPr marL="1371617" indent="0">
              <a:buNone/>
              <a:defRPr sz="1600"/>
            </a:lvl4pPr>
            <a:lvl5pPr marL="1828823" indent="0">
              <a:buNone/>
              <a:defRPr sz="1600"/>
            </a:lvl5pPr>
            <a:lvl6pPr marL="2286029" indent="0">
              <a:buNone/>
              <a:defRPr sz="1600"/>
            </a:lvl6pPr>
            <a:lvl7pPr marL="2743234" indent="0">
              <a:buNone/>
              <a:defRPr sz="1600"/>
            </a:lvl7pPr>
            <a:lvl8pPr marL="3200440" indent="0">
              <a:buNone/>
              <a:defRPr sz="1600"/>
            </a:lvl8pPr>
            <a:lvl9pPr marL="3657646"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1"/>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F5881F-8E44-4F15-AB98-80B7869E49CA}" type="datetimeFigureOut">
              <a:rPr lang="en-US" dirty="0"/>
              <a:t>9/26/2025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8" y="1971234"/>
            <a:ext cx="1602997" cy="144270"/>
          </a:xfrm>
          <a:prstGeom prst="rect">
            <a:avLst/>
          </a:prstGeom>
        </p:spPr>
      </p:pic>
      <p:sp>
        <p:nvSpPr>
          <p:cNvPr id="9" name="Rectangle 8"/>
          <p:cNvSpPr/>
          <p:nvPr/>
        </p:nvSpPr>
        <p:spPr bwMode="ltGray">
          <a:xfrm>
            <a:off x="2"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7D2069-43FA-49C5-9F0E-58E1EB237AEF}"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400"/>
            <a:ext cx="5106988" cy="136819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6" y="5372408"/>
            <a:ext cx="1602997" cy="1368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2" y="609597"/>
            <a:ext cx="1073803"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603"/>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5" y="5936193"/>
            <a:ext cx="2743200" cy="365125"/>
          </a:xfrm>
        </p:spPr>
        <p:txBody>
          <a:bodyPr/>
          <a:lstStyle/>
          <a:p>
            <a:fld id="{C05854CA-19F4-4771-B6A2-DA5C0742B220}" type="datetimeFigureOut">
              <a:rPr lang="en-US" dirty="0"/>
              <a:t>9/26/2025</a:t>
            </a:fld>
            <a:endParaRPr lang="en-US" dirty="0"/>
          </a:p>
        </p:txBody>
      </p:sp>
      <p:sp>
        <p:nvSpPr>
          <p:cNvPr id="5" name="Footer Placeholder 4"/>
          <p:cNvSpPr>
            <a:spLocks noGrp="1"/>
          </p:cNvSpPr>
          <p:nvPr>
            <p:ph type="ftr" sz="quarter" idx="11"/>
          </p:nvPr>
        </p:nvSpPr>
        <p:spPr>
          <a:xfrm>
            <a:off x="680324" y="5936194"/>
            <a:ext cx="6126805" cy="365125"/>
          </a:xfrm>
        </p:spPr>
        <p:txBody>
          <a:bodyPr/>
          <a:lstStyle/>
          <a:p>
            <a:endParaRPr lang="en-US" dirty="0"/>
          </a:p>
        </p:txBody>
      </p:sp>
      <p:sp>
        <p:nvSpPr>
          <p:cNvPr id="6" name="Slide Number Placeholder 5"/>
          <p:cNvSpPr>
            <a:spLocks noGrp="1"/>
          </p:cNvSpPr>
          <p:nvPr>
            <p:ph type="sldNum" sz="quarter" idx="12"/>
          </p:nvPr>
        </p:nvSpPr>
        <p:spPr>
          <a:xfrm>
            <a:off x="10097554" y="5398639"/>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6"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6"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93"/>
            <a:ext cx="2743200" cy="365125"/>
          </a:xfrm>
          <a:prstGeom prst="rect">
            <a:avLst/>
          </a:prstGeom>
        </p:spPr>
        <p:txBody>
          <a:bodyPr vert="horz" lIns="91440" tIns="45720" rIns="91440" bIns="45720" rtlCol="0" anchor="ctr"/>
          <a:lstStyle>
            <a:lvl1pPr algn="r">
              <a:defRPr sz="1051">
                <a:solidFill>
                  <a:schemeClr val="tx1">
                    <a:tint val="75000"/>
                  </a:schemeClr>
                </a:solidFill>
              </a:defRPr>
            </a:lvl1pPr>
          </a:lstStyle>
          <a:p>
            <a:fld id="{A3BB3B3F-C0CE-47CB-BCED-F49A710726FF}" type="datetimeFigureOut">
              <a:rPr lang="en-US" dirty="0"/>
              <a:t>9/26/2025</a:t>
            </a:fld>
            <a:endParaRPr lang="en-US" dirty="0"/>
          </a:p>
        </p:txBody>
      </p:sp>
      <p:sp>
        <p:nvSpPr>
          <p:cNvPr id="5" name="Footer Placeholder 4"/>
          <p:cNvSpPr>
            <a:spLocks noGrp="1"/>
          </p:cNvSpPr>
          <p:nvPr>
            <p:ph type="ftr" sz="quarter" idx="3"/>
          </p:nvPr>
        </p:nvSpPr>
        <p:spPr>
          <a:xfrm>
            <a:off x="680323" y="5936194"/>
            <a:ext cx="6870660" cy="365125"/>
          </a:xfrm>
          <a:prstGeom prst="rect">
            <a:avLst/>
          </a:prstGeom>
        </p:spPr>
        <p:txBody>
          <a:bodyPr vert="horz" lIns="91440" tIns="45720" rIns="91440" bIns="45720" rtlCol="0" anchor="ctr"/>
          <a:lstStyle>
            <a:lvl1pPr algn="l">
              <a:defRPr sz="1051">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8" y="753231"/>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11"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4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4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4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4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4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9xQxA5PHrA4" TargetMode="External"/><Relationship Id="rId2" Type="http://schemas.openxmlformats.org/officeDocument/2006/relationships/hyperlink" Target="https://www.youtube.com/watch?v=mmgiehwrK54&amp;t=65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1545C-327A-B07B-562A-A6364B2B3C62}"/>
              </a:ext>
            </a:extLst>
          </p:cNvPr>
          <p:cNvSpPr>
            <a:spLocks noGrp="1"/>
          </p:cNvSpPr>
          <p:nvPr>
            <p:ph type="ctrTitle"/>
          </p:nvPr>
        </p:nvSpPr>
        <p:spPr>
          <a:xfrm>
            <a:off x="146957" y="1774209"/>
            <a:ext cx="8595856" cy="3115590"/>
          </a:xfrm>
        </p:spPr>
        <p:txBody>
          <a:bodyPr/>
          <a:lstStyle/>
          <a:p>
            <a:r>
              <a:rPr lang="en-US" sz="6600" b="1" dirty="0">
                <a:effectLst/>
                <a:latin typeface="Times New Roman" panose="02020603050405020304" pitchFamily="18" charset="0"/>
                <a:ea typeface="Calibri" panose="020F0502020204030204" pitchFamily="34" charset="0"/>
              </a:rPr>
              <a:t>SOLUTIONS AND STANDARDS PREPARATION</a:t>
            </a:r>
            <a:endParaRPr lang="en-US" sz="6600" dirty="0"/>
          </a:p>
        </p:txBody>
      </p:sp>
    </p:spTree>
    <p:extLst>
      <p:ext uri="{BB962C8B-B14F-4D97-AF65-F5344CB8AC3E}">
        <p14:creationId xmlns:p14="http://schemas.microsoft.com/office/powerpoint/2010/main" val="1356571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8F752-20C4-4E98-A0DD-B21CCCCA7A82}"/>
              </a:ext>
            </a:extLst>
          </p:cNvPr>
          <p:cNvSpPr>
            <a:spLocks noGrp="1"/>
          </p:cNvSpPr>
          <p:nvPr>
            <p:ph type="title"/>
          </p:nvPr>
        </p:nvSpPr>
        <p:spPr>
          <a:xfrm>
            <a:off x="111456" y="464025"/>
            <a:ext cx="11969087" cy="6516806"/>
          </a:xfrm>
        </p:spPr>
        <p:txBody>
          <a:bodyPr>
            <a:noAutofit/>
          </a:bodyPr>
          <a:lstStyle/>
          <a:p>
            <a:pPr marL="0" marR="0">
              <a:lnSpc>
                <a:spcPct val="107000"/>
              </a:lnSpc>
              <a:spcBef>
                <a:spcPts val="0"/>
              </a:spcBef>
              <a:spcAft>
                <a:spcPts val="800"/>
              </a:spcAft>
            </a:pPr>
            <a:r>
              <a:rPr lang="en-US" sz="4400" b="1" kern="100" dirty="0">
                <a:effectLst/>
                <a:latin typeface="Times New Roman" panose="02020603050405020304" pitchFamily="18" charset="0"/>
                <a:ea typeface="Calibri" panose="020F0502020204030204" pitchFamily="34" charset="0"/>
                <a:cs typeface="Times New Roman" panose="02020603050405020304" pitchFamily="18" charset="0"/>
              </a:rPr>
              <a:t>How to weigh using Analytical Balance</a:t>
            </a:r>
            <a:br>
              <a:rPr lang="en-US" sz="4400" b="1" kern="100" dirty="0">
                <a:effectLst/>
                <a:latin typeface="Calibri" panose="020F0502020204030204" pitchFamily="34" charset="0"/>
                <a:ea typeface="Calibri" panose="020F0502020204030204" pitchFamily="34" charset="0"/>
                <a:cs typeface="Times New Roman" panose="02020603050405020304" pitchFamily="18" charset="0"/>
              </a:rPr>
            </a:br>
            <a:r>
              <a:rPr lang="en-US" sz="4400" b="1"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https://www.youtube.com/watch?v=mmgiehwrK54&amp;t=65s</a:t>
            </a:r>
            <a:br>
              <a:rPr lang="en-US" sz="4400" b="1" kern="100" dirty="0">
                <a:effectLst/>
                <a:latin typeface="Calibri" panose="020F0502020204030204" pitchFamily="34" charset="0"/>
                <a:ea typeface="Calibri" panose="020F0502020204030204" pitchFamily="34" charset="0"/>
                <a:cs typeface="Times New Roman" panose="02020603050405020304" pitchFamily="18" charset="0"/>
              </a:rPr>
            </a:br>
            <a:r>
              <a:rPr lang="en-US" sz="4400" b="1" kern="100" dirty="0">
                <a:effectLst/>
                <a:latin typeface="Times New Roman" panose="02020603050405020304" pitchFamily="18" charset="0"/>
                <a:ea typeface="Calibri" panose="020F0502020204030204" pitchFamily="34" charset="0"/>
                <a:cs typeface="Times New Roman" panose="02020603050405020304" pitchFamily="18" charset="0"/>
              </a:rPr>
              <a:t> </a:t>
            </a:r>
            <a:br>
              <a:rPr lang="en-US" sz="4400" b="1" kern="100" dirty="0">
                <a:effectLst/>
                <a:latin typeface="Calibri" panose="020F0502020204030204" pitchFamily="34" charset="0"/>
                <a:ea typeface="Calibri" panose="020F0502020204030204" pitchFamily="34" charset="0"/>
                <a:cs typeface="Times New Roman" panose="02020603050405020304" pitchFamily="18" charset="0"/>
              </a:rPr>
            </a:br>
            <a:r>
              <a:rPr lang="en-US" sz="4400" b="1" kern="100" dirty="0">
                <a:effectLst/>
                <a:latin typeface="Times New Roman" panose="02020603050405020304" pitchFamily="18" charset="0"/>
                <a:ea typeface="Calibri" panose="020F0502020204030204" pitchFamily="34" charset="0"/>
                <a:cs typeface="Times New Roman" panose="02020603050405020304" pitchFamily="18" charset="0"/>
              </a:rPr>
              <a:t>Use of Standard flask in preparing different volume of standard solutions</a:t>
            </a:r>
            <a:br>
              <a:rPr lang="en-US" sz="4400" b="1" kern="100" dirty="0">
                <a:effectLst/>
                <a:latin typeface="Calibri" panose="020F0502020204030204" pitchFamily="34" charset="0"/>
                <a:ea typeface="Calibri" panose="020F0502020204030204" pitchFamily="34" charset="0"/>
                <a:cs typeface="Times New Roman" panose="02020603050405020304" pitchFamily="18" charset="0"/>
              </a:rPr>
            </a:br>
            <a:r>
              <a:rPr lang="en-US" sz="4400" b="1"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https://www.youtube.com/watch?v=9xQxA5PHrA4</a:t>
            </a:r>
            <a:br>
              <a:rPr lang="en-US" sz="44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4400" b="1" dirty="0"/>
          </a:p>
        </p:txBody>
      </p:sp>
    </p:spTree>
    <p:extLst>
      <p:ext uri="{BB962C8B-B14F-4D97-AF65-F5344CB8AC3E}">
        <p14:creationId xmlns:p14="http://schemas.microsoft.com/office/powerpoint/2010/main" val="424109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35065-80DB-AEAA-F8D8-40D585DA684C}"/>
              </a:ext>
            </a:extLst>
          </p:cNvPr>
          <p:cNvSpPr>
            <a:spLocks noGrp="1"/>
          </p:cNvSpPr>
          <p:nvPr>
            <p:ph type="title"/>
          </p:nvPr>
        </p:nvSpPr>
        <p:spPr>
          <a:xfrm>
            <a:off x="130628" y="139889"/>
            <a:ext cx="11930743" cy="6578221"/>
          </a:xfrm>
        </p:spPr>
        <p:txBody>
          <a:bodyPr>
            <a:noAutofit/>
          </a:bodyPr>
          <a:lstStyle/>
          <a:p>
            <a:pPr marL="0" marR="0">
              <a:lnSpc>
                <a:spcPct val="107000"/>
              </a:lnSpc>
              <a:spcBef>
                <a:spcPts val="0"/>
              </a:spcBef>
              <a:spcAft>
                <a:spcPts val="800"/>
              </a:spcAft>
            </a:pPr>
            <a:r>
              <a:rPr lang="en-US" b="1" u="sng" kern="100" dirty="0">
                <a:effectLst/>
                <a:latin typeface="Times New Roman" panose="02020603050405020304" pitchFamily="18" charset="0"/>
                <a:ea typeface="Calibri" panose="020F0502020204030204" pitchFamily="34" charset="0"/>
                <a:cs typeface="Times New Roman" panose="02020603050405020304" pitchFamily="18" charset="0"/>
              </a:rPr>
              <a:t>Preparing different concentrations of solutions from stock solution.</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 </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What is stock solution?</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 stock solution is a concentrated solution which is used to prepare dilute solution of some lower concentration for actual use.</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Stock solutions are prepared in standardized concentration which are commonly used in analytical Chemistry titrations.</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Hydrochloric acid (HCl) and sodium hydroxide (NaOH) can be prepared as stock solutions.</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5204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5E7DB-E00E-58AF-B1AB-CADB44AA4BE0}"/>
              </a:ext>
            </a:extLst>
          </p:cNvPr>
          <p:cNvSpPr>
            <a:spLocks noGrp="1"/>
          </p:cNvSpPr>
          <p:nvPr>
            <p:ph type="title"/>
          </p:nvPr>
        </p:nvSpPr>
        <p:spPr>
          <a:xfrm>
            <a:off x="260772" y="303662"/>
            <a:ext cx="11070772" cy="6250675"/>
          </a:xfrm>
        </p:spPr>
        <p:txBody>
          <a:bodyPr>
            <a:noAutofit/>
          </a:bodyPr>
          <a:lstStyle/>
          <a:p>
            <a:pPr marL="0" marR="0">
              <a:lnSpc>
                <a:spcPct val="107000"/>
              </a:lnSpc>
              <a:spcBef>
                <a:spcPts val="0"/>
              </a:spcBef>
              <a:spcAft>
                <a:spcPts val="800"/>
              </a:spcAft>
            </a:pPr>
            <a:r>
              <a:rPr lang="en-US" sz="4000" b="1" kern="100" dirty="0">
                <a:effectLst/>
                <a:latin typeface="Times New Roman" panose="02020603050405020304" pitchFamily="18" charset="0"/>
                <a:ea typeface="Calibri" panose="020F0502020204030204" pitchFamily="34" charset="0"/>
                <a:cs typeface="Times New Roman" panose="02020603050405020304" pitchFamily="18" charset="0"/>
              </a:rPr>
              <a:t>A dilute solution is prepared</a:t>
            </a:r>
            <a:r>
              <a:rPr lang="en-US" sz="4000" kern="100" dirty="0">
                <a:effectLst/>
                <a:latin typeface="Times New Roman" panose="02020603050405020304" pitchFamily="18" charset="0"/>
                <a:ea typeface="Calibri" panose="020F0502020204030204" pitchFamily="34" charset="0"/>
                <a:cs typeface="Times New Roman" panose="02020603050405020304" pitchFamily="18" charset="0"/>
              </a:rPr>
              <a:t> by adding more solvent to a more concentrated solution (stock solution), which reduces the concentration of the solution.</a:t>
            </a:r>
            <a:br>
              <a:rPr lang="en-US" sz="4000" kern="100" dirty="0">
                <a:effectLst/>
                <a:latin typeface="Calibri" panose="020F0502020204030204" pitchFamily="34" charset="0"/>
                <a:ea typeface="Calibri" panose="020F0502020204030204" pitchFamily="34" charset="0"/>
                <a:cs typeface="Times New Roman" panose="02020603050405020304" pitchFamily="18" charset="0"/>
              </a:rPr>
            </a:br>
            <a:r>
              <a:rPr lang="en-US" sz="4000" kern="100" dirty="0">
                <a:effectLst/>
                <a:latin typeface="Times New Roman" panose="02020603050405020304" pitchFamily="18" charset="0"/>
                <a:ea typeface="Calibri" panose="020F0502020204030204" pitchFamily="34" charset="0"/>
                <a:cs typeface="Times New Roman" panose="02020603050405020304" pitchFamily="18" charset="0"/>
              </a:rPr>
              <a:t>For example,</a:t>
            </a:r>
            <a:br>
              <a:rPr lang="en-US" sz="4000" kern="100" dirty="0">
                <a:effectLst/>
                <a:latin typeface="Calibri" panose="020F0502020204030204" pitchFamily="34" charset="0"/>
                <a:ea typeface="Calibri" panose="020F0502020204030204" pitchFamily="34" charset="0"/>
                <a:cs typeface="Times New Roman" panose="02020603050405020304" pitchFamily="18" charset="0"/>
              </a:rPr>
            </a:br>
            <a:r>
              <a:rPr lang="en-US" sz="4000" kern="100" dirty="0">
                <a:effectLst/>
                <a:latin typeface="Times New Roman" panose="02020603050405020304" pitchFamily="18" charset="0"/>
                <a:ea typeface="Calibri" panose="020F0502020204030204" pitchFamily="34" charset="0"/>
                <a:cs typeface="Times New Roman" panose="02020603050405020304" pitchFamily="18" charset="0"/>
              </a:rPr>
              <a:t>98% Sulfuric acid is a concentrated solution of approximately 18M, which is commonly available in analytical labs. It is used to prepare sulfuric acid solutions for Various purposes like titration.</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6737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833E-5C11-08B7-0434-782AE088FF35}"/>
              </a:ext>
            </a:extLst>
          </p:cNvPr>
          <p:cNvSpPr>
            <a:spLocks noGrp="1"/>
          </p:cNvSpPr>
          <p:nvPr>
            <p:ph type="title"/>
          </p:nvPr>
        </p:nvSpPr>
        <p:spPr/>
        <p:txBody>
          <a:bodyPr/>
          <a:lstStyle/>
          <a:p>
            <a:r>
              <a:rPr lang="en-US" dirty="0"/>
              <a:t>STANDARD SOLUTION</a:t>
            </a:r>
          </a:p>
        </p:txBody>
      </p:sp>
      <p:sp>
        <p:nvSpPr>
          <p:cNvPr id="3" name="Content Placeholder 2">
            <a:extLst>
              <a:ext uri="{FF2B5EF4-FFF2-40B4-BE49-F238E27FC236}">
                <a16:creationId xmlns:a16="http://schemas.microsoft.com/office/drawing/2014/main" id="{B574682D-4653-AEA6-3286-C5B530E86F8C}"/>
              </a:ext>
            </a:extLst>
          </p:cNvPr>
          <p:cNvSpPr>
            <a:spLocks noGrp="1"/>
          </p:cNvSpPr>
          <p:nvPr>
            <p:ph idx="1"/>
          </p:nvPr>
        </p:nvSpPr>
        <p:spPr>
          <a:xfrm>
            <a:off x="229752" y="2244106"/>
            <a:ext cx="11326144" cy="4521127"/>
          </a:xfrm>
        </p:spPr>
        <p:txBody>
          <a:bodyPr>
            <a:normAutofit/>
          </a:bodyPr>
          <a:lstStyle/>
          <a:p>
            <a:pPr marL="0" indent="0">
              <a:buNone/>
            </a:pPr>
            <a:r>
              <a:rPr lang="en-US" sz="4000" dirty="0"/>
              <a:t>A standard solution is one that has a known concentration. </a:t>
            </a:r>
          </a:p>
          <a:p>
            <a:pPr marL="0" indent="0">
              <a:buNone/>
            </a:pPr>
            <a:endParaRPr lang="en-US" sz="4000" dirty="0"/>
          </a:p>
          <a:p>
            <a:pPr marL="0" indent="0">
              <a:buNone/>
            </a:pPr>
            <a:r>
              <a:rPr lang="en-US" sz="4000" dirty="0"/>
              <a:t>With a standard solution, it is possible to investigate the concentration of other solutions of unknown concentration by titration.</a:t>
            </a:r>
          </a:p>
        </p:txBody>
      </p:sp>
    </p:spTree>
    <p:extLst>
      <p:ext uri="{BB962C8B-B14F-4D97-AF65-F5344CB8AC3E}">
        <p14:creationId xmlns:p14="http://schemas.microsoft.com/office/powerpoint/2010/main" val="3972375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2434-7A27-3D1B-DBCA-A23948E0DC95}"/>
              </a:ext>
            </a:extLst>
          </p:cNvPr>
          <p:cNvSpPr>
            <a:spLocks noGrp="1"/>
          </p:cNvSpPr>
          <p:nvPr>
            <p:ph type="title"/>
          </p:nvPr>
        </p:nvSpPr>
        <p:spPr>
          <a:xfrm>
            <a:off x="309265" y="662609"/>
            <a:ext cx="9947918" cy="1276955"/>
          </a:xfrm>
        </p:spPr>
        <p:txBody>
          <a:bodyPr>
            <a:noAutofit/>
          </a:bodyPr>
          <a:lstStyle/>
          <a:p>
            <a:pPr marL="0" marR="0">
              <a:lnSpc>
                <a:spcPct val="107000"/>
              </a:lnSpc>
              <a:spcBef>
                <a:spcPts val="0"/>
              </a:spcBef>
              <a:spcAft>
                <a:spcPts val="800"/>
              </a:spcAft>
            </a:pPr>
            <a:r>
              <a:rPr lang="en-US" sz="4400" b="1" kern="100" dirty="0">
                <a:effectLst/>
                <a:latin typeface="Times New Roman" panose="02020603050405020304" pitchFamily="18" charset="0"/>
                <a:ea typeface="Calibri" panose="020F0502020204030204" pitchFamily="34" charset="0"/>
                <a:cs typeface="Times New Roman" panose="02020603050405020304" pitchFamily="18" charset="0"/>
              </a:rPr>
              <a:t>Stock/Standard Solution Preparation</a:t>
            </a:r>
            <a:endParaRPr lang="en-US" sz="4400" dirty="0"/>
          </a:p>
        </p:txBody>
      </p:sp>
      <p:sp>
        <p:nvSpPr>
          <p:cNvPr id="4" name="TextBox 3">
            <a:extLst>
              <a:ext uri="{FF2B5EF4-FFF2-40B4-BE49-F238E27FC236}">
                <a16:creationId xmlns:a16="http://schemas.microsoft.com/office/drawing/2014/main" id="{AD0A6236-1147-AF8A-D276-F030238E1966}"/>
              </a:ext>
            </a:extLst>
          </p:cNvPr>
          <p:cNvSpPr txBox="1"/>
          <p:nvPr/>
        </p:nvSpPr>
        <p:spPr>
          <a:xfrm>
            <a:off x="503582" y="2409739"/>
            <a:ext cx="11184835" cy="3785652"/>
          </a:xfrm>
          <a:prstGeom prst="rect">
            <a:avLst/>
          </a:prstGeom>
          <a:noFill/>
        </p:spPr>
        <p:txBody>
          <a:bodyPr wrap="square">
            <a:spAutoFit/>
          </a:bodyPr>
          <a:lstStyle/>
          <a:p>
            <a:r>
              <a:rPr lang="en-US" sz="4800" dirty="0">
                <a:effectLst/>
                <a:latin typeface="Times New Roman" panose="02020603050405020304" pitchFamily="18" charset="0"/>
                <a:ea typeface="Calibri" panose="020F0502020204030204" pitchFamily="34" charset="0"/>
              </a:rPr>
              <a:t>A stock</a:t>
            </a:r>
            <a:r>
              <a:rPr lang="en-US" sz="4800" b="1" kern="100" dirty="0">
                <a:latin typeface="Times New Roman" panose="02020603050405020304" pitchFamily="18" charset="0"/>
                <a:ea typeface="Calibri" panose="020F0502020204030204" pitchFamily="34" charset="0"/>
                <a:cs typeface="Times New Roman" panose="02020603050405020304" pitchFamily="18" charset="0"/>
              </a:rPr>
              <a:t>/</a:t>
            </a:r>
            <a:r>
              <a:rPr lang="en-US" sz="4800" kern="100" dirty="0">
                <a:latin typeface="Times New Roman" panose="02020603050405020304" pitchFamily="18" charset="0"/>
                <a:ea typeface="Calibri" panose="020F0502020204030204" pitchFamily="34" charset="0"/>
                <a:cs typeface="Times New Roman" panose="02020603050405020304" pitchFamily="18" charset="0"/>
              </a:rPr>
              <a:t>standard</a:t>
            </a:r>
            <a:r>
              <a:rPr lang="en-US" sz="4800" dirty="0">
                <a:effectLst/>
                <a:latin typeface="Times New Roman" panose="02020603050405020304" pitchFamily="18" charset="0"/>
                <a:ea typeface="Calibri" panose="020F0502020204030204" pitchFamily="34" charset="0"/>
              </a:rPr>
              <a:t> solution can be prepared by weighing out accurate amount of a pure solid or by measuring out accurate volume of a pure liquid and diluting to a known concentration.</a:t>
            </a:r>
            <a:endParaRPr lang="en-US" sz="4800" dirty="0"/>
          </a:p>
        </p:txBody>
      </p:sp>
    </p:spTree>
    <p:extLst>
      <p:ext uri="{BB962C8B-B14F-4D97-AF65-F5344CB8AC3E}">
        <p14:creationId xmlns:p14="http://schemas.microsoft.com/office/powerpoint/2010/main" val="228758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B854A-3CB3-3E66-3869-30DB6B299781}"/>
              </a:ext>
            </a:extLst>
          </p:cNvPr>
          <p:cNvSpPr>
            <a:spLocks noGrp="1"/>
          </p:cNvSpPr>
          <p:nvPr>
            <p:ph type="title"/>
          </p:nvPr>
        </p:nvSpPr>
        <p:spPr/>
        <p:txBody>
          <a:bodyPr/>
          <a:lstStyle/>
          <a:p>
            <a:r>
              <a:rPr lang="en-US" b="1" dirty="0"/>
              <a:t>EXERCISE</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93AC542-00F0-C794-6BBE-3A07B694A6C7}"/>
                  </a:ext>
                </a:extLst>
              </p:cNvPr>
              <p:cNvSpPr txBox="1"/>
              <p:nvPr/>
            </p:nvSpPr>
            <p:spPr>
              <a:xfrm>
                <a:off x="359230" y="1926772"/>
                <a:ext cx="11832770" cy="5078313"/>
              </a:xfrm>
              <a:prstGeom prst="rect">
                <a:avLst/>
              </a:prstGeom>
              <a:noFill/>
            </p:spPr>
            <p:txBody>
              <a:bodyPr wrap="square">
                <a:spAutoFit/>
              </a:bodyPr>
              <a:lstStyle/>
              <a:p>
                <a:r>
                  <a:rPr lang="en-US" sz="3600" b="1" i="0" dirty="0">
                    <a:solidFill>
                      <a:schemeClr val="tx1">
                        <a:lumMod val="95000"/>
                      </a:schemeClr>
                    </a:solidFill>
                    <a:effectLst/>
                    <a:latin typeface="Tahoma" panose="020B0604030504040204" pitchFamily="34" charset="0"/>
                  </a:rPr>
                  <a:t>Describe how to prepare the following three solutions: </a:t>
                </a:r>
              </a:p>
              <a:p>
                <a:r>
                  <a:rPr lang="en-US" sz="3600" b="1" dirty="0">
                    <a:solidFill>
                      <a:schemeClr val="tx1">
                        <a:lumMod val="95000"/>
                      </a:schemeClr>
                    </a:solidFill>
                    <a:latin typeface="Tahoma" panose="020B0604030504040204" pitchFamily="34" charset="0"/>
                  </a:rPr>
                  <a:t>(a)(</a:t>
                </a:r>
                <a:r>
                  <a:rPr lang="en-US" sz="3600" b="1" dirty="0" err="1">
                    <a:solidFill>
                      <a:schemeClr val="tx1">
                        <a:lumMod val="95000"/>
                      </a:schemeClr>
                    </a:solidFill>
                    <a:latin typeface="Tahoma" panose="020B0604030504040204" pitchFamily="34" charset="0"/>
                  </a:rPr>
                  <a:t>i</a:t>
                </a:r>
                <a:r>
                  <a:rPr lang="en-US" sz="3600" b="1" dirty="0">
                    <a:solidFill>
                      <a:schemeClr val="tx1">
                        <a:lumMod val="95000"/>
                      </a:schemeClr>
                    </a:solidFill>
                    <a:latin typeface="Tahoma" panose="020B0604030504040204" pitchFamily="34" charset="0"/>
                  </a:rPr>
                  <a:t>) 0.25g/50cm</a:t>
                </a:r>
                <a:r>
                  <a:rPr lang="en-US" sz="3600" b="1" baseline="30000" dirty="0">
                    <a:solidFill>
                      <a:schemeClr val="tx1">
                        <a:lumMod val="95000"/>
                      </a:schemeClr>
                    </a:solidFill>
                    <a:latin typeface="Tahoma" panose="020B0604030504040204" pitchFamily="34" charset="0"/>
                  </a:rPr>
                  <a:t>3</a:t>
                </a:r>
                <a:r>
                  <a:rPr lang="en-US" sz="3600" b="1" dirty="0">
                    <a:solidFill>
                      <a:schemeClr val="tx1">
                        <a:lumMod val="95000"/>
                      </a:schemeClr>
                    </a:solidFill>
                    <a:latin typeface="Tahoma" panose="020B0604030504040204" pitchFamily="34" charset="0"/>
                  </a:rPr>
                  <a:t> of Potassium dichromate</a:t>
                </a:r>
              </a:p>
              <a:p>
                <a:r>
                  <a:rPr lang="en-US" sz="3600" b="1" dirty="0">
                    <a:solidFill>
                      <a:schemeClr val="tx1">
                        <a:lumMod val="95000"/>
                      </a:schemeClr>
                    </a:solidFill>
                    <a:latin typeface="Tahoma" panose="020B0604030504040204" pitchFamily="34" charset="0"/>
                  </a:rPr>
                  <a:t>															(Group-A)</a:t>
                </a:r>
              </a:p>
              <a:p>
                <a:r>
                  <a:rPr lang="en-US" sz="3600" b="1" i="0" dirty="0">
                    <a:solidFill>
                      <a:schemeClr val="tx1">
                        <a:lumMod val="95000"/>
                      </a:schemeClr>
                    </a:solidFill>
                    <a:effectLst/>
                    <a:latin typeface="Tahoma" panose="020B0604030504040204" pitchFamily="34" charset="0"/>
                  </a:rPr>
                  <a:t>	(ii) 1.50/500cm</a:t>
                </a:r>
                <a:r>
                  <a:rPr lang="en-US" sz="3600" b="1" i="0" baseline="30000" dirty="0">
                    <a:solidFill>
                      <a:schemeClr val="tx1">
                        <a:lumMod val="95000"/>
                      </a:schemeClr>
                    </a:solidFill>
                    <a:effectLst/>
                    <a:latin typeface="Tahoma" panose="020B0604030504040204" pitchFamily="34" charset="0"/>
                  </a:rPr>
                  <a:t>3</a:t>
                </a:r>
                <a:r>
                  <a:rPr lang="en-US" sz="3600" b="1" i="0" dirty="0">
                    <a:solidFill>
                      <a:schemeClr val="tx1">
                        <a:lumMod val="95000"/>
                      </a:schemeClr>
                    </a:solidFill>
                    <a:effectLst/>
                    <a:latin typeface="Tahoma" panose="020B0604030504040204" pitchFamily="34" charset="0"/>
                  </a:rPr>
                  <a:t> of Potassium dichromate</a:t>
                </a:r>
              </a:p>
              <a:p>
                <a:r>
                  <a:rPr lang="en-US" sz="3600" b="1" dirty="0">
                    <a:solidFill>
                      <a:schemeClr val="tx1">
                        <a:lumMod val="95000"/>
                      </a:schemeClr>
                    </a:solidFill>
                    <a:latin typeface="Tahoma" panose="020B0604030504040204" pitchFamily="34" charset="0"/>
                  </a:rPr>
                  <a:t>															 (Group-B)</a:t>
                </a:r>
              </a:p>
              <a:p>
                <a:endParaRPr lang="en-US" sz="3600" b="1" i="0" dirty="0">
                  <a:solidFill>
                    <a:schemeClr val="tx1">
                      <a:lumMod val="95000"/>
                    </a:schemeClr>
                  </a:solidFill>
                  <a:effectLst/>
                  <a:latin typeface="Tahoma" panose="020B0604030504040204" pitchFamily="34" charset="0"/>
                </a:endParaRPr>
              </a:p>
              <a:p>
                <a:r>
                  <a:rPr lang="en-US" sz="3600" b="1" i="0" dirty="0">
                    <a:solidFill>
                      <a:schemeClr val="tx1">
                        <a:lumMod val="95000"/>
                      </a:schemeClr>
                    </a:solidFill>
                    <a:effectLst/>
                    <a:latin typeface="Tahoma" panose="020B0604030504040204" pitchFamily="34" charset="0"/>
                  </a:rPr>
                  <a:t>(b) 500 cm</a:t>
                </a:r>
                <a14:m>
                  <m:oMath xmlns:m="http://schemas.openxmlformats.org/officeDocument/2006/math">
                    <m:r>
                      <a:rPr lang="en-US" sz="3600" b="1" i="1" baseline="30000" dirty="0" smtClean="0">
                        <a:solidFill>
                          <a:schemeClr val="tx1">
                            <a:lumMod val="95000"/>
                          </a:schemeClr>
                        </a:solidFill>
                        <a:effectLst/>
                        <a:latin typeface="Cambria Math" panose="02040503050406030204" pitchFamily="18" charset="0"/>
                      </a:rPr>
                      <m:t>𝟑</m:t>
                    </m:r>
                  </m:oMath>
                </a14:m>
                <a:r>
                  <a:rPr lang="en-US" sz="3600" b="1" i="0" dirty="0">
                    <a:solidFill>
                      <a:schemeClr val="tx1">
                        <a:lumMod val="95000"/>
                      </a:schemeClr>
                    </a:solidFill>
                    <a:effectLst/>
                    <a:latin typeface="Tahoma" panose="020B0604030504040204" pitchFamily="34" charset="0"/>
                  </a:rPr>
                  <a:t> of approximately 0.20 M NaOH using solid NaOH;</a:t>
                </a:r>
                <a:endParaRPr lang="en-US" sz="3600" b="1" dirty="0">
                  <a:solidFill>
                    <a:schemeClr val="tx1">
                      <a:lumMod val="95000"/>
                    </a:schemeClr>
                  </a:solidFill>
                </a:endParaRPr>
              </a:p>
            </p:txBody>
          </p:sp>
        </mc:Choice>
        <mc:Fallback>
          <p:sp>
            <p:nvSpPr>
              <p:cNvPr id="5" name="TextBox 4">
                <a:extLst>
                  <a:ext uri="{FF2B5EF4-FFF2-40B4-BE49-F238E27FC236}">
                    <a16:creationId xmlns:a16="http://schemas.microsoft.com/office/drawing/2014/main" id="{D93AC542-00F0-C794-6BBE-3A07B694A6C7}"/>
                  </a:ext>
                </a:extLst>
              </p:cNvPr>
              <p:cNvSpPr txBox="1">
                <a:spLocks noRot="1" noChangeAspect="1" noMove="1" noResize="1" noEditPoints="1" noAdjustHandles="1" noChangeArrowheads="1" noChangeShapeType="1" noTextEdit="1"/>
              </p:cNvSpPr>
              <p:nvPr/>
            </p:nvSpPr>
            <p:spPr>
              <a:xfrm>
                <a:off x="359230" y="1926772"/>
                <a:ext cx="11832770" cy="5078313"/>
              </a:xfrm>
              <a:prstGeom prst="rect">
                <a:avLst/>
              </a:prstGeom>
              <a:blipFill>
                <a:blip r:embed="rId2"/>
                <a:stretch>
                  <a:fillRect l="-1597" t="-1801" b="-3361"/>
                </a:stretch>
              </a:blipFill>
            </p:spPr>
            <p:txBody>
              <a:bodyPr/>
              <a:lstStyle/>
              <a:p>
                <a:r>
                  <a:rPr lang="en-US">
                    <a:noFill/>
                  </a:rPr>
                  <a:t> </a:t>
                </a:r>
              </a:p>
            </p:txBody>
          </p:sp>
        </mc:Fallback>
      </mc:AlternateContent>
    </p:spTree>
    <p:extLst>
      <p:ext uri="{BB962C8B-B14F-4D97-AF65-F5344CB8AC3E}">
        <p14:creationId xmlns:p14="http://schemas.microsoft.com/office/powerpoint/2010/main" val="1385344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EF16B-F396-CD60-5030-68DB7F869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11130-B74F-F11B-4D4B-0320277CB2DD}"/>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C7E394E6-AA1E-41BF-E154-A57365D1E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193" y="86171"/>
            <a:ext cx="11199803" cy="6505698"/>
          </a:xfrm>
          <a:prstGeom prst="rect">
            <a:avLst/>
          </a:prstGeom>
        </p:spPr>
      </p:pic>
    </p:spTree>
    <p:extLst>
      <p:ext uri="{BB962C8B-B14F-4D97-AF65-F5344CB8AC3E}">
        <p14:creationId xmlns:p14="http://schemas.microsoft.com/office/powerpoint/2010/main" val="1670137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16C89-D049-12C3-9E2A-EBBE8F6C0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1FDC4-D34E-014A-A992-185AF40A3BB1}"/>
              </a:ext>
            </a:extLst>
          </p:cNvPr>
          <p:cNvSpPr>
            <a:spLocks noGrp="1"/>
          </p:cNvSpPr>
          <p:nvPr>
            <p:ph type="title"/>
          </p:nvPr>
        </p:nvSpPr>
        <p:spPr>
          <a:xfrm>
            <a:off x="680326" y="753228"/>
            <a:ext cx="9613861" cy="5210844"/>
          </a:xfrm>
        </p:spPr>
        <p:txBody>
          <a:bodyPr>
            <a:noAutofit/>
          </a:bodyPr>
          <a:lstStyle/>
          <a:p>
            <a:pPr marL="0" marR="0">
              <a:lnSpc>
                <a:spcPct val="107000"/>
              </a:lnSpc>
              <a:spcBef>
                <a:spcPts val="0"/>
              </a:spcBef>
              <a:spcAft>
                <a:spcPts val="800"/>
              </a:spcAft>
            </a:pPr>
            <a:r>
              <a:rPr lang="en-US" sz="4400" b="1" kern="100" dirty="0">
                <a:effectLst/>
                <a:latin typeface="Times New Roman" panose="02020603050405020304" pitchFamily="18" charset="0"/>
                <a:ea typeface="Calibri" panose="020F0502020204030204" pitchFamily="34" charset="0"/>
                <a:cs typeface="Times New Roman" panose="02020603050405020304" pitchFamily="18" charset="0"/>
              </a:rPr>
              <a:t>Question</a:t>
            </a: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r>
              <a:rPr lang="en-US" sz="4400" kern="100" dirty="0">
                <a:effectLst/>
                <a:latin typeface="Times New Roman" panose="02020603050405020304" pitchFamily="18" charset="0"/>
                <a:ea typeface="Calibri" panose="020F0502020204030204" pitchFamily="34" charset="0"/>
                <a:cs typeface="Times New Roman" panose="02020603050405020304" pitchFamily="18" charset="0"/>
              </a:rPr>
              <a:t>How would you prepare 400cm</a:t>
            </a:r>
            <a:r>
              <a:rPr lang="en-US" sz="4400" kern="1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4400" kern="100" dirty="0">
                <a:effectLst/>
                <a:latin typeface="Times New Roman" panose="02020603050405020304" pitchFamily="18" charset="0"/>
                <a:ea typeface="Calibri" panose="020F0502020204030204" pitchFamily="34" charset="0"/>
                <a:cs typeface="Times New Roman" panose="02020603050405020304" pitchFamily="18" charset="0"/>
              </a:rPr>
              <a:t> of a 1.5M NaCl solution from a 5.0M stock?</a:t>
            </a: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r>
              <a:rPr lang="en-US" sz="4400" kern="100" dirty="0">
                <a:effectLst/>
                <a:latin typeface="Times New Roman" panose="02020603050405020304" pitchFamily="18" charset="0"/>
                <a:ea typeface="Calibri" panose="020F0502020204030204" pitchFamily="34" charset="0"/>
                <a:cs typeface="Times New Roman" panose="02020603050405020304" pitchFamily="18" charset="0"/>
              </a:rPr>
              <a:t>Solution</a:t>
            </a: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r>
              <a:rPr lang="en-US" sz="4400" kern="100" dirty="0">
                <a:effectLst/>
                <a:latin typeface="Times New Roman" panose="02020603050405020304" pitchFamily="18" charset="0"/>
                <a:ea typeface="Calibri" panose="020F0502020204030204" pitchFamily="34" charset="0"/>
                <a:cs typeface="Times New Roman" panose="02020603050405020304" pitchFamily="18" charset="0"/>
              </a:rPr>
              <a:t>Using, 		C</a:t>
            </a:r>
            <a:r>
              <a:rPr lang="en-US" sz="4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4400" kern="100" dirty="0">
                <a:effectLst/>
                <a:latin typeface="Times New Roman" panose="02020603050405020304" pitchFamily="18" charset="0"/>
                <a:ea typeface="Calibri" panose="020F0502020204030204" pitchFamily="34" charset="0"/>
                <a:cs typeface="Times New Roman" panose="02020603050405020304" pitchFamily="18" charset="0"/>
              </a:rPr>
              <a:t> × V</a:t>
            </a:r>
            <a:r>
              <a:rPr lang="en-US" sz="4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4400" kern="100" dirty="0">
                <a:effectLst/>
                <a:latin typeface="Times New Roman" panose="02020603050405020304" pitchFamily="18" charset="0"/>
                <a:ea typeface="Calibri" panose="020F0502020204030204" pitchFamily="34" charset="0"/>
                <a:cs typeface="Times New Roman" panose="02020603050405020304" pitchFamily="18" charset="0"/>
              </a:rPr>
              <a:t> = C</a:t>
            </a:r>
            <a:r>
              <a:rPr lang="en-US" sz="4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d</a:t>
            </a:r>
            <a:r>
              <a:rPr lang="en-US" sz="44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4400" kern="100" dirty="0" err="1">
                <a:effectLst/>
                <a:latin typeface="Times New Roman" panose="02020603050405020304" pitchFamily="18" charset="0"/>
                <a:ea typeface="Calibri" panose="020F0502020204030204" pitchFamily="34" charset="0"/>
                <a:cs typeface="Times New Roman" panose="02020603050405020304" pitchFamily="18" charset="0"/>
              </a:rPr>
              <a:t>V</a:t>
            </a:r>
            <a:r>
              <a:rPr lang="en-US" sz="4400" kern="100" baseline="-25000" dirty="0" err="1">
                <a:effectLst/>
                <a:latin typeface="Times New Roman" panose="02020603050405020304" pitchFamily="18" charset="0"/>
                <a:ea typeface="Calibri" panose="020F0502020204030204" pitchFamily="34" charset="0"/>
                <a:cs typeface="Times New Roman" panose="02020603050405020304" pitchFamily="18" charset="0"/>
              </a:rPr>
              <a:t>d</a:t>
            </a:r>
            <a:r>
              <a:rPr lang="en-US" sz="4400" kern="100" dirty="0">
                <a:effectLst/>
                <a:latin typeface="Times New Roman" panose="02020603050405020304" pitchFamily="18" charset="0"/>
                <a:ea typeface="Calibri" panose="020F0502020204030204" pitchFamily="34" charset="0"/>
                <a:cs typeface="Times New Roman" panose="02020603050405020304" pitchFamily="18" charset="0"/>
              </a:rPr>
              <a:t> </a:t>
            </a: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4400" dirty="0"/>
          </a:p>
        </p:txBody>
      </p:sp>
    </p:spTree>
    <p:extLst>
      <p:ext uri="{BB962C8B-B14F-4D97-AF65-F5344CB8AC3E}">
        <p14:creationId xmlns:p14="http://schemas.microsoft.com/office/powerpoint/2010/main" val="381854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360BC-4469-78DA-F81B-7B744CCB3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0AE2D-514F-2F24-9028-4F31EC20DF75}"/>
              </a:ext>
            </a:extLst>
          </p:cNvPr>
          <p:cNvSpPr>
            <a:spLocks noGrp="1"/>
          </p:cNvSpPr>
          <p:nvPr>
            <p:ph type="title"/>
          </p:nvPr>
        </p:nvSpPr>
        <p:spPr>
          <a:xfrm>
            <a:off x="229950" y="917001"/>
            <a:ext cx="11511674" cy="5524742"/>
          </a:xfrm>
        </p:spPr>
        <p:txBody>
          <a:bodyPr>
            <a:noAutofit/>
          </a:bodyPr>
          <a:lstStyle/>
          <a:p>
            <a:pPr marL="0" marR="0">
              <a:lnSpc>
                <a:spcPct val="107000"/>
              </a:lnSpc>
              <a:spcBef>
                <a:spcPts val="0"/>
              </a:spcBef>
              <a:spcAft>
                <a:spcPts val="800"/>
              </a:spcAft>
            </a:pPr>
            <a:r>
              <a:rPr lang="en-US" b="1" u="sng" kern="100" dirty="0">
                <a:effectLst/>
                <a:latin typeface="Times New Roman" panose="02020603050405020304" pitchFamily="18" charset="0"/>
                <a:ea typeface="Calibri" panose="020F0502020204030204" pitchFamily="34" charset="0"/>
                <a:cs typeface="Times New Roman" panose="02020603050405020304" pitchFamily="18" charset="0"/>
              </a:rPr>
              <a:t>Calculations involving Concentration and its application.</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r>
              <a:rPr lang="en-US" kern="100" dirty="0">
                <a:effectLst/>
                <a:latin typeface="Calibri" panose="020F0502020204030204" pitchFamily="34" charset="0"/>
                <a:ea typeface="Calibri" panose="020F0502020204030204" pitchFamily="34" charset="0"/>
                <a:cs typeface="Times New Roman" panose="02020603050405020304" pitchFamily="18" charset="0"/>
              </a:rPr>
              <a:t>1.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Calculate the concentration of the stock solution prepared in the standard flask above</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r>
              <a:rPr lang="en-US" kern="100" dirty="0">
                <a:effectLst/>
                <a:latin typeface="Calibri" panose="020F0502020204030204" pitchFamily="34" charset="0"/>
                <a:ea typeface="Calibri" panose="020F0502020204030204" pitchFamily="34" charset="0"/>
                <a:cs typeface="Times New Roman" panose="02020603050405020304" pitchFamily="18" charset="0"/>
              </a:rPr>
              <a:t>2.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What is the concentration of a solution that contains 0.70 moles of NaCl in 400cm</a:t>
            </a:r>
            <a:r>
              <a:rPr lang="en-US" kern="1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r>
              <a:rPr lang="en-US" kern="100" dirty="0">
                <a:effectLst/>
                <a:latin typeface="Calibri" panose="020F0502020204030204" pitchFamily="34" charset="0"/>
                <a:ea typeface="Calibri" panose="020F0502020204030204" pitchFamily="34" charset="0"/>
                <a:cs typeface="Times New Roman" panose="02020603050405020304" pitchFamily="18" charset="0"/>
              </a:rPr>
              <a:t>3.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How many grams of NaCl are required to make 250cm</a:t>
            </a:r>
            <a:r>
              <a:rPr lang="en-US" kern="1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of a 0.50moldm</a:t>
            </a:r>
            <a:r>
              <a:rPr lang="en-US" kern="1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solution? </a:t>
            </a:r>
            <a:br>
              <a:rPr lang="en-US"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2829214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D433D-BDE2-EC1A-4B93-6C6C05555DDF}"/>
              </a:ext>
            </a:extLst>
          </p:cNvPr>
          <p:cNvSpPr>
            <a:spLocks noGrp="1"/>
          </p:cNvSpPr>
          <p:nvPr>
            <p:ph type="title"/>
          </p:nvPr>
        </p:nvSpPr>
        <p:spPr>
          <a:xfrm>
            <a:off x="169647" y="-185056"/>
            <a:ext cx="11852706" cy="6026624"/>
          </a:xfrm>
        </p:spPr>
        <p:txBody>
          <a:bodyPr>
            <a:normAutofit/>
          </a:bodyPr>
          <a:lstStyle/>
          <a:p>
            <a:r>
              <a:rPr lang="en-US" b="1" i="0" dirty="0">
                <a:solidFill>
                  <a:schemeClr val="tx1">
                    <a:lumMod val="95000"/>
                  </a:schemeClr>
                </a:solidFill>
                <a:effectLst/>
                <a:latin typeface="Times New Roman" panose="02020603050405020304" pitchFamily="18" charset="0"/>
              </a:rPr>
              <a:t>1.  If you dilute 175 cm</a:t>
            </a:r>
            <a:r>
              <a:rPr lang="en-US" b="1" i="0" baseline="30000" dirty="0">
                <a:solidFill>
                  <a:schemeClr val="tx1">
                    <a:lumMod val="95000"/>
                  </a:schemeClr>
                </a:solidFill>
                <a:effectLst/>
                <a:latin typeface="Times New Roman" panose="02020603050405020304" pitchFamily="18" charset="0"/>
              </a:rPr>
              <a:t>3</a:t>
            </a:r>
            <a:r>
              <a:rPr lang="en-US" b="1" i="0" dirty="0">
                <a:solidFill>
                  <a:schemeClr val="tx1">
                    <a:lumMod val="95000"/>
                  </a:schemeClr>
                </a:solidFill>
                <a:effectLst/>
                <a:latin typeface="Times New Roman" panose="02020603050405020304" pitchFamily="18" charset="0"/>
              </a:rPr>
              <a:t> of a 1.6 M solution of LiCl to 1.0 dm</a:t>
            </a:r>
            <a:r>
              <a:rPr lang="en-US" b="1" i="0" baseline="30000" dirty="0">
                <a:solidFill>
                  <a:schemeClr val="tx1">
                    <a:lumMod val="95000"/>
                  </a:schemeClr>
                </a:solidFill>
                <a:effectLst/>
                <a:latin typeface="Times New Roman" panose="02020603050405020304" pitchFamily="18" charset="0"/>
              </a:rPr>
              <a:t>3</a:t>
            </a:r>
            <a:r>
              <a:rPr lang="en-US" b="1" i="0" dirty="0">
                <a:solidFill>
                  <a:schemeClr val="tx1">
                    <a:lumMod val="95000"/>
                  </a:schemeClr>
                </a:solidFill>
                <a:effectLst/>
                <a:latin typeface="Times New Roman" panose="02020603050405020304" pitchFamily="18" charset="0"/>
              </a:rPr>
              <a:t>, determine the new concentration of the solution.</a:t>
            </a:r>
            <a:br>
              <a:rPr lang="en-US" b="1" i="0" dirty="0">
                <a:solidFill>
                  <a:schemeClr val="tx1">
                    <a:lumMod val="95000"/>
                  </a:schemeClr>
                </a:solidFill>
                <a:effectLst/>
                <a:latin typeface="Times New Roman" panose="02020603050405020304" pitchFamily="18" charset="0"/>
              </a:rPr>
            </a:br>
            <a:br>
              <a:rPr lang="en-US" b="1" i="0" dirty="0">
                <a:solidFill>
                  <a:schemeClr val="tx1">
                    <a:lumMod val="95000"/>
                  </a:schemeClr>
                </a:solidFill>
                <a:effectLst/>
                <a:latin typeface="Times New Roman" panose="02020603050405020304" pitchFamily="18" charset="0"/>
              </a:rPr>
            </a:br>
            <a:r>
              <a:rPr lang="en-US" b="1" i="0" dirty="0">
                <a:solidFill>
                  <a:schemeClr val="tx1">
                    <a:lumMod val="95000"/>
                  </a:schemeClr>
                </a:solidFill>
                <a:effectLst/>
                <a:latin typeface="Times New Roman" panose="02020603050405020304" pitchFamily="18" charset="0"/>
              </a:rPr>
              <a:t>2. You need to make 10.0 dm</a:t>
            </a:r>
            <a:r>
              <a:rPr lang="en-US" b="1" i="0" baseline="30000" dirty="0">
                <a:solidFill>
                  <a:schemeClr val="tx1">
                    <a:lumMod val="95000"/>
                  </a:schemeClr>
                </a:solidFill>
                <a:effectLst/>
                <a:latin typeface="Times New Roman" panose="02020603050405020304" pitchFamily="18" charset="0"/>
              </a:rPr>
              <a:t>3</a:t>
            </a:r>
            <a:r>
              <a:rPr lang="en-US" b="1" i="0" dirty="0">
                <a:solidFill>
                  <a:schemeClr val="tx1">
                    <a:lumMod val="95000"/>
                  </a:schemeClr>
                </a:solidFill>
                <a:effectLst/>
                <a:latin typeface="Times New Roman" panose="02020603050405020304" pitchFamily="18" charset="0"/>
              </a:rPr>
              <a:t> of 1.2M KNO</a:t>
            </a:r>
            <a:r>
              <a:rPr lang="en-US" b="1" i="0" baseline="-25000" dirty="0">
                <a:solidFill>
                  <a:schemeClr val="tx1">
                    <a:lumMod val="95000"/>
                  </a:schemeClr>
                </a:solidFill>
                <a:effectLst/>
                <a:latin typeface="Times New Roman" panose="02020603050405020304" pitchFamily="18" charset="0"/>
              </a:rPr>
              <a:t>3</a:t>
            </a:r>
            <a:r>
              <a:rPr lang="en-US" b="1" i="0" dirty="0">
                <a:solidFill>
                  <a:schemeClr val="tx1">
                    <a:lumMod val="95000"/>
                  </a:schemeClr>
                </a:solidFill>
                <a:effectLst/>
                <a:latin typeface="Times New Roman" panose="02020603050405020304" pitchFamily="18" charset="0"/>
              </a:rPr>
              <a:t>. What molarity would the potassium nitrate solution need to be if you were to use only 2.5 dm</a:t>
            </a:r>
            <a:r>
              <a:rPr lang="en-US" b="1" i="0" baseline="30000" dirty="0">
                <a:solidFill>
                  <a:schemeClr val="tx1">
                    <a:lumMod val="95000"/>
                  </a:schemeClr>
                </a:solidFill>
                <a:effectLst/>
                <a:latin typeface="Times New Roman" panose="02020603050405020304" pitchFamily="18" charset="0"/>
              </a:rPr>
              <a:t>3</a:t>
            </a:r>
            <a:r>
              <a:rPr lang="en-US" b="1" i="0" dirty="0">
                <a:solidFill>
                  <a:schemeClr val="tx1">
                    <a:lumMod val="95000"/>
                  </a:schemeClr>
                </a:solidFill>
                <a:effectLst/>
                <a:latin typeface="Times New Roman" panose="02020603050405020304" pitchFamily="18" charset="0"/>
              </a:rPr>
              <a:t> of it?</a:t>
            </a:r>
            <a:br>
              <a:rPr lang="en-US" b="1" i="0" dirty="0">
                <a:solidFill>
                  <a:schemeClr val="tx1">
                    <a:lumMod val="95000"/>
                  </a:schemeClr>
                </a:solidFill>
                <a:effectLst/>
                <a:latin typeface="Times New Roman" panose="02020603050405020304" pitchFamily="18" charset="0"/>
              </a:rPr>
            </a:br>
            <a:br>
              <a:rPr lang="en-US" b="1" i="0" dirty="0">
                <a:solidFill>
                  <a:schemeClr val="tx1">
                    <a:lumMod val="95000"/>
                  </a:schemeClr>
                </a:solidFill>
                <a:effectLst/>
                <a:latin typeface="Times New Roman" panose="02020603050405020304" pitchFamily="18" charset="0"/>
              </a:rPr>
            </a:br>
            <a:r>
              <a:rPr lang="en-US" b="1" i="0" dirty="0">
                <a:solidFill>
                  <a:schemeClr val="tx1">
                    <a:lumMod val="95000"/>
                  </a:schemeClr>
                </a:solidFill>
                <a:effectLst/>
                <a:latin typeface="Times New Roman" panose="02020603050405020304" pitchFamily="18" charset="0"/>
              </a:rPr>
              <a:t>3. </a:t>
            </a:r>
            <a:r>
              <a:rPr lang="en-US" b="1" dirty="0">
                <a:solidFill>
                  <a:schemeClr val="tx1">
                    <a:lumMod val="95000"/>
                  </a:schemeClr>
                </a:solidFill>
              </a:rPr>
              <a:t>A laboratory procedure calls for 250 mL of an approximately 0.10 M solution of NH</a:t>
            </a:r>
            <a:r>
              <a:rPr lang="en-US" b="1" baseline="-25000" dirty="0">
                <a:solidFill>
                  <a:schemeClr val="tx1">
                    <a:lumMod val="95000"/>
                  </a:schemeClr>
                </a:solidFill>
              </a:rPr>
              <a:t>3</a:t>
            </a:r>
            <a:r>
              <a:rPr lang="en-US" b="1" dirty="0">
                <a:solidFill>
                  <a:schemeClr val="tx1">
                    <a:lumMod val="95000"/>
                  </a:schemeClr>
                </a:solidFill>
              </a:rPr>
              <a:t>. Describe how you would prepare this solution using a stock solution of concentrated NH</a:t>
            </a:r>
            <a:r>
              <a:rPr lang="en-US" b="1" baseline="-25000" dirty="0">
                <a:solidFill>
                  <a:schemeClr val="tx1">
                    <a:lumMod val="95000"/>
                  </a:schemeClr>
                </a:solidFill>
              </a:rPr>
              <a:t>3</a:t>
            </a:r>
            <a:r>
              <a:rPr lang="en-US" b="1" dirty="0">
                <a:solidFill>
                  <a:schemeClr val="tx1">
                    <a:lumMod val="95000"/>
                  </a:schemeClr>
                </a:solidFill>
              </a:rPr>
              <a:t> (14.8 M).</a:t>
            </a:r>
          </a:p>
        </p:txBody>
      </p:sp>
    </p:spTree>
    <p:extLst>
      <p:ext uri="{BB962C8B-B14F-4D97-AF65-F5344CB8AC3E}">
        <p14:creationId xmlns:p14="http://schemas.microsoft.com/office/powerpoint/2010/main" val="2098814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27F7-68D7-60EF-3584-0827904B8BC0}"/>
              </a:ext>
            </a:extLst>
          </p:cNvPr>
          <p:cNvSpPr>
            <a:spLocks noGrp="1"/>
          </p:cNvSpPr>
          <p:nvPr>
            <p:ph type="title"/>
          </p:nvPr>
        </p:nvSpPr>
        <p:spPr>
          <a:xfrm>
            <a:off x="152400" y="1981200"/>
            <a:ext cx="11887200" cy="4103914"/>
          </a:xfrm>
        </p:spPr>
        <p:txBody>
          <a:bodyPr>
            <a:normAutofit/>
          </a:bodyPr>
          <a:lstStyle/>
          <a:p>
            <a:r>
              <a:rPr lang="en-US" dirty="0"/>
              <a:t>and solving for </a:t>
            </a:r>
            <a:r>
              <a:rPr lang="en-US" i="1" dirty="0"/>
              <a:t> </a:t>
            </a:r>
            <a:r>
              <a:rPr lang="en-US" dirty="0"/>
              <a:t>gives 1.7 </a:t>
            </a:r>
            <a:r>
              <a:rPr lang="en-US" dirty="0" err="1"/>
              <a:t>mL.</a:t>
            </a:r>
            <a:r>
              <a:rPr lang="en-US" dirty="0"/>
              <a:t> Since we are making a solution that is approximately 0.10 M NH</a:t>
            </a:r>
            <a:r>
              <a:rPr lang="en-US" baseline="-25000" dirty="0"/>
              <a:t>3</a:t>
            </a:r>
            <a:r>
              <a:rPr lang="en-US" dirty="0"/>
              <a:t>, we can use a graduated cylinder to measure the 1.7 mL of concentrated NH</a:t>
            </a:r>
            <a:r>
              <a:rPr lang="en-US" baseline="-25000" dirty="0"/>
              <a:t>3</a:t>
            </a:r>
            <a:r>
              <a:rPr lang="en-US" dirty="0"/>
              <a:t>, transfer the NH</a:t>
            </a:r>
            <a:r>
              <a:rPr lang="en-US" baseline="-25000" dirty="0"/>
              <a:t>3</a:t>
            </a:r>
            <a:r>
              <a:rPr lang="en-US" dirty="0"/>
              <a:t> to a beaker, and add sufficient water to give a total volume of approximately 250 </a:t>
            </a:r>
            <a:r>
              <a:rPr lang="en-US" dirty="0" err="1"/>
              <a:t>mL.</a:t>
            </a:r>
            <a:endParaRPr lang="en-US" dirty="0"/>
          </a:p>
        </p:txBody>
      </p:sp>
      <p:pic>
        <p:nvPicPr>
          <p:cNvPr id="5" name="Picture 4">
            <a:extLst>
              <a:ext uri="{FF2B5EF4-FFF2-40B4-BE49-F238E27FC236}">
                <a16:creationId xmlns:a16="http://schemas.microsoft.com/office/drawing/2014/main" id="{44EDD123-C8F9-C5B0-3B24-A9EB46F4F1F0}"/>
              </a:ext>
            </a:extLst>
          </p:cNvPr>
          <p:cNvPicPr>
            <a:picLocks noChangeAspect="1"/>
          </p:cNvPicPr>
          <p:nvPr/>
        </p:nvPicPr>
        <p:blipFill>
          <a:blip r:embed="rId2"/>
          <a:stretch>
            <a:fillRect/>
          </a:stretch>
        </p:blipFill>
        <p:spPr>
          <a:xfrm>
            <a:off x="919812" y="859973"/>
            <a:ext cx="7065303" cy="902616"/>
          </a:xfrm>
          <a:prstGeom prst="rect">
            <a:avLst/>
          </a:prstGeom>
        </p:spPr>
      </p:pic>
    </p:spTree>
    <p:extLst>
      <p:ext uri="{BB962C8B-B14F-4D97-AF65-F5344CB8AC3E}">
        <p14:creationId xmlns:p14="http://schemas.microsoft.com/office/powerpoint/2010/main" val="167699758"/>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8D4585"/>
      </a:dk2>
      <a:lt2>
        <a:srgbClr val="E7E6E6"/>
      </a:lt2>
      <a:accent1>
        <a:srgbClr val="F35AE6"/>
      </a:accent1>
      <a:accent2>
        <a:srgbClr val="FC5283"/>
      </a:accent2>
      <a:accent3>
        <a:srgbClr val="F67C64"/>
      </a:accent3>
      <a:accent4>
        <a:srgbClr val="F89F65"/>
      </a:accent4>
      <a:accent5>
        <a:srgbClr val="55C6BA"/>
      </a:accent5>
      <a:accent6>
        <a:srgbClr val="84A3FD"/>
      </a:accent6>
      <a:hlink>
        <a:srgbClr val="6ED4F6"/>
      </a:hlink>
      <a:folHlink>
        <a:srgbClr val="9FECFC"/>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106000"/>
                <a:satMod val="220000"/>
                <a:lumMod val="140000"/>
              </a:schemeClr>
            </a:gs>
            <a:gs pos="50000">
              <a:schemeClr val="phClr">
                <a:shade val="100000"/>
                <a:hueMod val="100000"/>
                <a:satMod val="110000"/>
                <a:lumMod val="130000"/>
              </a:schemeClr>
            </a:gs>
            <a:gs pos="100000">
              <a:schemeClr val="phClr">
                <a:shade val="69000"/>
                <a:hueMod val="88000"/>
                <a:satMod val="16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7D30EEFE-7128-4DE5-8A0D-8D4EF32CB0AF}"/>
    </a:ext>
  </a:extLst>
</a:theme>
</file>

<file path=docProps/app.xml><?xml version="1.0" encoding="utf-8"?>
<Properties xmlns="http://schemas.openxmlformats.org/officeDocument/2006/extended-properties" xmlns:vt="http://schemas.openxmlformats.org/officeDocument/2006/docPropsVTypes">
  <Template>TM04033917[[fn=Berlin]]</Template>
  <TotalTime>619</TotalTime>
  <Words>600</Words>
  <Application>Microsoft Office PowerPoint</Application>
  <PresentationFormat>Widescreen</PresentationFormat>
  <Paragraphs>22</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Cambria Math</vt:lpstr>
      <vt:lpstr>Tahoma</vt:lpstr>
      <vt:lpstr>Times New Roman</vt:lpstr>
      <vt:lpstr>Trebuchet MS</vt:lpstr>
      <vt:lpstr>Berlin</vt:lpstr>
      <vt:lpstr>SOLUTIONS AND STANDARDS PREPARATION</vt:lpstr>
      <vt:lpstr>How to weigh using Analytical Balance https://www.youtube.com/watch?v=mmgiehwrK54&amp;t=65s   Use of Standard flask in preparing different volume of standard solutions https://www.youtube.com/watch?v=9xQxA5PHrA4 </vt:lpstr>
      <vt:lpstr>Preparing different concentrations of solutions from stock solution.   What is stock solution? A stock solution is a concentrated solution which is used to prepare dilute solution of some lower concentration for actual use. Stock solutions are prepared in standardized concentration which are commonly used in analytical Chemistry titrations. Hydrochloric acid (HCl) and sodium hydroxide (NaOH) can be prepared as stock solutions.</vt:lpstr>
      <vt:lpstr>A dilute solution is prepared by adding more solvent to a more concentrated solution (stock solution), which reduces the concentration of the solution. For example, 98% Sulfuric acid is a concentrated solution of approximately 18M, which is commonly available in analytical labs. It is used to prepare sulfuric acid solutions for Various purposes like titration.</vt:lpstr>
      <vt:lpstr>STANDARD SOLUTION</vt:lpstr>
      <vt:lpstr>Stock/Standard Solution Preparation</vt:lpstr>
      <vt:lpstr>EXERCISE</vt:lpstr>
      <vt:lpstr>PowerPoint Presentation</vt:lpstr>
      <vt:lpstr>Question How would you prepare 400cm3 of a 1.5M NaCl solution from a 5.0M stock? Solution Using,   Cs × Vs = Cd × Vd  </vt:lpstr>
      <vt:lpstr>Calculations involving Concentration and its application. 1. Calculate the concentration of the stock solution prepared in the standard flask above 2. What is the concentration of a solution that contains 0.70 moles of NaCl in 400cm3. 3. How many grams of NaCl are required to make 250cm3 of a 0.50moldm-3 solution?  </vt:lpstr>
      <vt:lpstr>1.  If you dilute 175 cm3 of a 1.6 M solution of LiCl to 1.0 dm3, determine the new concentration of the solution.  2. You need to make 10.0 dm3 of 1.2M KNO3. What molarity would the potassium nitrate solution need to be if you were to use only 2.5 dm3 of it?  3. A laboratory procedure calls for 250 mL of an approximately 0.10 M solution of NH3. Describe how you would prepare this solution using a stock solution of concentrated NH3 (14.8 M).</vt:lpstr>
      <vt:lpstr>and solving for  gives 1.7 mL. Since we are making a solution that is approximately 0.10 M NH3, we can use a graduated cylinder to measure the 1.7 mL of concentrated NH3, transfer the NH3 to a beaker, and add sufficient water to give a total volume of approximately 250 mL.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ADESOJI ADESIYAN</dc:creator>
  <cp:lastModifiedBy>ADESOJI ADESIYAN</cp:lastModifiedBy>
  <cp:revision>13</cp:revision>
  <dcterms:created xsi:type="dcterms:W3CDTF">2024-10-15T10:39:24Z</dcterms:created>
  <dcterms:modified xsi:type="dcterms:W3CDTF">2025-09-26T11:32:30Z</dcterms:modified>
</cp:coreProperties>
</file>