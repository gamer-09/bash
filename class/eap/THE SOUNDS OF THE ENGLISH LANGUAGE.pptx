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3"/>
    <p:sldId id="277" r:id="rId4"/>
    <p:sldId id="266" r:id="rId5"/>
    <p:sldId id="262" r:id="rId6"/>
    <p:sldId id="269" r:id="rId7"/>
    <p:sldId id="270" r:id="rId8"/>
    <p:sldId id="261" r:id="rId9"/>
    <p:sldId id="259" r:id="rId10"/>
    <p:sldId id="263" r:id="rId12"/>
    <p:sldId id="272" r:id="rId13"/>
    <p:sldId id="271" r:id="rId14"/>
    <p:sldId id="273" r:id="rId15"/>
    <p:sldId id="274" r:id="rId16"/>
    <p:sldId id="275" r:id="rId17"/>
    <p:sldId id="276" r:id="rId18"/>
    <p:sldId id="268" r:id="rId19"/>
    <p:sldId id="27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434" autoAdjust="0"/>
  </p:normalViewPr>
  <p:slideViewPr>
    <p:cSldViewPr snapToGrid="0">
      <p:cViewPr varScale="1">
        <p:scale>
          <a:sx n="85" d="100"/>
          <a:sy n="85" d="100"/>
        </p:scale>
        <p:origin x="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01537-84BA-45F5-964F-1F9BD77862A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24A88-6C66-47F3-858B-4B5F7588998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824A88-6C66-47F3-858B-4B5F7588998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DE61BED-5CED-4695-BCCC-0288790AD2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AB644E2E-59B5-43DD-A9D7-CC71F7C579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BED-5CED-4695-BCCC-0288790AD2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4E2E-59B5-43DD-A9D7-CC71F7C579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BED-5CED-4695-BCCC-0288790AD2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4E2E-59B5-43DD-A9D7-CC71F7C579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BED-5CED-4695-BCCC-0288790AD27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4E2E-59B5-43DD-A9D7-CC71F7C579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BED-5CED-4695-BCCC-0288790AD273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4E2E-59B5-43DD-A9D7-CC71F7C579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BED-5CED-4695-BCCC-0288790AD27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4E2E-59B5-43DD-A9D7-CC71F7C579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BED-5CED-4695-BCCC-0288790AD27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4E2E-59B5-43DD-A9D7-CC71F7C579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BED-5CED-4695-BCCC-0288790AD27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4E2E-59B5-43DD-A9D7-CC71F7C579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BED-5CED-4695-BCCC-0288790AD27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4E2E-59B5-43DD-A9D7-CC71F7C579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BED-5CED-4695-BCCC-0288790AD27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4E2E-59B5-43DD-A9D7-CC71F7C579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BED-5CED-4695-BCCC-0288790AD2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4E2E-59B5-43DD-A9D7-CC71F7C579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/>
            <a:r>
              <a:rPr lang="en-US" sz="9600" dirty="0"/>
              <a:t>“</a:t>
            </a:r>
            <a:endParaRPr lang="en-US" sz="9600" dirty="0"/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/>
            <a:r>
              <a:rPr lang="en-US" sz="9600" dirty="0"/>
              <a:t>”</a:t>
            </a:r>
            <a:endParaRPr lang="en-US" sz="9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BED-5CED-4695-BCCC-0288790AD2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4E2E-59B5-43DD-A9D7-CC71F7C579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BED-5CED-4695-BCCC-0288790AD2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4E2E-59B5-43DD-A9D7-CC71F7C579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BED-5CED-4695-BCCC-0288790AD273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4E2E-59B5-43DD-A9D7-CC71F7C579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BED-5CED-4695-BCCC-0288790AD273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4E2E-59B5-43DD-A9D7-CC71F7C579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BED-5CED-4695-BCCC-0288790AD2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4E2E-59B5-43DD-A9D7-CC71F7C579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BED-5CED-4695-BCCC-0288790AD2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4E2E-59B5-43DD-A9D7-CC71F7C579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8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DE61BED-5CED-4695-BCCC-0288790AD273}" type="datetimeFigureOut">
              <a:rPr lang="en-US" smtClean="0"/>
            </a:fld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B644E2E-59B5-43DD-A9D7-CC71F7C5790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SOUNDS OF THE ENGLISH LANGUAGE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VOWEL </a:t>
            </a:r>
            <a:r>
              <a:rPr lang="en-US" dirty="0"/>
              <a:t>AND CONSONANT SOUNDS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In this lesson, students will: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be </a:t>
            </a:r>
            <a:r>
              <a:rPr lang="en-US" dirty="0"/>
              <a:t>able to </a:t>
            </a:r>
            <a:r>
              <a:rPr lang="en-US" dirty="0" smtClean="0"/>
              <a:t>identify </a:t>
            </a:r>
            <a:r>
              <a:rPr lang="en-US" dirty="0"/>
              <a:t>the phonemes of the English </a:t>
            </a:r>
            <a:r>
              <a:rPr lang="en-US" dirty="0" smtClean="0"/>
              <a:t>language</a:t>
            </a:r>
            <a:endParaRPr lang="en-US" dirty="0" smtClean="0"/>
          </a:p>
          <a:p>
            <a:r>
              <a:rPr lang="en-US" dirty="0" smtClean="0"/>
              <a:t>be </a:t>
            </a:r>
            <a:r>
              <a:rPr lang="en-US" dirty="0"/>
              <a:t>able to analyze and categorize the phonemes of the English language, distinguishing between vowels and consonants based on their articulatory </a:t>
            </a:r>
            <a:r>
              <a:rPr lang="en-US" dirty="0" smtClean="0"/>
              <a:t>features.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012" y="2339188"/>
            <a:ext cx="9963076" cy="4518812"/>
          </a:xfrm>
        </p:spPr>
        <p:txBody>
          <a:bodyPr>
            <a:noAutofit/>
          </a:bodyPr>
          <a:lstStyle/>
          <a:p>
            <a:r>
              <a:rPr lang="en-US" sz="2400" dirty="0"/>
              <a:t>Sound is the sensation perceived by the ear caused by the vibration of air or some other medium.</a:t>
            </a:r>
            <a:endParaRPr lang="en-US" sz="2400" dirty="0"/>
          </a:p>
          <a:p>
            <a:r>
              <a:rPr lang="en-US" sz="2400" dirty="0"/>
              <a:t>Vowel sounds are the sounds produced with little or no restriction to the passage of air in the oral cavity. There are twenty vowel sounds in English language: twelve </a:t>
            </a:r>
            <a:r>
              <a:rPr lang="en-US" sz="2400" dirty="0" err="1"/>
              <a:t>monophthongs</a:t>
            </a:r>
            <a:r>
              <a:rPr lang="en-US" sz="2400" dirty="0"/>
              <a:t> and eight diphthongs.</a:t>
            </a:r>
            <a:endParaRPr lang="en-US" sz="2400" dirty="0"/>
          </a:p>
          <a:p>
            <a:r>
              <a:rPr lang="en-US" sz="2400" dirty="0"/>
              <a:t>Consonant sounds are the sounds that are produced with restriction to the passage of air in the oral cavity. There are twenty-four consonant sounds in English language.</a:t>
            </a:r>
            <a:endParaRPr lang="en-US" sz="2400" dirty="0"/>
          </a:p>
          <a:p>
            <a:r>
              <a:rPr lang="en-US" sz="2400" dirty="0"/>
              <a:t>Therefore, there are forty-four sounds in the English language.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VOWEL CHART:</a:t>
            </a:r>
            <a:br>
              <a:rPr lang="en-US" dirty="0"/>
            </a:br>
            <a:r>
              <a:rPr lang="en-US" dirty="0"/>
              <a:t>MONOPHTHONG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43" y="2291662"/>
            <a:ext cx="3978584" cy="3669139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Monophthongs</a:t>
            </a:r>
            <a:r>
              <a:rPr lang="en-US" dirty="0"/>
              <a:t>: Short vowel sounds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23962" y="1676401"/>
          <a:ext cx="8115238" cy="88338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57033"/>
                <a:gridCol w="5958205"/>
              </a:tblGrid>
              <a:tr h="1280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u="sng" dirty="0">
                          <a:effectLst/>
                        </a:rPr>
                        <a:t>IPA Symbol</a:t>
                      </a:r>
                      <a:endParaRPr lang="en-US" sz="3200" u="sng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u="sng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3200" u="sng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u="sng" dirty="0">
                          <a:effectLst/>
                        </a:rPr>
                        <a:t>Word examples</a:t>
                      </a:r>
                      <a:endParaRPr lang="en-US" sz="3200" u="sng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Ship, lip, tip, hip</a:t>
                      </a:r>
                      <a:endParaRPr lang="en-US" sz="32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4163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E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Went, intend, send, letter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4165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Æ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Cat, hand, nap, flat, have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6949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ʌ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Fun, love, money, one, London, come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6949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ʊ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Put, look, should, cook, book,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6949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ɒ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Rob, top, watch, squat, sausage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4168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ə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Alive, again, mother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3015127" y="64514"/>
            <a:ext cx="15207127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300" b="0" i="0" u="none" strike="noStrike" cap="none" normalizeH="0" baseline="0">
                <a:ln>
                  <a:noFill/>
                </a:ln>
                <a:solidFill>
                  <a:srgbClr val="444444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Short Vowels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Monophthong</a:t>
            </a:r>
            <a:r>
              <a:rPr lang="en-US" dirty="0"/>
              <a:t>: Long vowel sounds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2564400" y="1557646"/>
          <a:ext cx="6143223" cy="62801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7024"/>
                <a:gridCol w="4986199"/>
              </a:tblGrid>
              <a:tr h="13882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2800" dirty="0">
                          <a:effectLst/>
                        </a:rPr>
                        <a:t>IPA Symbol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2800" dirty="0">
                          <a:effectLst/>
                        </a:rPr>
                        <a:t>Word examples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61164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2800" dirty="0">
                          <a:effectLst/>
                        </a:rPr>
                        <a:t>i: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2800" dirty="0">
                          <a:effectLst/>
                        </a:rPr>
                        <a:t>Need, beat, team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6113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2800" dirty="0">
                          <a:effectLst/>
                        </a:rPr>
                        <a:t>ɜ: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2800" dirty="0">
                          <a:effectLst/>
                        </a:rPr>
                        <a:t>Nurse, heard, third, turn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10001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2800" dirty="0">
                          <a:effectLst/>
                        </a:rPr>
                        <a:t>ɔ: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2800" dirty="0">
                          <a:effectLst/>
                        </a:rPr>
                        <a:t>Talk, law, bored, yawn, jaw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10001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2800" dirty="0">
                          <a:effectLst/>
                        </a:rPr>
                        <a:t>u: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2800" dirty="0">
                          <a:effectLst/>
                        </a:rPr>
                        <a:t>Few, boot, lose, gloomy, fruit, chew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61164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2800" dirty="0">
                          <a:effectLst/>
                        </a:rPr>
                        <a:t>ɑ: 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2800" dirty="0">
                          <a:effectLst/>
                        </a:rPr>
                        <a:t>Fast, car, hard, bath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VOWEL CHART:</a:t>
            </a:r>
            <a:br>
              <a:rPr lang="en-US" dirty="0"/>
            </a:br>
            <a:r>
              <a:rPr lang="en-US" dirty="0"/>
              <a:t>DIPHTHONG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9" y="2464955"/>
            <a:ext cx="4523652" cy="34163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Diphthongs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995549" y="1676401"/>
          <a:ext cx="7301344" cy="119426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76451"/>
                <a:gridCol w="3724893"/>
              </a:tblGrid>
              <a:tr h="3906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IPA Symbol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8968" marR="168968" marT="126726" marB="1267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Word examples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8968" marR="168968" marT="126726" marB="126726" anchor="ctr"/>
                </a:tc>
              </a:tr>
              <a:tr h="6633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effectLst/>
                        </a:rPr>
                        <a:t>ɪə</a:t>
                      </a:r>
                      <a:r>
                        <a:rPr lang="en-US" sz="3200" dirty="0">
                          <a:effectLst/>
                        </a:rPr>
                        <a:t>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8968" marR="168968" marT="126726" marB="1267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Near, ear, clear, tear, beer, fear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8968" marR="168968" marT="126726" marB="126726" anchor="ctr"/>
                </a:tc>
              </a:tr>
              <a:tr h="6633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effectLst/>
                        </a:rPr>
                        <a:t>eə</a:t>
                      </a:r>
                      <a:r>
                        <a:rPr lang="en-US" sz="3200" dirty="0">
                          <a:effectLst/>
                        </a:rPr>
                        <a:t>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8968" marR="168968" marT="126726" marB="1267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Hair, there, care, stairs, pear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8968" marR="168968" marT="126726" marB="126726" anchor="ctr"/>
                </a:tc>
              </a:tr>
              <a:tr h="6633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effectLst/>
                        </a:rPr>
                        <a:t>eɪ</a:t>
                      </a:r>
                      <a:r>
                        <a:rPr lang="en-US" sz="3200" dirty="0">
                          <a:effectLst/>
                        </a:rPr>
                        <a:t> 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8968" marR="168968" marT="126726" marB="1267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Face, space, rain , case, eight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8968" marR="168968" marT="126726" marB="126726" anchor="ctr"/>
                </a:tc>
              </a:tr>
              <a:tr h="6633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effectLst/>
                        </a:rPr>
                        <a:t>ɔɪ</a:t>
                      </a:r>
                      <a:r>
                        <a:rPr lang="en-US" sz="3200" dirty="0">
                          <a:effectLst/>
                        </a:rPr>
                        <a:t>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8968" marR="168968" marT="126726" marB="1267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Joy, employ, toy, coil, oyster.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8968" marR="168968" marT="126726" marB="126726" anchor="ctr"/>
                </a:tc>
              </a:tr>
              <a:tr h="6633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effectLst/>
                        </a:rPr>
                        <a:t>aɪ</a:t>
                      </a:r>
                      <a:r>
                        <a:rPr lang="en-US" sz="3200" dirty="0">
                          <a:effectLst/>
                        </a:rPr>
                        <a:t>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8968" marR="168968" marT="126726" marB="1267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My, sight, pride, kind, flight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8968" marR="168968" marT="126726" marB="126726" anchor="ctr"/>
                </a:tc>
              </a:tr>
              <a:tr h="9357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effectLst/>
                        </a:rPr>
                        <a:t>əʊ</a:t>
                      </a:r>
                      <a:r>
                        <a:rPr lang="en-US" sz="3200" dirty="0">
                          <a:effectLst/>
                        </a:rPr>
                        <a:t>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8968" marR="168968" marT="126726" marB="1267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No, don’t, stones, alone, hole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8968" marR="168968" marT="126726" marB="126726" anchor="ctr"/>
                </a:tc>
              </a:tr>
              <a:tr h="14826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effectLst/>
                        </a:rPr>
                        <a:t>aʊ</a:t>
                      </a:r>
                      <a:r>
                        <a:rPr lang="en-US" sz="3200" dirty="0">
                          <a:effectLst/>
                        </a:rPr>
                        <a:t> </a:t>
                      </a:r>
                      <a:endParaRPr lang="en-US" sz="32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3200" dirty="0" err="1">
                          <a:effectLst/>
                        </a:rPr>
                        <a:t>ʊə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8968" marR="168968" marT="126726" marB="1267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Mouth, house, brown, cow, out </a:t>
                      </a:r>
                      <a:endParaRPr lang="en-US" sz="32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Cure, pure, lure 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8968" marR="168968" marT="126726" marB="126726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CONSONANT SOUNDS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08" y="1738549"/>
            <a:ext cx="8731405" cy="464352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5018" y="2672166"/>
            <a:ext cx="3906982" cy="29799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Consonant Sounds: Plosives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37308" y="2390492"/>
          <a:ext cx="7883598" cy="87842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44540"/>
                <a:gridCol w="4039058"/>
              </a:tblGrid>
              <a:tr h="3312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IPA Symbol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Word examples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5073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Pin, cap, purpose, pause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5073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Bag, bubble, build, robe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5073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Time, train, tow, late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5073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Door, day, drive, down, feed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5073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Cash, quick, cricket, sock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5073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Girl, green, grass, flag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651" y="579929"/>
            <a:ext cx="8780783" cy="1624427"/>
          </a:xfrm>
        </p:spPr>
        <p:txBody>
          <a:bodyPr/>
          <a:lstStyle/>
          <a:p>
            <a:r>
              <a:rPr lang="en-US" dirty="0"/>
              <a:t>Consonant Sounds: Fricatives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873829" y="2204356"/>
          <a:ext cx="6282046" cy="204576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52469"/>
                <a:gridCol w="3429577"/>
              </a:tblGrid>
              <a:tr h="4448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IPA Symbol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193" marR="150193" marT="112645" marB="11264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Word examples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193" marR="150193" marT="112645" marB="112645" anchor="ctr"/>
                </a:tc>
              </a:tr>
              <a:tr h="17761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f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193" marR="150193" marT="112645" marB="11264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Full, Friday, fish, knife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193" marR="150193" marT="112645" marB="112645" anchor="ctr"/>
                </a:tc>
              </a:tr>
              <a:tr h="23016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v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193" marR="150193" marT="112645" marB="11264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Vest, village, view, cave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193" marR="150193" marT="112645" marB="112645" anchor="ctr"/>
                </a:tc>
              </a:tr>
              <a:tr h="17761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θ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193" marR="150193" marT="112645" marB="11264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Thought, think, Bath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193" marR="150193" marT="112645" marB="112645" anchor="ctr"/>
                </a:tc>
              </a:tr>
              <a:tr h="23016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ð 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193" marR="150193" marT="112645" marB="11264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There</a:t>
                      </a:r>
                      <a:r>
                        <a:rPr lang="en-US" sz="3200" baseline="0" dirty="0">
                          <a:effectLst/>
                        </a:rPr>
                        <a:t> </a:t>
                      </a:r>
                      <a:r>
                        <a:rPr lang="en-US" sz="3200" dirty="0">
                          <a:effectLst/>
                        </a:rPr>
                        <a:t>those,</a:t>
                      </a:r>
                      <a:r>
                        <a:rPr lang="en-US" sz="3200" baseline="0" dirty="0">
                          <a:effectLst/>
                        </a:rPr>
                        <a:t>   </a:t>
                      </a:r>
                      <a:r>
                        <a:rPr lang="en-US" sz="3200" dirty="0" err="1">
                          <a:effectLst/>
                        </a:rPr>
                        <a:t>brother,others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193" marR="150193" marT="112645" marB="112645" anchor="ctr"/>
                </a:tc>
              </a:tr>
              <a:tr h="54543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s</a:t>
                      </a:r>
                      <a:endParaRPr lang="en-US" sz="32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32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32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z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193" marR="150193" marT="112645" marB="11264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See, sip, sleep, slap</a:t>
                      </a:r>
                      <a:endParaRPr lang="en-US" sz="32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32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32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Zoo, crazy, lazy, zigzag, nose.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193" marR="150193" marT="112645" marB="112645" anchor="ctr"/>
                </a:tc>
              </a:tr>
              <a:tr h="23016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ʃ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193" marR="150193" marT="112645" marB="11264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shirt, rush, shop, cash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193" marR="150193" marT="112645" marB="112645" anchor="ctr"/>
                </a:tc>
              </a:tr>
              <a:tr h="23016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ʒ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193" marR="150193" marT="112645" marB="11264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Television, delusion, casual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193" marR="150193" marT="112645" marB="112645" anchor="ctr"/>
                </a:tc>
              </a:tr>
              <a:tr h="17761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h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193" marR="150193" marT="112645" marB="11264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High, help, hello 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193" marR="150193" marT="112645" marB="11264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Consonant Sounds: Affricates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466108" y="2341419"/>
          <a:ext cx="5500256" cy="50556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50128"/>
                <a:gridCol w="2750128"/>
              </a:tblGrid>
              <a:tr h="97170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IPA Symbol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>
                          <a:effectLst/>
                        </a:rPr>
                        <a:t>Word examples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173455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 err="1">
                          <a:effectLst/>
                        </a:rPr>
                        <a:t>ʈʃ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Choose, cheese, church, watch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135312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/</a:t>
                      </a:r>
                      <a:r>
                        <a:rPr lang="en-US" sz="3200" dirty="0" err="1">
                          <a:effectLst/>
                        </a:rPr>
                        <a:t>dʒ</a:t>
                      </a:r>
                      <a:r>
                        <a:rPr lang="en-US" sz="3200" dirty="0">
                          <a:effectLst/>
                        </a:rPr>
                        <a:t>/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Joy, juggle, juice, stage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Consonant Sounds: Nasals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154954" y="2291938"/>
          <a:ext cx="7607112" cy="62954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03556"/>
                <a:gridCol w="3803556"/>
              </a:tblGrid>
              <a:tr h="12922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IPA Symbol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>
                          <a:effectLst/>
                        </a:rPr>
                        <a:t>Word examples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18368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 smtClean="0">
                          <a:effectLst/>
                        </a:rPr>
                        <a:t>M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Room, mother, mad, more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13119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 smtClean="0">
                          <a:effectLst/>
                        </a:rPr>
                        <a:t>N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Now, nobody, knew, turn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18368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ŋ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King, thing, song, swimming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Consonant Sounds: Approximants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140393" y="2296953"/>
          <a:ext cx="5905500" cy="92563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52750"/>
                <a:gridCol w="2952750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IPA Symbol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Word examples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Road, roses, river, ring, ride.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  <a:latin typeface="+mn-lt"/>
                          <a:ea typeface="+mn-ea"/>
                          <a:cs typeface="+mn-cs"/>
                        </a:rPr>
                        <a:t>/j/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Yellow, usual, tune, yesterday, yard.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Wall, walk, wine, </a:t>
                      </a:r>
                      <a:r>
                        <a:rPr lang="en-US" sz="3200" dirty="0" err="1">
                          <a:effectLst/>
                        </a:rPr>
                        <a:t>worl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l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500"/>
                        </a:spcBef>
                        <a:spcAft>
                          <a:spcPts val="3000"/>
                        </a:spcAft>
                      </a:pPr>
                      <a:r>
                        <a:rPr lang="en-US" sz="3200" dirty="0">
                          <a:effectLst/>
                        </a:rPr>
                        <a:t>Law, lots, leap, long, pill, cold, chill, </a:t>
                      </a:r>
                      <a:r>
                        <a:rPr lang="en-US" sz="3200" dirty="0" err="1">
                          <a:effectLst/>
                        </a:rPr>
                        <a:t>meltd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42875" marB="1428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MANNER OF ARTICULATION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30367"/>
            <a:ext cx="8761413" cy="3809175"/>
          </a:xfrm>
        </p:spPr>
        <p:txBody>
          <a:bodyPr>
            <a:normAutofit fontScale="92500" lnSpcReduction="10000"/>
          </a:bodyPr>
          <a:lstStyle/>
          <a:p>
            <a:r>
              <a:rPr lang="en-US" sz="1900" dirty="0"/>
              <a:t>Plosive is produced after opening a previously closed oral cavity which produces an explosion-like sound (p, b, t, d, k, g)</a:t>
            </a:r>
            <a:endParaRPr lang="en-US" sz="1900" dirty="0"/>
          </a:p>
          <a:p>
            <a:r>
              <a:rPr lang="en-US" sz="1900" dirty="0"/>
              <a:t>Fricative is produced with a friction causing constriction in the oral cavity that produces a hissing </a:t>
            </a:r>
            <a:r>
              <a:rPr lang="en-US" sz="1900" dirty="0" smtClean="0"/>
              <a:t>sound(f, </a:t>
            </a:r>
            <a:r>
              <a:rPr lang="en-US" sz="1900" dirty="0"/>
              <a:t>v</a:t>
            </a:r>
            <a:r>
              <a:rPr lang="en-US" sz="1900" dirty="0" smtClean="0"/>
              <a:t>, </a:t>
            </a:r>
            <a:r>
              <a:rPr lang="en-US" sz="2000" dirty="0"/>
              <a:t>θ, </a:t>
            </a:r>
            <a:r>
              <a:rPr lang="en-US" sz="2000" dirty="0" smtClean="0"/>
              <a:t>ð,</a:t>
            </a:r>
            <a:r>
              <a:rPr lang="en-US" sz="1900" dirty="0" smtClean="0"/>
              <a:t> </a:t>
            </a:r>
            <a:r>
              <a:rPr lang="en-US" sz="1900" dirty="0"/>
              <a:t>s, z</a:t>
            </a:r>
            <a:r>
              <a:rPr lang="en-US" sz="1900" dirty="0" smtClean="0"/>
              <a:t>, </a:t>
            </a:r>
            <a:r>
              <a:rPr lang="en-US" sz="2000" dirty="0"/>
              <a:t>ʃ, </a:t>
            </a:r>
            <a:r>
              <a:rPr lang="en-US" sz="2000" dirty="0" smtClean="0"/>
              <a:t>ʒ,</a:t>
            </a:r>
            <a:r>
              <a:rPr lang="en-US" sz="1900" dirty="0" smtClean="0"/>
              <a:t> </a:t>
            </a:r>
            <a:r>
              <a:rPr lang="en-US" sz="1900" dirty="0"/>
              <a:t>h)  </a:t>
            </a:r>
            <a:endParaRPr lang="en-US" sz="1900" dirty="0"/>
          </a:p>
          <a:p>
            <a:r>
              <a:rPr lang="en-US" sz="1900" dirty="0"/>
              <a:t>Affricate is produced using a combination of a plosive and a </a:t>
            </a:r>
            <a:r>
              <a:rPr lang="en-US" sz="1900" dirty="0" smtClean="0"/>
              <a:t>fricative</a:t>
            </a:r>
            <a:r>
              <a:rPr lang="en-US" sz="1900" dirty="0"/>
              <a:t> </a:t>
            </a:r>
            <a:r>
              <a:rPr lang="en-US" sz="1900" dirty="0" smtClean="0"/>
              <a:t>(</a:t>
            </a:r>
            <a:r>
              <a:rPr lang="en-US" sz="2000" dirty="0" err="1"/>
              <a:t>ʈʃ</a:t>
            </a:r>
            <a:r>
              <a:rPr lang="en-US" sz="2000" dirty="0"/>
              <a:t>, </a:t>
            </a:r>
            <a:r>
              <a:rPr lang="en-US" sz="2000" dirty="0" err="1" smtClean="0"/>
              <a:t>dʒ</a:t>
            </a:r>
            <a:r>
              <a:rPr lang="en-US" sz="2000" dirty="0" smtClean="0"/>
              <a:t>)</a:t>
            </a:r>
            <a:endParaRPr lang="en-US" sz="1900" dirty="0"/>
          </a:p>
          <a:p>
            <a:r>
              <a:rPr lang="en-US" sz="1900" dirty="0"/>
              <a:t>Nasal is produced through the nose by lowering the soft palate, and in some cases with closure of the oral </a:t>
            </a:r>
            <a:r>
              <a:rPr lang="en-US" sz="1900" dirty="0" smtClean="0"/>
              <a:t>passage (m, n, </a:t>
            </a:r>
            <a:r>
              <a:rPr lang="en-US" sz="2000" dirty="0" smtClean="0"/>
              <a:t>ŋ)</a:t>
            </a:r>
            <a:endParaRPr lang="en-US" sz="1900" dirty="0"/>
          </a:p>
          <a:p>
            <a:r>
              <a:rPr lang="en-US" sz="1900" dirty="0"/>
              <a:t>Liquid/lateral is produced with partial occlusion or closure in the oral </a:t>
            </a:r>
            <a:r>
              <a:rPr lang="en-US" sz="1900" dirty="0" smtClean="0"/>
              <a:t>cavity (l, r)</a:t>
            </a:r>
            <a:endParaRPr lang="en-US" sz="1900" dirty="0"/>
          </a:p>
          <a:p>
            <a:r>
              <a:rPr lang="en-US" sz="1900" dirty="0"/>
              <a:t>Glide/approximant is  produced by narrowing the oral cavity slightly, but still allowing smooth flow of </a:t>
            </a:r>
            <a:r>
              <a:rPr lang="en-US" sz="1900" smtClean="0"/>
              <a:t>air (w</a:t>
            </a:r>
            <a:r>
              <a:rPr lang="en-US" sz="1900" dirty="0" smtClean="0"/>
              <a:t>, j)</a:t>
            </a:r>
            <a:endParaRPr lang="en-US" sz="19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 OF ARTICULATION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3200" dirty="0"/>
              <a:t>Bilabial is produced using the two lips (p, b, </a:t>
            </a:r>
            <a:r>
              <a:rPr lang="en-US" sz="3200" dirty="0" smtClean="0"/>
              <a:t>m, w)</a:t>
            </a:r>
            <a:endParaRPr lang="en-US" sz="3200" dirty="0"/>
          </a:p>
          <a:p>
            <a:r>
              <a:rPr lang="en-US" sz="3200" dirty="0"/>
              <a:t>Labiodental is produced using the lower lip and upper teeth (f, v)</a:t>
            </a:r>
            <a:endParaRPr lang="en-US" sz="3200" dirty="0"/>
          </a:p>
          <a:p>
            <a:r>
              <a:rPr lang="en-US" sz="3200" dirty="0"/>
              <a:t>Dental is produced using the tip of the tongue and the teeth (θ, ð)</a:t>
            </a:r>
            <a:endParaRPr lang="en-US" sz="3200" dirty="0"/>
          </a:p>
          <a:p>
            <a:r>
              <a:rPr lang="en-US" sz="3200" dirty="0"/>
              <a:t>Alveolar is produced using the tip of the tongue to approach the alveolar (inner) ridge of the gums of the upper front teeth. (t, </a:t>
            </a:r>
            <a:r>
              <a:rPr lang="en-US" sz="3200" dirty="0" smtClean="0"/>
              <a:t>d, s, z, n, l)</a:t>
            </a:r>
            <a:endParaRPr lang="en-US" sz="3200" dirty="0"/>
          </a:p>
          <a:p>
            <a:r>
              <a:rPr lang="en-US" sz="3200" dirty="0"/>
              <a:t>Palatal is produced using the body of the tongue and the hard palate/outer roof of the mouth. </a:t>
            </a:r>
            <a:r>
              <a:rPr lang="en-US" sz="3200" dirty="0" smtClean="0"/>
              <a:t>(ʃ, ʒ, </a:t>
            </a:r>
            <a:r>
              <a:rPr lang="en-US" sz="3200" dirty="0" err="1" smtClean="0"/>
              <a:t>ʈʃ</a:t>
            </a:r>
            <a:r>
              <a:rPr lang="en-US" sz="3200" dirty="0"/>
              <a:t>, </a:t>
            </a:r>
            <a:r>
              <a:rPr lang="en-US" sz="3200" dirty="0" err="1" smtClean="0"/>
              <a:t>dʒ</a:t>
            </a:r>
            <a:r>
              <a:rPr lang="en-US" sz="3200" dirty="0" smtClean="0"/>
              <a:t>, r, j)   </a:t>
            </a:r>
            <a:endParaRPr lang="en-US" sz="3200" dirty="0"/>
          </a:p>
          <a:p>
            <a:r>
              <a:rPr lang="en-US" sz="3200" dirty="0"/>
              <a:t>Velar is produced using the body of the tongue and the soft palate/ inner roof of the mouth. (k, </a:t>
            </a:r>
            <a:r>
              <a:rPr lang="en-US" sz="3200" dirty="0" smtClean="0"/>
              <a:t>g,</a:t>
            </a:r>
            <a:r>
              <a:rPr lang="en-US" sz="3200" dirty="0"/>
              <a:t> ŋ</a:t>
            </a:r>
            <a:r>
              <a:rPr lang="en-US" sz="3200" dirty="0" smtClean="0"/>
              <a:t>  )</a:t>
            </a:r>
            <a:endParaRPr lang="en-US" sz="3200" dirty="0"/>
          </a:p>
          <a:p>
            <a:r>
              <a:rPr lang="en-US" sz="3200" dirty="0"/>
              <a:t>Glottal is produced at the glottis/larynx/vocal cord. (h)</a:t>
            </a:r>
            <a:endParaRPr lang="en-US" sz="3200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mtClean="0"/>
              <a:t>In groups, </a:t>
            </a:r>
            <a:r>
              <a:rPr lang="en-US" dirty="0" smtClean="0"/>
              <a:t>the students attempt the following questions</a:t>
            </a:r>
            <a:r>
              <a:rPr lang="en-US" dirty="0"/>
              <a:t>   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br>
              <a:rPr lang="en-US" dirty="0"/>
            </a:br>
            <a:r>
              <a:rPr lang="en-US" dirty="0"/>
              <a:t>What are fricative sounds? Using two examples each, write them</a:t>
            </a:r>
            <a:br>
              <a:rPr lang="en-US" dirty="0"/>
            </a:br>
            <a:r>
              <a:rPr lang="en-US" dirty="0"/>
              <a:t>out</a:t>
            </a:r>
            <a:r>
              <a:rPr lang="en-US" dirty="0" smtClean="0"/>
              <a:t>.</a:t>
            </a:r>
            <a:r>
              <a:rPr lang="en-US" dirty="0"/>
              <a:t>   </a:t>
            </a:r>
            <a:br>
              <a:rPr lang="en-US" dirty="0"/>
            </a:br>
            <a:r>
              <a:rPr lang="en-US" dirty="0"/>
              <a:t>With two examples each, differentiate between voiced and</a:t>
            </a:r>
            <a:br>
              <a:rPr lang="en-US" dirty="0"/>
            </a:br>
            <a:r>
              <a:rPr lang="en-US" dirty="0"/>
              <a:t>voiceless consonants</a:t>
            </a:r>
            <a:r>
              <a:rPr lang="en-US" dirty="0" smtClean="0"/>
              <a:t>.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Transcribe the following: judge, you, man, house, alive.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4200</Words>
  <Application>WPS Presentation</Application>
  <PresentationFormat>Widescreen</PresentationFormat>
  <Paragraphs>283</Paragraphs>
  <Slides>17</Slides>
  <Notes>1</Notes>
  <HiddenSlides>0</HiddenSlides>
  <MMClips>3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SimSun</vt:lpstr>
      <vt:lpstr>Wingdings</vt:lpstr>
      <vt:lpstr>Wingdings 3</vt:lpstr>
      <vt:lpstr>Symbol</vt:lpstr>
      <vt:lpstr>Arial</vt:lpstr>
      <vt:lpstr>Calibri</vt:lpstr>
      <vt:lpstr>Times New Roman</vt:lpstr>
      <vt:lpstr>Helvetica</vt:lpstr>
      <vt:lpstr>Century Gothic</vt:lpstr>
      <vt:lpstr>Microsoft YaHei</vt:lpstr>
      <vt:lpstr>Arial Unicode MS</vt:lpstr>
      <vt:lpstr>Ion Boardroom</vt:lpstr>
      <vt:lpstr>THE SOUNDS OF THE ENGLISH LANGUAGE</vt:lpstr>
      <vt:lpstr>LEARNING OBJECTIVES</vt:lpstr>
      <vt:lpstr>DEFINITION</vt:lpstr>
      <vt:lpstr>THE VOWEL CHART: MONOPHTHONG</vt:lpstr>
      <vt:lpstr>Monophthongs: Short vowel sounds </vt:lpstr>
      <vt:lpstr>Monophthong: Long vowel sounds</vt:lpstr>
      <vt:lpstr>THE VOWEL CHART: DIPHTHONG</vt:lpstr>
      <vt:lpstr>Diphthongs</vt:lpstr>
      <vt:lpstr>THE CONSONANT SOUNDS</vt:lpstr>
      <vt:lpstr>Consonant Sounds: Plosives</vt:lpstr>
      <vt:lpstr>Consonant Sounds: Fricatives</vt:lpstr>
      <vt:lpstr>Consonant Sounds: Affricates</vt:lpstr>
      <vt:lpstr>Consonant Sounds: Nasals</vt:lpstr>
      <vt:lpstr>Consonant Sounds: Approximants</vt:lpstr>
      <vt:lpstr>MANNER OF ARTICULATION</vt:lpstr>
      <vt:lpstr>PLACE OF ARTICULATION</vt:lpstr>
      <vt:lpstr>CLASS ACTIVITIES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SOUNDS OF THE ENGLISH LANGUAGE</dc:title>
  <dc:creator>Mrs. Afolabi</dc:creator>
  <cp:lastModifiedBy>White Wanderer</cp:lastModifiedBy>
  <cp:revision>84</cp:revision>
  <dcterms:created xsi:type="dcterms:W3CDTF">2022-11-14T10:51:00Z</dcterms:created>
  <dcterms:modified xsi:type="dcterms:W3CDTF">2025-09-29T19:46:11Z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9598646D3DD54B8CA9D0A8B8317C96D0_12</vt:lpwstr>
  </property>
  <property fmtid="{D5CDD505-2E9C-101B-9397-08002B2CF9AE}" pid="3" name="KSOProductBuildVer">
    <vt:lpwstr>1033-12.2.0.22549</vt:lpwstr>
  </property>
</Properties>
</file>