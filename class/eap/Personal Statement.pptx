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5" r:id="rId3"/>
    <p:sldId id="264" r:id="rId4"/>
    <p:sldId id="257" r:id="rId5"/>
    <p:sldId id="262" r:id="rId6"/>
    <p:sldId id="258" r:id="rId7"/>
    <p:sldId id="263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81F5-226C-47EB-843D-47B6EC637E1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4448A-C562-45B2-ABDF-00F6BFA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23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81F5-226C-47EB-843D-47B6EC637E1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4448A-C562-45B2-ABDF-00F6BFA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86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81F5-226C-47EB-843D-47B6EC637E1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4448A-C562-45B2-ABDF-00F6BFA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221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81F5-226C-47EB-843D-47B6EC637E1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4448A-C562-45B2-ABDF-00F6BFA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74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81F5-226C-47EB-843D-47B6EC637E1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4448A-C562-45B2-ABDF-00F6BFA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31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81F5-226C-47EB-843D-47B6EC637E1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4448A-C562-45B2-ABDF-00F6BFA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11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81F5-226C-47EB-843D-47B6EC637E1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4448A-C562-45B2-ABDF-00F6BFA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1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81F5-226C-47EB-843D-47B6EC637E1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4448A-C562-45B2-ABDF-00F6BFA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436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4448A-C562-45B2-ABDF-00F6BFA2EE9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81F5-226C-47EB-843D-47B6EC637E19}" type="datetimeFigureOut">
              <a:rPr lang="en-US" smtClean="0"/>
              <a:t>9/15/2025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23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81F5-226C-47EB-843D-47B6EC637E1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4448A-C562-45B2-ABDF-00F6BFA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8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81F5-226C-47EB-843D-47B6EC637E1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4448A-C562-45B2-ABDF-00F6BFA2EE9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5724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81F5-226C-47EB-843D-47B6EC637E1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4448A-C562-45B2-ABDF-00F6BFA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373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81F5-226C-47EB-843D-47B6EC637E1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4448A-C562-45B2-ABDF-00F6BFA2EE9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6828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81F5-226C-47EB-843D-47B6EC637E1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4448A-C562-45B2-ABDF-00F6BFA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96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81F5-226C-47EB-843D-47B6EC637E1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4448A-C562-45B2-ABDF-00F6BFA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977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E81F5-226C-47EB-843D-47B6EC637E1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4448A-C562-45B2-ABDF-00F6BFA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96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E81F5-226C-47EB-843D-47B6EC637E19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9D4448A-C562-45B2-ABDF-00F6BFA2E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07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Personal Statement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An Admission Document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330" y="554883"/>
            <a:ext cx="7579673" cy="276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345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In this lesson, students will:</a:t>
            </a:r>
          </a:p>
          <a:p>
            <a:endParaRPr lang="en-US" sz="2000" dirty="0"/>
          </a:p>
          <a:p>
            <a:r>
              <a:rPr lang="en-NG" sz="2000" dirty="0" smtClean="0"/>
              <a:t>understand </a:t>
            </a:r>
            <a:r>
              <a:rPr lang="en-NG" sz="2000" dirty="0"/>
              <a:t>the essential elements of a compelling personal statement. </a:t>
            </a:r>
            <a:endParaRPr lang="en-US" sz="2000" dirty="0" smtClean="0"/>
          </a:p>
          <a:p>
            <a:r>
              <a:rPr lang="en-US" sz="2000" dirty="0"/>
              <a:t>a</a:t>
            </a:r>
            <a:r>
              <a:rPr lang="en-NG" sz="2000" dirty="0" smtClean="0"/>
              <a:t>naly</a:t>
            </a:r>
            <a:r>
              <a:rPr lang="en-US" sz="2000"/>
              <a:t>s</a:t>
            </a:r>
            <a:r>
              <a:rPr lang="en-US" sz="2000" smtClean="0"/>
              <a:t>e</a:t>
            </a:r>
            <a:r>
              <a:rPr lang="en-NG" sz="2000" dirty="0" smtClean="0"/>
              <a:t> </a:t>
            </a:r>
            <a:r>
              <a:rPr lang="en-NG" sz="2000" dirty="0"/>
              <a:t>the essential elements of a compelling personal statement. </a:t>
            </a:r>
            <a:endParaRPr lang="en-US" sz="2000" dirty="0" smtClean="0"/>
          </a:p>
          <a:p>
            <a:r>
              <a:rPr lang="en-NG" sz="2000" dirty="0" smtClean="0"/>
              <a:t>deconstruct </a:t>
            </a:r>
            <a:r>
              <a:rPr lang="en-NG" sz="2000" dirty="0"/>
              <a:t>examples, identify key strategies, and begin drafting their own statements, focusing on articulating their unique qualities and aspirations </a:t>
            </a:r>
            <a:r>
              <a:rPr lang="en-NG" sz="2000" dirty="0" smtClean="0"/>
              <a:t>effectively</a:t>
            </a:r>
            <a:r>
              <a:rPr lang="en-US" sz="2000" dirty="0" smtClean="0"/>
              <a:t> t</a:t>
            </a:r>
            <a:r>
              <a:rPr lang="en-NG" sz="2000" dirty="0" smtClean="0"/>
              <a:t>hrough </a:t>
            </a:r>
            <a:r>
              <a:rPr lang="en-NG" sz="2000" dirty="0"/>
              <a:t>a series of interactive </a:t>
            </a:r>
            <a:r>
              <a:rPr lang="en-NG" sz="2000" dirty="0" smtClean="0"/>
              <a:t>activities</a:t>
            </a:r>
            <a:r>
              <a:rPr lang="en-US" sz="2000" dirty="0" smtClean="0"/>
              <a:t>.</a:t>
            </a:r>
            <a:endParaRPr lang="en-US" sz="2000" dirty="0"/>
          </a:p>
          <a:p>
            <a:pPr marL="0" indent="0">
              <a:buNone/>
            </a:pPr>
            <a:r>
              <a:rPr lang="en-NG" sz="2000" dirty="0"/>
              <a:t>	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31191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57" y="2916644"/>
            <a:ext cx="8596668" cy="1320800"/>
          </a:xfrm>
        </p:spPr>
        <p:txBody>
          <a:bodyPr/>
          <a:lstStyle/>
          <a:p>
            <a:r>
              <a:rPr lang="en-US" dirty="0"/>
              <a:t>Definition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998" y="234690"/>
            <a:ext cx="8087853" cy="381951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177" y="4237444"/>
            <a:ext cx="9260649" cy="24608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Personal statement is a written document of one’s achievements and interests included as part of an application for a university admission.</a:t>
            </a:r>
          </a:p>
        </p:txBody>
      </p:sp>
    </p:spTree>
    <p:extLst>
      <p:ext uri="{BB962C8B-B14F-4D97-AF65-F5344CB8AC3E}">
        <p14:creationId xmlns:p14="http://schemas.microsoft.com/office/powerpoint/2010/main" val="60346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363200" cy="881784"/>
          </a:xfrm>
        </p:spPr>
        <p:txBody>
          <a:bodyPr/>
          <a:lstStyle/>
          <a:p>
            <a:r>
              <a:rPr lang="en-US" dirty="0"/>
              <a:t>PERSONAL STATEMENT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788" y="0"/>
            <a:ext cx="6452212" cy="668723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169" y="1246908"/>
            <a:ext cx="11243631" cy="561109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chemeClr val="tx2"/>
              </a:buClr>
            </a:pPr>
            <a:r>
              <a:rPr lang="en-GB" sz="2400" dirty="0">
                <a:solidFill>
                  <a:srgbClr val="00B0F0"/>
                </a:solidFill>
              </a:rPr>
              <a:t>Your personal statement helps you to stand out from the others with similar grades.</a:t>
            </a:r>
          </a:p>
          <a:p>
            <a:pPr>
              <a:lnSpc>
                <a:spcPct val="150000"/>
              </a:lnSpc>
              <a:buClr>
                <a:schemeClr val="tx2"/>
              </a:buClr>
            </a:pPr>
            <a:r>
              <a:rPr lang="en-GB" sz="2400" dirty="0">
                <a:solidFill>
                  <a:srgbClr val="00B0F0"/>
                </a:solidFill>
              </a:rPr>
              <a:t>Shows university and college admissions officers that you:</a:t>
            </a:r>
          </a:p>
          <a:p>
            <a:pPr marL="628650" lvl="1" indent="-285750">
              <a:lnSpc>
                <a:spcPct val="150000"/>
              </a:lnSpc>
              <a:buClr>
                <a:schemeClr val="tx2"/>
              </a:buClr>
              <a:buFont typeface="Arial" charset="0"/>
              <a:buChar char="•"/>
            </a:pPr>
            <a:r>
              <a:rPr lang="en-GB" sz="1800" dirty="0">
                <a:solidFill>
                  <a:srgbClr val="00B0F0"/>
                </a:solidFill>
              </a:rPr>
              <a:t>are greatly </a:t>
            </a:r>
            <a:r>
              <a:rPr lang="en-GB" sz="1800" dirty="0" smtClean="0">
                <a:solidFill>
                  <a:srgbClr val="00B0F0"/>
                </a:solidFill>
              </a:rPr>
              <a:t>interested in studying a given course</a:t>
            </a:r>
            <a:endParaRPr lang="en-GB" sz="1800" dirty="0">
              <a:solidFill>
                <a:srgbClr val="00B0F0"/>
              </a:solidFill>
            </a:endParaRPr>
          </a:p>
          <a:p>
            <a:pPr marL="628650" lvl="1" indent="-285750">
              <a:lnSpc>
                <a:spcPct val="150000"/>
              </a:lnSpc>
              <a:buClr>
                <a:schemeClr val="tx2"/>
              </a:buClr>
              <a:buFont typeface="Arial" charset="0"/>
              <a:buChar char="•"/>
            </a:pPr>
            <a:r>
              <a:rPr lang="en-GB" sz="1800" dirty="0">
                <a:solidFill>
                  <a:srgbClr val="00B0F0"/>
                </a:solidFill>
              </a:rPr>
              <a:t>are highly motivated and dedicated</a:t>
            </a:r>
          </a:p>
          <a:p>
            <a:pPr marL="628650" lvl="1" indent="-285750">
              <a:lnSpc>
                <a:spcPct val="150000"/>
              </a:lnSpc>
              <a:buClr>
                <a:schemeClr val="tx2"/>
              </a:buClr>
              <a:buFont typeface="Arial" charset="0"/>
              <a:buChar char="•"/>
            </a:pPr>
            <a:r>
              <a:rPr lang="en-GB" sz="1800" dirty="0">
                <a:solidFill>
                  <a:srgbClr val="00B0F0"/>
                </a:solidFill>
              </a:rPr>
              <a:t>have relevant knowledge and experience gained from school/college work, or other extracurricular activities</a:t>
            </a:r>
          </a:p>
          <a:p>
            <a:pPr marL="628650" lvl="1" indent="-285750">
              <a:lnSpc>
                <a:spcPct val="150000"/>
              </a:lnSpc>
              <a:buClr>
                <a:schemeClr val="tx2"/>
              </a:buClr>
              <a:buFont typeface="Arial" charset="0"/>
              <a:buChar char="•"/>
            </a:pPr>
            <a:r>
              <a:rPr lang="en-GB" sz="1800" dirty="0">
                <a:solidFill>
                  <a:srgbClr val="00B0F0"/>
                </a:solidFill>
              </a:rPr>
              <a:t>understand the demands of the course</a:t>
            </a:r>
          </a:p>
          <a:p>
            <a:pPr marL="628650" lvl="1" indent="-285750">
              <a:lnSpc>
                <a:spcPct val="150000"/>
              </a:lnSpc>
              <a:buClr>
                <a:schemeClr val="tx2"/>
              </a:buClr>
              <a:buFont typeface="Arial" charset="0"/>
              <a:buChar char="•"/>
            </a:pPr>
            <a:r>
              <a:rPr lang="en-GB" sz="1800" dirty="0">
                <a:solidFill>
                  <a:srgbClr val="00B0F0"/>
                </a:solidFill>
              </a:rPr>
              <a:t>will fit in to the university environment</a:t>
            </a:r>
          </a:p>
        </p:txBody>
      </p:sp>
    </p:spTree>
    <p:extLst>
      <p:ext uri="{BB962C8B-B14F-4D97-AF65-F5344CB8AC3E}">
        <p14:creationId xmlns:p14="http://schemas.microsoft.com/office/powerpoint/2010/main" val="4028814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PERSONAL STATEMENT IS: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64" y="1404472"/>
            <a:ext cx="8477683" cy="218478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064" y="3172858"/>
            <a:ext cx="10372584" cy="359690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tx2"/>
              </a:buClr>
              <a:buNone/>
            </a:pPr>
            <a:endParaRPr lang="en-GB" dirty="0">
              <a:solidFill>
                <a:srgbClr val="00B0F0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tx2"/>
              </a:buClr>
              <a:buFont typeface="Arial" charset="0"/>
              <a:buChar char="•"/>
            </a:pPr>
            <a:r>
              <a:rPr lang="en-GB" sz="2400" dirty="0">
                <a:solidFill>
                  <a:srgbClr val="00B0F0"/>
                </a:solidFill>
              </a:rPr>
              <a:t>Your chance to sell yourself </a:t>
            </a:r>
            <a:r>
              <a:rPr lang="en-GB" sz="2400" dirty="0" smtClean="0">
                <a:solidFill>
                  <a:srgbClr val="00B0F0"/>
                </a:solidFill>
              </a:rPr>
              <a:t>to the admissions panel.</a:t>
            </a:r>
            <a:endParaRPr lang="en-GB" sz="2400" dirty="0">
              <a:solidFill>
                <a:srgbClr val="00B0F0"/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tx2"/>
              </a:buClr>
              <a:buFont typeface="Arial" charset="0"/>
              <a:buChar char="•"/>
            </a:pPr>
            <a:r>
              <a:rPr lang="en-GB" sz="2400" dirty="0" smtClean="0">
                <a:solidFill>
                  <a:srgbClr val="00B0F0"/>
                </a:solidFill>
              </a:rPr>
              <a:t>Usually written </a:t>
            </a:r>
            <a:r>
              <a:rPr lang="en-GB" sz="2400" dirty="0">
                <a:solidFill>
                  <a:srgbClr val="00B0F0"/>
                </a:solidFill>
              </a:rPr>
              <a:t>for all your choices in a country.</a:t>
            </a:r>
          </a:p>
          <a:p>
            <a:pPr marL="285750" indent="-285750">
              <a:lnSpc>
                <a:spcPct val="150000"/>
              </a:lnSpc>
              <a:buClr>
                <a:schemeClr val="tx2"/>
              </a:buClr>
              <a:buFont typeface="Arial" charset="0"/>
              <a:buChar char="•"/>
            </a:pPr>
            <a:r>
              <a:rPr lang="en-GB" sz="2400" dirty="0">
                <a:solidFill>
                  <a:srgbClr val="00B0F0"/>
                </a:solidFill>
              </a:rPr>
              <a:t>Maximum of 500 words, 4,000 characters, or 47 lines.</a:t>
            </a:r>
          </a:p>
          <a:p>
            <a:pPr marL="285750" indent="-285750">
              <a:lnSpc>
                <a:spcPct val="150000"/>
              </a:lnSpc>
              <a:buClr>
                <a:schemeClr val="tx2"/>
              </a:buClr>
              <a:buFont typeface="Arial" charset="0"/>
              <a:buChar char="•"/>
            </a:pPr>
            <a:r>
              <a:rPr lang="en-GB" sz="2400" b="1" dirty="0">
                <a:solidFill>
                  <a:srgbClr val="00B0F0"/>
                </a:solidFill>
              </a:rPr>
              <a:t>Checked for plagiarism</a:t>
            </a:r>
            <a:endParaRPr lang="en-US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712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603" y="4136984"/>
            <a:ext cx="11128192" cy="27210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2400" dirty="0" smtClean="0">
                <a:solidFill>
                  <a:srgbClr val="FF0000"/>
                </a:solidFill>
              </a:rPr>
              <a:t>A</a:t>
            </a:r>
            <a:r>
              <a:rPr lang="en-GB" sz="2400" dirty="0" smtClean="0"/>
              <a:t>ctivities/ achievements: </a:t>
            </a:r>
            <a:r>
              <a:rPr lang="en-GB" sz="2400" dirty="0"/>
              <a:t>What have you done or achieved in the past?</a:t>
            </a:r>
          </a:p>
          <a:p>
            <a:pPr>
              <a:defRPr/>
            </a:pPr>
            <a:endParaRPr lang="en-GB" sz="2400" dirty="0">
              <a:ea typeface="ＭＳ Ｐゴシック" panose="020B0600070205080204" pitchFamily="34" charset="-128"/>
            </a:endParaRPr>
          </a:p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B</a:t>
            </a:r>
            <a:r>
              <a:rPr lang="en-GB" sz="2400" dirty="0"/>
              <a:t>enefit: What </a:t>
            </a:r>
            <a:r>
              <a:rPr lang="en-GB" sz="2400" dirty="0" smtClean="0"/>
              <a:t>beneficial/relevant skills </a:t>
            </a:r>
            <a:r>
              <a:rPr lang="en-GB" sz="2400" dirty="0"/>
              <a:t>have you gained?</a:t>
            </a:r>
          </a:p>
          <a:p>
            <a:pPr>
              <a:defRPr/>
            </a:pPr>
            <a:endParaRPr lang="en-GB" sz="2400" dirty="0">
              <a:ea typeface="ＭＳ Ｐゴシック" panose="020B0600070205080204" pitchFamily="34" charset="-128"/>
            </a:endParaRPr>
          </a:p>
          <a:p>
            <a:pPr>
              <a:defRPr/>
            </a:pPr>
            <a:r>
              <a:rPr lang="en-GB" sz="2400" b="1" dirty="0">
                <a:solidFill>
                  <a:srgbClr val="FF0000"/>
                </a:solidFill>
              </a:rPr>
              <a:t>C</a:t>
            </a:r>
            <a:r>
              <a:rPr lang="en-GB" sz="2400" dirty="0"/>
              <a:t>ourse: How will </a:t>
            </a:r>
            <a:r>
              <a:rPr lang="en-GB" sz="2400" dirty="0" smtClean="0"/>
              <a:t>the above aid your study of the course?</a:t>
            </a: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588" y="69070"/>
            <a:ext cx="6826246" cy="387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736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41" y="0"/>
            <a:ext cx="6647459" cy="663027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76262"/>
            <a:ext cx="8596668" cy="4465950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</a:rPr>
              <a:t>Title</a:t>
            </a:r>
          </a:p>
          <a:p>
            <a:r>
              <a:rPr lang="en-US" sz="2400" dirty="0">
                <a:solidFill>
                  <a:srgbClr val="FF0000"/>
                </a:solidFill>
              </a:rPr>
              <a:t>Inspiration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Short description of the course</a:t>
            </a:r>
          </a:p>
          <a:p>
            <a:r>
              <a:rPr lang="en-US" sz="2400" dirty="0">
                <a:solidFill>
                  <a:srgbClr val="FF0000"/>
                </a:solidFill>
              </a:rPr>
              <a:t>Profile and achievements</a:t>
            </a:r>
          </a:p>
          <a:p>
            <a:r>
              <a:rPr lang="en-US" sz="2400" dirty="0">
                <a:solidFill>
                  <a:srgbClr val="FF0000"/>
                </a:solidFill>
              </a:rPr>
              <a:t>Why study in the country of your choice?</a:t>
            </a:r>
          </a:p>
          <a:p>
            <a:r>
              <a:rPr lang="en-US" sz="2400" dirty="0">
                <a:solidFill>
                  <a:srgbClr val="FF0000"/>
                </a:solidFill>
              </a:rPr>
              <a:t>Possible challenges</a:t>
            </a:r>
          </a:p>
          <a:p>
            <a:r>
              <a:rPr lang="en-US" sz="2400" dirty="0">
                <a:solidFill>
                  <a:srgbClr val="FF0000"/>
                </a:solidFill>
              </a:rPr>
              <a:t>Passion to serve </a:t>
            </a:r>
            <a:r>
              <a:rPr lang="en-US" sz="2400" b="1" i="1" dirty="0">
                <a:solidFill>
                  <a:srgbClr val="FF0000"/>
                </a:solidFill>
              </a:rPr>
              <a:t>your</a:t>
            </a:r>
            <a:r>
              <a:rPr lang="en-US" sz="2400" dirty="0">
                <a:solidFill>
                  <a:srgbClr val="FF0000"/>
                </a:solidFill>
              </a:rPr>
              <a:t> community.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712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Analyse</a:t>
            </a:r>
            <a:r>
              <a:rPr lang="en-US" dirty="0" smtClean="0"/>
              <a:t> the story in the sample response that you read.</a:t>
            </a:r>
          </a:p>
          <a:p>
            <a:r>
              <a:rPr lang="en-US" dirty="0" smtClean="0"/>
              <a:t>Identify the compelling aspect(s) of the response.</a:t>
            </a:r>
          </a:p>
          <a:p>
            <a:r>
              <a:rPr lang="en-US" dirty="0" smtClean="0"/>
              <a:t>Are all </a:t>
            </a:r>
            <a:r>
              <a:rPr lang="en-US" smtClean="0"/>
              <a:t>the parts </a:t>
            </a:r>
            <a:r>
              <a:rPr lang="en-US" dirty="0" smtClean="0"/>
              <a:t>included?</a:t>
            </a:r>
          </a:p>
          <a:p>
            <a:r>
              <a:rPr lang="en-US" dirty="0" smtClean="0"/>
              <a:t>Using the correction you have made to the sample response, write the first draft of yours.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4531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639</TotalTime>
  <Words>309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ＭＳ Ｐゴシック</vt:lpstr>
      <vt:lpstr>Arial</vt:lpstr>
      <vt:lpstr>Trebuchet MS</vt:lpstr>
      <vt:lpstr>Wingdings 3</vt:lpstr>
      <vt:lpstr>Facet</vt:lpstr>
      <vt:lpstr>Personal Statement</vt:lpstr>
      <vt:lpstr>LEARNING OBJECTIVES</vt:lpstr>
      <vt:lpstr>Definition </vt:lpstr>
      <vt:lpstr>PERSONAL STATEMENT</vt:lpstr>
      <vt:lpstr>YOUR PERSONAL STATEMENT IS:</vt:lpstr>
      <vt:lpstr>WHAT TO WRITE</vt:lpstr>
      <vt:lpstr>Format </vt:lpstr>
      <vt:lpstr>CLASS ACTIVITIES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Mrs. Afolabi</dc:creator>
  <cp:lastModifiedBy>Microsoft account</cp:lastModifiedBy>
  <cp:revision>38</cp:revision>
  <dcterms:created xsi:type="dcterms:W3CDTF">2023-01-09T10:14:00Z</dcterms:created>
  <dcterms:modified xsi:type="dcterms:W3CDTF">2025-09-15T08:01:36Z</dcterms:modified>
</cp:coreProperties>
</file>