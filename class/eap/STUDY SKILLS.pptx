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76" r:id="rId3"/>
    <p:sldId id="257" r:id="rId4"/>
    <p:sldId id="258" r:id="rId5"/>
    <p:sldId id="259" r:id="rId6"/>
    <p:sldId id="262" r:id="rId7"/>
    <p:sldId id="260"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2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1445914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2816944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683626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E8DE8A-4D8B-46B4-8F08-0BAB49C1B74D}"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2117834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E8DE8A-4D8B-46B4-8F08-0BAB49C1B74D}"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41491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E8DE8A-4D8B-46B4-8F08-0BAB49C1B74D}"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30227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E8DE8A-4D8B-46B4-8F08-0BAB49C1B74D}"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677992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E8DE8A-4D8B-46B4-8F08-0BAB49C1B74D}"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112081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3A5CD-C13D-49AB-B5AB-152B0A1AC9C9}" type="slidenum">
              <a:rPr lang="en-US" smtClean="0"/>
              <a:t>‹#›</a:t>
            </a:fld>
            <a:endParaRPr lang="en-US"/>
          </a:p>
        </p:txBody>
      </p:sp>
      <p:sp>
        <p:nvSpPr>
          <p:cNvPr id="5" name="Date Placeholder 4"/>
          <p:cNvSpPr>
            <a:spLocks noGrp="1"/>
          </p:cNvSpPr>
          <p:nvPr>
            <p:ph type="dt" sz="half" idx="10"/>
          </p:nvPr>
        </p:nvSpPr>
        <p:spPr/>
        <p:txBody>
          <a:bodyPr/>
          <a:lstStyle/>
          <a:p>
            <a:fld id="{C6E8DE8A-4D8B-46B4-8F08-0BAB49C1B74D}" type="datetimeFigureOut">
              <a:rPr lang="en-US" smtClean="0"/>
              <a:t>10/10/2025</a:t>
            </a:fld>
            <a:endParaRPr lang="en-US"/>
          </a:p>
        </p:txBody>
      </p:sp>
    </p:spTree>
    <p:extLst>
      <p:ext uri="{BB962C8B-B14F-4D97-AF65-F5344CB8AC3E}">
        <p14:creationId xmlns:p14="http://schemas.microsoft.com/office/powerpoint/2010/main" val="4240127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950693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7622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733626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3499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3743784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2293024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E8DE8A-4D8B-46B4-8F08-0BAB49C1B74D}"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3A5CD-C13D-49AB-B5AB-152B0A1AC9C9}" type="slidenum">
              <a:rPr lang="en-US" smtClean="0"/>
              <a:t>‹#›</a:t>
            </a:fld>
            <a:endParaRPr lang="en-US"/>
          </a:p>
        </p:txBody>
      </p:sp>
    </p:spTree>
    <p:extLst>
      <p:ext uri="{BB962C8B-B14F-4D97-AF65-F5344CB8AC3E}">
        <p14:creationId xmlns:p14="http://schemas.microsoft.com/office/powerpoint/2010/main" val="19938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6E8DE8A-4D8B-46B4-8F08-0BAB49C1B74D}" type="datetimeFigureOut">
              <a:rPr lang="en-US" smtClean="0"/>
              <a:t>10/10/2025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453A5CD-C13D-49AB-B5AB-152B0A1AC9C9}" type="slidenum">
              <a:rPr lang="en-US" smtClean="0"/>
              <a:t>‹#›</a:t>
            </a:fld>
            <a:endParaRPr lang="en-US"/>
          </a:p>
        </p:txBody>
      </p:sp>
    </p:spTree>
    <p:extLst>
      <p:ext uri="{BB962C8B-B14F-4D97-AF65-F5344CB8AC3E}">
        <p14:creationId xmlns:p14="http://schemas.microsoft.com/office/powerpoint/2010/main" val="191496535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STUDY SKILLS</a:t>
            </a:r>
          </a:p>
        </p:txBody>
      </p:sp>
    </p:spTree>
    <p:extLst>
      <p:ext uri="{BB962C8B-B14F-4D97-AF65-F5344CB8AC3E}">
        <p14:creationId xmlns:p14="http://schemas.microsoft.com/office/powerpoint/2010/main" val="3673257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 SKIILS</a:t>
            </a:r>
            <a:endParaRPr lang="en-US" dirty="0"/>
          </a:p>
        </p:txBody>
      </p:sp>
      <p:sp>
        <p:nvSpPr>
          <p:cNvPr id="3" name="Content Placeholder 2"/>
          <p:cNvSpPr>
            <a:spLocks noGrp="1"/>
          </p:cNvSpPr>
          <p:nvPr>
            <p:ph idx="1"/>
          </p:nvPr>
        </p:nvSpPr>
        <p:spPr/>
        <p:txBody>
          <a:bodyPr>
            <a:normAutofit/>
          </a:bodyPr>
          <a:lstStyle/>
          <a:p>
            <a:pPr marL="0" indent="0">
              <a:buNone/>
            </a:pPr>
            <a:r>
              <a:rPr lang="en-US" sz="2800" dirty="0" smtClean="0"/>
              <a:t>Study skills are the techniques and strategies used to effectively gather, retain and apply information such as time management, note-taking, active learning, memorization, test preparation etc.</a:t>
            </a:r>
          </a:p>
          <a:p>
            <a:pPr marL="0" indent="0">
              <a:buNone/>
            </a:pPr>
            <a:endParaRPr lang="en-US" sz="2800" dirty="0"/>
          </a:p>
        </p:txBody>
      </p:sp>
    </p:spTree>
    <p:extLst>
      <p:ext uri="{BB962C8B-B14F-4D97-AF65-F5344CB8AC3E}">
        <p14:creationId xmlns:p14="http://schemas.microsoft.com/office/powerpoint/2010/main" val="2437314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NOTE-TAKING </a:t>
            </a:r>
            <a:r>
              <a:rPr lang="en-US" dirty="0"/>
              <a:t>AND </a:t>
            </a:r>
            <a:r>
              <a:rPr lang="en-US" dirty="0" smtClean="0"/>
              <a:t>NOTE-MAKING</a:t>
            </a:r>
            <a:endParaRPr lang="en-US" dirty="0"/>
          </a:p>
        </p:txBody>
      </p:sp>
      <p:sp>
        <p:nvSpPr>
          <p:cNvPr id="3" name="Content Placeholder 2"/>
          <p:cNvSpPr>
            <a:spLocks noGrp="1"/>
          </p:cNvSpPr>
          <p:nvPr>
            <p:ph idx="1"/>
          </p:nvPr>
        </p:nvSpPr>
        <p:spPr>
          <a:xfrm>
            <a:off x="677333" y="1930401"/>
            <a:ext cx="10313051" cy="4110962"/>
          </a:xfrm>
        </p:spPr>
        <p:txBody>
          <a:bodyPr>
            <a:normAutofit/>
          </a:bodyPr>
          <a:lstStyle/>
          <a:p>
            <a:r>
              <a:rPr lang="en-US" sz="2800" dirty="0" smtClean="0"/>
              <a:t>Note-taking </a:t>
            </a:r>
            <a:r>
              <a:rPr lang="en-US" sz="2800" dirty="0"/>
              <a:t>is the fundamental academic activity that involves writing or recording what is </a:t>
            </a:r>
            <a:r>
              <a:rPr lang="en-US" sz="2800" dirty="0" smtClean="0"/>
              <a:t>taught </a:t>
            </a:r>
            <a:r>
              <a:rPr lang="en-US" sz="2800" dirty="0"/>
              <a:t>in the classroom, while </a:t>
            </a:r>
            <a:r>
              <a:rPr lang="en-US" sz="2800" dirty="0" smtClean="0"/>
              <a:t>note-making </a:t>
            </a:r>
            <a:r>
              <a:rPr lang="en-US" sz="2800" dirty="0"/>
              <a:t>is the process of developing the notes written in class to form a comprehensive and personal </a:t>
            </a:r>
            <a:r>
              <a:rPr lang="en-US" sz="2800" dirty="0" smtClean="0"/>
              <a:t>note/study material. Note-taking </a:t>
            </a:r>
            <a:r>
              <a:rPr lang="en-US" sz="2800" dirty="0"/>
              <a:t>is done in the </a:t>
            </a:r>
            <a:r>
              <a:rPr lang="en-US" sz="2800" dirty="0" smtClean="0"/>
              <a:t>class </a:t>
            </a:r>
            <a:r>
              <a:rPr lang="en-US" sz="2800" dirty="0"/>
              <a:t>while </a:t>
            </a:r>
            <a:r>
              <a:rPr lang="en-US" sz="2800" dirty="0" smtClean="0"/>
              <a:t>note-making </a:t>
            </a:r>
            <a:r>
              <a:rPr lang="en-US" sz="2800" dirty="0"/>
              <a:t>is done while reading which makes it </a:t>
            </a:r>
            <a:r>
              <a:rPr lang="en-US" sz="2800" dirty="0" smtClean="0"/>
              <a:t>a more </a:t>
            </a:r>
            <a:r>
              <a:rPr lang="en-US" sz="2800" dirty="0"/>
              <a:t>active </a:t>
            </a:r>
            <a:r>
              <a:rPr lang="en-US" sz="2800" dirty="0" smtClean="0"/>
              <a:t>activity.</a:t>
            </a:r>
            <a:endParaRPr lang="en-US" sz="2800" dirty="0"/>
          </a:p>
        </p:txBody>
      </p:sp>
    </p:spTree>
    <p:extLst>
      <p:ext uri="{BB962C8B-B14F-4D97-AF65-F5344CB8AC3E}">
        <p14:creationId xmlns:p14="http://schemas.microsoft.com/office/powerpoint/2010/main" val="3620893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IMPORTANCE OF </a:t>
            </a:r>
            <a:r>
              <a:rPr lang="en-US" dirty="0" smtClean="0"/>
              <a:t>NOTE-TAKING </a:t>
            </a:r>
            <a:r>
              <a:rPr lang="en-US" dirty="0"/>
              <a:t>AND </a:t>
            </a:r>
            <a:r>
              <a:rPr lang="en-US" dirty="0" smtClean="0"/>
              <a:t>NOTE-MAKING</a:t>
            </a:r>
            <a:endParaRPr lang="en-US" dirty="0"/>
          </a:p>
        </p:txBody>
      </p:sp>
      <p:sp>
        <p:nvSpPr>
          <p:cNvPr id="3" name="Content Placeholder 2"/>
          <p:cNvSpPr>
            <a:spLocks noGrp="1"/>
          </p:cNvSpPr>
          <p:nvPr>
            <p:ph idx="1"/>
          </p:nvPr>
        </p:nvSpPr>
        <p:spPr>
          <a:xfrm>
            <a:off x="263769" y="1688123"/>
            <a:ext cx="11148645" cy="5169877"/>
          </a:xfrm>
        </p:spPr>
        <p:txBody>
          <a:bodyPr>
            <a:noAutofit/>
          </a:bodyPr>
          <a:lstStyle/>
          <a:p>
            <a:pPr marL="0" indent="0">
              <a:buNone/>
            </a:pPr>
            <a:r>
              <a:rPr lang="en-US" sz="2800" dirty="0"/>
              <a:t>Better notes will help you remember concepts, develop meaningful learning skills, and gain a better understanding of a topic. Learning how to take better study notes in class helps one to recall and understand what you have learnt because it</a:t>
            </a:r>
            <a:r>
              <a:rPr lang="en-US" sz="2800" dirty="0" smtClean="0"/>
              <a:t>:</a:t>
            </a:r>
            <a:endParaRPr lang="en-US" sz="2800" dirty="0"/>
          </a:p>
          <a:p>
            <a:pPr lvl="0">
              <a:buFont typeface="Courier New" panose="02070309020205020404" pitchFamily="49" charset="0"/>
              <a:buChar char="o"/>
            </a:pPr>
            <a:r>
              <a:rPr lang="en-US" sz="2800" dirty="0"/>
              <a:t>Ensures you actively listen to what the teacher says</a:t>
            </a:r>
          </a:p>
          <a:p>
            <a:pPr lvl="0">
              <a:buFont typeface="Courier New" panose="02070309020205020404" pitchFamily="49" charset="0"/>
              <a:buChar char="o"/>
            </a:pPr>
            <a:r>
              <a:rPr lang="en-US" sz="2800" dirty="0"/>
              <a:t>Requires you to think about what you have written</a:t>
            </a:r>
          </a:p>
          <a:p>
            <a:pPr lvl="0">
              <a:buFont typeface="Courier New" panose="02070309020205020404" pitchFamily="49" charset="0"/>
              <a:buChar char="o"/>
            </a:pPr>
            <a:r>
              <a:rPr lang="en-US" sz="2800" dirty="0"/>
              <a:t>Helps you make connections between </a:t>
            </a:r>
            <a:r>
              <a:rPr lang="en-US" sz="2800" dirty="0" smtClean="0"/>
              <a:t>topics</a:t>
            </a:r>
          </a:p>
          <a:p>
            <a:pPr lvl="0">
              <a:buFont typeface="Courier New" panose="02070309020205020404" pitchFamily="49" charset="0"/>
              <a:buChar char="o"/>
            </a:pPr>
            <a:r>
              <a:rPr lang="en-US" sz="2800" dirty="0" smtClean="0"/>
              <a:t>Helps you to structure, prioritize and organize information</a:t>
            </a:r>
            <a:endParaRPr lang="en-US" sz="2800" dirty="0"/>
          </a:p>
          <a:p>
            <a:pPr lvl="0">
              <a:buFont typeface="Courier New" panose="02070309020205020404" pitchFamily="49" charset="0"/>
              <a:buChar char="o"/>
            </a:pPr>
            <a:r>
              <a:rPr lang="en-US" sz="2800" dirty="0"/>
              <a:t>Serves as quality review material for after class</a:t>
            </a:r>
          </a:p>
          <a:p>
            <a:pPr marL="0" indent="0">
              <a:buNone/>
            </a:pPr>
            <a:r>
              <a:rPr lang="en-US" sz="2800" dirty="0"/>
              <a:t> </a:t>
            </a:r>
          </a:p>
        </p:txBody>
      </p:sp>
    </p:spTree>
    <p:extLst>
      <p:ext uri="{BB962C8B-B14F-4D97-AF65-F5344CB8AC3E}">
        <p14:creationId xmlns:p14="http://schemas.microsoft.com/office/powerpoint/2010/main" val="63608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a:t>
            </a:r>
            <a:r>
              <a:rPr lang="en-US" dirty="0" smtClean="0"/>
              <a:t>NOTE-TAKING</a:t>
            </a:r>
            <a:endParaRPr lang="en-US" dirty="0"/>
          </a:p>
        </p:txBody>
      </p:sp>
      <p:sp>
        <p:nvSpPr>
          <p:cNvPr id="3" name="Content Placeholder 2"/>
          <p:cNvSpPr>
            <a:spLocks noGrp="1"/>
          </p:cNvSpPr>
          <p:nvPr>
            <p:ph idx="1"/>
          </p:nvPr>
        </p:nvSpPr>
        <p:spPr>
          <a:xfrm>
            <a:off x="677334" y="2160589"/>
            <a:ext cx="8596668" cy="4556734"/>
          </a:xfrm>
        </p:spPr>
        <p:txBody>
          <a:bodyPr>
            <a:noAutofit/>
          </a:bodyPr>
          <a:lstStyle/>
          <a:p>
            <a:r>
              <a:rPr lang="en-US" sz="2400" dirty="0"/>
              <a:t>Using different </a:t>
            </a:r>
            <a:r>
              <a:rPr lang="en-US" sz="2400" dirty="0" smtClean="0"/>
              <a:t>note-taking methods </a:t>
            </a:r>
            <a:r>
              <a:rPr lang="en-US" sz="2400" dirty="0"/>
              <a:t>is important, especially as you progress through high school and transition </a:t>
            </a:r>
            <a:r>
              <a:rPr lang="en-US" sz="2400" dirty="0" smtClean="0"/>
              <a:t>to </a:t>
            </a:r>
            <a:r>
              <a:rPr lang="en-US" sz="2400" dirty="0"/>
              <a:t>university. There are several </a:t>
            </a:r>
            <a:r>
              <a:rPr lang="en-US" sz="2400" dirty="0" smtClean="0"/>
              <a:t>note-taking </a:t>
            </a:r>
            <a:r>
              <a:rPr lang="en-US" sz="2400" dirty="0"/>
              <a:t>techniques you can use to start taking better notes in class, some of which are</a:t>
            </a:r>
            <a:r>
              <a:rPr lang="en-US" sz="2400" dirty="0" smtClean="0"/>
              <a:t>:</a:t>
            </a:r>
            <a:endParaRPr lang="en-US" sz="2400" dirty="0"/>
          </a:p>
          <a:p>
            <a:r>
              <a:rPr lang="en-US" sz="2400" dirty="0"/>
              <a:t>The Cornell Method</a:t>
            </a:r>
          </a:p>
          <a:p>
            <a:r>
              <a:rPr lang="en-US" sz="2400" dirty="0"/>
              <a:t>The Mapping Method</a:t>
            </a:r>
          </a:p>
          <a:p>
            <a:r>
              <a:rPr lang="en-US" sz="2400" dirty="0"/>
              <a:t>The Outlining Method</a:t>
            </a:r>
          </a:p>
          <a:p>
            <a:r>
              <a:rPr lang="en-US" sz="2400" dirty="0"/>
              <a:t>The Charting Method</a:t>
            </a:r>
          </a:p>
          <a:p>
            <a:r>
              <a:rPr lang="en-US" sz="2400" dirty="0"/>
              <a:t>The Sentence Method</a:t>
            </a:r>
          </a:p>
        </p:txBody>
      </p:sp>
    </p:spTree>
    <p:extLst>
      <p:ext uri="{BB962C8B-B14F-4D97-AF65-F5344CB8AC3E}">
        <p14:creationId xmlns:p14="http://schemas.microsoft.com/office/powerpoint/2010/main" val="347676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CORNELL METHOD</a:t>
            </a:r>
          </a:p>
        </p:txBody>
      </p:sp>
      <p:sp>
        <p:nvSpPr>
          <p:cNvPr id="3" name="Content Placeholder 2"/>
          <p:cNvSpPr>
            <a:spLocks noGrp="1"/>
          </p:cNvSpPr>
          <p:nvPr>
            <p:ph idx="1"/>
          </p:nvPr>
        </p:nvSpPr>
        <p:spPr>
          <a:xfrm>
            <a:off x="677334" y="2160589"/>
            <a:ext cx="9996528" cy="3880773"/>
          </a:xfrm>
        </p:spPr>
        <p:txBody>
          <a:bodyPr/>
          <a:lstStyle/>
          <a:p>
            <a:r>
              <a:rPr lang="en-US" sz="2800" dirty="0"/>
              <a:t>The Cornell </a:t>
            </a:r>
            <a:r>
              <a:rPr lang="en-US" sz="2800" dirty="0" smtClean="0"/>
              <a:t>note-taking </a:t>
            </a:r>
            <a:r>
              <a:rPr lang="en-US" sz="2800" dirty="0"/>
              <a:t>method helps organize class notes into easily digestible summaries. This method is effective because the main points, details, study cues, and summary are all written in one place. The paper is divided into 3 sections: right side for class note section, left margin for after class reading and the third part for summary.  </a:t>
            </a:r>
          </a:p>
          <a:p>
            <a:endParaRPr lang="en-US" dirty="0"/>
          </a:p>
        </p:txBody>
      </p:sp>
    </p:spTree>
    <p:extLst>
      <p:ext uri="{BB962C8B-B14F-4D97-AF65-F5344CB8AC3E}">
        <p14:creationId xmlns:p14="http://schemas.microsoft.com/office/powerpoint/2010/main" val="2751192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CORNELL METHOD</a:t>
            </a:r>
          </a:p>
        </p:txBody>
      </p:sp>
      <p:pic>
        <p:nvPicPr>
          <p:cNvPr id="7" name="Content Placeholder 6" descr="Example page setup for the Cornell Note Taking Method"/>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39969" y="1500554"/>
            <a:ext cx="9437077" cy="5134708"/>
          </a:xfrm>
          <a:prstGeom prst="rect">
            <a:avLst/>
          </a:prstGeom>
          <a:noFill/>
          <a:ln>
            <a:noFill/>
          </a:ln>
        </p:spPr>
      </p:pic>
    </p:spTree>
    <p:extLst>
      <p:ext uri="{BB962C8B-B14F-4D97-AF65-F5344CB8AC3E}">
        <p14:creationId xmlns:p14="http://schemas.microsoft.com/office/powerpoint/2010/main" val="178399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MAPPING METHOD</a:t>
            </a:r>
          </a:p>
        </p:txBody>
      </p:sp>
      <p:sp>
        <p:nvSpPr>
          <p:cNvPr id="3" name="Content Placeholder 2"/>
          <p:cNvSpPr>
            <a:spLocks noGrp="1"/>
          </p:cNvSpPr>
          <p:nvPr>
            <p:ph idx="1"/>
          </p:nvPr>
        </p:nvSpPr>
        <p:spPr>
          <a:xfrm>
            <a:off x="677333" y="2160589"/>
            <a:ext cx="10049281" cy="3880773"/>
          </a:xfrm>
        </p:spPr>
        <p:txBody>
          <a:bodyPr>
            <a:normAutofit/>
          </a:bodyPr>
          <a:lstStyle/>
          <a:p>
            <a:r>
              <a:rPr lang="en-US" sz="2800" dirty="0"/>
              <a:t>The Mapping </a:t>
            </a:r>
            <a:r>
              <a:rPr lang="en-US" sz="2800" dirty="0" smtClean="0"/>
              <a:t>note-taking </a:t>
            </a:r>
            <a:r>
              <a:rPr lang="en-US" sz="2800" dirty="0"/>
              <a:t>method is a more visual way to organize your class notes. This technique is useful when learning about relationships between topics. The page is organized by topic. The main topics branch out into subtopics with detailed information about each.</a:t>
            </a:r>
          </a:p>
          <a:p>
            <a:endParaRPr lang="en-US" sz="2800" dirty="0"/>
          </a:p>
        </p:txBody>
      </p:sp>
    </p:spTree>
    <p:extLst>
      <p:ext uri="{BB962C8B-B14F-4D97-AF65-F5344CB8AC3E}">
        <p14:creationId xmlns:p14="http://schemas.microsoft.com/office/powerpoint/2010/main" val="547110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MAPPING METHOD</a:t>
            </a:r>
          </a:p>
        </p:txBody>
      </p:sp>
      <p:pic>
        <p:nvPicPr>
          <p:cNvPr id="4" name="Content Placeholder 3" descr="Example page set up for the Mapping note taking method"/>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81354" y="1566431"/>
            <a:ext cx="9249508" cy="4911970"/>
          </a:xfrm>
          <a:prstGeom prst="rect">
            <a:avLst/>
          </a:prstGeom>
          <a:noFill/>
          <a:ln>
            <a:noFill/>
          </a:ln>
        </p:spPr>
      </p:pic>
    </p:spTree>
    <p:extLst>
      <p:ext uri="{BB962C8B-B14F-4D97-AF65-F5344CB8AC3E}">
        <p14:creationId xmlns:p14="http://schemas.microsoft.com/office/powerpoint/2010/main" val="225829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OUTLINING METHOD</a:t>
            </a:r>
          </a:p>
        </p:txBody>
      </p:sp>
      <p:sp>
        <p:nvSpPr>
          <p:cNvPr id="3" name="Content Placeholder 2"/>
          <p:cNvSpPr>
            <a:spLocks noGrp="1"/>
          </p:cNvSpPr>
          <p:nvPr>
            <p:ph idx="1"/>
          </p:nvPr>
        </p:nvSpPr>
        <p:spPr>
          <a:xfrm>
            <a:off x="677334" y="2160589"/>
            <a:ext cx="10453728" cy="4556734"/>
          </a:xfrm>
        </p:spPr>
        <p:txBody>
          <a:bodyPr>
            <a:normAutofit/>
          </a:bodyPr>
          <a:lstStyle/>
          <a:p>
            <a:r>
              <a:rPr lang="en-US" sz="2400" dirty="0"/>
              <a:t>The Outlining </a:t>
            </a:r>
            <a:r>
              <a:rPr lang="en-US" sz="2400" dirty="0" smtClean="0"/>
              <a:t>note-taking </a:t>
            </a:r>
            <a:r>
              <a:rPr lang="en-US" sz="2400" dirty="0"/>
              <a:t>method uses headings and bullet points to organize topics. This method is most useful when learning about topics that include a lot of detail.</a:t>
            </a:r>
          </a:p>
          <a:p>
            <a:r>
              <a:rPr lang="en-US" sz="2400" b="1" dirty="0"/>
              <a:t>ADVANTAGES:</a:t>
            </a:r>
            <a:endParaRPr lang="en-US" sz="2400" dirty="0"/>
          </a:p>
          <a:p>
            <a:r>
              <a:rPr lang="en-US" sz="2400" dirty="0"/>
              <a:t>It allows notes to be neatly organized.</a:t>
            </a:r>
          </a:p>
          <a:p>
            <a:r>
              <a:rPr lang="en-US" sz="2400" dirty="0"/>
              <a:t>It is easy to see the relationship between topics and subtopics.</a:t>
            </a:r>
          </a:p>
          <a:p>
            <a:r>
              <a:rPr lang="en-US" sz="2400" dirty="0"/>
              <a:t>It is easy to turn points into study questions.</a:t>
            </a:r>
          </a:p>
          <a:p>
            <a:r>
              <a:rPr lang="en-US" sz="2400" dirty="0"/>
              <a:t>Each section starts with a heading of the main topic. Each subtopic and supporting fact is written underneath the proper heading</a:t>
            </a:r>
          </a:p>
          <a:p>
            <a:pPr marL="0" indent="0">
              <a:buNone/>
            </a:pPr>
            <a:endParaRPr lang="en-US" dirty="0"/>
          </a:p>
        </p:txBody>
      </p:sp>
    </p:spTree>
    <p:extLst>
      <p:ext uri="{BB962C8B-B14F-4D97-AF65-F5344CB8AC3E}">
        <p14:creationId xmlns:p14="http://schemas.microsoft.com/office/powerpoint/2010/main" val="770014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outlining method</a:t>
            </a:r>
          </a:p>
        </p:txBody>
      </p:sp>
      <p:pic>
        <p:nvPicPr>
          <p:cNvPr id="4" name="Content Placeholder 3" descr="Example page set up for the Outlining note taking method"/>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33755" y="1395046"/>
            <a:ext cx="9167446" cy="5134708"/>
          </a:xfrm>
          <a:prstGeom prst="rect">
            <a:avLst/>
          </a:prstGeom>
          <a:noFill/>
          <a:ln>
            <a:noFill/>
          </a:ln>
        </p:spPr>
      </p:pic>
    </p:spTree>
    <p:extLst>
      <p:ext uri="{BB962C8B-B14F-4D97-AF65-F5344CB8AC3E}">
        <p14:creationId xmlns:p14="http://schemas.microsoft.com/office/powerpoint/2010/main" val="3965280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charting method</a:t>
            </a:r>
          </a:p>
        </p:txBody>
      </p:sp>
      <p:sp>
        <p:nvSpPr>
          <p:cNvPr id="3" name="Content Placeholder 2"/>
          <p:cNvSpPr>
            <a:spLocks noGrp="1"/>
          </p:cNvSpPr>
          <p:nvPr>
            <p:ph idx="1"/>
          </p:nvPr>
        </p:nvSpPr>
        <p:spPr>
          <a:xfrm>
            <a:off x="677334" y="2160589"/>
            <a:ext cx="9785512" cy="3880773"/>
          </a:xfrm>
        </p:spPr>
        <p:txBody>
          <a:bodyPr>
            <a:normAutofit/>
          </a:bodyPr>
          <a:lstStyle/>
          <a:p>
            <a:r>
              <a:rPr lang="en-US" sz="2800" dirty="0"/>
              <a:t>Charting </a:t>
            </a:r>
            <a:r>
              <a:rPr lang="en-US" sz="2800" dirty="0" smtClean="0"/>
              <a:t>note-taking </a:t>
            </a:r>
            <a:r>
              <a:rPr lang="en-US" sz="2800" dirty="0"/>
              <a:t>method uses columns to organize information. This method is useful for lessons that cover a lot of facts or relationships between topics.</a:t>
            </a:r>
          </a:p>
          <a:p>
            <a:r>
              <a:rPr lang="en-US" sz="2800" dirty="0"/>
              <a:t>The page is divided into columns labeled by category. The details of each category are filled out in the rows below.</a:t>
            </a:r>
          </a:p>
        </p:txBody>
      </p:sp>
    </p:spTree>
    <p:extLst>
      <p:ext uri="{BB962C8B-B14F-4D97-AF65-F5344CB8AC3E}">
        <p14:creationId xmlns:p14="http://schemas.microsoft.com/office/powerpoint/2010/main" val="1631739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charting method</a:t>
            </a:r>
          </a:p>
        </p:txBody>
      </p:sp>
      <p:pic>
        <p:nvPicPr>
          <p:cNvPr id="4" name="Content Placeholder 3" descr="Example page setup for the Charting note taking method"/>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539262" y="1512277"/>
            <a:ext cx="8839200" cy="5040923"/>
          </a:xfrm>
          <a:prstGeom prst="rect">
            <a:avLst/>
          </a:prstGeom>
          <a:noFill/>
          <a:ln>
            <a:noFill/>
          </a:ln>
        </p:spPr>
      </p:pic>
    </p:spTree>
    <p:extLst>
      <p:ext uri="{BB962C8B-B14F-4D97-AF65-F5344CB8AC3E}">
        <p14:creationId xmlns:p14="http://schemas.microsoft.com/office/powerpoint/2010/main" val="3637536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150" y="398585"/>
            <a:ext cx="8596668" cy="1320800"/>
          </a:xfrm>
        </p:spPr>
        <p:txBody>
          <a:bodyPr/>
          <a:lstStyle/>
          <a:p>
            <a:r>
              <a:rPr lang="en-US" dirty="0"/>
              <a:t>The sentence method</a:t>
            </a:r>
          </a:p>
        </p:txBody>
      </p:sp>
      <p:sp>
        <p:nvSpPr>
          <p:cNvPr id="3" name="Content Placeholder 2"/>
          <p:cNvSpPr>
            <a:spLocks noGrp="1"/>
          </p:cNvSpPr>
          <p:nvPr>
            <p:ph idx="1"/>
          </p:nvPr>
        </p:nvSpPr>
        <p:spPr>
          <a:xfrm>
            <a:off x="0" y="1719385"/>
            <a:ext cx="10313051" cy="3880773"/>
          </a:xfrm>
        </p:spPr>
        <p:txBody>
          <a:bodyPr>
            <a:normAutofit/>
          </a:bodyPr>
          <a:lstStyle/>
          <a:p>
            <a:r>
              <a:rPr lang="en-US" sz="2400" dirty="0"/>
              <a:t>The Sentence </a:t>
            </a:r>
            <a:r>
              <a:rPr lang="en-US" sz="2400" dirty="0" smtClean="0"/>
              <a:t>note-taking </a:t>
            </a:r>
            <a:r>
              <a:rPr lang="en-US" sz="2400" dirty="0"/>
              <a:t>method is simply writing down each topic as a jot note sentence. This method works well for fast paced lessons where a lot of information is being covered. Jotting main points helps you determine which information is important and which is not. Furthermore, you are able to cover a lot of details and information quickly; notes are simplified for study and review</a:t>
            </a:r>
          </a:p>
          <a:p>
            <a:r>
              <a:rPr lang="en-US" sz="2400" dirty="0"/>
              <a:t>Each line on the page is a new and separate point. To organize your notes even more, you can use headings for each main point. </a:t>
            </a:r>
          </a:p>
        </p:txBody>
      </p:sp>
    </p:spTree>
    <p:extLst>
      <p:ext uri="{BB962C8B-B14F-4D97-AF65-F5344CB8AC3E}">
        <p14:creationId xmlns:p14="http://schemas.microsoft.com/office/powerpoint/2010/main" val="3288334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sentence method</a:t>
            </a:r>
          </a:p>
        </p:txBody>
      </p:sp>
      <p:pic>
        <p:nvPicPr>
          <p:cNvPr id="4" name="Content Placeholder 3" descr="Example page set up for the Sentence note taking method"/>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269630" y="1430215"/>
            <a:ext cx="9202615" cy="5111262"/>
          </a:xfrm>
          <a:prstGeom prst="rect">
            <a:avLst/>
          </a:prstGeom>
          <a:noFill/>
          <a:ln>
            <a:noFill/>
          </a:ln>
        </p:spPr>
      </p:pic>
    </p:spTree>
    <p:extLst>
      <p:ext uri="{BB962C8B-B14F-4D97-AF65-F5344CB8AC3E}">
        <p14:creationId xmlns:p14="http://schemas.microsoft.com/office/powerpoint/2010/main" val="240843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to effective </a:t>
            </a:r>
            <a:r>
              <a:rPr lang="en-US" dirty="0" smtClean="0"/>
              <a:t>note-taking </a:t>
            </a:r>
            <a:r>
              <a:rPr lang="en-US" dirty="0"/>
              <a:t>and </a:t>
            </a:r>
            <a:r>
              <a:rPr lang="en-US" dirty="0" smtClean="0"/>
              <a:t>note-making</a:t>
            </a:r>
            <a:endParaRPr lang="en-US" dirty="0"/>
          </a:p>
        </p:txBody>
      </p:sp>
      <p:sp>
        <p:nvSpPr>
          <p:cNvPr id="3" name="Content Placeholder 2"/>
          <p:cNvSpPr>
            <a:spLocks noGrp="1"/>
          </p:cNvSpPr>
          <p:nvPr>
            <p:ph idx="1"/>
          </p:nvPr>
        </p:nvSpPr>
        <p:spPr>
          <a:xfrm>
            <a:off x="2107549" y="2254374"/>
            <a:ext cx="8596668" cy="4416057"/>
          </a:xfrm>
        </p:spPr>
        <p:txBody>
          <a:bodyPr>
            <a:normAutofit/>
          </a:bodyPr>
          <a:lstStyle/>
          <a:p>
            <a:pPr>
              <a:buFont typeface="Arial" panose="020B0604020202020204" pitchFamily="34" charset="0"/>
              <a:buChar char="•"/>
            </a:pPr>
            <a:r>
              <a:rPr lang="en-US" sz="3200" dirty="0">
                <a:solidFill>
                  <a:schemeClr val="accent1"/>
                </a:solidFill>
              </a:rPr>
              <a:t>Read</a:t>
            </a:r>
          </a:p>
          <a:p>
            <a:pPr>
              <a:buFont typeface="Arial" panose="020B0604020202020204" pitchFamily="34" charset="0"/>
              <a:buChar char="•"/>
            </a:pPr>
            <a:r>
              <a:rPr lang="en-US" sz="3200" dirty="0">
                <a:solidFill>
                  <a:schemeClr val="accent1"/>
                </a:solidFill>
              </a:rPr>
              <a:t>Listen </a:t>
            </a:r>
          </a:p>
          <a:p>
            <a:pPr>
              <a:buFont typeface="Arial" panose="020B0604020202020204" pitchFamily="34" charset="0"/>
              <a:buChar char="•"/>
            </a:pPr>
            <a:r>
              <a:rPr lang="en-US" sz="3200" dirty="0">
                <a:solidFill>
                  <a:schemeClr val="accent1"/>
                </a:solidFill>
              </a:rPr>
              <a:t>Write only what is needed</a:t>
            </a:r>
          </a:p>
          <a:p>
            <a:pPr>
              <a:buFont typeface="Arial" panose="020B0604020202020204" pitchFamily="34" charset="0"/>
              <a:buChar char="•"/>
            </a:pPr>
            <a:r>
              <a:rPr lang="en-US" sz="3200" dirty="0" err="1">
                <a:solidFill>
                  <a:schemeClr val="accent1"/>
                </a:solidFill>
              </a:rPr>
              <a:t>Organise</a:t>
            </a:r>
            <a:r>
              <a:rPr lang="en-US" sz="3200" dirty="0">
                <a:solidFill>
                  <a:schemeClr val="accent1"/>
                </a:solidFill>
              </a:rPr>
              <a:t> your notes </a:t>
            </a:r>
          </a:p>
          <a:p>
            <a:pPr>
              <a:buFont typeface="Arial" panose="020B0604020202020204" pitchFamily="34" charset="0"/>
              <a:buChar char="•"/>
            </a:pPr>
            <a:r>
              <a:rPr lang="en-US" sz="3200" dirty="0">
                <a:solidFill>
                  <a:schemeClr val="accent1"/>
                </a:solidFill>
              </a:rPr>
              <a:t>Review your note</a:t>
            </a:r>
          </a:p>
        </p:txBody>
      </p:sp>
    </p:spTree>
    <p:extLst>
      <p:ext uri="{BB962C8B-B14F-4D97-AF65-F5344CB8AC3E}">
        <p14:creationId xmlns:p14="http://schemas.microsoft.com/office/powerpoint/2010/main" val="260028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a:t>
            </a:r>
          </a:p>
        </p:txBody>
      </p:sp>
      <p:sp>
        <p:nvSpPr>
          <p:cNvPr id="3" name="Content Placeholder 2"/>
          <p:cNvSpPr>
            <a:spLocks noGrp="1"/>
          </p:cNvSpPr>
          <p:nvPr>
            <p:ph idx="1"/>
          </p:nvPr>
        </p:nvSpPr>
        <p:spPr/>
        <p:txBody>
          <a:bodyPr/>
          <a:lstStyle/>
          <a:p>
            <a:pPr marL="0" lvl="0" indent="0">
              <a:buNone/>
            </a:pPr>
            <a:endParaRPr lang="en-US" dirty="0"/>
          </a:p>
          <a:p>
            <a:r>
              <a:rPr lang="en-US" sz="2800" dirty="0"/>
              <a:t>Read any background texts that have been suggested, re-read your notes from previous lectures or classes </a:t>
            </a:r>
            <a:r>
              <a:rPr lang="en-US" sz="2800" dirty="0" smtClean="0"/>
              <a:t>so </a:t>
            </a:r>
            <a:r>
              <a:rPr lang="en-US" sz="2800" dirty="0"/>
              <a:t>that you can see easily where </a:t>
            </a:r>
            <a:r>
              <a:rPr lang="en-US" sz="2800" dirty="0" smtClean="0"/>
              <a:t>the current </a:t>
            </a:r>
            <a:r>
              <a:rPr lang="en-US" sz="2800" dirty="0"/>
              <a:t>session fits into the overall pattern of the subject.</a:t>
            </a:r>
          </a:p>
        </p:txBody>
      </p:sp>
    </p:spTree>
    <p:extLst>
      <p:ext uri="{BB962C8B-B14F-4D97-AF65-F5344CB8AC3E}">
        <p14:creationId xmlns:p14="http://schemas.microsoft.com/office/powerpoint/2010/main" val="2065133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Listen</a:t>
            </a:r>
          </a:p>
        </p:txBody>
      </p:sp>
      <p:sp>
        <p:nvSpPr>
          <p:cNvPr id="3" name="Content Placeholder 2"/>
          <p:cNvSpPr>
            <a:spLocks noGrp="1"/>
          </p:cNvSpPr>
          <p:nvPr>
            <p:ph idx="1"/>
          </p:nvPr>
        </p:nvSpPr>
        <p:spPr/>
        <p:txBody>
          <a:bodyPr>
            <a:normAutofit fontScale="92500" lnSpcReduction="10000"/>
          </a:bodyPr>
          <a:lstStyle/>
          <a:p>
            <a:r>
              <a:rPr lang="en-US" dirty="0"/>
              <a:t>The key to good note-taking is to understand the lecture. It is easier to understand a lecture when you listen to it rather than by trying to re-construct it from half-understood notes afterwards. Simultaneously listening to the lecturer and writing down the key points is not a skill that comes easily to most people but it is important to cultivate this in order to become a really effective learner.</a:t>
            </a:r>
          </a:p>
          <a:p>
            <a:r>
              <a:rPr lang="en-US" dirty="0"/>
              <a:t>Pick up on the phrases, voice changes and other, sometimes non-verbal, cues that the lecturer uses to communicate which are the key points of the session. These are the most important things to get into your notes; you don</a:t>
            </a:r>
            <a:r>
              <a:rPr lang="en-GB" dirty="0"/>
              <a:t>’</a:t>
            </a:r>
            <a:r>
              <a:rPr lang="en-US" dirty="0"/>
              <a:t>t want to miss them!</a:t>
            </a:r>
          </a:p>
          <a:p>
            <a:r>
              <a:rPr lang="en-US" dirty="0"/>
              <a:t>Be an active listener. Think about what</a:t>
            </a:r>
            <a:r>
              <a:rPr lang="en-GB" dirty="0"/>
              <a:t>’</a:t>
            </a:r>
            <a:r>
              <a:rPr lang="en-US" dirty="0"/>
              <a:t>s being said. How do the different points connect with one another? How do the issues raised in this lecture relate to issues that have been discussed in previous sessions, or in books you have read? Make sure that you transcribe your understanding of these connections and relationships into your notes.</a:t>
            </a:r>
          </a:p>
        </p:txBody>
      </p:sp>
    </p:spTree>
    <p:extLst>
      <p:ext uri="{BB962C8B-B14F-4D97-AF65-F5344CB8AC3E}">
        <p14:creationId xmlns:p14="http://schemas.microsoft.com/office/powerpoint/2010/main" val="1594632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only what is needed</a:t>
            </a:r>
          </a:p>
        </p:txBody>
      </p:sp>
      <p:sp>
        <p:nvSpPr>
          <p:cNvPr id="3" name="Content Placeholder 2"/>
          <p:cNvSpPr>
            <a:spLocks noGrp="1"/>
          </p:cNvSpPr>
          <p:nvPr>
            <p:ph idx="1"/>
          </p:nvPr>
        </p:nvSpPr>
        <p:spPr/>
        <p:txBody>
          <a:bodyPr/>
          <a:lstStyle/>
          <a:p>
            <a:r>
              <a:rPr lang="en-US" dirty="0"/>
              <a:t>Not everything in a lecture or seminar session will be of equal significance. There will probably be three or four main points, linked by a common theme. The rest of the class may well be illustrations, examples, exercises, student interactions and responses to questions, etc. Don</a:t>
            </a:r>
            <a:r>
              <a:rPr lang="en-GB" dirty="0"/>
              <a:t>’t</a:t>
            </a:r>
            <a:r>
              <a:rPr lang="en-US" dirty="0"/>
              <a:t> try to write down every word or detail. Capture the major points, with sub-headings if necessary, and explain them in your own words if you have time to do so. If you don</a:t>
            </a:r>
            <a:r>
              <a:rPr lang="en-GB" dirty="0"/>
              <a:t>’t</a:t>
            </a:r>
            <a:r>
              <a:rPr lang="en-US" dirty="0"/>
              <a:t> have time, leave a blank space beneath the point in question and a little note or symbol in the margin to remind you to re-visit that point later.</a:t>
            </a:r>
          </a:p>
          <a:p>
            <a:endParaRPr lang="en-US" dirty="0"/>
          </a:p>
        </p:txBody>
      </p:sp>
    </p:spTree>
    <p:extLst>
      <p:ext uri="{BB962C8B-B14F-4D97-AF65-F5344CB8AC3E}">
        <p14:creationId xmlns:p14="http://schemas.microsoft.com/office/powerpoint/2010/main" val="2425130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Organise</a:t>
            </a:r>
            <a:r>
              <a:rPr lang="en-US" dirty="0"/>
              <a:t> your notes</a:t>
            </a:r>
          </a:p>
        </p:txBody>
      </p:sp>
      <p:sp>
        <p:nvSpPr>
          <p:cNvPr id="3" name="Content Placeholder 2"/>
          <p:cNvSpPr>
            <a:spLocks noGrp="1"/>
          </p:cNvSpPr>
          <p:nvPr>
            <p:ph idx="1"/>
          </p:nvPr>
        </p:nvSpPr>
        <p:spPr>
          <a:xfrm>
            <a:off x="677334" y="1629508"/>
            <a:ext cx="8596668" cy="5052647"/>
          </a:xfrm>
        </p:spPr>
        <p:txBody>
          <a:bodyPr>
            <a:normAutofit fontScale="92500" lnSpcReduction="10000"/>
          </a:bodyPr>
          <a:lstStyle/>
          <a:p>
            <a:r>
              <a:rPr lang="en-US" dirty="0"/>
              <a:t>Beautifully scripted and perfectly laid-out notes are not necessary for effective learning but some level of organization is useful if you are going to be able to make sense of them in the future. Develop a system of highlighting headings and sub-headings (using bullet points, underlining, indenting, etc.) that makes intuitive sense to you and stick with that from lecture to lecture.</a:t>
            </a:r>
          </a:p>
          <a:p>
            <a:r>
              <a:rPr lang="en-US" dirty="0"/>
              <a:t>Try to be consistent as well with the use of abbreviations and symbols in your notes. If you can develop and use your own system of shorthand, you can speed up your note-taking but this is only a useful technique if you can decipher that code when you come to re-read your notes later.</a:t>
            </a:r>
          </a:p>
          <a:p>
            <a:r>
              <a:rPr lang="en-US" dirty="0"/>
              <a:t>Don</a:t>
            </a:r>
            <a:r>
              <a:rPr lang="en-GB" dirty="0"/>
              <a:t>’</a:t>
            </a:r>
            <a:r>
              <a:rPr lang="en-US" dirty="0"/>
              <a:t>t try to cram too much writing on a single page, or make your writing so small that it</a:t>
            </a:r>
            <a:r>
              <a:rPr lang="en-GB" dirty="0"/>
              <a:t>’</a:t>
            </a:r>
            <a:r>
              <a:rPr lang="en-US" dirty="0"/>
              <a:t>s illegible. Use as much paper as you need to express all the ideas from the lecture in a clear and readable form. Draw diagrams or use flow charts or mind maps if they help you make sense of your ideas.</a:t>
            </a:r>
          </a:p>
          <a:p>
            <a:r>
              <a:rPr lang="en-US" dirty="0"/>
              <a:t>Following the Cornell system for writing notes can also increase the efficiency and effectiveness of your note-taking technique. This involves leaving a margin down the left hand side of the page, approximately 1/3 of the total width of the page, and only writing your notes to the right hand side of that margin during class. The third of the page to the left of the margin is reserved for pulling out the key ideas and themes from the notes when you come to review them later.</a:t>
            </a:r>
          </a:p>
        </p:txBody>
      </p:sp>
    </p:spTree>
    <p:extLst>
      <p:ext uri="{BB962C8B-B14F-4D97-AF65-F5344CB8AC3E}">
        <p14:creationId xmlns:p14="http://schemas.microsoft.com/office/powerpoint/2010/main" val="4110124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your note</a:t>
            </a:r>
          </a:p>
        </p:txBody>
      </p:sp>
      <p:sp>
        <p:nvSpPr>
          <p:cNvPr id="3" name="Content Placeholder 2"/>
          <p:cNvSpPr>
            <a:spLocks noGrp="1"/>
          </p:cNvSpPr>
          <p:nvPr>
            <p:ph idx="1"/>
          </p:nvPr>
        </p:nvSpPr>
        <p:spPr/>
        <p:txBody>
          <a:bodyPr/>
          <a:lstStyle/>
          <a:p>
            <a:r>
              <a:rPr lang="en-US" dirty="0"/>
              <a:t>The beauty of the Cornell system is that it doesn’t require you to re-write your notes, thus saving time and stress. You do need to review your notes, however, within 24 hours of their original creation. Re-reading shortly after writing notes means that you will be more likely to remember and understand them, and the process of pulling out the key ideas from the lecture in the left hand column of your note sheets will therefore be very much smoother.</a:t>
            </a:r>
          </a:p>
          <a:p>
            <a:r>
              <a:rPr lang="en-US" dirty="0"/>
              <a:t>As far as possible, aim to write the key ideas in the review column in your own words, summarizing what have been the main points of the lecture for you. Stress inter-relationships and any other factors that add to your recollection or comprehension of the material.</a:t>
            </a:r>
          </a:p>
          <a:p>
            <a:endParaRPr lang="en-US" dirty="0"/>
          </a:p>
        </p:txBody>
      </p:sp>
    </p:spTree>
    <p:extLst>
      <p:ext uri="{BB962C8B-B14F-4D97-AF65-F5344CB8AC3E}">
        <p14:creationId xmlns:p14="http://schemas.microsoft.com/office/powerpoint/2010/main" val="1118002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ACTIVITY</a:t>
            </a:r>
            <a:endParaRPr lang="en-US" dirty="0"/>
          </a:p>
        </p:txBody>
      </p:sp>
      <p:sp>
        <p:nvSpPr>
          <p:cNvPr id="3" name="Content Placeholder 2"/>
          <p:cNvSpPr>
            <a:spLocks noGrp="1"/>
          </p:cNvSpPr>
          <p:nvPr>
            <p:ph idx="1"/>
          </p:nvPr>
        </p:nvSpPr>
        <p:spPr/>
        <p:txBody>
          <a:bodyPr>
            <a:normAutofit/>
          </a:bodyPr>
          <a:lstStyle/>
          <a:p>
            <a:r>
              <a:rPr lang="en-US" sz="2000" dirty="0" smtClean="0"/>
              <a:t>Do the following class activity in groups.</a:t>
            </a:r>
          </a:p>
          <a:p>
            <a:endParaRPr lang="en-US" sz="2000" dirty="0"/>
          </a:p>
          <a:p>
            <a:r>
              <a:rPr lang="en-US" sz="2000" dirty="0" smtClean="0"/>
              <a:t>As a diligent student, you took note on the importance of note-taking and note-making using the mapping method. Form a comprehensive note of your own detailing about seven importance.</a:t>
            </a:r>
            <a:endParaRPr lang="en-US" sz="2000" dirty="0"/>
          </a:p>
        </p:txBody>
      </p:sp>
    </p:spTree>
    <p:extLst>
      <p:ext uri="{BB962C8B-B14F-4D97-AF65-F5344CB8AC3E}">
        <p14:creationId xmlns:p14="http://schemas.microsoft.com/office/powerpoint/2010/main" val="8832355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874</TotalTime>
  <Words>1459</Words>
  <Application>Microsoft Office PowerPoint</Application>
  <PresentationFormat>Widescreen</PresentationFormat>
  <Paragraphs>69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Courier New</vt:lpstr>
      <vt:lpstr>Trebuchet MS</vt:lpstr>
      <vt:lpstr>Wingdings 3</vt:lpstr>
      <vt:lpstr>Facet</vt:lpstr>
      <vt:lpstr>STUDY SKILLS</vt:lpstr>
      <vt:lpstr>STUDY SKIILS</vt:lpstr>
      <vt:lpstr>NOTE-TAKING AND NOTE-MAKING</vt:lpstr>
      <vt:lpstr>THE IMPORTANCE OF NOTE-TAKING AND NOTE-MAKING</vt:lpstr>
      <vt:lpstr>METHODS OF NOTE-TAKING</vt:lpstr>
      <vt:lpstr>THE CORNELL METHOD</vt:lpstr>
      <vt:lpstr>THE CORNELL METHOD</vt:lpstr>
      <vt:lpstr>THE MAPPING METHOD</vt:lpstr>
      <vt:lpstr>THE MAPPING METHOD</vt:lpstr>
      <vt:lpstr>THE OUTLINING METHOD</vt:lpstr>
      <vt:lpstr>The outlining method</vt:lpstr>
      <vt:lpstr>The charting method</vt:lpstr>
      <vt:lpstr>The charting method</vt:lpstr>
      <vt:lpstr>The sentence method</vt:lpstr>
      <vt:lpstr>The sentence method</vt:lpstr>
      <vt:lpstr>Guidelines to effective note-taking and note-making</vt:lpstr>
      <vt:lpstr>Read</vt:lpstr>
      <vt:lpstr>Listen</vt:lpstr>
      <vt:lpstr>Write only what is needed</vt:lpstr>
      <vt:lpstr>Organise your notes</vt:lpstr>
      <vt:lpstr>Review your note</vt:lpstr>
      <vt:lpstr>CLASS ACTIVITY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SKILLS</dc:title>
  <dc:creator>Mrs. Afolabi</dc:creator>
  <cp:lastModifiedBy>Microsoft account</cp:lastModifiedBy>
  <cp:revision>39</cp:revision>
  <dcterms:created xsi:type="dcterms:W3CDTF">2022-09-18T15:06:22Z</dcterms:created>
  <dcterms:modified xsi:type="dcterms:W3CDTF">2025-10-10T06:59:11Z</dcterms:modified>
</cp:coreProperties>
</file>