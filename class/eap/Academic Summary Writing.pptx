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58" r:id="rId5"/>
    <p:sldId id="259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4C63D-FBF0-4998-AC9F-C987A38A41D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0AB7B-084B-4CBC-BD0F-ADE3A169E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215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4C63D-FBF0-4998-AC9F-C987A38A41D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0AB7B-084B-4CBC-BD0F-ADE3A169E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058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4C63D-FBF0-4998-AC9F-C987A38A41D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0AB7B-084B-4CBC-BD0F-ADE3A169E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368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4C63D-FBF0-4998-AC9F-C987A38A41D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0AB7B-084B-4CBC-BD0F-ADE3A169E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533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4C63D-FBF0-4998-AC9F-C987A38A41D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0AB7B-084B-4CBC-BD0F-ADE3A169E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740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4C63D-FBF0-4998-AC9F-C987A38A41D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0AB7B-084B-4CBC-BD0F-ADE3A169E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19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4C63D-FBF0-4998-AC9F-C987A38A41D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0AB7B-084B-4CBC-BD0F-ADE3A169E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686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4C63D-FBF0-4998-AC9F-C987A38A41D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0AB7B-084B-4CBC-BD0F-ADE3A169E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209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4C63D-FBF0-4998-AC9F-C987A38A41D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0AB7B-084B-4CBC-BD0F-ADE3A169E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293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4C63D-FBF0-4998-AC9F-C987A38A41D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0AB7B-084B-4CBC-BD0F-ADE3A169E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72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4C63D-FBF0-4998-AC9F-C987A38A41D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0AB7B-084B-4CBC-BD0F-ADE3A169E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3103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4C63D-FBF0-4998-AC9F-C987A38A41D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0AB7B-084B-4CBC-BD0F-ADE3A169E48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816818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4C63D-FBF0-4998-AC9F-C987A38A41D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0AB7B-084B-4CBC-BD0F-ADE3A169E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0036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4C63D-FBF0-4998-AC9F-C987A38A41D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0AB7B-084B-4CBC-BD0F-ADE3A169E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6097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4C63D-FBF0-4998-AC9F-C987A38A41D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0AB7B-084B-4CBC-BD0F-ADE3A169E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3895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4C63D-FBF0-4998-AC9F-C987A38A41D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0AB7B-084B-4CBC-BD0F-ADE3A169E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5051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4C63D-FBF0-4998-AC9F-C987A38A41D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0AB7B-084B-4CBC-BD0F-ADE3A169E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362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454C63D-FBF0-4998-AC9F-C987A38A41D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90AB7B-084B-4CBC-BD0F-ADE3A169E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56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D" b="1" dirty="0"/>
              <a:t>Academic Summary Writing </a:t>
            </a:r>
            <a:br>
              <a:rPr lang="en-ID" b="1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Effective Summary </a:t>
            </a:r>
          </a:p>
        </p:txBody>
      </p:sp>
    </p:spTree>
    <p:extLst>
      <p:ext uri="{BB962C8B-B14F-4D97-AF65-F5344CB8AC3E}">
        <p14:creationId xmlns:p14="http://schemas.microsoft.com/office/powerpoint/2010/main" val="1261351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sz="3200" b="1" dirty="0"/>
              <a:t>An academic summary </a:t>
            </a:r>
            <a:r>
              <a:rPr lang="en-ID" sz="3200" dirty="0"/>
              <a:t>is a concise representation of an academic text such as an article, a journal, and research report. </a:t>
            </a:r>
          </a:p>
          <a:p>
            <a:pPr marL="0" indent="0">
              <a:buNone/>
            </a:pPr>
            <a:r>
              <a:rPr lang="en-US" sz="3200" dirty="0"/>
              <a:t>A summary shortens a text to its main ideas.</a:t>
            </a:r>
            <a:endParaRPr lang="en-ID" sz="32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519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65597"/>
            <a:ext cx="9404723" cy="1400530"/>
          </a:xfrm>
        </p:spPr>
        <p:txBody>
          <a:bodyPr/>
          <a:lstStyle/>
          <a:p>
            <a:r>
              <a:rPr lang="en-US" dirty="0"/>
              <a:t>Features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249252"/>
            <a:ext cx="10384643" cy="499914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                             </a:t>
            </a:r>
            <a:endParaRPr lang="en-US" dirty="0"/>
          </a:p>
          <a:p>
            <a:r>
              <a:rPr lang="en-US" sz="3300" dirty="0"/>
              <a:t>It is a stand-alone application that can be understood on its own</a:t>
            </a:r>
            <a:r>
              <a:rPr lang="en-US" sz="3300" dirty="0" smtClean="0"/>
              <a:t>.</a:t>
            </a:r>
          </a:p>
          <a:p>
            <a:pPr lvl="0"/>
            <a:r>
              <a:rPr lang="en-US" sz="3300" dirty="0" smtClean="0"/>
              <a:t>A </a:t>
            </a:r>
            <a:r>
              <a:rPr lang="en-US" sz="3300" dirty="0"/>
              <a:t>summary is usually not more than one-third of the length of the text, in fact, it is often much less. The length depends upon the text itself and the purpose of the summary.</a:t>
            </a:r>
          </a:p>
          <a:p>
            <a:pPr lvl="0"/>
            <a:r>
              <a:rPr lang="en-US" sz="3300" dirty="0" smtClean="0"/>
              <a:t>It </a:t>
            </a:r>
            <a:r>
              <a:rPr lang="en-US" sz="3300" dirty="0"/>
              <a:t>is a useful brief version that faithfully reflects the main idea(s) and major details of the text as there can be more than one main idea in a summary.</a:t>
            </a:r>
          </a:p>
          <a:p>
            <a:pPr lvl="0"/>
            <a:r>
              <a:rPr lang="en-US" sz="3300" dirty="0"/>
              <a:t>It is designed to inform in such a way that the readers will be able to decide whether they need or want to read the full expository text.</a:t>
            </a:r>
          </a:p>
        </p:txBody>
      </p:sp>
    </p:spTree>
    <p:extLst>
      <p:ext uri="{BB962C8B-B14F-4D97-AF65-F5344CB8AC3E}">
        <p14:creationId xmlns:p14="http://schemas.microsoft.com/office/powerpoint/2010/main" val="4130378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6068" y="1223493"/>
            <a:ext cx="10071278" cy="5370489"/>
          </a:xfrm>
        </p:spPr>
        <p:txBody>
          <a:bodyPr>
            <a:noAutofit/>
          </a:bodyPr>
          <a:lstStyle/>
          <a:p>
            <a:pPr lvl="0"/>
            <a:r>
              <a:rPr lang="en-US" sz="2800" dirty="0"/>
              <a:t>It is used to </a:t>
            </a:r>
            <a:r>
              <a:rPr lang="en-US" sz="2800" dirty="0" smtClean="0"/>
              <a:t>highlight</a:t>
            </a:r>
            <a:r>
              <a:rPr lang="en-US" sz="2800" dirty="0" smtClean="0"/>
              <a:t> </a:t>
            </a:r>
            <a:r>
              <a:rPr lang="en-US" sz="2800" dirty="0"/>
              <a:t>the main ideas and major details of a text</a:t>
            </a:r>
            <a:r>
              <a:rPr lang="en-US" sz="2800" dirty="0" smtClean="0"/>
              <a:t>.</a:t>
            </a:r>
            <a:endParaRPr lang="en-ID" sz="2800" dirty="0" smtClean="0"/>
          </a:p>
          <a:p>
            <a:r>
              <a:rPr lang="en-ID" sz="2800" dirty="0" smtClean="0"/>
              <a:t>The </a:t>
            </a:r>
            <a:r>
              <a:rPr lang="en-ID" sz="2800" dirty="0"/>
              <a:t>main purpose of summary is to enable the reader to determine why a paper, a journal article, a book chapter or a book is worth reading in a limited time.</a:t>
            </a:r>
          </a:p>
          <a:p>
            <a:r>
              <a:rPr lang="en-ID" sz="2800" dirty="0"/>
              <a:t> In other words, an academic summary is useful so that readers can briefly understand the content of a text to then become a consideration of whether it is appropriate for what the reader needs it for. </a:t>
            </a:r>
          </a:p>
          <a:p>
            <a:pPr lvl="0"/>
            <a:r>
              <a:rPr lang="en-US" sz="2800" dirty="0"/>
              <a:t>It is used to check the readers’ comprehension of a </a:t>
            </a:r>
            <a:r>
              <a:rPr lang="en-US" sz="2800" dirty="0" smtClean="0"/>
              <a:t>text.</a:t>
            </a:r>
            <a:endParaRPr lang="en-US" sz="2800" dirty="0"/>
          </a:p>
          <a:p>
            <a:pPr marL="0" indent="0">
              <a:buNone/>
            </a:pP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2983113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and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377108"/>
            <a:ext cx="10166943" cy="48712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D" sz="2800" dirty="0"/>
              <a:t>The summary must be written in </a:t>
            </a:r>
            <a:r>
              <a:rPr lang="en-ID" sz="2800" b="1" dirty="0"/>
              <a:t>flowing text</a:t>
            </a:r>
            <a:r>
              <a:rPr lang="en-ID" sz="2800" dirty="0"/>
              <a:t> in the </a:t>
            </a:r>
            <a:r>
              <a:rPr lang="en-ID" sz="2800" b="1" dirty="0"/>
              <a:t>words</a:t>
            </a:r>
            <a:r>
              <a:rPr lang="en-ID" sz="2800" dirty="0"/>
              <a:t> of the </a:t>
            </a:r>
            <a:r>
              <a:rPr lang="en-ID" sz="2800" b="1" dirty="0" smtClean="0"/>
              <a:t>author (summary writer)</a:t>
            </a:r>
            <a:r>
              <a:rPr lang="en-ID" sz="2800" dirty="0" smtClean="0"/>
              <a:t>, </a:t>
            </a:r>
            <a:r>
              <a:rPr lang="en-ID" sz="2800" dirty="0"/>
              <a:t>that is, the author </a:t>
            </a:r>
            <a:r>
              <a:rPr lang="en-ID" sz="2800" b="1" dirty="0"/>
              <a:t>cannot take words exactly from the source text or the original text</a:t>
            </a:r>
            <a:r>
              <a:rPr lang="en-ID" sz="2800" dirty="0"/>
              <a:t>. </a:t>
            </a:r>
          </a:p>
          <a:p>
            <a:pPr marL="0" indent="0">
              <a:buNone/>
            </a:pPr>
            <a:r>
              <a:rPr lang="en-ID" sz="2800" dirty="0"/>
              <a:t>Furthermore, the text of the summary must be written in a language that is in accordance with the formal rules of English language, and it must also be easily understood by people who are not familiar with the original text.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08788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write a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882" y="1068947"/>
            <a:ext cx="10367493" cy="5789054"/>
          </a:xfrm>
        </p:spPr>
        <p:txBody>
          <a:bodyPr>
            <a:noAutofit/>
          </a:bodyPr>
          <a:lstStyle/>
          <a:p>
            <a:pPr lvl="1"/>
            <a:r>
              <a:rPr lang="en-US" sz="2400" dirty="0"/>
              <a:t>Consistently maintain the original author’s voice/stance/POV, but in your own words in a clear, concise, yet impersonal manner.</a:t>
            </a:r>
          </a:p>
          <a:p>
            <a:pPr lvl="1"/>
            <a:r>
              <a:rPr lang="en-US" sz="2400" dirty="0"/>
              <a:t>Write in third person.</a:t>
            </a:r>
          </a:p>
          <a:p>
            <a:pPr lvl="1"/>
            <a:r>
              <a:rPr lang="en-US" sz="2400" dirty="0"/>
              <a:t>Include passive voice, if needed, to emphasize objectivity.</a:t>
            </a:r>
          </a:p>
          <a:p>
            <a:pPr lvl="1"/>
            <a:r>
              <a:rPr lang="en-US" sz="2400" dirty="0"/>
              <a:t>Maintain the organizational pattern of the text such as cause-effect, chronological, reasons-based structure; reflect that presentation in your summary. Structure often communicates meaning.</a:t>
            </a:r>
          </a:p>
          <a:p>
            <a:pPr lvl="1"/>
            <a:r>
              <a:rPr lang="en-US" sz="2400" dirty="0"/>
              <a:t>Write in your own words, but when the original author’s words are the most concise presentation of the main ideas or details you should quote and properly cite.</a:t>
            </a:r>
          </a:p>
          <a:p>
            <a:pPr lvl="1"/>
            <a:r>
              <a:rPr lang="en-US" sz="2400" dirty="0"/>
              <a:t>Use sentence variety. An effective summary is never </a:t>
            </a:r>
            <a:r>
              <a:rPr lang="en-US" sz="2800" dirty="0"/>
              <a:t>boring.</a:t>
            </a:r>
          </a:p>
        </p:txBody>
      </p:sp>
    </p:spTree>
    <p:extLst>
      <p:ext uri="{BB962C8B-B14F-4D97-AF65-F5344CB8AC3E}">
        <p14:creationId xmlns:p14="http://schemas.microsoft.com/office/powerpoint/2010/main" val="1240032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should not be done </a:t>
            </a:r>
            <a:r>
              <a:rPr lang="en-US"/>
              <a:t>in summary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9246" y="1609859"/>
            <a:ext cx="9375819" cy="463854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Do not include what is </a:t>
            </a:r>
            <a:r>
              <a:rPr lang="en-US" sz="3200" i="1" dirty="0"/>
              <a:t>not</a:t>
            </a:r>
            <a:r>
              <a:rPr lang="en-US" sz="3200" dirty="0"/>
              <a:t> in the text. </a:t>
            </a:r>
          </a:p>
          <a:p>
            <a:pPr lvl="0"/>
            <a:r>
              <a:rPr lang="en-US" sz="3200" dirty="0"/>
              <a:t>Do </a:t>
            </a:r>
            <a:r>
              <a:rPr lang="en-US" sz="3200"/>
              <a:t>not </a:t>
            </a:r>
            <a:r>
              <a:rPr lang="en-US" sz="3200" smtClean="0"/>
              <a:t>comment </a:t>
            </a:r>
            <a:r>
              <a:rPr lang="en-US" sz="3200" dirty="0"/>
              <a:t>or offer opinion.</a:t>
            </a:r>
          </a:p>
          <a:p>
            <a:pPr lvl="0"/>
            <a:r>
              <a:rPr lang="en-US" sz="3200" dirty="0"/>
              <a:t>Do not compare to another subject beyond the information provided in the text.</a:t>
            </a:r>
          </a:p>
          <a:p>
            <a:pPr lvl="0"/>
            <a:r>
              <a:rPr lang="en-US" sz="3200" dirty="0"/>
              <a:t>Do not write in first or second person.</a:t>
            </a:r>
          </a:p>
          <a:p>
            <a:pPr lvl="0"/>
            <a:r>
              <a:rPr lang="en-US" sz="3200" dirty="0"/>
              <a:t>Do not ask questions.</a:t>
            </a:r>
          </a:p>
          <a:p>
            <a:pPr lvl="0"/>
            <a:r>
              <a:rPr lang="en-US" sz="3200" dirty="0"/>
              <a:t>Do not use bullets or any form of outline. A summary is not simply a list of ideas.</a:t>
            </a:r>
          </a:p>
        </p:txBody>
      </p:sp>
    </p:spTree>
    <p:extLst>
      <p:ext uri="{BB962C8B-B14F-4D97-AF65-F5344CB8AC3E}">
        <p14:creationId xmlns:p14="http://schemas.microsoft.com/office/powerpoint/2010/main" val="26463974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4680</TotalTime>
  <Words>302</Words>
  <Application>Microsoft Office PowerPoint</Application>
  <PresentationFormat>Widescreen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Ion</vt:lpstr>
      <vt:lpstr>Academic Summary Writing  </vt:lpstr>
      <vt:lpstr>Definition </vt:lpstr>
      <vt:lpstr>Features </vt:lpstr>
      <vt:lpstr>Purpose</vt:lpstr>
      <vt:lpstr>Language and structure</vt:lpstr>
      <vt:lpstr>How to write a summary</vt:lpstr>
      <vt:lpstr>What should not be done in summary 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Academic Summary Writing</dc:title>
  <dc:creator>Mrs. Afolabi</dc:creator>
  <cp:lastModifiedBy>Mrs. Afolabi</cp:lastModifiedBy>
  <cp:revision>33</cp:revision>
  <dcterms:created xsi:type="dcterms:W3CDTF">2022-11-28T13:06:10Z</dcterms:created>
  <dcterms:modified xsi:type="dcterms:W3CDTF">2024-10-22T06:56:38Z</dcterms:modified>
</cp:coreProperties>
</file>