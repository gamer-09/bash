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74" d="100"/>
          <a:sy n="74" d="100"/>
        </p:scale>
        <p:origin x="5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3/19/2025</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3/19/2025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3/19/2025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3/19/2025</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Expert System </a:t>
            </a:r>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stretch>
            <a:fillRect/>
          </a:stretch>
        </p:blipFill>
        <p:spPr>
          <a:xfrm>
            <a:off x="441325" y="1461770"/>
            <a:ext cx="9925685" cy="50971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FFFF00"/>
                </a:highlight>
              </a:rPr>
              <a:t>What’s An Expert System?</a:t>
            </a:r>
          </a:p>
        </p:txBody>
      </p:sp>
      <p:sp>
        <p:nvSpPr>
          <p:cNvPr id="3" name="Content Placeholder 2"/>
          <p:cNvSpPr>
            <a:spLocks noGrp="1"/>
          </p:cNvSpPr>
          <p:nvPr>
            <p:ph idx="1"/>
          </p:nvPr>
        </p:nvSpPr>
        <p:spPr/>
        <p:txBody>
          <a:bodyPr/>
          <a:lstStyle/>
          <a:p>
            <a:pPr marL="0" indent="0">
              <a:buNone/>
            </a:pPr>
            <a:r>
              <a:rPr lang="en-US" altLang="en-US"/>
              <a:t>Expert systems use a knowledge base and a set of rules</a:t>
            </a:r>
          </a:p>
          <a:p>
            <a:pPr marL="0" indent="0">
              <a:buNone/>
            </a:pPr>
            <a:r>
              <a:rPr lang="en-US" altLang="en-US"/>
              <a:t>to provide a diagnosis or a recommended course of</a:t>
            </a:r>
          </a:p>
          <a:p>
            <a:pPr marL="0" indent="0">
              <a:buNone/>
            </a:pPr>
            <a:r>
              <a:rPr lang="en-US" altLang="en-US"/>
              <a:t>action .</a:t>
            </a:r>
          </a:p>
          <a:p>
            <a:pPr marL="0" indent="0">
              <a:buNone/>
            </a:pPr>
            <a:endParaRPr lang="en-US" altLang="en-US"/>
          </a:p>
          <a:p>
            <a:pPr marL="0" indent="0">
              <a:buNone/>
            </a:pPr>
            <a:endParaRPr lang="en-US" altLang="en-US"/>
          </a:p>
        </p:txBody>
      </p:sp>
      <p:pic>
        <p:nvPicPr>
          <p:cNvPr id="4" name="Picture 3"/>
          <p:cNvPicPr>
            <a:picLocks noChangeAspect="1"/>
          </p:cNvPicPr>
          <p:nvPr/>
        </p:nvPicPr>
        <p:blipFill>
          <a:blip r:embed="rId2"/>
          <a:stretch>
            <a:fillRect/>
          </a:stretch>
        </p:blipFill>
        <p:spPr>
          <a:xfrm>
            <a:off x="609600" y="2878455"/>
            <a:ext cx="9667240" cy="37649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i="1">
                <a:sym typeface="+mn-ea"/>
              </a:rPr>
              <a:t>Expert Systems </a:t>
            </a:r>
            <a:endParaRPr lang="en-US" b="1" i="1"/>
          </a:p>
        </p:txBody>
      </p:sp>
      <p:sp>
        <p:nvSpPr>
          <p:cNvPr id="3" name="Content Placeholder 2"/>
          <p:cNvSpPr>
            <a:spLocks noGrp="1"/>
          </p:cNvSpPr>
          <p:nvPr>
            <p:ph idx="1"/>
          </p:nvPr>
        </p:nvSpPr>
        <p:spPr/>
        <p:txBody>
          <a:bodyPr/>
          <a:lstStyle/>
          <a:p>
            <a:pPr marL="0" indent="0" algn="just">
              <a:buNone/>
            </a:pPr>
            <a:r>
              <a:rPr lang="en-US" altLang="en-US" sz="2400"/>
              <a:t>Expert systems gather data by asking the user questions about  the problem. An initial set of questions can lead to further questions depending on the user's responses. The expert system reasons what questions it needs to ask, based on the knowledge it is given. It will use the responses from the user to rule out various possibilities that will allow it to eventually reach a decision or diagnosis.</a:t>
            </a:r>
          </a:p>
          <a:p>
            <a:pPr marL="0" indent="0" algn="just">
              <a:buNone/>
            </a:pPr>
            <a:r>
              <a:rPr lang="en-US" altLang="en-US" sz="2400"/>
              <a:t>The concept of an expert system was first developed in the 1970s by Edward Feigenbaum, who founded the knowledge- based system laboratory at Stanford</a:t>
            </a:r>
          </a:p>
          <a:p>
            <a:pPr marL="0" indent="0">
              <a:buNone/>
            </a:pPr>
            <a:r>
              <a:rPr lang="en-US" altLang="en-US" sz="2400"/>
              <a:t>University . Expert systems are thought to be among the first truly successful forms of </a:t>
            </a:r>
            <a:r>
              <a:rPr lang="en-US" altLang="en-US" sz="2400" b="1">
                <a:solidFill>
                  <a:srgbClr val="FF0000"/>
                </a:solidFill>
              </a:rPr>
              <a:t>artificial intelligence.</a:t>
            </a:r>
            <a:r>
              <a:rPr lang="en-US" altLang="en-US" sz="2400"/>
              <a:t> </a:t>
            </a:r>
          </a:p>
          <a:p>
            <a:pPr marL="0" indent="0">
              <a:buNone/>
            </a:pP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582613"/>
          </a:xfrm>
        </p:spPr>
        <p:txBody>
          <a:bodyPr/>
          <a:lstStyle/>
          <a:p>
            <a:r>
              <a:rPr lang="en-US" altLang="en-US">
                <a:sym typeface="+mn-ea"/>
              </a:rPr>
              <a:t/>
            </a:r>
            <a:br>
              <a:rPr lang="en-US" altLang="en-US">
                <a:sym typeface="+mn-ea"/>
              </a:rPr>
            </a:br>
            <a:r>
              <a:rPr lang="en-US" altLang="en-US">
                <a:gradFill>
                  <a:gsLst>
                    <a:gs pos="0">
                      <a:srgbClr val="012D86"/>
                    </a:gs>
                    <a:gs pos="100000">
                      <a:srgbClr val="0E2557"/>
                    </a:gs>
                  </a:gsLst>
                  <a:lin scaled="0"/>
                </a:gradFill>
                <a:sym typeface="+mn-ea"/>
              </a:rPr>
              <a:t>Three Main Components:-</a:t>
            </a:r>
            <a:r>
              <a:rPr lang="en-US" altLang="en-US"/>
              <a:t/>
            </a:r>
            <a:br>
              <a:rPr lang="en-US" altLang="en-US"/>
            </a:br>
            <a:endParaRPr lang="en-US" altLang="en-US"/>
          </a:p>
        </p:txBody>
      </p:sp>
      <p:sp>
        <p:nvSpPr>
          <p:cNvPr id="3" name="Content Placeholder 2"/>
          <p:cNvSpPr>
            <a:spLocks noGrp="1"/>
          </p:cNvSpPr>
          <p:nvPr>
            <p:ph idx="1"/>
          </p:nvPr>
        </p:nvSpPr>
        <p:spPr/>
        <p:txBody>
          <a:bodyPr/>
          <a:lstStyle/>
          <a:p>
            <a:pPr>
              <a:buFont typeface="Wingdings" panose="05000000000000000000" charset="0"/>
              <a:buChar char="Ø"/>
            </a:pPr>
            <a:r>
              <a:rPr lang="en-US" altLang="en-US"/>
              <a:t>the knowledge base</a:t>
            </a:r>
          </a:p>
          <a:p>
            <a:pPr>
              <a:buFont typeface="Wingdings" panose="05000000000000000000" charset="0"/>
              <a:buChar char="Ø"/>
            </a:pPr>
            <a:r>
              <a:rPr lang="en-US" altLang="en-US"/>
              <a:t>the inference engine</a:t>
            </a:r>
          </a:p>
          <a:p>
            <a:pPr>
              <a:buFont typeface="Wingdings" panose="05000000000000000000" charset="0"/>
              <a:buChar char="Ø"/>
            </a:pPr>
            <a:r>
              <a:rPr lang="en-US" altLang="en-US"/>
              <a:t>the user interface. </a:t>
            </a:r>
          </a:p>
          <a:p>
            <a:pPr>
              <a:buFont typeface="Wingdings" panose="05000000000000000000" charset="0"/>
              <a:buChar char="Ø"/>
            </a:pP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a:solidFill>
                  <a:srgbClr val="FF0000"/>
                </a:solidFill>
                <a:sym typeface="+mn-ea"/>
              </a:rPr>
              <a:t>Expert System....</a:t>
            </a:r>
            <a:endParaRPr lang="en-US"/>
          </a:p>
        </p:txBody>
      </p:sp>
      <p:pic>
        <p:nvPicPr>
          <p:cNvPr id="4" name="Content Placeholder 3"/>
          <p:cNvPicPr>
            <a:picLocks noGrp="1" noChangeAspect="1"/>
          </p:cNvPicPr>
          <p:nvPr>
            <p:ph idx="1"/>
          </p:nvPr>
        </p:nvPicPr>
        <p:blipFill>
          <a:blip r:embed="rId2"/>
          <a:stretch>
            <a:fillRect/>
          </a:stretch>
        </p:blipFill>
        <p:spPr>
          <a:xfrm>
            <a:off x="303530" y="878205"/>
            <a:ext cx="6962775" cy="2369185"/>
          </a:xfrm>
          <a:prstGeom prst="rect">
            <a:avLst/>
          </a:prstGeom>
        </p:spPr>
      </p:pic>
      <p:sp>
        <p:nvSpPr>
          <p:cNvPr id="5" name="Text Box 4"/>
          <p:cNvSpPr txBox="1"/>
          <p:nvPr/>
        </p:nvSpPr>
        <p:spPr>
          <a:xfrm>
            <a:off x="798195" y="3429000"/>
            <a:ext cx="10542270" cy="2136140"/>
          </a:xfrm>
          <a:prstGeom prst="rect">
            <a:avLst/>
          </a:prstGeom>
          <a:noFill/>
        </p:spPr>
        <p:txBody>
          <a:bodyPr wrap="square" rtlCol="0">
            <a:noAutofit/>
          </a:bodyPr>
          <a:lstStyle/>
          <a:p>
            <a:pPr algn="just"/>
            <a:r>
              <a:rPr lang="en-US" altLang="en-US" sz="2400"/>
              <a:t>The developers of the expert system wi ll inter v iew a collect ion of experts to build the databas e of knowledge. They will look to gain two types of knowledge from the experts. The first is </a:t>
            </a:r>
            <a:r>
              <a:rPr lang="en-US" altLang="en-US" sz="2400" b="1">
                <a:highlight>
                  <a:srgbClr val="FFFF00"/>
                </a:highlight>
              </a:rPr>
              <a:t>factual knowledge</a:t>
            </a:r>
            <a:r>
              <a:rPr lang="en-US" altLang="en-US" sz="2400"/>
              <a:t>. This is knowledge that is widely shared. The second type is </a:t>
            </a:r>
            <a:r>
              <a:rPr lang="en-US" altLang="en-US" sz="2400" b="1">
                <a:highlight>
                  <a:srgbClr val="FFFF00"/>
                </a:highlight>
              </a:rPr>
              <a:t>heuristic knowledge.</a:t>
            </a:r>
            <a:r>
              <a:rPr lang="en-US" altLang="en-US" sz="2400"/>
              <a:t> This is knowledge that is more personal and is acquired through a range of experience s and reasoning. Once the knowledge base is built, it can be used by the expert system to inform the questions it needs to ask and nassist in providing the results.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i="1">
                <a:solidFill>
                  <a:srgbClr val="FF0000"/>
                </a:solidFill>
              </a:rPr>
              <a:t>Expert System....</a:t>
            </a:r>
          </a:p>
        </p:txBody>
      </p:sp>
      <p:sp>
        <p:nvSpPr>
          <p:cNvPr id="3" name="Content Placeholder 2"/>
          <p:cNvSpPr>
            <a:spLocks noGrp="1"/>
          </p:cNvSpPr>
          <p:nvPr>
            <p:ph idx="1"/>
          </p:nvPr>
        </p:nvSpPr>
        <p:spPr/>
        <p:txBody>
          <a:bodyPr/>
          <a:lstStyle/>
          <a:p>
            <a:pPr marL="0" indent="0" algn="just">
              <a:buNone/>
            </a:pPr>
            <a:r>
              <a:rPr lang="en-US" altLang="en-US" sz="2400"/>
              <a:t>Part of the knowledge base is the rules base. The rules base is a set of rules that will be used to produce an output or decision by the expert system. These rules are used by the inference engine as a base for reasoning, to obtain a solution to a problem or a decision. Each rule will contain two parts, the</a:t>
            </a:r>
            <a:r>
              <a:rPr lang="en-US" altLang="en-US" sz="2400">
                <a:highlight>
                  <a:srgbClr val="FFFF00"/>
                </a:highlight>
              </a:rPr>
              <a:t> IF</a:t>
            </a:r>
            <a:r>
              <a:rPr lang="en-US" altLang="en-US" sz="2400"/>
              <a:t> and the </a:t>
            </a:r>
            <a:r>
              <a:rPr lang="en-US" altLang="en-US" sz="2400">
                <a:highlight>
                  <a:srgbClr val="FFFF00"/>
                </a:highlight>
              </a:rPr>
              <a:t>THEN</a:t>
            </a:r>
            <a:r>
              <a:rPr lang="en-US" altLang="en-US" sz="2400"/>
              <a:t>. A rule can also have multiple IF parts that will be join ed tog eth er by Boolean operators including </a:t>
            </a:r>
            <a:r>
              <a:rPr lang="en-US" altLang="en-US" sz="2400">
                <a:highlight>
                  <a:srgbClr val="FFFF00"/>
                </a:highlight>
              </a:rPr>
              <a:t>AND</a:t>
            </a:r>
            <a:r>
              <a:rPr lang="en-US" altLang="en-US" sz="2400"/>
              <a:t> and </a:t>
            </a:r>
            <a:r>
              <a:rPr lang="en-US" altLang="en-US" sz="2400">
                <a:highlight>
                  <a:srgbClr val="FFFF00"/>
                </a:highlight>
              </a:rPr>
              <a:t>OR.</a:t>
            </a:r>
            <a:r>
              <a:rPr lang="en-US" altLang="en-US" sz="2400"/>
              <a:t> Most expert systems will have a knowledge based editor built into them. This allows the knowledge base to be checked for errors and edit ed and updated when needed.</a:t>
            </a:r>
            <a:r>
              <a:rPr lang="en-US" altLang="en-US"/>
              <a:t> </a:t>
            </a:r>
          </a:p>
          <a:p>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Inference Engine</a:t>
            </a:r>
          </a:p>
        </p:txBody>
      </p:sp>
      <p:pic>
        <p:nvPicPr>
          <p:cNvPr id="4" name="Content Placeholder 3"/>
          <p:cNvPicPr>
            <a:picLocks noGrp="1" noChangeAspect="1"/>
          </p:cNvPicPr>
          <p:nvPr>
            <p:ph idx="1"/>
          </p:nvPr>
        </p:nvPicPr>
        <p:blipFill>
          <a:blip r:embed="rId2"/>
          <a:stretch>
            <a:fillRect/>
          </a:stretch>
        </p:blipFill>
        <p:spPr>
          <a:xfrm>
            <a:off x="269240" y="1362075"/>
            <a:ext cx="6370955" cy="1997075"/>
          </a:xfrm>
          <a:prstGeom prst="rect">
            <a:avLst/>
          </a:prstGeom>
        </p:spPr>
      </p:pic>
      <p:sp>
        <p:nvSpPr>
          <p:cNvPr id="5" name="Text Box 4"/>
          <p:cNvSpPr txBox="1"/>
          <p:nvPr/>
        </p:nvSpPr>
        <p:spPr>
          <a:xfrm>
            <a:off x="494665" y="3429000"/>
            <a:ext cx="11218545" cy="1660525"/>
          </a:xfrm>
          <a:prstGeom prst="rect">
            <a:avLst/>
          </a:prstGeom>
          <a:noFill/>
        </p:spPr>
        <p:txBody>
          <a:bodyPr wrap="square" rtlCol="0">
            <a:noAutofit/>
          </a:bodyPr>
          <a:lstStyle/>
          <a:p>
            <a:pPr algn="just"/>
            <a:r>
              <a:rPr lang="en-US" altLang="en-US" sz="2400"/>
              <a:t>It will ask the user questions, and based on their answer, it will follow a line of logic. This may thten lead  further questions and eventually a final result. The inference engine is mostly a problem-solvrng tool. It organises and controls steps to solve the problem.Todo this it often uses a </a:t>
            </a:r>
            <a:r>
              <a:rPr lang="en-US" altLang="en-US" sz="2400">
                <a:highlight>
                  <a:srgbClr val="FFFF00"/>
                </a:highlight>
              </a:rPr>
              <a:t>chaining method.</a:t>
            </a:r>
            <a:r>
              <a:rPr lang="en-US" altLang="en-US" sz="2400"/>
              <a:t> It chains together</a:t>
            </a:r>
          </a:p>
          <a:p>
            <a:pPr algn="just"/>
            <a:r>
              <a:rPr lang="en-US" altLang="en-US" sz="2400"/>
              <a:t>what is known as IF-THEN rules to form a line of reasoning. The IF part of the rule is a condition, for example IF I am hungry. The THEN part of the rule is an action, for example IF I am hungry THEN I will need to eat.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a:solidFill>
                  <a:srgbClr val="FF0000"/>
                </a:solidFill>
                <a:sym typeface="+mn-ea"/>
              </a:rPr>
              <a:t>Expert System....</a:t>
            </a:r>
            <a:endParaRPr lang="en-US"/>
          </a:p>
        </p:txBody>
      </p:sp>
      <p:sp>
        <p:nvSpPr>
          <p:cNvPr id="3" name="Content Placeholder 2"/>
          <p:cNvSpPr>
            <a:spLocks noGrp="1"/>
          </p:cNvSpPr>
          <p:nvPr>
            <p:ph idx="1"/>
          </p:nvPr>
        </p:nvSpPr>
        <p:spPr/>
        <p:txBody>
          <a:bodyPr/>
          <a:lstStyle/>
          <a:p>
            <a:pPr marL="0" indent="0" algn="just">
              <a:buNone/>
            </a:pPr>
            <a:r>
              <a:rPr lang="en-US" altLang="en-US" sz="2400"/>
              <a:t>There are two main methods that can be used to obtain a result. The appropriate one will depend on whether the expert system is designed to produce a final result i.e a diagnosis or course of action, or if it begins with a known conclusion i.e. a goal. If the process starts with a set of cond itions and chaining moves towards a final conclusion, this is called </a:t>
            </a:r>
            <a:r>
              <a:rPr lang="en-US" altLang="en-US" sz="2400" b="1">
                <a:highlight>
                  <a:srgbClr val="FF00FF"/>
                </a:highlight>
              </a:rPr>
              <a:t>forward chaining.</a:t>
            </a:r>
            <a:endParaRPr lang="en-US" altLang="en-US" sz="2400"/>
          </a:p>
          <a:p>
            <a:pPr marL="0" indent="0" algn="just">
              <a:buNone/>
            </a:pPr>
            <a:r>
              <a:rPr lang="en-US" altLang="en-US" sz="2400"/>
              <a:t>In a forward chaining system, the expert system will take the data input and match it to the knowledge and rules it contains. It will keep doing this until it can reach an end goal or outcome. A forward chaining system is data driven.Data is gathered about the probl em and then the system infers what it can from the data to reach a conclusion.</a:t>
            </a:r>
          </a:p>
          <a:p>
            <a:pPr marL="0" indent="0" algn="just">
              <a:buNone/>
            </a:pPr>
            <a:r>
              <a:rPr lang="en-US" altLang="en-US" sz="2400"/>
              <a:t>If the process starts with a known conclusion, but the pathto it is unknown, the chaining will work in reverse and this is called </a:t>
            </a:r>
            <a:r>
              <a:rPr lang="en-US" altLang="en-US" sz="2400" b="1">
                <a:solidFill>
                  <a:schemeClr val="bg1"/>
                </a:solidFill>
                <a:highlight>
                  <a:srgbClr val="FF0000"/>
                </a:highlight>
              </a:rPr>
              <a:t>backward chaining.</a:t>
            </a:r>
            <a:r>
              <a:rPr lang="en-US" altLang="en-US" sz="2400"/>
              <a:t> The system in th is case has a goal or solution and the inference engine attempts to find</a:t>
            </a:r>
          </a:p>
          <a:p>
            <a:pPr marL="0" indent="0" algn="just">
              <a:buNone/>
            </a:pPr>
            <a:r>
              <a:rPr lang="en-US" altLang="en-US" sz="2400"/>
              <a:t>the evidence to prove it.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Expert System</a:t>
            </a:r>
          </a:p>
        </p:txBody>
      </p:sp>
      <p:pic>
        <p:nvPicPr>
          <p:cNvPr id="4" name="Content Placeholder 3"/>
          <p:cNvPicPr>
            <a:picLocks noGrp="1" noChangeAspect="1"/>
          </p:cNvPicPr>
          <p:nvPr>
            <p:ph idx="1"/>
          </p:nvPr>
        </p:nvPicPr>
        <p:blipFill>
          <a:blip r:embed="rId2"/>
          <a:stretch>
            <a:fillRect/>
          </a:stretch>
        </p:blipFill>
        <p:spPr>
          <a:xfrm>
            <a:off x="2954020" y="956310"/>
            <a:ext cx="5184775" cy="56318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Expert system</a:t>
            </a:r>
          </a:p>
        </p:txBody>
      </p:sp>
      <p:pic>
        <p:nvPicPr>
          <p:cNvPr id="4" name="Content Placeholder 3"/>
          <p:cNvPicPr>
            <a:picLocks noGrp="1" noChangeAspect="1"/>
          </p:cNvPicPr>
          <p:nvPr>
            <p:ph idx="1"/>
          </p:nvPr>
        </p:nvPicPr>
        <p:blipFill>
          <a:blip r:embed="rId2"/>
          <a:stretch>
            <a:fillRect/>
          </a:stretch>
        </p:blipFill>
        <p:spPr>
          <a:xfrm>
            <a:off x="3416300" y="622300"/>
            <a:ext cx="5645785" cy="61004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expert system</a:t>
            </a:r>
          </a:p>
        </p:txBody>
      </p:sp>
      <p:pic>
        <p:nvPicPr>
          <p:cNvPr id="4" name="Content Placeholder 3"/>
          <p:cNvPicPr>
            <a:picLocks noGrp="1" noChangeAspect="1"/>
          </p:cNvPicPr>
          <p:nvPr>
            <p:ph idx="1"/>
          </p:nvPr>
        </p:nvPicPr>
        <p:blipFill>
          <a:blip r:embed="rId2"/>
          <a:stretch>
            <a:fillRect/>
          </a:stretch>
        </p:blipFill>
        <p:spPr>
          <a:xfrm>
            <a:off x="2522220" y="773430"/>
            <a:ext cx="7291070" cy="60966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olidFill>
                  <a:srgbClr val="FF0000"/>
                </a:solidFill>
                <a:highlight>
                  <a:srgbClr val="FFFF00"/>
                </a:highlight>
                <a:sym typeface="+mn-ea"/>
              </a:rPr>
              <a:t>How are expert systems used</a:t>
            </a:r>
          </a:p>
        </p:txBody>
      </p:sp>
      <p:sp>
        <p:nvSpPr>
          <p:cNvPr id="3" name="Content Placeholder 2"/>
          <p:cNvSpPr>
            <a:spLocks noGrp="1"/>
          </p:cNvSpPr>
          <p:nvPr>
            <p:ph idx="1"/>
          </p:nvPr>
        </p:nvSpPr>
        <p:spPr>
          <a:xfrm>
            <a:off x="609600" y="1174750"/>
            <a:ext cx="11804650" cy="4953000"/>
          </a:xfrm>
        </p:spPr>
        <p:txBody>
          <a:bodyPr/>
          <a:lstStyle/>
          <a:p>
            <a:pPr marL="0" indent="0">
              <a:buNone/>
            </a:pPr>
            <a:r>
              <a:rPr lang="en-US" altLang="en-US"/>
              <a:t>Expert systems are used by many individuals and organizations for variety of diffrent purposes. These include:</a:t>
            </a:r>
          </a:p>
          <a:p>
            <a:r>
              <a:rPr lang="en-US" altLang="en-US"/>
              <a:t>medical diagnosis</a:t>
            </a:r>
          </a:p>
          <a:p>
            <a:r>
              <a:rPr lang="en-US" altLang="en-US"/>
              <a:t>car mechanical diagnosis</a:t>
            </a:r>
          </a:p>
          <a:p>
            <a:r>
              <a:rPr lang="en-US" altLang="en-US"/>
              <a:t>playingchess</a:t>
            </a:r>
          </a:p>
          <a:p>
            <a:r>
              <a:rPr lang="en-US" altLang="en-US"/>
              <a:t>providing financial advice</a:t>
            </a:r>
          </a:p>
          <a:p>
            <a:r>
              <a:rPr lang="en-US" altLang="en-US"/>
              <a:t>troubleshooting computer and printer issues</a:t>
            </a:r>
          </a:p>
          <a:p>
            <a:r>
              <a:rPr lang="en-US" altLang="en-US"/>
              <a:t>identifying items, for example plants and birds</a:t>
            </a:r>
          </a:p>
          <a:p>
            <a:r>
              <a:rPr lang="en-US" altLang="en-US"/>
              <a:t>Using a telephone helpdesk.</a:t>
            </a:r>
          </a:p>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a:t>
            </a:r>
          </a:p>
        </p:txBody>
      </p:sp>
      <p:pic>
        <p:nvPicPr>
          <p:cNvPr id="4" name="Content Placeholder 3"/>
          <p:cNvPicPr>
            <a:picLocks noGrp="1" noChangeAspect="1"/>
          </p:cNvPicPr>
          <p:nvPr>
            <p:ph idx="1"/>
          </p:nvPr>
        </p:nvPicPr>
        <p:blipFill>
          <a:blip r:embed="rId2"/>
          <a:stretch>
            <a:fillRect/>
          </a:stretch>
        </p:blipFill>
        <p:spPr>
          <a:xfrm>
            <a:off x="2995295" y="226060"/>
            <a:ext cx="6003925" cy="66325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i="1">
                <a:solidFill>
                  <a:srgbClr val="FF0000"/>
                </a:solidFill>
                <a:highlight>
                  <a:srgbClr val="FFFF00"/>
                </a:highlight>
              </a:rPr>
              <a:t>Example of Expert System</a:t>
            </a:r>
          </a:p>
        </p:txBody>
      </p:sp>
      <p:pic>
        <p:nvPicPr>
          <p:cNvPr id="4" name="Content Placeholder 3"/>
          <p:cNvPicPr>
            <a:picLocks noGrp="1" noChangeAspect="1"/>
          </p:cNvPicPr>
          <p:nvPr>
            <p:ph idx="1"/>
          </p:nvPr>
        </p:nvPicPr>
        <p:blipFill>
          <a:blip r:embed="rId2"/>
          <a:stretch>
            <a:fillRect/>
          </a:stretch>
        </p:blipFill>
        <p:spPr>
          <a:xfrm>
            <a:off x="2469515" y="773430"/>
            <a:ext cx="8082280" cy="58921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i="1">
                <a:solidFill>
                  <a:srgbClr val="FF0000"/>
                </a:solidFill>
                <a:highlight>
                  <a:srgbClr val="FFFF00"/>
                </a:highlight>
                <a:sym typeface="+mn-ea"/>
              </a:rPr>
              <a:t>Data processing systems</a:t>
            </a:r>
            <a:r>
              <a:rPr lang="en-US" altLang="en-US" b="1" i="1">
                <a:solidFill>
                  <a:srgbClr val="FF0000"/>
                </a:solidFill>
                <a:highlight>
                  <a:srgbClr val="FFFF00"/>
                </a:highlight>
              </a:rPr>
              <a:t/>
            </a:r>
            <a:br>
              <a:rPr lang="en-US" altLang="en-US" b="1" i="1">
                <a:solidFill>
                  <a:srgbClr val="FF0000"/>
                </a:solidFill>
                <a:highlight>
                  <a:srgbClr val="FFFF00"/>
                </a:highlight>
              </a:rPr>
            </a:br>
            <a:endParaRPr lang="en-US" altLang="en-US" b="1" i="1">
              <a:solidFill>
                <a:srgbClr val="FF0000"/>
              </a:solidFill>
              <a:highlight>
                <a:srgbClr val="FFFF00"/>
              </a:highlight>
            </a:endParaRPr>
          </a:p>
        </p:txBody>
      </p:sp>
      <p:sp>
        <p:nvSpPr>
          <p:cNvPr id="3" name="Content Placeholder 2"/>
          <p:cNvSpPr>
            <a:spLocks noGrp="1"/>
          </p:cNvSpPr>
          <p:nvPr>
            <p:ph idx="1"/>
          </p:nvPr>
        </p:nvSpPr>
        <p:spPr>
          <a:xfrm>
            <a:off x="304800" y="1174750"/>
            <a:ext cx="11581765" cy="4953000"/>
          </a:xfrm>
        </p:spPr>
        <p:txBody>
          <a:bodyPr/>
          <a:lstStyle/>
          <a:p>
            <a:pPr marL="0" indent="0" algn="just">
              <a:buNone/>
            </a:pPr>
            <a:r>
              <a:rPr lang="en-US" altLang="en-US" sz="2200"/>
              <a:t>There are many types of systems that process data, and a variety of ways the processing can be carr ied out. A system that processes data will have a metho d to input the data, a method to process the data and a method to output the data. We are going to look at three ways in which data can be processed These are batch, on line and real-time process ing systems. </a:t>
            </a:r>
          </a:p>
        </p:txBody>
      </p:sp>
      <p:pic>
        <p:nvPicPr>
          <p:cNvPr id="4" name="Picture 3"/>
          <p:cNvPicPr>
            <a:picLocks noChangeAspect="1"/>
          </p:cNvPicPr>
          <p:nvPr/>
        </p:nvPicPr>
        <p:blipFill>
          <a:blip r:embed="rId2"/>
          <a:stretch>
            <a:fillRect/>
          </a:stretch>
        </p:blipFill>
        <p:spPr>
          <a:xfrm>
            <a:off x="1418590" y="2715895"/>
            <a:ext cx="10084435" cy="45402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i="1">
                <a:solidFill>
                  <a:srgbClr val="FF0000"/>
                </a:solidFill>
                <a:highlight>
                  <a:srgbClr val="FFFF00"/>
                </a:highlight>
              </a:rPr>
              <a:t>Data processing system....</a:t>
            </a:r>
          </a:p>
        </p:txBody>
      </p:sp>
      <p:sp>
        <p:nvSpPr>
          <p:cNvPr id="3" name="Content Placeholder 2"/>
          <p:cNvSpPr>
            <a:spLocks noGrp="1"/>
          </p:cNvSpPr>
          <p:nvPr>
            <p:ph idx="1"/>
          </p:nvPr>
        </p:nvSpPr>
        <p:spPr/>
        <p:txBody>
          <a:bodyPr/>
          <a:lstStyle/>
          <a:p>
            <a:pPr marL="0" indent="0" algn="just">
              <a:buNone/>
            </a:pPr>
            <a:r>
              <a:rPr lang="en-US" altLang="en-US" sz="2200"/>
              <a:t>The amount of data processed by batch processing systems is nor mally quite large. By storing the data together in batches, it means tha t the processing can be carried out at a time when the system is in less demand.</a:t>
            </a:r>
          </a:p>
          <a:p>
            <a:pPr marL="0" indent="0">
              <a:buNone/>
            </a:pPr>
            <a:endParaRPr lang="en-US" altLang="en-US" sz="2200"/>
          </a:p>
          <a:p>
            <a:pPr marL="0" indent="0" algn="just">
              <a:buNone/>
            </a:pPr>
            <a:r>
              <a:rPr lang="en-US" altLang="en-US" sz="2200"/>
              <a:t>This results in less disruption to a system during the times of the day when it could be in heavy demand. No user interaction is required to process the data. The system is</a:t>
            </a:r>
          </a:p>
          <a:p>
            <a:pPr marL="0" indent="0" algn="just">
              <a:buNone/>
            </a:pPr>
            <a:r>
              <a:rPr lang="en-US" altLang="en-US" sz="2200"/>
              <a:t>automatically triggered at a set time. There are issues that can occur with a batch processing system. There is a tim e delay for the data processing,so the output that will be provid ed is not always readily availab le. Also, if there is an error with an input, this will not be recognised until a later date when the data is processed.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of batch processing </a:t>
            </a:r>
          </a:p>
        </p:txBody>
      </p:sp>
      <p:pic>
        <p:nvPicPr>
          <p:cNvPr id="4" name="Content Placeholder 3"/>
          <p:cNvPicPr>
            <a:picLocks noGrp="1" noChangeAspect="1"/>
          </p:cNvPicPr>
          <p:nvPr>
            <p:ph idx="1"/>
          </p:nvPr>
        </p:nvPicPr>
        <p:blipFill>
          <a:blip r:embed="rId2"/>
          <a:stretch>
            <a:fillRect/>
          </a:stretch>
        </p:blipFill>
        <p:spPr>
          <a:xfrm>
            <a:off x="2999105" y="773430"/>
            <a:ext cx="6193155" cy="58915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FFFF00"/>
                </a:highlight>
              </a:rPr>
              <a:t>Online Processing</a:t>
            </a:r>
          </a:p>
        </p:txBody>
      </p:sp>
      <p:pic>
        <p:nvPicPr>
          <p:cNvPr id="4" name="Content Placeholder 3"/>
          <p:cNvPicPr>
            <a:picLocks noGrp="1" noChangeAspect="1"/>
          </p:cNvPicPr>
          <p:nvPr>
            <p:ph idx="1"/>
          </p:nvPr>
        </p:nvPicPr>
        <p:blipFill>
          <a:blip r:embed="rId2"/>
          <a:stretch>
            <a:fillRect/>
          </a:stretch>
        </p:blipFill>
        <p:spPr>
          <a:xfrm>
            <a:off x="609600" y="773430"/>
            <a:ext cx="10789285" cy="60077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b="1" i="1">
                <a:solidFill>
                  <a:srgbClr val="FF0000"/>
                </a:solidFill>
                <a:highlight>
                  <a:srgbClr val="FFFF00"/>
                </a:highlight>
              </a:rPr>
              <a:t>Example of online processing</a:t>
            </a:r>
            <a:r>
              <a:rPr lang="en-US" sz="1800" b="1" i="1"/>
              <a:t> </a:t>
            </a:r>
          </a:p>
        </p:txBody>
      </p:sp>
      <p:pic>
        <p:nvPicPr>
          <p:cNvPr id="4" name="Content Placeholder 3"/>
          <p:cNvPicPr>
            <a:picLocks noGrp="1" noChangeAspect="1"/>
          </p:cNvPicPr>
          <p:nvPr>
            <p:ph idx="1"/>
          </p:nvPr>
        </p:nvPicPr>
        <p:blipFill>
          <a:blip r:embed="rId2"/>
          <a:stretch>
            <a:fillRect/>
          </a:stretch>
        </p:blipFill>
        <p:spPr>
          <a:xfrm>
            <a:off x="3890010" y="301625"/>
            <a:ext cx="6271895" cy="3462655"/>
          </a:xfrm>
          <a:prstGeom prst="rect">
            <a:avLst/>
          </a:prstGeom>
        </p:spPr>
      </p:pic>
      <p:pic>
        <p:nvPicPr>
          <p:cNvPr id="5" name="Picture 4"/>
          <p:cNvPicPr>
            <a:picLocks noChangeAspect="1"/>
          </p:cNvPicPr>
          <p:nvPr/>
        </p:nvPicPr>
        <p:blipFill>
          <a:blip r:embed="rId3"/>
          <a:stretch>
            <a:fillRect/>
          </a:stretch>
        </p:blipFill>
        <p:spPr>
          <a:xfrm>
            <a:off x="3937000" y="3237865"/>
            <a:ext cx="6380480" cy="29216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25700" y="-251460"/>
            <a:ext cx="6543675" cy="73615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i="1">
                <a:solidFill>
                  <a:srgbClr val="FF0000"/>
                </a:solidFill>
                <a:highlight>
                  <a:srgbClr val="00FFFF"/>
                </a:highlight>
              </a:rPr>
              <a:t>Example of Real-time Processing </a:t>
            </a:r>
          </a:p>
        </p:txBody>
      </p:sp>
      <p:pic>
        <p:nvPicPr>
          <p:cNvPr id="4" name="Content Placeholder 3"/>
          <p:cNvPicPr>
            <a:picLocks noGrp="1" noChangeAspect="1"/>
          </p:cNvPicPr>
          <p:nvPr>
            <p:ph idx="1"/>
          </p:nvPr>
        </p:nvPicPr>
        <p:blipFill>
          <a:blip r:embed="rId2"/>
          <a:stretch>
            <a:fillRect/>
          </a:stretch>
        </p:blipFill>
        <p:spPr>
          <a:xfrm>
            <a:off x="1900555" y="773430"/>
            <a:ext cx="8278495" cy="59912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Master file </a:t>
            </a:r>
          </a:p>
        </p:txBody>
      </p:sp>
      <p:pic>
        <p:nvPicPr>
          <p:cNvPr id="4" name="Content Placeholder 3"/>
          <p:cNvPicPr>
            <a:picLocks noGrp="1" noChangeAspect="1"/>
          </p:cNvPicPr>
          <p:nvPr>
            <p:ph idx="1"/>
          </p:nvPr>
        </p:nvPicPr>
        <p:blipFill>
          <a:blip r:embed="rId2"/>
          <a:stretch>
            <a:fillRect/>
          </a:stretch>
        </p:blipFill>
        <p:spPr>
          <a:xfrm>
            <a:off x="3297555" y="190500"/>
            <a:ext cx="6696075" cy="73552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bg1"/>
                </a:solidFill>
                <a:highlight>
                  <a:srgbClr val="FF00FF"/>
                </a:highlight>
              </a:rPr>
              <a:t>Transaction file</a:t>
            </a:r>
            <a:r>
              <a:rPr lang="en-US">
                <a:solidFill>
                  <a:srgbClr val="FF0000"/>
                </a:solidFill>
                <a:highlight>
                  <a:srgbClr val="FF00FF"/>
                </a:highlight>
              </a:rPr>
              <a:t> </a:t>
            </a:r>
          </a:p>
        </p:txBody>
      </p:sp>
      <p:pic>
        <p:nvPicPr>
          <p:cNvPr id="4" name="Content Placeholder 3"/>
          <p:cNvPicPr>
            <a:picLocks noGrp="1" noChangeAspect="1"/>
          </p:cNvPicPr>
          <p:nvPr>
            <p:ph idx="1"/>
          </p:nvPr>
        </p:nvPicPr>
        <p:blipFill>
          <a:blip r:embed="rId2"/>
          <a:stretch>
            <a:fillRect/>
          </a:stretch>
        </p:blipFill>
        <p:spPr>
          <a:xfrm>
            <a:off x="1461770" y="773430"/>
            <a:ext cx="9806940" cy="58934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i="1">
                <a:solidFill>
                  <a:schemeClr val="bg1"/>
                </a:solidFill>
                <a:highlight>
                  <a:srgbClr val="FF00FF"/>
                </a:highlight>
              </a:rPr>
              <a:t>Example of transaction files</a:t>
            </a:r>
          </a:p>
        </p:txBody>
      </p:sp>
      <p:pic>
        <p:nvPicPr>
          <p:cNvPr id="4" name="Content Placeholder 3"/>
          <p:cNvPicPr>
            <a:picLocks noGrp="1" noChangeAspect="1"/>
          </p:cNvPicPr>
          <p:nvPr>
            <p:ph idx="1"/>
          </p:nvPr>
        </p:nvPicPr>
        <p:blipFill>
          <a:blip r:embed="rId2"/>
          <a:stretch>
            <a:fillRect/>
          </a:stretch>
        </p:blipFill>
        <p:spPr>
          <a:xfrm>
            <a:off x="184150" y="891540"/>
            <a:ext cx="12376150" cy="46558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09600" y="1360805"/>
            <a:ext cx="11256645" cy="3496310"/>
          </a:xfrm>
          <a:prstGeom prst="rect">
            <a:avLst/>
          </a:prstGeom>
        </p:spPr>
      </p:pic>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1030</Words>
  <Application>Microsoft Office PowerPoint</Application>
  <PresentationFormat>Widescreen</PresentationFormat>
  <Paragraphs>53</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SimSun</vt:lpstr>
      <vt:lpstr>Arial</vt:lpstr>
      <vt:lpstr>Wingdings</vt:lpstr>
      <vt:lpstr>Orange Waves</vt:lpstr>
      <vt:lpstr>Expert System </vt:lpstr>
      <vt:lpstr>What’s An Expert System?</vt:lpstr>
      <vt:lpstr>Expert Systems </vt:lpstr>
      <vt:lpstr> Three Main Components:- </vt:lpstr>
      <vt:lpstr>Expert System....</vt:lpstr>
      <vt:lpstr>Expert System....</vt:lpstr>
      <vt:lpstr>Inference Engine</vt:lpstr>
      <vt:lpstr>Expert System....</vt:lpstr>
      <vt:lpstr>Expert System</vt:lpstr>
      <vt:lpstr>Expert system</vt:lpstr>
      <vt:lpstr>expert system</vt:lpstr>
      <vt:lpstr>How are expert systems used</vt:lpstr>
      <vt:lpstr>Examples </vt:lpstr>
      <vt:lpstr>Example of Expert System</vt:lpstr>
      <vt:lpstr>Data processing systems </vt:lpstr>
      <vt:lpstr>Data processing system....</vt:lpstr>
      <vt:lpstr>Example of batch processing </vt:lpstr>
      <vt:lpstr>Online Processing</vt:lpstr>
      <vt:lpstr>Example of online processing </vt:lpstr>
      <vt:lpstr>PowerPoint Presentation</vt:lpstr>
      <vt:lpstr>Example of Real-time Processing </vt:lpstr>
      <vt:lpstr>Master file </vt:lpstr>
      <vt:lpstr>Transaction file </vt:lpstr>
      <vt:lpstr>Example of transaction files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Expert System </dc:title>
  <dc:creator/>
  <cp:lastModifiedBy>user</cp:lastModifiedBy>
  <cp:revision>16</cp:revision>
  <cp:lastPrinted>2025-03-19T08:33:41Z</cp:lastPrinted>
  <dcterms:created xsi:type="dcterms:W3CDTF">2024-11-24T19:10:00Z</dcterms:created>
  <dcterms:modified xsi:type="dcterms:W3CDTF">2025-03-19T08:35:17Z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A4EDE5014A6A4E72BF5A47933D547AEB_11</vt:lpwstr>
  </property>
  <property fmtid="{D5CDD505-2E9C-101B-9397-08002B2CF9AE}" pid="3" name="KSOProductBuildVer">
    <vt:lpwstr>1033-12.2.0.18911</vt:lpwstr>
  </property>
</Properties>
</file>