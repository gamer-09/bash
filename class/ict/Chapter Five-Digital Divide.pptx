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12700" y="-3175"/>
            <a:ext cx="12204700" cy="6861175"/>
          </a:xfrm>
          <a:prstGeom prst="rect">
            <a:avLst/>
          </a:prstGeom>
          <a:noFill/>
          <a:ln w="9525">
            <a:noFill/>
          </a:ln>
        </p:spPr>
      </p:pic>
      <p:sp>
        <p:nvSpPr>
          <p:cNvPr id="2051" name="Rectangle 3"/>
          <p:cNvSpPr>
            <a:spLocks noGrp="1" noChangeArrowheads="1"/>
          </p:cNvSpPr>
          <p:nvPr>
            <p:ph type="ctrTitle"/>
          </p:nvPr>
        </p:nvSpPr>
        <p:spPr>
          <a:xfrm>
            <a:off x="2063751" y="1125538"/>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351088"/>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6"/>
          <p:cNvPicPr>
            <a:picLocks noChangeAspect="1"/>
          </p:cNvPicPr>
          <p:nvPr/>
        </p:nvPicPr>
        <p:blipFill>
          <a:blip r:embed="rId12"/>
          <a:stretch>
            <a:fillRect/>
          </a:stretch>
        </p:blipFill>
        <p:spPr>
          <a:xfrm>
            <a:off x="0" y="0"/>
            <a:ext cx="12198351" cy="6861175"/>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8000" b="1" dirty="0"/>
              <a:t>Chapter Five</a:t>
            </a:r>
            <a:br>
              <a:rPr lang="en-US" dirty="0"/>
            </a:br>
            <a:r>
              <a:rPr lang="en-US" sz="4800" b="1" dirty="0"/>
              <a:t>The Digital Divide</a:t>
            </a:r>
            <a:endParaRPr lang="en-US" sz="4800" b="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The Digital Divide</a:t>
            </a:r>
            <a:endParaRPr lang="en-US"/>
          </a:p>
        </p:txBody>
      </p:sp>
      <p:pic>
        <p:nvPicPr>
          <p:cNvPr id="4" name="Content Placeholder 3"/>
          <p:cNvPicPr>
            <a:picLocks noChangeAspect="1"/>
          </p:cNvPicPr>
          <p:nvPr>
            <p:ph idx="1"/>
          </p:nvPr>
        </p:nvPicPr>
        <p:blipFill>
          <a:blip r:embed="rId1"/>
          <a:stretch>
            <a:fillRect/>
          </a:stretch>
        </p:blipFill>
        <p:spPr>
          <a:xfrm>
            <a:off x="1470660" y="984250"/>
            <a:ext cx="9016365" cy="57226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Digital Divide</a:t>
            </a:r>
            <a:endParaRPr lang="en-US"/>
          </a:p>
        </p:txBody>
      </p:sp>
      <p:sp>
        <p:nvSpPr>
          <p:cNvPr id="3" name="Content Placeholder 2"/>
          <p:cNvSpPr>
            <a:spLocks noGrp="1"/>
          </p:cNvSpPr>
          <p:nvPr>
            <p:ph idx="1"/>
          </p:nvPr>
        </p:nvSpPr>
        <p:spPr>
          <a:xfrm>
            <a:off x="109220" y="1174750"/>
            <a:ext cx="12082780" cy="4953000"/>
          </a:xfrm>
        </p:spPr>
        <p:txBody>
          <a:bodyPr/>
          <a:p>
            <a:pPr marL="0" indent="0" algn="just">
              <a:buNone/>
            </a:pPr>
            <a:r>
              <a:rPr lang="en-US" altLang="en-US" sz="2800"/>
              <a:t>The term digital divide was first popularised in the 1990s. It describes the technology divide (or gap) between countries , demographic groups and economic areas. It is a technical , social and economic issue, which covers the difference in availability and use of modern technology. The divide that people experience can depend on many aspects, such as age, status and location</a:t>
            </a:r>
            <a:r>
              <a:rPr lang="en-US" altLang="en-US"/>
              <a:t>.</a:t>
            </a:r>
            <a:endParaRPr lang="en-US" altLang="en-US"/>
          </a:p>
        </p:txBody>
      </p:sp>
      <p:pic>
        <p:nvPicPr>
          <p:cNvPr id="4" name="Picture 3"/>
          <p:cNvPicPr>
            <a:picLocks noChangeAspect="1"/>
          </p:cNvPicPr>
          <p:nvPr/>
        </p:nvPicPr>
        <p:blipFill>
          <a:blip r:embed="rId1"/>
          <a:stretch>
            <a:fillRect/>
          </a:stretch>
        </p:blipFill>
        <p:spPr>
          <a:xfrm>
            <a:off x="1656715" y="3658870"/>
            <a:ext cx="8252460" cy="29762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582930"/>
          </a:xfrm>
        </p:spPr>
        <p:txBody>
          <a:bodyPr/>
          <a:p>
            <a:br>
              <a:rPr lang="en-US" altLang="en-US"/>
            </a:br>
            <a:r>
              <a:rPr lang="en-US" altLang="en-US" sz="3200" b="1">
                <a:sym typeface="+mn-ea"/>
              </a:rPr>
              <a:t>What can cause a digital divide?</a:t>
            </a:r>
            <a:endParaRPr lang="en-US" altLang="en-US" sz="3200" b="1">
              <a:sym typeface="+mn-ea"/>
            </a:endParaRPr>
          </a:p>
        </p:txBody>
      </p:sp>
      <p:sp>
        <p:nvSpPr>
          <p:cNvPr id="3" name="Content Placeholder 2"/>
          <p:cNvSpPr>
            <a:spLocks noGrp="1"/>
          </p:cNvSpPr>
          <p:nvPr>
            <p:ph idx="1"/>
          </p:nvPr>
        </p:nvSpPr>
        <p:spPr>
          <a:xfrm>
            <a:off x="202565" y="1174750"/>
            <a:ext cx="11802745" cy="4953000"/>
          </a:xfrm>
        </p:spPr>
        <p:txBody>
          <a:bodyPr/>
          <a:p>
            <a:pPr marL="0" indent="0">
              <a:buNone/>
            </a:pPr>
            <a:r>
              <a:rPr lang="en-US" altLang="en-US"/>
              <a:t>There are many factors that can create a digital divide and</a:t>
            </a:r>
            <a:endParaRPr lang="en-US" altLang="en-US"/>
          </a:p>
          <a:p>
            <a:pPr marL="0" indent="0">
              <a:buNone/>
            </a:pPr>
            <a:r>
              <a:rPr lang="en-US" altLang="en-US"/>
              <a:t>they can do this for a great number of reasons. </a:t>
            </a:r>
            <a:endParaRPr lang="en-US" altLang="en-US"/>
          </a:p>
          <a:p>
            <a:pPr marL="0" indent="0">
              <a:buNone/>
            </a:pPr>
            <a:r>
              <a:rPr lang="en-US" altLang="en-US">
                <a:ln w="12700">
                  <a:solidFill>
                    <a:schemeClr val="tx2">
                      <a:lumMod val="75000"/>
                    </a:schemeClr>
                  </a:solidFill>
                  <a:prstDash val="solid"/>
                </a:ln>
                <a:solidFill>
                  <a:srgbClr val="FF0000"/>
                </a:solidFill>
                <a:effectLst>
                  <a:outerShdw dist="38100" dir="2640000" algn="bl" rotWithShape="0">
                    <a:schemeClr val="tx2">
                      <a:lumMod val="75000"/>
                    </a:schemeClr>
                  </a:outerShdw>
                </a:effectLst>
              </a:rPr>
              <a:t>City versus rural areas</a:t>
            </a:r>
            <a:endParaRPr lang="en-US" altLang="en-US">
              <a:ln w="12700">
                <a:solidFill>
                  <a:schemeClr val="tx2">
                    <a:lumMod val="75000"/>
                  </a:schemeClr>
                </a:solidFill>
                <a:prstDash val="solid"/>
              </a:ln>
              <a:solidFill>
                <a:srgbClr val="FF0000"/>
              </a:solidFill>
              <a:effectLst>
                <a:outerShdw dist="38100" dir="2640000" algn="bl" rotWithShape="0">
                  <a:schemeClr val="tx2">
                    <a:lumMod val="75000"/>
                  </a:schemeClr>
                </a:outerShdw>
              </a:effectLst>
            </a:endParaRPr>
          </a:p>
          <a:p>
            <a:pPr marL="0" indent="0" algn="just">
              <a:buNone/>
            </a:pPr>
            <a:r>
              <a:rPr lang="en-US" altLang="en-US" sz="2700"/>
              <a:t>A person's geographical locat ion can have an effect on their access to tech nology services. One location aspect that can affect th is is whether they live in a city or a rural area. Access to high-spee d internet services can differ greatly between city and rural areas. The availability of broadband services is expand ing in most countries, but not at the same rate for those who live in rural areas, compared to those who live in cities. People who live in cities have much greater access to highspeed broadb and. This mainly occ urs for two reasons: </a:t>
            </a:r>
            <a:endParaRPr lang="en-US" altLang="en-US" sz="2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sz="2800"/>
              <a:t>The infrastructure needed is mostly in place and just needs to be imp roved or expanded in order to provide high-speed broadband services. Therefore, the cost impl ications are not as great, as the current infrastructure can be used.</a:t>
            </a:r>
            <a:endParaRPr lang="en-US" altLang="en-US" sz="2800"/>
          </a:p>
          <a:p>
            <a:r>
              <a:rPr lang="en-US" altLang="en-US" sz="2800"/>
              <a:t>The concentration of peop le, and therefore potential customers, in a city is far greater. Therefore, there is a greater chance of quickly recuperating the costs of building the infrastructure needed for the high-speed access</a:t>
            </a:r>
            <a:endParaRPr lang="en-US" altLang="en-US" sz="2800"/>
          </a:p>
          <a:p>
            <a:endParaRPr lang="en-US" alt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lgn="just">
              <a:buNone/>
            </a:pPr>
            <a:r>
              <a:rPr lang="en-US" altLang="en-US" sz="3000"/>
              <a:t>2G technology allowed people to make telephone calls and send text messages. but accessing the internet was very slow and cumbersome. The invention of the 3G network made it possible for users to access the internet with their mobile telepho ne at a reasonable speed. </a:t>
            </a:r>
            <a:endParaRPr lang="en-US" altLang="en-US" sz="3000"/>
          </a:p>
          <a:p>
            <a:pPr marL="0" indent="0" algn="just">
              <a:buNone/>
            </a:pPr>
            <a:endParaRPr lang="en-US" altLang="en-US" sz="3000"/>
          </a:p>
          <a:p>
            <a:pPr marL="0" indent="0" algn="just">
              <a:buNone/>
            </a:pPr>
            <a:r>
              <a:rPr lang="en-US" altLang="en-US" sz="3000"/>
              <a:t>The development of 4G has made internet access using mob ile devices much quicker. The 'G' refers to the generation of network presently available. The availability of 4G and also 3G will depend on whether a person lives in a city or a rural location. </a:t>
            </a:r>
            <a:endParaRPr lang="en-US" altLang="en-US" sz="3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07010"/>
            <a:ext cx="10972800" cy="582613"/>
          </a:xfrm>
        </p:spPr>
        <p:txBody>
          <a:bodyPr/>
          <a:p>
            <a:r>
              <a:rPr lang="en-US" altLang="en-US">
                <a:sym typeface="+mn-ea"/>
              </a:rPr>
              <a:t>Socio-economic groups</a:t>
            </a:r>
            <a:br>
              <a:rPr lang="en-US" altLang="en-US"/>
            </a:br>
            <a:endParaRPr lang="en-US" altLang="en-US"/>
          </a:p>
        </p:txBody>
      </p:sp>
      <p:sp>
        <p:nvSpPr>
          <p:cNvPr id="3" name="Content Placeholder 2"/>
          <p:cNvSpPr>
            <a:spLocks noGrp="1"/>
          </p:cNvSpPr>
          <p:nvPr>
            <p:ph idx="1"/>
          </p:nvPr>
        </p:nvSpPr>
        <p:spPr/>
        <p:txBody>
          <a:bodyPr/>
          <a:p>
            <a:pPr marL="0" indent="0" algn="just">
              <a:buNone/>
            </a:pPr>
            <a:r>
              <a:rPr lang="en-US" altLang="en-US" sz="2600"/>
              <a:t>The rich/poor digital divide can also occur in more developed countries. Richer people are able to afford access to high-speed internet connect ions and expensive advances in technology. The poorer members of society may not be able to afford access to these services and levels of technology. This can have an impact on their level of education and ecommerce, essentially creating a greater divide. </a:t>
            </a:r>
            <a:endParaRPr lang="en-US" altLang="en-US" sz="2600"/>
          </a:p>
          <a:p>
            <a:pPr marL="0" indent="0" algn="just">
              <a:buNone/>
            </a:pPr>
            <a:r>
              <a:rPr lang="en-US" altLang="en-US" sz="2600"/>
              <a:t>A great number of companie s are moving their business to the internet and new businesses are being developed that operate using only the internet. There is a wealth of informati on available to users of the internet and a vast social network exists. The inabi lity to access the internet creates a significant div ide between rich and poor people and between countries across the world.</a:t>
            </a:r>
            <a:endParaRPr lang="en-US" altLang="en-US" sz="2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381635"/>
            <a:ext cx="10972800" cy="582613"/>
          </a:xfrm>
        </p:spPr>
        <p:txBody>
          <a:bodyPr/>
          <a:p>
            <a:r>
              <a:rPr lang="en-US" altLang="en-US">
                <a:sym typeface="+mn-ea"/>
              </a:rPr>
              <a:t>High versus low performing technologies</a:t>
            </a:r>
            <a:br>
              <a:rPr lang="en-US" altLang="en-US"/>
            </a:br>
            <a:endParaRPr lang="en-US" altLang="en-US"/>
          </a:p>
        </p:txBody>
      </p:sp>
      <p:sp>
        <p:nvSpPr>
          <p:cNvPr id="3" name="Content Placeholder 2"/>
          <p:cNvSpPr>
            <a:spLocks noGrp="1"/>
          </p:cNvSpPr>
          <p:nvPr>
            <p:ph idx="1"/>
          </p:nvPr>
        </p:nvSpPr>
        <p:spPr/>
        <p:txBody>
          <a:bodyPr/>
          <a:p>
            <a:pPr marL="0" indent="0" algn="just">
              <a:buNone/>
            </a:pPr>
            <a:r>
              <a:rPr lang="en-US" altLang="en-US" sz="2800"/>
              <a:t>A digital divide can also occur between people who have higher and lower performing technologies. Those who are able to afford mobile devices with high performance capabilities may be able to enjoy a better experince than those who have lower performing technologies.</a:t>
            </a:r>
            <a:endParaRPr lang="en-US" altLang="en-US" sz="2800"/>
          </a:p>
          <a:p>
            <a:pPr marL="0" indent="0" algn="just">
              <a:buNone/>
            </a:pPr>
            <a:r>
              <a:rPr lang="en-US" altLang="en-US" sz="2800"/>
              <a:t>They may be able to watch movies and stream music without interference and at a much higher quality than those with technologies that do not have the processing power to handle the high level of bandwidth needed for this . </a:t>
            </a:r>
            <a:endParaRPr lang="en-US" altLang="en-US" sz="2800"/>
          </a:p>
        </p:txBody>
      </p:sp>
      <p:pic>
        <p:nvPicPr>
          <p:cNvPr id="4" name="Picture 3"/>
          <p:cNvPicPr>
            <a:picLocks noChangeAspect="1"/>
          </p:cNvPicPr>
          <p:nvPr/>
        </p:nvPicPr>
        <p:blipFill>
          <a:blip r:embed="rId1"/>
          <a:stretch>
            <a:fillRect/>
          </a:stretch>
        </p:blipFill>
        <p:spPr>
          <a:xfrm>
            <a:off x="4956810" y="4642485"/>
            <a:ext cx="7562215" cy="2527935"/>
          </a:xfrm>
          <a:prstGeom prst="rect">
            <a:avLst/>
          </a:prstGeom>
        </p:spPr>
      </p:pic>
      <p:pic>
        <p:nvPicPr>
          <p:cNvPr id="5" name="Picture 4"/>
          <p:cNvPicPr>
            <a:picLocks noChangeAspect="1"/>
          </p:cNvPicPr>
          <p:nvPr/>
        </p:nvPicPr>
        <p:blipFill>
          <a:blip r:embed="rId2"/>
          <a:stretch>
            <a:fillRect/>
          </a:stretch>
        </p:blipFill>
        <p:spPr>
          <a:xfrm>
            <a:off x="0" y="4817745"/>
            <a:ext cx="5195570" cy="17164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a:sym typeface="+mn-ea"/>
              </a:rPr>
              <a:t>The digital divide in the United Kingdom (UK) </a:t>
            </a:r>
            <a:endParaRPr lang="en-US"/>
          </a:p>
        </p:txBody>
      </p:sp>
      <p:sp>
        <p:nvSpPr>
          <p:cNvPr id="3" name="Content Placeholder 2"/>
          <p:cNvSpPr>
            <a:spLocks noGrp="1"/>
          </p:cNvSpPr>
          <p:nvPr>
            <p:ph idx="1"/>
          </p:nvPr>
        </p:nvSpPr>
        <p:spPr/>
        <p:txBody>
          <a:bodyPr/>
          <a:p>
            <a:endParaRPr lang="en-US"/>
          </a:p>
        </p:txBody>
      </p:sp>
      <p:sp>
        <p:nvSpPr>
          <p:cNvPr id="5" name="Text Box 4"/>
          <p:cNvSpPr txBox="1"/>
          <p:nvPr/>
        </p:nvSpPr>
        <p:spPr>
          <a:xfrm>
            <a:off x="894715" y="1315720"/>
            <a:ext cx="10530205" cy="4227195"/>
          </a:xfrm>
          <a:prstGeom prst="rect">
            <a:avLst/>
          </a:prstGeom>
        </p:spPr>
        <p:txBody>
          <a:bodyPr>
            <a:noAutofit/>
          </a:bodyPr>
          <a:p>
            <a:pPr algn="just"/>
            <a:r>
              <a:rPr sz="2000"/>
              <a:t>The UK enjoys mod ern digital communication networks. As of 2014, commercial mobil e netwo rks claimed to provide telephon e and 3G internet access to 99% of the population, and 4G services to 41%. Additiona lly, a report by the UK's telecommunicatio ns regulator, Ofcom, revealed that 78% of the country's popu lation had access</a:t>
            </a:r>
            <a:r>
              <a:rPr lang="en-US" altLang="en-US" sz="2000"/>
              <a:t>health assessments and diag noses. Additionally, many hospitals and clinics provide information on</a:t>
            </a:r>
            <a:endParaRPr lang="en-US" altLang="en-US" sz="2000"/>
          </a:p>
          <a:p>
            <a:pPr algn="just"/>
            <a:r>
              <a:rPr lang="en-US" altLang="en-US" sz="2000"/>
              <a:t>websites about their quality of care and allow outpat ients to book appo intments on line. However, the digita l divi de exists in the UK and in several ways . For example: </a:t>
            </a:r>
            <a:endParaRPr lang="en-US" altLang="en-US" sz="2000"/>
          </a:p>
          <a:p>
            <a:pPr algn="just"/>
            <a:endParaRPr lang="en-US" altLang="en-US" sz="2000"/>
          </a:p>
          <a:p>
            <a:pPr algn="just"/>
            <a:r>
              <a:rPr lang="en-US" altLang="en-US" sz="2000"/>
              <a:t>• In 2015 th e country's Office for National Statistics(ONS) repo rted that 11% (5.9 million ) of the country's adult population had never used the internet. Many of these adults we re aged 75 and over. In the same year the Royal Geographical Society reported that 39% of people witho ut internet access were aged 65 or over.</a:t>
            </a:r>
            <a:endParaRPr lang="en-US" altLang="en-US" sz="2000"/>
          </a:p>
          <a:p>
            <a:pPr algn="just"/>
            <a:endParaRPr lang="en-US" altLang="en-US" sz="2000"/>
          </a:p>
          <a:p>
            <a:pPr algn="just"/>
            <a:r>
              <a:rPr lang="en-US" altLang="en-US" sz="2000"/>
              <a:t>• The ONS found that only 68% of adu lts with physical impairments were recent internet users, compared with 92% of those who were not disabled. Sometimes this was due to a lack of, suitable faci lities being available, such as a braille keyboard for a visua lly impai red user. </a:t>
            </a:r>
            <a:endParaRPr lang="en-US"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609600" y="1174750"/>
            <a:ext cx="11450955" cy="4953000"/>
          </a:xfrm>
        </p:spPr>
        <p:txBody>
          <a:bodyPr/>
          <a:p>
            <a:r>
              <a:rPr lang="en-US" altLang="en-US" sz="2400"/>
              <a:t>The UK suffers a divide caused by the cost of serv ices. Although mobile network coverage is extensive, many mob ile phone payment packages are broken down into call usage and dat a usage. Less wealthy peop le often cannot afford large data costs, and so their internet access is restricted. Similarly, broadband access is priced according to speed and usage. People with limited financial resources can on ly afford slower broadband speeds and restricted data use, which also limits access to the internet. The Royal Geographical Society found that 49% of the population with little or no internet access belo ng to the lowest UK socio-economic groups.</a:t>
            </a:r>
            <a:endParaRPr lang="en-US" altLang="en-US" sz="2400"/>
          </a:p>
          <a:p>
            <a:pPr marL="0" indent="0">
              <a:buNone/>
            </a:pPr>
            <a:r>
              <a:rPr lang="en-US" altLang="en-US" sz="2400"/>
              <a:t>• In 2013 a report by the British Computing Society found that less th an 16% of people working as IT specialists were wo men. However, ICT usage betwee n men and wo men was found to be roughly equal in some areas, such as online shopping and banking .</a:t>
            </a:r>
            <a:endParaRPr lang="en-US" altLang="en-US" sz="2400"/>
          </a:p>
          <a:p>
            <a:pPr marL="0" indent="0">
              <a:buNone/>
            </a:pPr>
            <a:r>
              <a:rPr lang="en-US" altLang="en-US" sz="2400"/>
              <a:t>• The UK governme nt has comm itted to bringing fast broadband access to 95% of the cou ntr y by 2017. However, rnany users in ru,·al areas will still not have broadband access by the n. </a:t>
            </a:r>
            <a:endParaRPr lang="en-US"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The digital divide in South Africa</a:t>
            </a:r>
            <a:br>
              <a:rPr lang="en-US" altLang="en-US"/>
            </a:br>
            <a:endParaRPr lang="en-US" altLang="en-US"/>
          </a:p>
        </p:txBody>
      </p:sp>
      <p:sp>
        <p:nvSpPr>
          <p:cNvPr id="3" name="Content Placeholder 2"/>
          <p:cNvSpPr>
            <a:spLocks noGrp="1"/>
          </p:cNvSpPr>
          <p:nvPr>
            <p:ph idx="1"/>
          </p:nvPr>
        </p:nvSpPr>
        <p:spPr/>
        <p:txBody>
          <a:bodyPr/>
          <a:p>
            <a:pPr marL="0" indent="0">
              <a:buNone/>
            </a:pPr>
            <a:r>
              <a:rPr lang="en-US" altLang="en-US" sz="2000"/>
              <a:t>South Africa is a good example of a country that is trying to decrease the digital divide. In 1995, a mere 0.7% 100 000 half space of the country's population had internet access and modern technologies. South Africa is a very complex society, with some areas and socio-economic groups far worse off than ot hers. In recent years the country has experienced great internal turmoil and social change, but is now growing in stability. </a:t>
            </a:r>
            <a:endParaRPr lang="en-US" altLang="en-US" sz="2000"/>
          </a:p>
          <a:p>
            <a:pPr marL="0" indent="0">
              <a:buNone/>
            </a:pPr>
            <a:endParaRPr lang="en-US" altLang="en-US" sz="2000"/>
          </a:p>
          <a:p>
            <a:pPr marL="0" indent="0">
              <a:buNone/>
            </a:pPr>
            <a:r>
              <a:rPr lang="en-US" altLang="en-US" sz="2000"/>
              <a:t>Between 2000 and 2003, the government funded a drive to place computers in schools. Howev er, despite large uptake, still on ly around 40% of schools have computers, wit h less than one-third of schools using computers for teaching and learning. In 2010 it was estimated that 24% of the population had internet access. By 2014, that percentage rose to just under 49%, around 25 million people, as South Africans have embr aced the benefits of being on line.The digital divide has fallen dramatically, but mainly because of growth in some areas of the country. The challenge for South Africa is to extend this usage into those a,eas that have lagged behind in development. </a:t>
            </a:r>
            <a:endParaRPr lang="en-US"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349885"/>
            <a:ext cx="10972800" cy="582613"/>
          </a:xfrm>
        </p:spPr>
        <p:txBody>
          <a:bodyPr/>
          <a:p>
            <a:r>
              <a:rPr lang="en-US" altLang="en-US">
                <a:sym typeface="+mn-ea"/>
              </a:rPr>
              <a:t>The digital divide in Singapore</a:t>
            </a:r>
            <a:br>
              <a:rPr lang="en-US" altLang="en-US"/>
            </a:br>
            <a:endParaRPr lang="en-US" altLang="en-US"/>
          </a:p>
        </p:txBody>
      </p:sp>
      <p:sp>
        <p:nvSpPr>
          <p:cNvPr id="3" name="Content Placeholder 2"/>
          <p:cNvSpPr>
            <a:spLocks noGrp="1"/>
          </p:cNvSpPr>
          <p:nvPr>
            <p:ph idx="1"/>
          </p:nvPr>
        </p:nvSpPr>
        <p:spPr/>
        <p:txBody>
          <a:bodyPr/>
          <a:p>
            <a:pPr marL="0" indent="0">
              <a:buNone/>
            </a:pPr>
            <a:r>
              <a:rPr lang="en-US" altLang="en-US" sz="2800"/>
              <a:t>Singapore is a developed country that has some of the fas test broadband connect ions in the world, with more than half a million homes receiving</a:t>
            </a:r>
            <a:endParaRPr lang="en-US" altLang="en-US" sz="2800"/>
          </a:p>
          <a:p>
            <a:pPr marL="0" indent="0">
              <a:buNone/>
            </a:pPr>
            <a:r>
              <a:rPr lang="en-US" altLang="en-US" sz="2800"/>
              <a:t>connection s with a minimum of 100 Mbps. Over 86% of households have a computer, and JCT and Computer Science is considered an important part of</a:t>
            </a:r>
            <a:endParaRPr lang="en-US" altLang="en-US" sz="2800"/>
          </a:p>
          <a:p>
            <a:pPr marL="0" indent="0">
              <a:buNone/>
            </a:pPr>
            <a:r>
              <a:rPr lang="en-US" altLang="en-US" sz="2800"/>
              <a:t>education.</a:t>
            </a:r>
            <a:r>
              <a:rPr lang="en-US" altLang="en-US" sz="2000"/>
              <a:t> </a:t>
            </a:r>
            <a:r>
              <a:rPr lang="en-US" altLang="en-US" sz="2800"/>
              <a:t>Addit_ionally, initiatives have seen many public build ings, such as libraries and community centres offering free internet access to the elderly in the ' hope of encouraging them to get on line. The country sees the internet as integral to economic and social success and is striving to reduce the gap</a:t>
            </a:r>
            <a:endParaRPr lang="en-US" altLang="en-US" sz="2800"/>
          </a:p>
          <a:p>
            <a:pPr marL="0" indent="0" algn="just">
              <a:buNone/>
            </a:pPr>
            <a:r>
              <a:rPr lang="en-US" altLang="en-US" sz="2800"/>
              <a:t>for all its population. </a:t>
            </a:r>
            <a:endParaRPr lang="en-US" altLang="en-US"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29260"/>
            <a:ext cx="10972800" cy="582613"/>
          </a:xfrm>
        </p:spPr>
        <p:txBody>
          <a:bodyPr/>
          <a:p>
            <a:r>
              <a:rPr lang="en-US" altLang="en-US">
                <a:sym typeface="+mn-ea"/>
              </a:rPr>
              <a:t>The future</a:t>
            </a:r>
            <a:br>
              <a:rPr lang="en-US" altLang="en-US"/>
            </a:br>
            <a:endParaRPr lang="en-US" altLang="en-US"/>
          </a:p>
        </p:txBody>
      </p:sp>
      <p:sp>
        <p:nvSpPr>
          <p:cNvPr id="3" name="Content Placeholder 2"/>
          <p:cNvSpPr>
            <a:spLocks noGrp="1"/>
          </p:cNvSpPr>
          <p:nvPr>
            <p:ph idx="1"/>
          </p:nvPr>
        </p:nvSpPr>
        <p:spPr/>
        <p:txBody>
          <a:bodyPr/>
          <a:p>
            <a:pPr marL="0" indent="0">
              <a:buNone/>
            </a:pPr>
            <a:r>
              <a:rPr lang="en-US" altLang="en-US"/>
              <a:t>The digital divide tends to increase when new  technologies become available. Younger generations lend lo embrace technology more quick ly than older general ion. As new technology is usually initially Prp ens1vP. 1t is taken up more quickly by those who have.</a:t>
            </a:r>
            <a:endParaRPr lang="en-US" altLang="en-US"/>
          </a:p>
          <a:p>
            <a:pPr marL="0" indent="0">
              <a:buNone/>
            </a:pPr>
            <a:r>
              <a:rPr lang="en-US" altLang="en-US"/>
              <a:t>The digital divide can occur for many reasons, including</a:t>
            </a:r>
            <a:endParaRPr lang="en-US" altLang="en-US"/>
          </a:p>
          <a:p>
            <a:pPr marL="0" indent="0">
              <a:buNone/>
            </a:pPr>
            <a:r>
              <a:rPr lang="en-US" altLang="en-US"/>
              <a:t>a person's age, status and location. There are many</a:t>
            </a:r>
            <a:endParaRPr lang="en-US" altLang="en-US"/>
          </a:p>
          <a:p>
            <a:pPr marL="0" indent="0">
              <a:buNone/>
            </a:pPr>
            <a:r>
              <a:rPr lang="en-US" altLang="en-US"/>
              <a:t>things that can be affected by the digita l divide, includ ing</a:t>
            </a:r>
            <a:endParaRPr lang="en-US" altLang="en-US"/>
          </a:p>
          <a:p>
            <a:pPr marL="0" indent="0">
              <a:buNone/>
            </a:pPr>
            <a:r>
              <a:rPr lang="en-US" altLang="en-US"/>
              <a:t>a person's access to ecommerce, their educatio n,</a:t>
            </a:r>
            <a:endParaRPr lang="en-US" altLang="en-US"/>
          </a:p>
          <a:p>
            <a:pPr marL="0" indent="0">
              <a:buNone/>
            </a:pPr>
            <a:r>
              <a:rPr lang="en-US" altLang="en-US"/>
              <a:t>employment opportu nities and entertain ment</a:t>
            </a:r>
            <a:endParaRPr lang="en-US" altLang="en-US"/>
          </a:p>
          <a:p>
            <a:pPr marL="0" indent="0">
              <a:buNone/>
            </a:pPr>
            <a:r>
              <a:rPr lang="en-US" altLang="en-US"/>
              <a:t>experiences</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8162</Words>
  <Application>WPS Presentation</Application>
  <PresentationFormat>Widescreen</PresentationFormat>
  <Paragraphs>69</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SimSun</vt:lpstr>
      <vt:lpstr>Wingdings</vt:lpstr>
      <vt:lpstr>Calibri Light</vt:lpstr>
      <vt:lpstr>Calibri</vt:lpstr>
      <vt:lpstr>Microsoft YaHei</vt:lpstr>
      <vt:lpstr>Arial Unicode MS</vt:lpstr>
      <vt:lpstr>Data Pie Charts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Five The Digital Divide</dc:title>
  <dc:creator/>
  <cp:lastModifiedBy>durodola kehinde</cp:lastModifiedBy>
  <cp:revision>10</cp:revision>
  <dcterms:created xsi:type="dcterms:W3CDTF">2024-11-19T20:45:33Z</dcterms:created>
  <dcterms:modified xsi:type="dcterms:W3CDTF">2024-11-19T21:28:28Z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07B1425B4CF84F57AD804C76FDC39FFA_11</vt:lpwstr>
  </property>
  <property fmtid="{D5CDD505-2E9C-101B-9397-08002B2CF9AE}" pid="3" name="KSOProductBuildVer">
    <vt:lpwstr>1033-12.2.0.18911</vt:lpwstr>
  </property>
</Properties>
</file>