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descr="关系图"/>
          <p:cNvPicPr>
            <a:picLocks noChangeAspect="1"/>
          </p:cNvPicPr>
          <p:nvPr/>
        </p:nvPicPr>
        <p:blipFill>
          <a:blip r:embed="rId2"/>
          <a:srcRect r="2528" b="10909"/>
          <a:stretch>
            <a:fillRect/>
          </a:stretch>
        </p:blipFill>
        <p:spPr>
          <a:xfrm>
            <a:off x="239184" y="692150"/>
            <a:ext cx="11885083" cy="6110288"/>
          </a:xfrm>
          <a:prstGeom prst="rect">
            <a:avLst/>
          </a:prstGeom>
          <a:noFill/>
          <a:ln w="9525">
            <a:noFill/>
          </a:ln>
        </p:spPr>
      </p:pic>
      <p:sp>
        <p:nvSpPr>
          <p:cNvPr id="10" name="Rectangle 7"/>
          <p:cNvSpPr>
            <a:spLocks noChangeArrowheads="1"/>
          </p:cNvSpPr>
          <p:nvPr/>
        </p:nvSpPr>
        <p:spPr bwMode="auto">
          <a:xfrm>
            <a:off x="2117" y="549275"/>
            <a:ext cx="12192000" cy="151130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2051" name="Rectangle 3"/>
          <p:cNvSpPr>
            <a:spLocks noChangeArrowheads="1"/>
          </p:cNvSpPr>
          <p:nvPr>
            <p:ph type="subTitle" idx="1"/>
          </p:nvPr>
        </p:nvSpPr>
        <p:spPr>
          <a:xfrm>
            <a:off x="2544233" y="2492375"/>
            <a:ext cx="7393517" cy="1222375"/>
          </a:xfrm>
        </p:spPr>
        <p:txBody>
          <a:bodyPr anchor="ctr"/>
          <a:lstStyle>
            <a:lvl1pPr marL="0" indent="0" algn="ctr">
              <a:buFontTx/>
              <a:buNone/>
              <a:defRPr/>
            </a:lvl1pPr>
          </a:lstStyle>
          <a:p>
            <a:pPr lvl="0"/>
            <a:r>
              <a:rPr lang="en-US" altLang="zh-CN" noProof="0" smtClean="0"/>
              <a:t>Click to edit Master subtitle style</a:t>
            </a:r>
            <a:endParaRPr lang="en-US" altLang="zh-CN" noProof="0" smtClean="0"/>
          </a:p>
        </p:txBody>
      </p:sp>
      <p:sp>
        <p:nvSpPr>
          <p:cNvPr id="2056" name="Rectangle 8"/>
          <p:cNvSpPr>
            <a:spLocks noChangeArrowheads="1"/>
          </p:cNvSpPr>
          <p:nvPr>
            <p:ph type="ctrTitle"/>
          </p:nvPr>
        </p:nvSpPr>
        <p:spPr>
          <a:xfrm>
            <a:off x="1007533" y="620713"/>
            <a:ext cx="10363200" cy="1470025"/>
          </a:xfrm>
        </p:spPr>
        <p:txBody>
          <a:bodyPr/>
          <a:lstStyle>
            <a:lvl1pPr>
              <a:defRPr sz="3600"/>
            </a:lvl1pPr>
          </a:lstStyle>
          <a:p>
            <a:pPr lvl="0"/>
            <a:r>
              <a:rPr lang="en-US" altLang="zh-CN" noProof="0" smtClean="0"/>
              <a:t>Click to edit Master title style</a:t>
            </a:r>
            <a:endParaRPr lang="en-US" altLang="zh-CN" noProof="0" smtClean="0"/>
          </a:p>
        </p:txBody>
      </p:sp>
      <p:sp>
        <p:nvSpPr>
          <p:cNvPr id="11" name="Rectangle 4"/>
          <p:cNvSpPr>
            <a:spLocks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2" name="Rectangle 5"/>
          <p:cNvSpPr>
            <a:spLocks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3" name="Rectangle 6"/>
          <p:cNvSpPr>
            <a:spLocks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ppt_x</p:attrName>
                                        </p:attrNameLst>
                                      </p:cBhvr>
                                      <p:tavLst>
                                        <p:tav tm="0">
                                          <p:val>
                                            <p:strVal val="#ppt_x-.2"/>
                                          </p:val>
                                        </p:tav>
                                        <p:tav tm="100000">
                                          <p:val>
                                            <p:strVal val="#ppt_x"/>
                                          </p:val>
                                        </p:tav>
                                      </p:tavLst>
                                    </p:anim>
                                    <p:anim calcmode="lin" valueType="num">
                                      <p:cBhvr>
                                        <p:cTn id="8"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auto">
          <a:xfrm>
            <a:off x="2117" y="333375"/>
            <a:ext cx="12192000" cy="100965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pic>
        <p:nvPicPr>
          <p:cNvPr id="1027" name="Picture 3" descr="关系图"/>
          <p:cNvPicPr>
            <a:picLocks noChangeAspect="1"/>
          </p:cNvPicPr>
          <p:nvPr/>
        </p:nvPicPr>
        <p:blipFill>
          <a:blip r:embed="rId12"/>
          <a:srcRect t="1094" r="8122" b="13318"/>
          <a:stretch>
            <a:fillRect/>
          </a:stretch>
        </p:blipFill>
        <p:spPr>
          <a:xfrm>
            <a:off x="7730067" y="4438650"/>
            <a:ext cx="4453467" cy="2333625"/>
          </a:xfrm>
          <a:prstGeom prst="rect">
            <a:avLst/>
          </a:prstGeom>
          <a:noFill/>
          <a:ln w="9525">
            <a:noFill/>
          </a:ln>
        </p:spPr>
      </p:pic>
      <p:sp>
        <p:nvSpPr>
          <p:cNvPr id="1028" name="Rectangle 4"/>
          <p:cNvSpPr/>
          <p:nvPr>
            <p:ph type="title"/>
          </p:nvPr>
        </p:nvSpPr>
        <p:spPr>
          <a:xfrm>
            <a:off x="609600" y="274638"/>
            <a:ext cx="109728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5"/>
          <p:cNvSpPr/>
          <p:nvPr>
            <p:ph type="body" idx="1"/>
          </p:nvPr>
        </p:nvSpPr>
        <p:spPr>
          <a:xfrm>
            <a:off x="609600" y="1600200"/>
            <a:ext cx="109728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0" name="Rectangle 6"/>
          <p:cNvSpPr>
            <a:spLocks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1" name="Rectangle 7"/>
          <p:cNvSpPr>
            <a:spLocks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2" name="Rectangle 8"/>
          <p:cNvSpPr>
            <a:spLocks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ppt_x</p:attrName>
                                        </p:attrNameLst>
                                      </p:cBhvr>
                                      <p:tavLst>
                                        <p:tav tm="0">
                                          <p:val>
                                            <p:strVal val="#ppt_x-.2"/>
                                          </p:val>
                                        </p:tav>
                                        <p:tav tm="100000">
                                          <p:val>
                                            <p:strVal val="#ppt_x"/>
                                          </p:val>
                                        </p:tav>
                                      </p:tavLst>
                                    </p:anim>
                                    <p:anim calcmode="lin" valueType="num">
                                      <p:cBhvr>
                                        <p:cTn id="8" dur="1000" fill="hold"/>
                                        <p:tgtEl>
                                          <p:spTgt spid="102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2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1028"/>
                                        </p:tgtEl>
                                        <p:attrNameLst>
                                          <p:attrName>style.visibility</p:attrName>
                                        </p:attrNameLst>
                                      </p:cBhvr>
                                      <p:to>
                                        <p:strVal val="visible"/>
                                      </p:to>
                                    </p:set>
                                    <p:anim calcmode="lin" valueType="num">
                                      <p:cBhvr>
                                        <p:cTn id="12" dur="1000" fill="hold"/>
                                        <p:tgtEl>
                                          <p:spTgt spid="1028"/>
                                        </p:tgtEl>
                                        <p:attrNameLst>
                                          <p:attrName>ppt_x</p:attrName>
                                        </p:attrNameLst>
                                      </p:cBhvr>
                                      <p:tavLst>
                                        <p:tav tm="0">
                                          <p:val>
                                            <p:strVal val="#ppt_x-.2"/>
                                          </p:val>
                                        </p:tav>
                                        <p:tav tm="100000">
                                          <p:val>
                                            <p:strVal val="#ppt_x"/>
                                          </p:val>
                                        </p:tav>
                                      </p:tavLst>
                                    </p:anim>
                                    <p:anim calcmode="lin" valueType="num">
                                      <p:cBhvr>
                                        <p:cTn id="13" dur="1000" fill="hold"/>
                                        <p:tgtEl>
                                          <p:spTgt spid="102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ldLvl="0" animBg="1"/>
      <p:bldP spid="1028" grpId="0" bldLvl="0"/>
    </p:bldLst>
  </p:timing>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sz="5400" b="1"/>
              <a:t>E-safety and health and safety</a:t>
            </a:r>
            <a:r>
              <a:rPr lang="en-US"/>
              <a:t> </a:t>
            </a:r>
            <a:endParaRPr lang="en-US"/>
          </a:p>
        </p:txBody>
      </p:sp>
      <p:sp>
        <p:nvSpPr>
          <p:cNvPr id="3" name="Subtitle 2"/>
          <p:cNvSpPr>
            <a:spLocks noGrp="1"/>
          </p:cNvSpPr>
          <p:nvPr>
            <p:ph type="subTitle" idx="1"/>
          </p:nvPr>
        </p:nvSpPr>
        <p:spPr>
          <a:xfrm>
            <a:off x="448945" y="1993900"/>
            <a:ext cx="11215370" cy="4474845"/>
          </a:xfrm>
        </p:spPr>
        <p:txBody>
          <a:bodyPr/>
          <a:p>
            <a:pPr algn="just"/>
            <a:r>
              <a:rPr lang="en-US" b="1">
                <a:solidFill>
                  <a:srgbClr val="FF0000"/>
                </a:solidFill>
              </a:rPr>
              <a:t>INTRODUCTION</a:t>
            </a:r>
            <a:endParaRPr lang="en-US" b="1">
              <a:solidFill>
                <a:srgbClr val="FF0000"/>
              </a:solidFill>
            </a:endParaRPr>
          </a:p>
          <a:p>
            <a:pPr algn="just"/>
            <a:r>
              <a:rPr lang="en-US"/>
              <a:t>The use of IT is increasing all the time, making awareness of e-safety and health and safety vitally important. E-safety is concerned with protecti ng personal data to avoid on line exploitation either by bullying or identity theft. It is also associated with protecting software against malware issues. Health and safety is concerned with protecting bot h the person using the IT from physical harm, and prot ecting the computer itself.</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US">
                <a:sym typeface="+mn-ea"/>
              </a:rPr>
              <a:t> E-safety</a:t>
            </a:r>
            <a:br>
              <a:rPr lang="en-US"/>
            </a:br>
            <a:endParaRPr lang="en-US"/>
          </a:p>
        </p:txBody>
      </p:sp>
      <p:sp>
        <p:nvSpPr>
          <p:cNvPr id="3" name="Content Placeholder 2"/>
          <p:cNvSpPr>
            <a:spLocks noGrp="1"/>
          </p:cNvSpPr>
          <p:nvPr>
            <p:ph idx="1"/>
          </p:nvPr>
        </p:nvSpPr>
        <p:spPr/>
        <p:txBody>
          <a:bodyPr/>
          <a:p>
            <a:pPr marL="0" indent="0">
              <a:buNone/>
            </a:pPr>
            <a:r>
              <a:rPr lang="en-US" b="1" u="sng">
                <a:solidFill>
                  <a:srgbClr val="FF0000"/>
                </a:solidFill>
              </a:rPr>
              <a:t>Key terms</a:t>
            </a:r>
            <a:endParaRPr lang="en-US" u="sng"/>
          </a:p>
          <a:p>
            <a:r>
              <a:rPr lang="en-US" b="1">
                <a:gradFill>
                  <a:gsLst>
                    <a:gs pos="0">
                      <a:srgbClr val="007BD3"/>
                    </a:gs>
                    <a:gs pos="100000">
                      <a:srgbClr val="034373"/>
                    </a:gs>
                  </a:gsLst>
                  <a:lin scaled="0"/>
                </a:gradFill>
              </a:rPr>
              <a:t>Confidential : </a:t>
            </a:r>
            <a:r>
              <a:rPr lang="en-US"/>
              <a:t>needs to be kept secret</a:t>
            </a:r>
            <a:endParaRPr lang="en-US"/>
          </a:p>
          <a:p>
            <a:r>
              <a:rPr lang="en-US" b="1">
                <a:solidFill>
                  <a:schemeClr val="accent2">
                    <a:lumMod val="60000"/>
                    <a:lumOff val="40000"/>
                  </a:schemeClr>
                </a:solidFill>
              </a:rPr>
              <a:t>Legitimate:</a:t>
            </a:r>
            <a:r>
              <a:rPr lang="en-US"/>
              <a:t> genuine and a real document</a:t>
            </a:r>
            <a:endParaRPr lang="en-US"/>
          </a:p>
          <a:p>
            <a:r>
              <a:rPr lang="en-US" b="1">
                <a:solidFill>
                  <a:srgbClr val="C00000"/>
                </a:solidFill>
              </a:rPr>
              <a:t>Malicious code:</a:t>
            </a:r>
            <a:r>
              <a:rPr lang="en-US"/>
              <a:t> code that is intended to harm a computer</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olidFill>
                  <a:schemeClr val="accent2">
                    <a:lumMod val="60000"/>
                    <a:lumOff val="40000"/>
                  </a:schemeClr>
                </a:solidFill>
              </a:rPr>
              <a:t>E-safety</a:t>
            </a:r>
            <a:endParaRPr lang="en-US" b="1">
              <a:solidFill>
                <a:schemeClr val="accent2">
                  <a:lumMod val="60000"/>
                  <a:lumOff val="40000"/>
                </a:schemeClr>
              </a:solidFill>
            </a:endParaRPr>
          </a:p>
        </p:txBody>
      </p:sp>
      <p:sp>
        <p:nvSpPr>
          <p:cNvPr id="3" name="Content Placeholder 2"/>
          <p:cNvSpPr>
            <a:spLocks noGrp="1"/>
          </p:cNvSpPr>
          <p:nvPr>
            <p:ph idx="1"/>
          </p:nvPr>
        </p:nvSpPr>
        <p:spPr/>
        <p:txBody>
          <a:bodyPr/>
          <a:p>
            <a:pPr marL="0" indent="0">
              <a:buNone/>
            </a:pPr>
            <a:r>
              <a:rPr lang="en-US"/>
              <a:t>There are ways that you can keep yourself safer online</a:t>
            </a:r>
            <a:endParaRPr lang="en-US"/>
          </a:p>
          <a:p>
            <a:pPr marL="0" indent="0">
              <a:buNone/>
            </a:pPr>
            <a:r>
              <a:rPr lang="en-US"/>
              <a:t>when using social networking sites, for example:</a:t>
            </a:r>
            <a:endParaRPr lang="en-US"/>
          </a:p>
          <a:p>
            <a:r>
              <a:rPr lang="en-US"/>
              <a:t>If another person posts anything abusive about you</a:t>
            </a:r>
            <a:endParaRPr lang="en-US"/>
          </a:p>
          <a:p>
            <a:pPr marL="0" indent="0" algn="just">
              <a:buNone/>
            </a:pPr>
            <a:r>
              <a:rPr lang="en-US"/>
              <a:t>online, you can report this behaviour and they could</a:t>
            </a:r>
            <a:endParaRPr lang="en-US"/>
          </a:p>
          <a:p>
            <a:pPr marL="0" indent="0">
              <a:buNone/>
            </a:pPr>
            <a:r>
              <a:rPr lang="en-US"/>
              <a:t>face criminal prosecution. Similarly, if you post anything</a:t>
            </a:r>
            <a:endParaRPr lang="en-US"/>
          </a:p>
          <a:p>
            <a:pPr marL="0" indent="0">
              <a:buNone/>
            </a:pPr>
            <a:r>
              <a:rPr lang="en-US"/>
              <a:t>online that is abusive about another person you could face criminal proceedings. Even if the abuse is from an</a:t>
            </a:r>
            <a:endParaRPr lang="en-US"/>
          </a:p>
          <a:p>
            <a:pPr marL="0" indent="0" algn="just">
              <a:buNone/>
            </a:pPr>
            <a:r>
              <a:rPr lang="en-US"/>
              <a:t>anonymous source, it is easy to trace from where the</a:t>
            </a:r>
            <a:endParaRPr lang="en-US"/>
          </a:p>
          <a:p>
            <a:pPr marL="0" indent="0">
              <a:buNone/>
            </a:pPr>
            <a:r>
              <a:rPr lang="en-US"/>
              <a:t>messages or images have been sent. </a:t>
            </a:r>
            <a:endParaRPr lang="en-US"/>
          </a:p>
          <a:p>
            <a:pPr marL="0" indent="0">
              <a:buNone/>
            </a:pP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E-Safety </a:t>
            </a:r>
            <a:endParaRPr lang="en-US"/>
          </a:p>
        </p:txBody>
      </p:sp>
      <p:sp>
        <p:nvSpPr>
          <p:cNvPr id="3" name="Content Placeholder 2"/>
          <p:cNvSpPr>
            <a:spLocks noGrp="1"/>
          </p:cNvSpPr>
          <p:nvPr>
            <p:ph idx="1"/>
          </p:nvPr>
        </p:nvSpPr>
        <p:spPr/>
        <p:txBody>
          <a:bodyPr/>
          <a:p>
            <a:pPr algn="just"/>
            <a:r>
              <a:rPr lang="en-US" sz="2400"/>
              <a:t>Make sure that the passwords you have set on your social networking accounts are strong. This means they should be unusual and contain a mixture of numbers, punctuation and letters (both lower case and capitals) if possible.If someone else posts something abusive using your account, it is difficult to prove that it was not you who did it. For this reason, make sure you sign out of your account when you are not using it. This will prevent a person picking up your phone or using your personal computer (PC) and gaining access to your account.</a:t>
            </a:r>
            <a:endParaRPr lang="en-US" sz="2400"/>
          </a:p>
          <a:p>
            <a:pPr algn="just"/>
            <a:r>
              <a:rPr lang="en-US" sz="2400"/>
              <a:t>Think twice before you post anything on line . Once you have posted it you cannot take it back again. Even if you delete it, the social networking site will still have record of it and will still own the data or image you have posted .</a:t>
            </a:r>
            <a:endParaRPr 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US" b="1">
                <a:sym typeface="+mn-ea"/>
              </a:rPr>
              <a:t>Phishing</a:t>
            </a:r>
            <a:br>
              <a:rPr lang="en-US" b="1"/>
            </a:br>
            <a:endParaRPr lang="en-US" b="1"/>
          </a:p>
        </p:txBody>
      </p:sp>
      <p:sp>
        <p:nvSpPr>
          <p:cNvPr id="3" name="Content Placeholder 2"/>
          <p:cNvSpPr>
            <a:spLocks noGrp="1"/>
          </p:cNvSpPr>
          <p:nvPr>
            <p:ph idx="1"/>
          </p:nvPr>
        </p:nvSpPr>
        <p:spPr/>
        <p:txBody>
          <a:bodyPr/>
          <a:p>
            <a:pPr marL="0" indent="0" algn="just">
              <a:buNone/>
            </a:pPr>
            <a:r>
              <a:rPr lang="en-US" sz="2000"/>
              <a:t>Phishing is when an unauthorised person attempts to gather personal data, such as passwords and credit card details, by disguising themselves as a trustworthy person or organisation. Phishing is normally carried out via electronic communication, such as email. The email will look legitimate and will normally encourage a person to click on a link in the email. When the link is clicked it will take the user to a website that will ask them for their personal details . </a:t>
            </a:r>
            <a:endParaRPr lang="en-US" sz="2000"/>
          </a:p>
          <a:p>
            <a:pPr marL="0" indent="0">
              <a:buNone/>
            </a:pPr>
            <a:endParaRPr lang="en-US" sz="2000"/>
          </a:p>
          <a:p>
            <a:pPr marL="0" indent="0" algn="just">
              <a:buNone/>
            </a:pPr>
            <a:r>
              <a:rPr lang="en-US" sz="2000"/>
              <a:t>This will be a fake website and the personal details will then be stolen and used in criminal act ivity. Phishing emails will usually contain text that will express the need for urgent attention to a matter, for example asking a user to cancel a subscription to a service or they will be charged, or to verify their identity to clear up a possible security attack on their account. Phishing can also be an email simply asking for banking details . </a:t>
            </a:r>
            <a:endParaRPr lang="en-US" sz="2000"/>
          </a:p>
          <a:p>
            <a:pPr marL="0" indent="0" algn="just">
              <a:buNone/>
            </a:pPr>
            <a:endParaRPr lang="en-US" sz="2000"/>
          </a:p>
          <a:p>
            <a:pPr marL="0" indent="0" algn="just">
              <a:buNone/>
            </a:pPr>
            <a:r>
              <a:rPr lang="en-US" sz="2000"/>
              <a:t>Phishing gets its name from the reference to fishing for a person's data using bait (the legitimate looking email). 'Ph' replaced the Tin reference to a name given to early hackers known as breaks. Phishing has been around since 1995, but it didn't become an issue until about ten years later.</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highlight>
                  <a:srgbClr val="FF0000"/>
                </a:highlight>
              </a:rPr>
              <a:t>Phishing</a:t>
            </a:r>
            <a:r>
              <a:rPr lang="en-US"/>
              <a:t> </a:t>
            </a:r>
            <a:endParaRPr lang="en-US"/>
          </a:p>
        </p:txBody>
      </p:sp>
      <p:sp>
        <p:nvSpPr>
          <p:cNvPr id="3" name="Content Placeholder 2"/>
          <p:cNvSpPr>
            <a:spLocks noGrp="1"/>
          </p:cNvSpPr>
          <p:nvPr>
            <p:ph idx="1"/>
          </p:nvPr>
        </p:nvSpPr>
        <p:spPr>
          <a:xfrm>
            <a:off x="116205" y="1600200"/>
            <a:ext cx="11800205" cy="5258435"/>
          </a:xfrm>
        </p:spPr>
        <p:txBody>
          <a:bodyPr/>
          <a:p>
            <a:pPr marL="0" indent="0">
              <a:buNone/>
            </a:pPr>
            <a:r>
              <a:rPr lang="en-US" sz="2400"/>
              <a:t>There are measures that can be taken to protect against phishing:</a:t>
            </a:r>
            <a:endParaRPr lang="en-US" sz="2400"/>
          </a:p>
          <a:p>
            <a:r>
              <a:rPr lang="en-US" sz="2800"/>
              <a:t>Users should make sure that they are cautious when clicking any links in an email.</a:t>
            </a:r>
            <a:endParaRPr lang="en-US" sz="2800"/>
          </a:p>
          <a:p>
            <a:r>
              <a:rPr lang="en-US" sz="2800"/>
              <a:t>Users should question whether they know the sender of the email and only open links from known senders.</a:t>
            </a:r>
            <a:endParaRPr lang="en-US" sz="2800"/>
          </a:p>
          <a:p>
            <a:pPr algn="just"/>
            <a:r>
              <a:rPr lang="en-US" sz="2800"/>
              <a:t>Users should check the URL that they are being linked to, to see if it is legitimate . This can be don e by hovering over the link and looking to see if the address is the real address of the site, for example www .paypal.com would be legitimate but www .paipal.com would be identified as fake because of the spelling mistake. Anot her thing that should raise suspicion is any spelling or grammatical errors in the email content. </a:t>
            </a:r>
            <a:endParaRPr lang="en-US"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highlight>
                  <a:srgbClr val="FFFF00"/>
                </a:highlight>
                <a:sym typeface="+mn-ea"/>
              </a:rPr>
              <a:t>Pharming</a:t>
            </a:r>
            <a:br>
              <a:rPr lang="en-US"/>
            </a:br>
            <a:endParaRPr lang="en-US"/>
          </a:p>
        </p:txBody>
      </p:sp>
      <p:sp>
        <p:nvSpPr>
          <p:cNvPr id="3" name="Content Placeholder 2"/>
          <p:cNvSpPr>
            <a:spLocks noGrp="1"/>
          </p:cNvSpPr>
          <p:nvPr>
            <p:ph idx="1"/>
          </p:nvPr>
        </p:nvSpPr>
        <p:spPr>
          <a:xfrm>
            <a:off x="609600" y="1600200"/>
            <a:ext cx="11306810" cy="4526280"/>
          </a:xfrm>
        </p:spPr>
        <p:txBody>
          <a:bodyPr/>
          <a:p>
            <a:pPr marL="0" indent="0">
              <a:buNone/>
            </a:pPr>
            <a:r>
              <a:rPr lang="en-US" sz="2800"/>
              <a:t>Pharming is another method of collecting personal data.A hacker will install malicious code onto a person’s computer server. When a user types in a web address they will be redirected to a fraudulent, but legitimatelooking. replica a website, without their consent.</a:t>
            </a:r>
            <a:endParaRPr lang="en-US" sz="2800"/>
          </a:p>
          <a:p>
            <a:pPr marL="0" indent="0" algn="just">
              <a:buNone/>
            </a:pPr>
            <a:r>
              <a:rPr lang="en-US" sz="2800"/>
              <a:t>The user will continue using the website as they normally would, unaware of the redirection, and enter their personal detai ls that will then be stolen. A particularly big case of pharming occur red in 2004, when a German teenager hijacked eBay's domain and redirected thousands of eBay users to a fraudulent site. </a:t>
            </a:r>
            <a:endParaRPr lang="en-US" sz="2800"/>
          </a:p>
          <a:p>
            <a:pPr marL="0" indent="0" algn="just">
              <a:buNone/>
            </a:pPr>
            <a:endParaRPr lang="en-US"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Pharming </a:t>
            </a:r>
            <a:endParaRPr lang="en-US"/>
          </a:p>
        </p:txBody>
      </p:sp>
      <p:sp>
        <p:nvSpPr>
          <p:cNvPr id="3" name="Content Placeholder 2"/>
          <p:cNvSpPr>
            <a:spLocks noGrp="1"/>
          </p:cNvSpPr>
          <p:nvPr>
            <p:ph idx="1"/>
          </p:nvPr>
        </p:nvSpPr>
        <p:spPr>
          <a:xfrm>
            <a:off x="609600" y="1600200"/>
            <a:ext cx="10972800" cy="5257165"/>
          </a:xfrm>
        </p:spPr>
        <p:txBody>
          <a:bodyPr/>
          <a:p>
            <a:pPr marL="0" indent="0">
              <a:buNone/>
            </a:pPr>
            <a:r>
              <a:rPr lang="en-US" sz="2800"/>
              <a:t>There are measu res that can be taken to protect agains t</a:t>
            </a:r>
            <a:endParaRPr lang="en-US" sz="2800"/>
          </a:p>
          <a:p>
            <a:pPr marL="0" indent="0">
              <a:buNone/>
            </a:pPr>
            <a:r>
              <a:rPr lang="en-US" sz="2800"/>
              <a:t>pharming :</a:t>
            </a:r>
            <a:endParaRPr lang="en-US" sz="2800"/>
          </a:p>
          <a:p>
            <a:r>
              <a:rPr lang="en-US" sz="2800"/>
              <a:t>Users should check if the website looks the same as when they last visited it.</a:t>
            </a:r>
            <a:endParaRPr lang="en-US" sz="2800"/>
          </a:p>
          <a:p>
            <a:endParaRPr lang="en-US" sz="2800"/>
          </a:p>
          <a:p>
            <a:r>
              <a:rPr lang="en-US" sz="2800"/>
              <a:t>Users should look for the padloc k security symbol used to signify the HTTPS, showing that the website is secure, before entering any personal and financial details.</a:t>
            </a:r>
            <a:endParaRPr lang="en-US" sz="2800"/>
          </a:p>
          <a:p>
            <a:endParaRPr lang="en-US" sz="2800"/>
          </a:p>
          <a:p>
            <a:r>
              <a:rPr lang="en-US" sz="2800"/>
              <a:t>Users should run regular scans of their computer with anti-virus software that is designed to detect pharming programs.</a:t>
            </a:r>
            <a:endParaRPr lang="en-US" sz="2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chemeClr val="bg1"/>
                </a:solidFill>
                <a:highlight>
                  <a:srgbClr val="000080"/>
                </a:highlight>
              </a:rPr>
              <a:t>Smishing</a:t>
            </a:r>
            <a:r>
              <a:rPr lang="en-US">
                <a:solidFill>
                  <a:srgbClr val="00B050"/>
                </a:solidFill>
                <a:highlight>
                  <a:srgbClr val="000080"/>
                </a:highlight>
              </a:rPr>
              <a:t> </a:t>
            </a:r>
            <a:endParaRPr lang="en-US">
              <a:solidFill>
                <a:srgbClr val="00B050"/>
              </a:solidFill>
              <a:highlight>
                <a:srgbClr val="000080"/>
              </a:highlight>
            </a:endParaRPr>
          </a:p>
        </p:txBody>
      </p:sp>
      <p:sp>
        <p:nvSpPr>
          <p:cNvPr id="3" name="Content Placeholder 2"/>
          <p:cNvSpPr>
            <a:spLocks noGrp="1"/>
          </p:cNvSpPr>
          <p:nvPr>
            <p:ph idx="1"/>
          </p:nvPr>
        </p:nvSpPr>
        <p:spPr/>
        <p:txBody>
          <a:bodyPr/>
          <a:p>
            <a:pPr marL="0" indent="0" algn="just">
              <a:buNone/>
            </a:pPr>
            <a:r>
              <a:rPr lang="en-US"/>
              <a:t>Smishing is short fo r SMS phishing. It is similar to phishing, but it is carried out using SMS text messaging rather than email. An SMS tex t message is sent to a user th at will ask them to telephone a numbe r or click on a link.</a:t>
            </a:r>
            <a:endParaRPr lang="en-US"/>
          </a:p>
          <a:p>
            <a:pPr marL="0" indent="0" algn="just">
              <a:buNone/>
            </a:pPr>
            <a:r>
              <a:rPr lang="en-US"/>
              <a:t>Smishing will often ent ice a user into te lephoning a number or clicking the link by advising them of a profitable gain they will receive if they do so, for example a voucher or a gift card th at will give th em money off a product or service</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Smishing</a:t>
            </a:r>
            <a:endParaRPr lang="en-US"/>
          </a:p>
        </p:txBody>
      </p:sp>
      <p:sp>
        <p:nvSpPr>
          <p:cNvPr id="3" name="Content Placeholder 2"/>
          <p:cNvSpPr>
            <a:spLocks noGrp="1"/>
          </p:cNvSpPr>
          <p:nvPr>
            <p:ph idx="1"/>
          </p:nvPr>
        </p:nvSpPr>
        <p:spPr>
          <a:xfrm>
            <a:off x="609600" y="1417955"/>
            <a:ext cx="11242675" cy="4526280"/>
          </a:xfrm>
        </p:spPr>
        <p:txBody>
          <a:bodyPr/>
          <a:p>
            <a:pPr marL="0" indent="0">
              <a:buNone/>
            </a:pPr>
            <a:r>
              <a:rPr lang="en-US" sz="2600"/>
              <a:t>There are measures that can be taken to protect against smishing:</a:t>
            </a:r>
            <a:endParaRPr lang="en-US" sz="2600"/>
          </a:p>
          <a:p>
            <a:pPr marL="0" indent="0">
              <a:buNone/>
            </a:pPr>
            <a:r>
              <a:rPr lang="en-US" sz="2600"/>
              <a:t>•  Users should be very cautious in telephoning any numbers they are sent  </a:t>
            </a:r>
            <a:endParaRPr lang="en-US" sz="2600"/>
          </a:p>
          <a:p>
            <a:pPr marL="0" indent="0">
              <a:buNone/>
            </a:pPr>
            <a:r>
              <a:rPr lang="en-US" sz="2600"/>
              <a:t>   in an SMS message.</a:t>
            </a:r>
            <a:endParaRPr lang="en-US" sz="2600"/>
          </a:p>
          <a:p>
            <a:pPr marL="0" indent="0">
              <a:buNone/>
            </a:pPr>
            <a:r>
              <a:rPr lang="en-US" sz="2600"/>
              <a:t>•  Users should be very cautious when clicking on any links in messages.</a:t>
            </a:r>
            <a:endParaRPr lang="en-US" sz="2600"/>
          </a:p>
          <a:p>
            <a:r>
              <a:rPr lang="en-US" sz="2600"/>
              <a:t>Users should not install any applications from senders they do not know .</a:t>
            </a:r>
            <a:endParaRPr lang="en-US" sz="2600"/>
          </a:p>
          <a:p>
            <a:r>
              <a:rPr lang="en-US" sz="2600"/>
              <a:t>If a user receives a suspicious message from someone they do know, they should check with the person that they have actually sent that message.</a:t>
            </a:r>
            <a:endParaRPr lang="en-US" sz="2600"/>
          </a:p>
          <a:p>
            <a:r>
              <a:rPr lang="en-US" sz="2600"/>
              <a:t>Users should be wary of numbers that do not look like usual mobile numbers, such as '5000'. Users can add security softwa re to the ir mobile to help detect any malwa re. </a:t>
            </a:r>
            <a:endParaRPr lang="en-US" sz="2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Smishing</a:t>
            </a:r>
            <a:endParaRPr lang="en-US"/>
          </a:p>
        </p:txBody>
      </p:sp>
      <p:pic>
        <p:nvPicPr>
          <p:cNvPr id="4" name="Content Placeholder 3"/>
          <p:cNvPicPr>
            <a:picLocks noChangeAspect="1"/>
          </p:cNvPicPr>
          <p:nvPr>
            <p:ph idx="1"/>
          </p:nvPr>
        </p:nvPicPr>
        <p:blipFill>
          <a:blip r:embed="rId1"/>
          <a:stretch>
            <a:fillRect/>
          </a:stretch>
        </p:blipFill>
        <p:spPr>
          <a:xfrm>
            <a:off x="2610485" y="1417955"/>
            <a:ext cx="8277225" cy="50939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66090"/>
            <a:ext cx="10972800" cy="824865"/>
          </a:xfrm>
        </p:spPr>
        <p:txBody>
          <a:bodyPr/>
          <a:p>
            <a:r>
              <a:rPr lang="en-US" sz="5400">
                <a:solidFill>
                  <a:schemeClr val="bg1"/>
                </a:solidFill>
                <a:highlight>
                  <a:srgbClr val="800080"/>
                </a:highlight>
                <a:sym typeface="+mn-ea"/>
              </a:rPr>
              <a:t>Vishing</a:t>
            </a:r>
            <a:br>
              <a:rPr lang="en-US"/>
            </a:br>
            <a:endParaRPr lang="en-US"/>
          </a:p>
        </p:txBody>
      </p:sp>
      <p:sp>
        <p:nvSpPr>
          <p:cNvPr id="3" name="Content Placeholder 2"/>
          <p:cNvSpPr>
            <a:spLocks noGrp="1"/>
          </p:cNvSpPr>
          <p:nvPr>
            <p:ph idx="1"/>
          </p:nvPr>
        </p:nvSpPr>
        <p:spPr/>
        <p:txBody>
          <a:bodyPr/>
          <a:p>
            <a:pPr marL="0" indent="0" algn="just">
              <a:buNone/>
            </a:pPr>
            <a:r>
              <a:rPr lang="en-US" sz="2400"/>
              <a:t>Vishing is short for voice phishing. It is the act of using a telephone call to try and scam a user into giving their personal data. The scammer will usually pretend that they are a legitimate business calling the person.</a:t>
            </a:r>
            <a:endParaRPr lang="en-US" sz="2400"/>
          </a:p>
          <a:p>
            <a:pPr marL="0" indent="0" algn="just">
              <a:buNone/>
            </a:pPr>
            <a:endParaRPr lang="en-US" sz="2400"/>
          </a:p>
          <a:p>
            <a:pPr marL="0" indent="0" algn="just">
              <a:buNone/>
            </a:pPr>
            <a:r>
              <a:rPr lang="en-US" sz="2400"/>
              <a:t>The person who is vishing will either say they are alerting the victim to an issue with their account, or advertizing the victim of a profitable gain. They will often ask the victim subtle questions to get the personal data they want. One tactic vishers will som etimes resort to, is that when the victim become a little suspicious and want s to call their bank to check if the call is legitimate, the scammer will not hang up when the victim tries to call their bank. </a:t>
            </a:r>
            <a:endParaRPr lang="en-US" sz="2400"/>
          </a:p>
          <a:p>
            <a:pPr marL="0" indent="0" algn="just">
              <a:buNone/>
            </a:pPr>
            <a:endParaRPr lang="en-US" sz="2400"/>
          </a:p>
          <a:p>
            <a:pPr marL="0" indent="0" algn="just">
              <a:buNone/>
            </a:pPr>
            <a:r>
              <a:rPr lang="en-US" sz="2400"/>
              <a:t>The victim will the n pick up the telephone to call their bank, but the line is act ually still being held by the scammer. The victim thinks they have called their bank, but it is still th e scammer, and the victim gives t hem their personal details , thinking they are giving them to t heir bank.Unfort unately, it is often the elderly and the vulnerable that are targeted for vishing. </a:t>
            </a:r>
            <a:endParaRPr lang="en-US" sz="2400"/>
          </a:p>
          <a:p>
            <a:pPr marL="0" indent="0" algn="just">
              <a:buNone/>
            </a:pPr>
            <a:endParaRPr 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Vishing</a:t>
            </a:r>
            <a:endParaRPr lang="en-US"/>
          </a:p>
        </p:txBody>
      </p:sp>
      <p:sp>
        <p:nvSpPr>
          <p:cNvPr id="3" name="Content Placeholder 2"/>
          <p:cNvSpPr>
            <a:spLocks noGrp="1"/>
          </p:cNvSpPr>
          <p:nvPr>
            <p:ph idx="1"/>
          </p:nvPr>
        </p:nvSpPr>
        <p:spPr>
          <a:xfrm>
            <a:off x="609600" y="1600200"/>
            <a:ext cx="11306810" cy="4526280"/>
          </a:xfrm>
        </p:spPr>
        <p:txBody>
          <a:bodyPr/>
          <a:p>
            <a:pPr marL="0" indent="0">
              <a:buNone/>
            </a:pPr>
            <a:r>
              <a:rPr lang="en-US" sz="3000"/>
              <a:t>There are measures t hat can be ta ken to protect against</a:t>
            </a:r>
            <a:endParaRPr lang="en-US" sz="3000"/>
          </a:p>
          <a:p>
            <a:pPr marL="0" indent="0">
              <a:buNone/>
            </a:pPr>
            <a:r>
              <a:rPr lang="en-US" sz="3000"/>
              <a:t>vishing:</a:t>
            </a:r>
            <a:endParaRPr lang="en-US" sz="3000"/>
          </a:p>
          <a:p>
            <a:r>
              <a:rPr lang="en-US" sz="3000"/>
              <a:t>People should exercise caution when any institution contacts them, especially when they ask for personal</a:t>
            </a:r>
            <a:endParaRPr lang="en-US" sz="3000"/>
          </a:p>
          <a:p>
            <a:pPr marL="0" indent="0">
              <a:buNone/>
            </a:pPr>
            <a:r>
              <a:rPr lang="en-US" sz="3000"/>
              <a:t>   details. If in doubt hang up and call them back on a number that </a:t>
            </a:r>
            <a:endParaRPr lang="en-US" sz="3000"/>
          </a:p>
          <a:p>
            <a:pPr marL="0" indent="0">
              <a:buNone/>
            </a:pPr>
            <a:r>
              <a:rPr lang="en-US" sz="3000"/>
              <a:t>   is known.</a:t>
            </a:r>
            <a:endParaRPr lang="en-US" sz="3000"/>
          </a:p>
          <a:p>
            <a:r>
              <a:rPr lang="en-US" sz="3000"/>
              <a:t>People should never give out any personal details regarding a security issue w ith their account. A bank will prevent any kind of attack on an account without need ing assistance from the account holder. </a:t>
            </a:r>
            <a:endParaRPr lang="en-US" sz="3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chemeClr val="bg1"/>
                </a:solidFill>
                <a:highlight>
                  <a:srgbClr val="FF00FF"/>
                </a:highlight>
                <a:sym typeface="+mn-ea"/>
              </a:rPr>
              <a:t>Malware</a:t>
            </a:r>
            <a:r>
              <a:rPr lang="en-US">
                <a:sym typeface="+mn-ea"/>
              </a:rPr>
              <a:t> </a:t>
            </a:r>
            <a:endParaRPr lang="en-US"/>
          </a:p>
        </p:txBody>
      </p:sp>
      <p:sp>
        <p:nvSpPr>
          <p:cNvPr id="3" name="Content Placeholder 2"/>
          <p:cNvSpPr>
            <a:spLocks noGrp="1"/>
          </p:cNvSpPr>
          <p:nvPr>
            <p:ph idx="1"/>
          </p:nvPr>
        </p:nvSpPr>
        <p:spPr/>
        <p:txBody>
          <a:bodyPr/>
          <a:p>
            <a:pPr marL="0" indent="0">
              <a:buNone/>
            </a:pPr>
            <a:r>
              <a:rPr lang="en-US"/>
              <a:t>Malware is a computer program that is designed to damage or disrupt a computer system and the files that are stored on it. Malware can take many forms and we are going to look at a number of them.</a:t>
            </a:r>
            <a:endParaRPr lang="en-US"/>
          </a:p>
          <a:p>
            <a:pPr marL="0" indent="0">
              <a:buNone/>
            </a:pPr>
            <a:r>
              <a:rPr lang="en-US" b="1">
                <a:gradFill>
                  <a:gsLst>
                    <a:gs pos="0">
                      <a:srgbClr val="FE4444"/>
                    </a:gs>
                    <a:gs pos="100000">
                      <a:srgbClr val="832B2B"/>
                    </a:gs>
                  </a:gsLst>
                  <a:lin scaled="0"/>
                </a:gradFill>
              </a:rPr>
              <a:t>Trojan horse</a:t>
            </a:r>
            <a:endParaRPr lang="en-US" b="1">
              <a:gradFill>
                <a:gsLst>
                  <a:gs pos="0">
                    <a:srgbClr val="FE4444"/>
                  </a:gs>
                  <a:gs pos="100000">
                    <a:srgbClr val="832B2B"/>
                  </a:gs>
                </a:gsLst>
                <a:lin scaled="0"/>
              </a:gradFill>
            </a:endParaRPr>
          </a:p>
          <a:p>
            <a:pPr marL="0" indent="0" algn="just">
              <a:buNone/>
            </a:pPr>
            <a:r>
              <a:rPr lang="en-US"/>
              <a:t>A Trojan horse is a malicious computer program that disguises it self as another application. such as a game or a utility program. When the application is run, the Trojan horse will act as a computer virus would. deleting and</a:t>
            </a:r>
            <a:endParaRPr lang="en-US"/>
          </a:p>
          <a:p>
            <a:pPr marL="0" indent="0">
              <a:buNone/>
            </a:pPr>
            <a:r>
              <a:rPr lang="en-US"/>
              <a:t>corrupting files in the compute, system.</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599440"/>
            <a:ext cx="10972800" cy="521970"/>
          </a:xfrm>
        </p:spPr>
        <p:txBody>
          <a:bodyPr/>
          <a:p>
            <a:pPr algn="l"/>
            <a:r>
              <a:rPr lang="en-US" sz="3200" b="1">
                <a:gradFill>
                  <a:gsLst>
                    <a:gs pos="0">
                      <a:srgbClr val="FE4444"/>
                    </a:gs>
                    <a:gs pos="100000">
                      <a:srgbClr val="832B2B"/>
                    </a:gs>
                  </a:gsLst>
                  <a:lin scaled="0"/>
                </a:gradFill>
                <a:sym typeface="+mn-ea"/>
              </a:rPr>
              <a:t>Worms</a:t>
            </a:r>
            <a:br>
              <a:rPr lang="en-US">
                <a:gradFill>
                  <a:gsLst>
                    <a:gs pos="0">
                      <a:srgbClr val="FE4444"/>
                    </a:gs>
                    <a:gs pos="100000">
                      <a:srgbClr val="832B2B"/>
                    </a:gs>
                  </a:gsLst>
                  <a:lin scaled="0"/>
                </a:gradFill>
              </a:rPr>
            </a:br>
            <a:endParaRPr lang="en-US">
              <a:gradFill>
                <a:gsLst>
                  <a:gs pos="0">
                    <a:srgbClr val="FE4444"/>
                  </a:gs>
                  <a:gs pos="100000">
                    <a:srgbClr val="832B2B"/>
                  </a:gs>
                </a:gsLst>
                <a:lin scaled="0"/>
              </a:gradFill>
            </a:endParaRPr>
          </a:p>
        </p:txBody>
      </p:sp>
      <p:sp>
        <p:nvSpPr>
          <p:cNvPr id="3" name="Content Placeholder 2"/>
          <p:cNvSpPr>
            <a:spLocks noGrp="1"/>
          </p:cNvSpPr>
          <p:nvPr>
            <p:ph idx="1"/>
          </p:nvPr>
        </p:nvSpPr>
        <p:spPr>
          <a:xfrm>
            <a:off x="609600" y="930275"/>
            <a:ext cx="10972800" cy="4525963"/>
          </a:xfrm>
        </p:spPr>
        <p:txBody>
          <a:bodyPr/>
          <a:p>
            <a:pPr marL="0" indent="0">
              <a:buNone/>
            </a:pPr>
            <a:r>
              <a:rPr lang="en-US" sz="2400"/>
              <a:t>A computer worm is a small computer program that uses computer networks and finds security holes to replicate itself. They can exploit a security hole in a piece of softw are or operating system. While replicating they will often clog up network bandwidth and can make things run slowly.</a:t>
            </a:r>
            <a:endParaRPr lang="en-US" sz="2400"/>
          </a:p>
          <a:p>
            <a:pPr marL="0" indent="0">
              <a:buNone/>
            </a:pPr>
            <a:endParaRPr lang="en-US" sz="2400" b="1">
              <a:gradFill>
                <a:gsLst>
                  <a:gs pos="0">
                    <a:srgbClr val="FE4444"/>
                  </a:gs>
                  <a:gs pos="100000">
                    <a:srgbClr val="832B2B"/>
                  </a:gs>
                </a:gsLst>
                <a:lin scaled="0"/>
              </a:gradFill>
            </a:endParaRPr>
          </a:p>
          <a:p>
            <a:pPr marL="0" indent="0">
              <a:buNone/>
            </a:pPr>
            <a:r>
              <a:rPr lang="en-US" sz="2400" b="1">
                <a:gradFill>
                  <a:gsLst>
                    <a:gs pos="0">
                      <a:srgbClr val="FE4444"/>
                    </a:gs>
                    <a:gs pos="100000">
                      <a:srgbClr val="832B2B"/>
                    </a:gs>
                  </a:gsLst>
                  <a:lin scaled="0"/>
                </a:gradFill>
              </a:rPr>
              <a:t>Spyware</a:t>
            </a:r>
            <a:endParaRPr lang="en-US" sz="2400" b="1">
              <a:gradFill>
                <a:gsLst>
                  <a:gs pos="0">
                    <a:srgbClr val="FE4444"/>
                  </a:gs>
                  <a:gs pos="100000">
                    <a:srgbClr val="832B2B"/>
                  </a:gs>
                </a:gsLst>
                <a:lin scaled="0"/>
              </a:gradFill>
            </a:endParaRPr>
          </a:p>
          <a:p>
            <a:pPr marL="0" indent="0">
              <a:buNone/>
            </a:pPr>
            <a:r>
              <a:rPr lang="en-US" sz="2400"/>
              <a:t>Spyware covers quit e a broad range of malware. The term refers to any technology that is used to gather data about a person without their knowledge. It is mos t commonly used to track the movements of people online. A common</a:t>
            </a:r>
            <a:endParaRPr lang="en-US" sz="2400"/>
          </a:p>
          <a:p>
            <a:pPr marL="0" indent="0" algn="just">
              <a:buNone/>
            </a:pPr>
            <a:r>
              <a:rPr lang="en-US" sz="2400"/>
              <a:t>type of spyware is a </a:t>
            </a:r>
            <a:r>
              <a:rPr lang="en-US" sz="2400" u="sng"/>
              <a:t>keylogger</a:t>
            </a:r>
            <a:r>
              <a:rPr lang="en-US" sz="2400"/>
              <a:t>. This is a piece of software that records the key presses from a keyboard and will allow the person who installed it to gather personal data about the victim.  </a:t>
            </a:r>
            <a:endParaRPr 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34340"/>
            <a:ext cx="10972800" cy="633095"/>
          </a:xfrm>
        </p:spPr>
        <p:txBody>
          <a:bodyPr/>
          <a:p>
            <a:pPr algn="l"/>
            <a:r>
              <a:rPr lang="en-US" sz="3200" b="1">
                <a:gradFill>
                  <a:gsLst>
                    <a:gs pos="0">
                      <a:srgbClr val="FE4444"/>
                    </a:gs>
                    <a:gs pos="100000">
                      <a:srgbClr val="832B2B"/>
                    </a:gs>
                  </a:gsLst>
                  <a:lin scaled="0"/>
                </a:gradFill>
                <a:sym typeface="+mn-ea"/>
              </a:rPr>
              <a:t>Adware</a:t>
            </a:r>
            <a:br>
              <a:rPr lang="en-US" sz="3200" b="1">
                <a:gradFill>
                  <a:gsLst>
                    <a:gs pos="0">
                      <a:srgbClr val="FE4444"/>
                    </a:gs>
                    <a:gs pos="100000">
                      <a:srgbClr val="832B2B"/>
                    </a:gs>
                  </a:gsLst>
                  <a:lin scaled="0"/>
                </a:gradFill>
              </a:rPr>
            </a:br>
            <a:endParaRPr lang="en-US" sz="3200" b="1">
              <a:gradFill>
                <a:gsLst>
                  <a:gs pos="0">
                    <a:srgbClr val="FE4444"/>
                  </a:gs>
                  <a:gs pos="100000">
                    <a:srgbClr val="832B2B"/>
                  </a:gs>
                </a:gsLst>
                <a:lin scaled="0"/>
              </a:gradFill>
            </a:endParaRPr>
          </a:p>
        </p:txBody>
      </p:sp>
      <p:sp>
        <p:nvSpPr>
          <p:cNvPr id="3" name="Content Placeholder 2"/>
          <p:cNvSpPr>
            <a:spLocks noGrp="1"/>
          </p:cNvSpPr>
          <p:nvPr>
            <p:ph idx="1"/>
          </p:nvPr>
        </p:nvSpPr>
        <p:spPr>
          <a:xfrm>
            <a:off x="513715" y="803275"/>
            <a:ext cx="10972800" cy="4525963"/>
          </a:xfrm>
        </p:spPr>
        <p:txBody>
          <a:bodyPr/>
          <a:p>
            <a:pPr marL="0" indent="0" algn="just">
              <a:buNone/>
            </a:pPr>
            <a:r>
              <a:rPr lang="en-US" sz="2400"/>
              <a:t>Adware is short for advertising-supported software . In its most basic form , it is simply a software program that is used to display adverts that are targeted at the user. It can analyse the websites the user visits and will target them with advertising of a similar nature. Many program developers will justify the inclusion of adware in their product by claiming that it will generate revenue for them keeping the cost of the product lower. </a:t>
            </a:r>
            <a:endParaRPr lang="en-US" sz="2400"/>
          </a:p>
          <a:p>
            <a:pPr marL="0" indent="0" algn="just">
              <a:buNone/>
            </a:pPr>
            <a:r>
              <a:rPr lang="en-US" sz="2800" b="1">
                <a:gradFill>
                  <a:gsLst>
                    <a:gs pos="0">
                      <a:srgbClr val="FE4444"/>
                    </a:gs>
                    <a:gs pos="100000">
                      <a:srgbClr val="832B2B"/>
                    </a:gs>
                  </a:gsLst>
                  <a:lin scaled="0"/>
                </a:gradFill>
              </a:rPr>
              <a:t>Rootkit</a:t>
            </a:r>
            <a:endParaRPr lang="en-US" sz="2800" b="1">
              <a:gradFill>
                <a:gsLst>
                  <a:gs pos="0">
                    <a:srgbClr val="FE4444"/>
                  </a:gs>
                  <a:gs pos="100000">
                    <a:srgbClr val="832B2B"/>
                  </a:gs>
                </a:gsLst>
                <a:lin scaled="0"/>
              </a:gradFill>
            </a:endParaRPr>
          </a:p>
          <a:p>
            <a:pPr marL="0" indent="0" algn="just">
              <a:buNone/>
            </a:pPr>
            <a:r>
              <a:rPr lang="en-US" sz="2400"/>
              <a:t>A rootk it is a computer program that enab les a person to gain adm inistrator access to a vic ti m's computer. It normal ly gets install ed because a victim's password is cracked. The person instal ling it can then use the access to stop the compute r recognising that the rootkit is there, so the victim will not know that someone else has complete access to their computer system. Other malware can then be concealed on the computer to cause harm . </a:t>
            </a:r>
            <a:endParaRPr lang="en-US"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66090"/>
            <a:ext cx="10972800" cy="570230"/>
          </a:xfrm>
        </p:spPr>
        <p:txBody>
          <a:bodyPr/>
          <a:p>
            <a:pPr algn="l"/>
            <a:r>
              <a:rPr lang="en-US" sz="3200" b="1">
                <a:gradFill>
                  <a:gsLst>
                    <a:gs pos="0">
                      <a:srgbClr val="FE4444"/>
                    </a:gs>
                    <a:gs pos="100000">
                      <a:srgbClr val="832B2B"/>
                    </a:gs>
                  </a:gsLst>
                  <a:lin scaled="0"/>
                </a:gradFill>
                <a:sym typeface="+mn-ea"/>
              </a:rPr>
              <a:t>Malicious bots</a:t>
            </a:r>
            <a:br>
              <a:rPr lang="en-US" sz="3200" b="1">
                <a:gradFill>
                  <a:gsLst>
                    <a:gs pos="0">
                      <a:srgbClr val="FE4444"/>
                    </a:gs>
                    <a:gs pos="100000">
                      <a:srgbClr val="832B2B"/>
                    </a:gs>
                  </a:gsLst>
                  <a:lin scaled="0"/>
                </a:gradFill>
              </a:rPr>
            </a:br>
            <a:endParaRPr lang="en-US" sz="3200" b="1">
              <a:gradFill>
                <a:gsLst>
                  <a:gs pos="0">
                    <a:srgbClr val="FE4444"/>
                  </a:gs>
                  <a:gs pos="100000">
                    <a:srgbClr val="832B2B"/>
                  </a:gs>
                </a:gsLst>
                <a:lin scaled="0"/>
              </a:gradFill>
            </a:endParaRPr>
          </a:p>
        </p:txBody>
      </p:sp>
      <p:sp>
        <p:nvSpPr>
          <p:cNvPr id="3" name="Content Placeholder 2"/>
          <p:cNvSpPr>
            <a:spLocks noGrp="1"/>
          </p:cNvSpPr>
          <p:nvPr>
            <p:ph idx="1"/>
          </p:nvPr>
        </p:nvSpPr>
        <p:spPr>
          <a:xfrm>
            <a:off x="609600" y="771525"/>
            <a:ext cx="10972800" cy="4525963"/>
          </a:xfrm>
        </p:spPr>
        <p:txBody>
          <a:bodyPr/>
          <a:p>
            <a:pPr marL="0" indent="0">
              <a:buNone/>
            </a:pPr>
            <a:r>
              <a:rPr lang="en-US" sz="2400"/>
              <a:t>A bot is an app licat ion that is automated and used to carry out simple and repetitive tasks . These are normally tasks that a hum an wo uld find mundan e and time -consuming. Bots can be used for very productive reasons, but they</a:t>
            </a:r>
            <a:endParaRPr lang="en-US" sz="2400"/>
          </a:p>
          <a:p>
            <a:pPr marL="0" indent="0">
              <a:buNone/>
            </a:pPr>
            <a:r>
              <a:rPr lang="en-US" sz="2400"/>
              <a:t>can also be used as a form of malware . Malicious bots are used by cyber criminals in a variety of ways:-</a:t>
            </a:r>
            <a:endParaRPr lang="en-US" sz="2400"/>
          </a:p>
          <a:p>
            <a:pPr marL="0" indent="0">
              <a:buNone/>
            </a:pPr>
            <a:endParaRPr lang="en-US" sz="2400"/>
          </a:p>
          <a:p>
            <a:r>
              <a:rPr lang="en-US" sz="2400"/>
              <a:t>SPAM bots are used to bombard peopl e's email in box with SPAM emails.</a:t>
            </a:r>
            <a:endParaRPr lang="en-US" sz="2400"/>
          </a:p>
          <a:p>
            <a:endParaRPr lang="en-US" sz="2400"/>
          </a:p>
          <a:p>
            <a:r>
              <a:rPr lang="en-US" sz="2400"/>
              <a:t>Zombie bots are used to create a bot network. The bot will lay dormant on a computer until an attack is launched. The computer will then be connected with lots of other computers that have been compromised by </a:t>
            </a:r>
            <a:r>
              <a:rPr lang="en-US" sz="2400" u="sng"/>
              <a:t>zombie bots </a:t>
            </a:r>
            <a:r>
              <a:rPr lang="en-US" sz="2400"/>
              <a:t>to launch a large-scale attack on an organisation.</a:t>
            </a:r>
            <a:endParaRPr lang="en-US" sz="2400"/>
          </a:p>
          <a:p>
            <a:endParaRPr lang="en-US" sz="2400"/>
          </a:p>
          <a:p>
            <a:pPr marL="0" indent="0">
              <a:buNone/>
            </a:pPr>
            <a:r>
              <a:rPr lang="en-US" sz="2400"/>
              <a:t>•   Chatter bot s will pretend to be humans on sites such as social networking </a:t>
            </a:r>
            <a:endParaRPr lang="en-US" sz="2400"/>
          </a:p>
          <a:p>
            <a:pPr marL="0" indent="0">
              <a:buNone/>
            </a:pPr>
            <a:r>
              <a:rPr lang="en-US" sz="2400"/>
              <a:t>     and dating sites. </a:t>
            </a:r>
            <a:endParaRPr 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02590"/>
            <a:ext cx="10972800" cy="696595"/>
          </a:xfrm>
        </p:spPr>
        <p:txBody>
          <a:bodyPr/>
          <a:p>
            <a:pPr algn="l"/>
            <a:r>
              <a:rPr lang="en-US" sz="2800" b="1">
                <a:gradFill>
                  <a:gsLst>
                    <a:gs pos="0">
                      <a:srgbClr val="FE4444"/>
                    </a:gs>
                    <a:gs pos="100000">
                      <a:srgbClr val="832B2B"/>
                    </a:gs>
                  </a:gsLst>
                  <a:lin scaled="0"/>
                </a:gradFill>
                <a:sym typeface="+mn-ea"/>
              </a:rPr>
              <a:t>Ransomware</a:t>
            </a:r>
            <a:br>
              <a:rPr lang="en-US" sz="2800" b="1">
                <a:gradFill>
                  <a:gsLst>
                    <a:gs pos="0">
                      <a:srgbClr val="FE4444"/>
                    </a:gs>
                    <a:gs pos="100000">
                      <a:srgbClr val="832B2B"/>
                    </a:gs>
                  </a:gsLst>
                  <a:lin scaled="0"/>
                </a:gradFill>
              </a:rPr>
            </a:br>
            <a:endParaRPr lang="en-US" sz="2800" b="1">
              <a:gradFill>
                <a:gsLst>
                  <a:gs pos="0">
                    <a:srgbClr val="FE4444"/>
                  </a:gs>
                  <a:gs pos="100000">
                    <a:srgbClr val="832B2B"/>
                  </a:gs>
                </a:gsLst>
                <a:lin scaled="0"/>
              </a:gradFill>
            </a:endParaRPr>
          </a:p>
        </p:txBody>
      </p:sp>
      <p:sp>
        <p:nvSpPr>
          <p:cNvPr id="3" name="Content Placeholder 2"/>
          <p:cNvSpPr>
            <a:spLocks noGrp="1"/>
          </p:cNvSpPr>
          <p:nvPr>
            <p:ph idx="1"/>
          </p:nvPr>
        </p:nvSpPr>
        <p:spPr>
          <a:xfrm>
            <a:off x="609600" y="1099185"/>
            <a:ext cx="10972800" cy="4525963"/>
          </a:xfrm>
        </p:spPr>
        <p:txBody>
          <a:bodyPr/>
          <a:p>
            <a:pPr marL="0" indent="0">
              <a:buNone/>
            </a:pPr>
            <a:r>
              <a:rPr lang="en-US" sz="2400"/>
              <a:t>Ransomware is a type of malwar e that restricts a user's access to their comput er system and files. The ransom ware will norm ally demand that the user pays</a:t>
            </a:r>
            <a:endParaRPr lang="en-US" sz="2400"/>
          </a:p>
          <a:p>
            <a:pPr marL="0" indent="0" algn="just">
              <a:buNone/>
            </a:pPr>
            <a:r>
              <a:rPr lang="en-US" sz="2400"/>
              <a:t>a ransom in order to regain access to their computer system.Some ransomware programs will completely lock a user's system and some will encrypt all of the files on their system in a way that renders them useless. Ransomware will normally try to enter a system in a similar way to a Trojan horse. </a:t>
            </a:r>
            <a:endParaRPr lang="en-US" sz="2400"/>
          </a:p>
          <a:p>
            <a:pPr marL="0" indent="0" algn="just">
              <a:buNone/>
            </a:pPr>
            <a:endParaRPr lang="en-US" sz="2400"/>
          </a:p>
          <a:p>
            <a:pPr marL="0" indent="0" algn="just">
              <a:buNone/>
            </a:pPr>
            <a:r>
              <a:rPr lang="en-US" sz="2400"/>
              <a:t>The message or ransom with wh ich the user is presented will often imitate a law enforcement agency. It will falsely claim that the system has been used for illegal activity and that a ransom must be paid to regain access to the system. </a:t>
            </a:r>
            <a:endParaRPr lang="en-US"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gradFill>
                  <a:gsLst>
                    <a:gs pos="0">
                      <a:srgbClr val="FE4444"/>
                    </a:gs>
                    <a:gs pos="100000">
                      <a:srgbClr val="832B2B"/>
                    </a:gs>
                  </a:gsLst>
                  <a:lin scaled="0"/>
                </a:gradFill>
              </a:rPr>
              <a:t>How can malware be avoided?</a:t>
            </a:r>
            <a:r>
              <a:rPr lang="en-US"/>
              <a:t> </a:t>
            </a:r>
            <a:endParaRPr lang="en-US"/>
          </a:p>
        </p:txBody>
      </p:sp>
      <p:sp>
        <p:nvSpPr>
          <p:cNvPr id="3" name="Content Placeholder 2"/>
          <p:cNvSpPr>
            <a:spLocks noGrp="1"/>
          </p:cNvSpPr>
          <p:nvPr>
            <p:ph idx="1"/>
          </p:nvPr>
        </p:nvSpPr>
        <p:spPr>
          <a:xfrm>
            <a:off x="609600" y="1600200"/>
            <a:ext cx="11466195" cy="4669790"/>
          </a:xfrm>
        </p:spPr>
        <p:txBody>
          <a:bodyPr/>
          <a:p>
            <a:pPr marL="0" indent="0">
              <a:buNone/>
            </a:pPr>
            <a:r>
              <a:rPr lang="en-US" sz="1800" i="1">
                <a:solidFill>
                  <a:schemeClr val="bg1"/>
                </a:solidFill>
                <a:highlight>
                  <a:srgbClr val="FF0000"/>
                </a:highlight>
              </a:rPr>
              <a:t>Remember</a:t>
            </a:r>
            <a:endParaRPr lang="en-US" sz="1800" i="1">
              <a:solidFill>
                <a:schemeClr val="bg1"/>
              </a:solidFill>
              <a:highlight>
                <a:srgbClr val="FF0000"/>
              </a:highlight>
            </a:endParaRPr>
          </a:p>
          <a:p>
            <a:pPr marL="0" indent="0">
              <a:buNone/>
            </a:pPr>
            <a:r>
              <a:rPr lang="en-US" sz="2400" i="1">
                <a:solidFill>
                  <a:schemeClr val="bg1"/>
                </a:solidFill>
                <a:highlight>
                  <a:srgbClr val="FF00FF"/>
                </a:highlight>
              </a:rPr>
              <a:t>Malware can be ver·y difficult to remove from a computer system. It can often take num erous scans from anti-v irus software, as well as the use of various malware removal programs, depending on the type of malw are infecting the system</a:t>
            </a:r>
            <a:endParaRPr lang="en-US" sz="2400" i="1">
              <a:solidFill>
                <a:schemeClr val="bg1"/>
              </a:solidFill>
              <a:highlight>
                <a:srgbClr val="FF00FF"/>
              </a:highlight>
            </a:endParaRPr>
          </a:p>
          <a:p>
            <a:r>
              <a:rPr lang="en-US" sz="2400">
                <a:solidFill>
                  <a:schemeClr val="tx1"/>
                </a:solidFill>
              </a:rPr>
              <a:t>A user should never open a program unless they know it is legitimate.</a:t>
            </a:r>
            <a:endParaRPr lang="en-US" sz="2400">
              <a:solidFill>
                <a:schemeClr val="tx1"/>
              </a:solidFill>
            </a:endParaRPr>
          </a:p>
          <a:p>
            <a:r>
              <a:rPr lang="en-US" sz="2400">
                <a:solidFill>
                  <a:schemeClr val="tx1"/>
                </a:solidFill>
              </a:rPr>
              <a:t>A user should have a firewall in place that is monitoring their internet traffic.</a:t>
            </a:r>
            <a:endParaRPr lang="en-US" sz="2400">
              <a:solidFill>
                <a:schemeClr val="tx1"/>
              </a:solidFill>
            </a:endParaRPr>
          </a:p>
          <a:p>
            <a:r>
              <a:rPr lang="en-US" sz="2400">
                <a:solidFill>
                  <a:schemeClr val="tx1"/>
                </a:solidFill>
              </a:rPr>
              <a:t>A user should regularly run an anti -virus check and malware detection   </a:t>
            </a:r>
            <a:endParaRPr lang="en-US" sz="2400">
              <a:solidFill>
                <a:schemeClr val="tx1"/>
              </a:solidFill>
            </a:endParaRPr>
          </a:p>
          <a:p>
            <a:pPr marL="0" indent="0">
              <a:buNone/>
            </a:pPr>
            <a:r>
              <a:rPr lang="en-US" sz="2400">
                <a:solidFill>
                  <a:schemeClr val="tx1"/>
                </a:solidFill>
              </a:rPr>
              <a:t>    software on the ir computer system, to detect the presence of any malware.   </a:t>
            </a:r>
            <a:endParaRPr lang="en-US" sz="2400">
              <a:solidFill>
                <a:schemeClr val="tx1"/>
              </a:solidFill>
            </a:endParaRPr>
          </a:p>
          <a:p>
            <a:pPr marL="0" indent="0">
              <a:buNone/>
            </a:pPr>
            <a:r>
              <a:rPr lang="en-US" sz="2400">
                <a:solidFill>
                  <a:schemeClr val="tx1"/>
                </a:solidFill>
              </a:rPr>
              <a:t>    Any anti-virus or malwa re detec tion program should be kept up to dat e in  </a:t>
            </a:r>
            <a:endParaRPr lang="en-US" sz="2400">
              <a:solidFill>
                <a:schemeClr val="tx1"/>
              </a:solidFill>
            </a:endParaRPr>
          </a:p>
          <a:p>
            <a:pPr marL="0" indent="0">
              <a:buNone/>
            </a:pPr>
            <a:r>
              <a:rPr lang="en-US" sz="2400">
                <a:solidFill>
                  <a:schemeClr val="tx1"/>
                </a:solidFill>
              </a:rPr>
              <a:t>    order to detect newly developed malware.</a:t>
            </a:r>
            <a:endParaRPr lang="en-US" sz="2400">
              <a:solidFill>
                <a:schemeClr val="tx1"/>
              </a:solidFill>
            </a:endParaRPr>
          </a:p>
          <a:p>
            <a:r>
              <a:rPr lang="en-US" sz="2400">
                <a:solidFill>
                  <a:schemeClr val="tx1"/>
                </a:solidFill>
              </a:rPr>
              <a:t>A user shou ld not open any attachments to ema ils from unkn own users.</a:t>
            </a:r>
            <a:endParaRPr lang="en-US" sz="2400">
              <a:solidFill>
                <a:schemeClr val="tx1"/>
              </a:solidFill>
            </a:endParaRPr>
          </a:p>
          <a:p>
            <a:r>
              <a:rPr lang="en-US" sz="2400">
                <a:solidFill>
                  <a:schemeClr val="tx1"/>
                </a:solidFill>
              </a:rPr>
              <a:t>A user should use op en Wi-Fi po ints wit h extreme  caution as anybody could be connecte d to them. </a:t>
            </a:r>
            <a:endParaRPr lang="en-US" sz="2400">
              <a:solidFill>
                <a:schemeClr val="tx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4000">
                <a:solidFill>
                  <a:schemeClr val="bg1"/>
                </a:solidFill>
                <a:highlight>
                  <a:srgbClr val="FF0000"/>
                </a:highlight>
              </a:rPr>
              <a:t>Health and Safety </a:t>
            </a:r>
            <a:endParaRPr lang="en-US" sz="4000">
              <a:solidFill>
                <a:schemeClr val="bg1"/>
              </a:solidFill>
              <a:highlight>
                <a:srgbClr val="FF0000"/>
              </a:highlight>
            </a:endParaRPr>
          </a:p>
        </p:txBody>
      </p:sp>
      <p:pic>
        <p:nvPicPr>
          <p:cNvPr id="4" name="Content Placeholder 3"/>
          <p:cNvPicPr>
            <a:picLocks noChangeAspect="1"/>
          </p:cNvPicPr>
          <p:nvPr>
            <p:ph idx="1"/>
          </p:nvPr>
        </p:nvPicPr>
        <p:blipFill>
          <a:blip r:embed="rId1"/>
          <a:stretch>
            <a:fillRect/>
          </a:stretch>
        </p:blipFill>
        <p:spPr>
          <a:xfrm>
            <a:off x="236855" y="1223645"/>
            <a:ext cx="11955780" cy="65182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olidFill>
                  <a:schemeClr val="bg1"/>
                </a:solidFill>
                <a:highlight>
                  <a:srgbClr val="FF0000"/>
                </a:highlight>
                <a:sym typeface="+mn-ea"/>
              </a:rPr>
              <a:t>Health and Safety</a:t>
            </a:r>
            <a:r>
              <a:rPr lang="en-US">
                <a:solidFill>
                  <a:schemeClr val="bg1"/>
                </a:solidFill>
                <a:highlight>
                  <a:srgbClr val="FF0000"/>
                </a:highlight>
                <a:sym typeface="+mn-ea"/>
              </a:rPr>
              <a:t> </a:t>
            </a:r>
            <a:endParaRPr lang="en-US"/>
          </a:p>
        </p:txBody>
      </p:sp>
      <p:pic>
        <p:nvPicPr>
          <p:cNvPr id="4" name="Content Placeholder 3"/>
          <p:cNvPicPr>
            <a:picLocks noChangeAspect="1"/>
          </p:cNvPicPr>
          <p:nvPr>
            <p:ph idx="1"/>
          </p:nvPr>
        </p:nvPicPr>
        <p:blipFill>
          <a:blip r:embed="rId1"/>
          <a:stretch>
            <a:fillRect/>
          </a:stretch>
        </p:blipFill>
        <p:spPr>
          <a:xfrm>
            <a:off x="788035" y="1562735"/>
            <a:ext cx="11039475" cy="507111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olidFill>
                  <a:schemeClr val="bg1"/>
                </a:solidFill>
                <a:highlight>
                  <a:srgbClr val="FF0000"/>
                </a:highlight>
                <a:sym typeface="+mn-ea"/>
              </a:rPr>
              <a:t>Health and Safety</a:t>
            </a:r>
            <a:endParaRPr lang="en-US"/>
          </a:p>
        </p:txBody>
      </p:sp>
      <p:pic>
        <p:nvPicPr>
          <p:cNvPr id="4" name="Content Placeholder 3"/>
          <p:cNvPicPr>
            <a:picLocks noChangeAspect="1"/>
          </p:cNvPicPr>
          <p:nvPr>
            <p:ph idx="1"/>
          </p:nvPr>
        </p:nvPicPr>
        <p:blipFill>
          <a:blip r:embed="rId1"/>
          <a:stretch>
            <a:fillRect/>
          </a:stretch>
        </p:blipFill>
        <p:spPr>
          <a:xfrm>
            <a:off x="259080" y="1418590"/>
            <a:ext cx="12455525" cy="515683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olidFill>
                  <a:schemeClr val="bg1"/>
                </a:solidFill>
                <a:highlight>
                  <a:srgbClr val="FF0000"/>
                </a:highlight>
                <a:sym typeface="+mn-ea"/>
              </a:rPr>
              <a:t>Health and Safety</a:t>
            </a:r>
            <a:endParaRPr lang="en-US"/>
          </a:p>
        </p:txBody>
      </p:sp>
      <p:pic>
        <p:nvPicPr>
          <p:cNvPr id="4" name="Content Placeholder 3"/>
          <p:cNvPicPr>
            <a:picLocks noChangeAspect="1"/>
          </p:cNvPicPr>
          <p:nvPr>
            <p:ph idx="1"/>
          </p:nvPr>
        </p:nvPicPr>
        <p:blipFill>
          <a:blip r:embed="rId1"/>
          <a:stretch>
            <a:fillRect/>
          </a:stretch>
        </p:blipFill>
        <p:spPr>
          <a:xfrm>
            <a:off x="449580" y="1284605"/>
            <a:ext cx="4902200" cy="6283325"/>
          </a:xfrm>
          <a:prstGeom prst="rect">
            <a:avLst/>
          </a:prstGeom>
        </p:spPr>
      </p:pic>
      <p:pic>
        <p:nvPicPr>
          <p:cNvPr id="5" name="Picture 4"/>
          <p:cNvPicPr>
            <a:picLocks noChangeAspect="1"/>
          </p:cNvPicPr>
          <p:nvPr/>
        </p:nvPicPr>
        <p:blipFill>
          <a:blip r:embed="rId2"/>
          <a:stretch>
            <a:fillRect/>
          </a:stretch>
        </p:blipFill>
        <p:spPr>
          <a:xfrm>
            <a:off x="5351780" y="1284605"/>
            <a:ext cx="6130290" cy="2863215"/>
          </a:xfrm>
          <a:prstGeom prst="rect">
            <a:avLst/>
          </a:prstGeom>
        </p:spPr>
      </p:pic>
      <p:pic>
        <p:nvPicPr>
          <p:cNvPr id="6" name="Picture 5"/>
          <p:cNvPicPr>
            <a:picLocks noChangeAspect="1"/>
          </p:cNvPicPr>
          <p:nvPr/>
        </p:nvPicPr>
        <p:blipFill>
          <a:blip r:embed="rId3"/>
          <a:stretch>
            <a:fillRect/>
          </a:stretch>
        </p:blipFill>
        <p:spPr>
          <a:xfrm>
            <a:off x="5320030" y="3956685"/>
            <a:ext cx="6229985" cy="3834765"/>
          </a:xfrm>
          <a:prstGeom prst="rect">
            <a:avLst/>
          </a:prstGeom>
        </p:spPr>
      </p:pic>
    </p:spTree>
  </p:cSld>
  <p:clrMapOvr>
    <a:masterClrMapping/>
  </p:clrMapOvr>
</p:sld>
</file>

<file path=ppt/theme/theme1.xml><?xml version="1.0" encoding="utf-8"?>
<a:theme xmlns:a="http://schemas.openxmlformats.org/drawingml/2006/main" name="Business Cooperate">
  <a:themeElements>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siness Cooperate">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siness Cooper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usiness Cooper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usiness Cooper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usiness Cooper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usiness Cooper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usiness Cooper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usiness Cooper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usiness Cooper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usiness Cooper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usiness Cooper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usiness Cooper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12032</Words>
  <Application>WPS Presentation</Application>
  <PresentationFormat>Widescreen</PresentationFormat>
  <Paragraphs>156</Paragraphs>
  <Slides>23</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23</vt:i4>
      </vt:variant>
    </vt:vector>
  </HeadingPairs>
  <TitlesOfParts>
    <vt:vector size="30" baseType="lpstr">
      <vt:lpstr>Arial</vt:lpstr>
      <vt:lpstr>SimSun</vt:lpstr>
      <vt:lpstr>Wingdings</vt:lpstr>
      <vt:lpstr>Microsoft YaHei</vt:lpstr>
      <vt:lpstr>Arial Unicode MS</vt:lpstr>
      <vt:lpstr>Calibri</vt:lpstr>
      <vt:lpstr>Business Cooperate</vt:lpstr>
      <vt:lpstr>E-safety and health and safety </vt:lpstr>
      <vt:lpstr> E-safety </vt:lpstr>
      <vt:lpstr>E-safety</vt:lpstr>
      <vt:lpstr>E-Safety </vt:lpstr>
      <vt:lpstr>Phishing </vt:lpstr>
      <vt:lpstr>Phishing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E-safety and health and safety </dc:title>
  <dc:creator>user</dc:creator>
  <cp:lastModifiedBy>user</cp:lastModifiedBy>
  <cp:revision>24</cp:revision>
  <dcterms:created xsi:type="dcterms:W3CDTF">2024-11-10T19:44:00Z</dcterms:created>
  <dcterms:modified xsi:type="dcterms:W3CDTF">2024-11-12T21:37:48Z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F35F1C5FFA1C4B97A7EF53117FE82EFD_11</vt:lpwstr>
  </property>
  <property fmtid="{D5CDD505-2E9C-101B-9397-08002B2CF9AE}" pid="3" name="KSOProductBuildVer">
    <vt:lpwstr>1033-12.2.0.18607</vt:lpwstr>
  </property>
</Properties>
</file>