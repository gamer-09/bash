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9" r:id="rId14"/>
    <p:sldId id="267" r:id="rId15"/>
    <p:sldId id="268" r:id="rId16"/>
    <p:sldId id="270" r:id="rId17"/>
    <p:sldId id="271" r:id="rId18"/>
    <p:sldId id="272" r:id="rId19"/>
    <p:sldId id="273" r:id="rId20"/>
    <p:sldId id="276" r:id="rId21"/>
    <p:sldId id="277" r:id="rId22"/>
    <p:sldId id="278" r:id="rId23"/>
    <p:sldId id="279" r:id="rId24"/>
    <p:sldId id="281" r:id="rId25"/>
    <p:sldId id="280" r:id="rId26"/>
    <p:sldId id="282" r:id="rId27"/>
    <p:sldId id="283" r:id="rId28"/>
    <p:sldId id="284" r:id="rId29"/>
    <p:sldId id="285" r:id="rId30"/>
    <p:sldId id="286" r:id="rId31"/>
    <p:sldId id="287" r:id="rId32"/>
    <p:sldId id="289" r:id="rId33"/>
    <p:sldId id="290" r:id="rId34"/>
    <p:sldId id="288" r:id="rId35"/>
    <p:sldId id="291" r:id="rId36"/>
    <p:sldId id="294" r:id="rId37"/>
    <p:sldId id="295" r:id="rId38"/>
    <p:sldId id="292" r:id="rId39"/>
    <p:sldId id="293" r:id="rId40"/>
    <p:sldId id="296" r:id="rId41"/>
    <p:sldId id="297" r:id="rId42"/>
    <p:sldId id="298" r:id="rId43"/>
    <p:sldId id="299" r:id="rId44"/>
    <p:sldId id="300" r:id="rId45"/>
    <p:sldId id="308" r:id="rId46"/>
    <p:sldId id="301" r:id="rId47"/>
    <p:sldId id="302" r:id="rId48"/>
    <p:sldId id="303" r:id="rId49"/>
    <p:sldId id="304" r:id="rId50"/>
    <p:sldId id="305"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8ABE3C1-DBE1-495D-B57B-2849774B866A}"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30578ACC-22D6-47C1-A373-4FD133E34F3C}"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80322" y="3030008"/>
            <a:ext cx="4698355" cy="2906179"/>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5594123" y="3030008"/>
            <a:ext cx="4700059" cy="2906179"/>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D24A7AC-904D-4781-85BA-7D10C17ED021}"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E331444B-B92B-4E27-8C94-BB93EAF5CB18}"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363EFA5E-FA76-400D-B3DC-F0BA90E6D10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446C117F-5CCF-4837-BE5F-2B92066CAFAF}"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84EB90BD-B6CE-46B7-997F-7313B992CCDC}"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CDB9D11F-B188-461D-B23F-39381795C052}"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endParaRPr lang="en-US" sz="7200" dirty="0">
              <a:solidFill>
                <a:schemeClr val="tx1"/>
              </a:solidFill>
              <a:effectLst/>
            </a:endParaRP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endParaRPr lang="en-US" sz="7200" dirty="0">
              <a:solidFill>
                <a:schemeClr val="tx1"/>
              </a:solidFill>
              <a:effectLs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2E6D8D9-55A2-4063-B0F3-121F44549695}"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3" name="Date Placeholder 2"/>
          <p:cNvSpPr>
            <a:spLocks noGrp="1"/>
          </p:cNvSpPr>
          <p:nvPr>
            <p:ph type="dt" sz="half" idx="10"/>
          </p:nvPr>
        </p:nvSpPr>
        <p:spPr/>
        <p:txBody>
          <a:bodyPr/>
          <a:lstStyle/>
          <a:p>
            <a:fld id="{D4B24536-994D-4021-A283-9F449C0DB509}"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3" name="Date Placeholder 2"/>
          <p:cNvSpPr>
            <a:spLocks noGrp="1"/>
          </p:cNvSpPr>
          <p:nvPr>
            <p:ph type="dt" sz="half" idx="10"/>
          </p:nvPr>
        </p:nvSpPr>
        <p:spPr/>
        <p:txBody>
          <a:bodyPr/>
          <a:lstStyle/>
          <a:p>
            <a:fld id="{3CBBBB78-C96F-47B7-AB17-D852CA960AC9}"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178E61D-D431-422C-9764-11DAFE33AB63}" type="datetimeFigureOut">
              <a:rPr lang="en-US" dirty="0"/>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3.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8">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6E9DEC-419B-4CC5-A080-3B06BD5A8291}" type="datetimeFigureOut">
              <a:rPr lang="en-US" dirty="0"/>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Chapter two</a:t>
            </a:r>
            <a:br>
              <a:rPr lang="en-US" dirty="0" smtClean="0"/>
            </a:br>
            <a:r>
              <a:rPr lang="en-US" dirty="0" smtClean="0"/>
              <a:t>Hardware and software </a:t>
            </a:r>
            <a:endParaRPr lang="en-US" dirty="0"/>
          </a:p>
        </p:txBody>
      </p:sp>
      <p:sp>
        <p:nvSpPr>
          <p:cNvPr id="3" name="Subtitle 2"/>
          <p:cNvSpPr>
            <a:spLocks noGrp="1"/>
          </p:cNvSpPr>
          <p:nvPr>
            <p:ph type="subTitle" idx="1"/>
          </p:nvPr>
        </p:nvSpPr>
        <p:spPr/>
        <p:txBody>
          <a:bodyPr/>
          <a:lstStyle/>
          <a:p>
            <a:r>
              <a:rPr lang="en-US" dirty="0" smtClean="0"/>
              <a:t>Instructor: </a:t>
            </a:r>
            <a:r>
              <a:rPr lang="en-US" dirty="0" err="1" smtClean="0"/>
              <a:t>Mr</a:t>
            </a:r>
            <a:r>
              <a:rPr lang="en-US" dirty="0" smtClean="0"/>
              <a:t> </a:t>
            </a:r>
            <a:r>
              <a:rPr lang="en-US" dirty="0" err="1" smtClean="0"/>
              <a:t>Durodola</a:t>
            </a:r>
            <a:r>
              <a:rPr lang="en-US" dirty="0" smtClean="0"/>
              <a:t> K.A</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objective </a:t>
            </a:r>
            <a:endParaRPr lang="en-US" dirty="0"/>
          </a:p>
        </p:txBody>
      </p:sp>
      <p:sp>
        <p:nvSpPr>
          <p:cNvPr id="3" name="Content Placeholder 2"/>
          <p:cNvSpPr>
            <a:spLocks noGrp="1"/>
          </p:cNvSpPr>
          <p:nvPr>
            <p:ph idx="1"/>
          </p:nvPr>
        </p:nvSpPr>
        <p:spPr/>
        <p:txBody>
          <a:bodyPr>
            <a:noAutofit/>
          </a:bodyPr>
          <a:lstStyle/>
          <a:p>
            <a:r>
              <a:rPr lang="en-US" sz="1400" dirty="0" smtClean="0"/>
              <a:t>Define hardware </a:t>
            </a:r>
            <a:endParaRPr lang="en-US" sz="1400" dirty="0" smtClean="0"/>
          </a:p>
          <a:p>
            <a:r>
              <a:rPr lang="en-US" sz="1400" dirty="0" smtClean="0"/>
              <a:t>Evaluate internal </a:t>
            </a:r>
            <a:r>
              <a:rPr lang="en-US" sz="1400" dirty="0"/>
              <a:t>and </a:t>
            </a:r>
            <a:r>
              <a:rPr lang="en-US" sz="1400" dirty="0" smtClean="0"/>
              <a:t>external </a:t>
            </a:r>
            <a:r>
              <a:rPr lang="en-US" sz="1400" dirty="0"/>
              <a:t>hardware devices </a:t>
            </a:r>
            <a:endParaRPr lang="en-US" sz="1400" dirty="0" smtClean="0"/>
          </a:p>
          <a:p>
            <a:r>
              <a:rPr lang="en-US" sz="1400" dirty="0"/>
              <a:t>E</a:t>
            </a:r>
            <a:r>
              <a:rPr lang="en-US" sz="1400" dirty="0" smtClean="0"/>
              <a:t>xplain </a:t>
            </a:r>
            <a:r>
              <a:rPr lang="en-US" sz="1400" dirty="0"/>
              <a:t>the purpose of and evaluate </a:t>
            </a:r>
            <a:r>
              <a:rPr lang="en-US" sz="1400" dirty="0" smtClean="0"/>
              <a:t>storage </a:t>
            </a:r>
            <a:r>
              <a:rPr lang="en-US" sz="1400" dirty="0"/>
              <a:t>devices </a:t>
            </a:r>
            <a:endParaRPr lang="en-US" sz="1400" dirty="0" smtClean="0"/>
          </a:p>
          <a:p>
            <a:r>
              <a:rPr lang="en-US" sz="1400" dirty="0"/>
              <a:t>E</a:t>
            </a:r>
            <a:r>
              <a:rPr lang="en-US" sz="1400" dirty="0" smtClean="0"/>
              <a:t>xplain </a:t>
            </a:r>
            <a:r>
              <a:rPr lang="en-US" sz="1400" dirty="0"/>
              <a:t>the purpose of input and output devices </a:t>
            </a:r>
            <a:endParaRPr lang="en-US" sz="1400" dirty="0" smtClean="0"/>
          </a:p>
          <a:p>
            <a:r>
              <a:rPr lang="en-US" sz="1400" dirty="0" smtClean="0"/>
              <a:t>Evaluate </a:t>
            </a:r>
            <a:r>
              <a:rPr lang="en-US" sz="1400" dirty="0"/>
              <a:t>input, storage and output devices for a given task </a:t>
            </a:r>
            <a:endParaRPr lang="en-US" sz="1400" dirty="0" smtClean="0"/>
          </a:p>
          <a:p>
            <a:r>
              <a:rPr lang="en-US" sz="1400" dirty="0" smtClean="0"/>
              <a:t>Define </a:t>
            </a:r>
            <a:r>
              <a:rPr lang="en-US" sz="1400" dirty="0"/>
              <a:t>soft ware </a:t>
            </a:r>
            <a:endParaRPr lang="en-US" sz="1400" dirty="0" smtClean="0"/>
          </a:p>
          <a:p>
            <a:r>
              <a:rPr lang="en-US" sz="1400" dirty="0" smtClean="0"/>
              <a:t>Evaluate </a:t>
            </a:r>
            <a:r>
              <a:rPr lang="en-US" sz="1400" dirty="0"/>
              <a:t>different types of soft ware </a:t>
            </a:r>
            <a:endParaRPr lang="en-US" sz="1400" dirty="0" smtClean="0"/>
          </a:p>
          <a:p>
            <a:r>
              <a:rPr lang="en-US" sz="1400" dirty="0" smtClean="0"/>
              <a:t>Explain </a:t>
            </a:r>
            <a:r>
              <a:rPr lang="en-US" sz="1400" dirty="0"/>
              <a:t>the purpose of system soft ware </a:t>
            </a:r>
            <a:endParaRPr lang="en-US" sz="1400" dirty="0" smtClean="0"/>
          </a:p>
          <a:p>
            <a:r>
              <a:rPr lang="en-US" sz="1400" dirty="0" smtClean="0"/>
              <a:t>Evaluate </a:t>
            </a:r>
            <a:r>
              <a:rPr lang="en-US" sz="1400" dirty="0" err="1"/>
              <a:t>appli</a:t>
            </a:r>
            <a:r>
              <a:rPr lang="en-US" sz="1400" dirty="0"/>
              <a:t> cation soft ware </a:t>
            </a:r>
            <a:endParaRPr lang="en-US" sz="1400" dirty="0" smtClean="0"/>
          </a:p>
          <a:p>
            <a:r>
              <a:rPr lang="en-US" sz="1400" dirty="0" smtClean="0"/>
              <a:t>Evaluate </a:t>
            </a:r>
            <a:r>
              <a:rPr lang="en-US" sz="1400" dirty="0"/>
              <a:t>user interfaces </a:t>
            </a:r>
            <a:endParaRPr lang="en-US" sz="1400" dirty="0" smtClean="0"/>
          </a:p>
          <a:p>
            <a:r>
              <a:rPr lang="en-US" sz="1400" dirty="0" smtClean="0"/>
              <a:t>Evaluate </a:t>
            </a:r>
            <a:r>
              <a:rPr lang="en-US" sz="1400" dirty="0"/>
              <a:t>mental models </a:t>
            </a:r>
            <a:endParaRPr lang="en-US" sz="1400" dirty="0" smtClean="0"/>
          </a:p>
          <a:p>
            <a:r>
              <a:rPr lang="en-US" sz="1400" dirty="0" smtClean="0"/>
              <a:t>Describe </a:t>
            </a:r>
            <a:r>
              <a:rPr lang="en-US" sz="1400" dirty="0"/>
              <a:t>utility soft ware </a:t>
            </a:r>
            <a:endParaRPr lang="en-US" sz="1400" dirty="0" smtClean="0"/>
          </a:p>
          <a:p>
            <a:r>
              <a:rPr lang="en-US" sz="1400" dirty="0" smtClean="0"/>
              <a:t>Compare </a:t>
            </a:r>
            <a:r>
              <a:rPr lang="en-US" sz="1400" dirty="0"/>
              <a:t>custom-written and off-the-shelf soft ware </a:t>
            </a:r>
            <a:endParaRPr lang="en-US" sz="1400" dirty="0" smtClean="0"/>
          </a:p>
          <a:p>
            <a:r>
              <a:rPr lang="en-US" sz="1400" dirty="0" smtClean="0"/>
              <a:t>Describe </a:t>
            </a:r>
            <a:r>
              <a:rPr lang="en-US" sz="1400" dirty="0"/>
              <a:t>and evaluate a </a:t>
            </a:r>
            <a:r>
              <a:rPr lang="en-US" sz="1400" dirty="0" smtClean="0"/>
              <a:t>compiler </a:t>
            </a:r>
            <a:r>
              <a:rPr lang="en-US" sz="1400" dirty="0"/>
              <a:t>and interpreter </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Terms</a:t>
            </a:r>
            <a:endParaRPr lang="en-US" dirty="0"/>
          </a:p>
        </p:txBody>
      </p:sp>
      <p:pic>
        <p:nvPicPr>
          <p:cNvPr id="4" name="Content Placeholder 3"/>
          <p:cNvPicPr>
            <a:picLocks noGrp="1" noChangeAspect="1"/>
          </p:cNvPicPr>
          <p:nvPr>
            <p:ph idx="1"/>
          </p:nvPr>
        </p:nvPicPr>
        <p:blipFill>
          <a:blip r:embed="rId1"/>
          <a:stretch>
            <a:fillRect/>
          </a:stretch>
        </p:blipFill>
        <p:spPr>
          <a:xfrm>
            <a:off x="2478021" y="1729485"/>
            <a:ext cx="6627342" cy="512851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 Device</a:t>
            </a:r>
            <a:endParaRPr lang="en-US" dirty="0"/>
          </a:p>
        </p:txBody>
      </p:sp>
      <p:sp>
        <p:nvSpPr>
          <p:cNvPr id="3" name="Content Placeholder 2"/>
          <p:cNvSpPr>
            <a:spLocks noGrp="1"/>
          </p:cNvSpPr>
          <p:nvPr>
            <p:ph idx="1"/>
          </p:nvPr>
        </p:nvSpPr>
        <p:spPr/>
        <p:txBody>
          <a:bodyPr>
            <a:normAutofit lnSpcReduction="10000"/>
          </a:bodyPr>
          <a:lstStyle/>
          <a:p>
            <a:r>
              <a:rPr lang="en-US" dirty="0"/>
              <a:t>An item of hardware is a physical component that forms part of a computer system. Items of hardware are often known as devices because they </a:t>
            </a:r>
            <a:r>
              <a:rPr lang="en-US" dirty="0" smtClean="0"/>
              <a:t>comprise </a:t>
            </a:r>
            <a:r>
              <a:rPr lang="en-US" dirty="0"/>
              <a:t>electronic components . Hardware devices can be internal to the computer system (such as the central processing unit, memory or motherboard) or they can be external to the computer system (such as the monitor, keyboard or mouse</a:t>
            </a:r>
            <a:r>
              <a:rPr lang="en-US" dirty="0" smtClean="0"/>
              <a:t>).</a:t>
            </a:r>
            <a:endParaRPr lang="en-US" dirty="0" smtClean="0"/>
          </a:p>
          <a:p>
            <a:r>
              <a:rPr lang="en-US" dirty="0" smtClean="0"/>
              <a:t> </a:t>
            </a:r>
            <a:r>
              <a:rPr lang="en-US" dirty="0"/>
              <a:t>Hardware is </a:t>
            </a:r>
            <a:r>
              <a:rPr lang="en-US" dirty="0" err="1"/>
              <a:t>categorised</a:t>
            </a:r>
            <a:r>
              <a:rPr lang="en-US" dirty="0"/>
              <a:t> into input, output and storage devices. Input devices allow data to be sent to a computer (e.g. keyboard). Output devices allow the communication of data/information from a computer (e.g. monitor). Storage devices store data onto a storage medium so that it can be used at a later time .</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Internal Hardware Devices </a:t>
            </a:r>
            <a:endParaRPr lang="en-US" dirty="0"/>
          </a:p>
        </p:txBody>
      </p:sp>
      <p:pic>
        <p:nvPicPr>
          <p:cNvPr id="4" name="Content Placeholder 3"/>
          <p:cNvPicPr>
            <a:picLocks noGrp="1" noChangeAspect="1"/>
          </p:cNvPicPr>
          <p:nvPr>
            <p:ph idx="1"/>
          </p:nvPr>
        </p:nvPicPr>
        <p:blipFill>
          <a:blip r:embed="rId1"/>
          <a:stretch>
            <a:fillRect/>
          </a:stretch>
        </p:blipFill>
        <p:spPr>
          <a:xfrm>
            <a:off x="178045" y="2077775"/>
            <a:ext cx="2420166" cy="2047980"/>
          </a:xfrm>
          <a:prstGeom prst="rect">
            <a:avLst/>
          </a:prstGeom>
        </p:spPr>
      </p:pic>
      <p:pic>
        <p:nvPicPr>
          <p:cNvPr id="5" name="Picture 4"/>
          <p:cNvPicPr>
            <a:picLocks noChangeAspect="1"/>
          </p:cNvPicPr>
          <p:nvPr/>
        </p:nvPicPr>
        <p:blipFill>
          <a:blip r:embed="rId2"/>
          <a:stretch>
            <a:fillRect/>
          </a:stretch>
        </p:blipFill>
        <p:spPr>
          <a:xfrm>
            <a:off x="2791429" y="2077775"/>
            <a:ext cx="2479134" cy="204798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7251" y="2077775"/>
            <a:ext cx="2449492" cy="2047980"/>
          </a:xfrm>
          <a:prstGeom prst="rect">
            <a:avLst/>
          </a:prstGeom>
        </p:spPr>
      </p:pic>
      <p:pic>
        <p:nvPicPr>
          <p:cNvPr id="8" name="Picture 7"/>
          <p:cNvPicPr>
            <a:picLocks noChangeAspect="1"/>
          </p:cNvPicPr>
          <p:nvPr/>
        </p:nvPicPr>
        <p:blipFill>
          <a:blip r:embed="rId4"/>
          <a:stretch>
            <a:fillRect/>
          </a:stretch>
        </p:blipFill>
        <p:spPr>
          <a:xfrm>
            <a:off x="8305800" y="2077775"/>
            <a:ext cx="2306392" cy="2048440"/>
          </a:xfrm>
          <a:prstGeom prst="rect">
            <a:avLst/>
          </a:prstGeom>
        </p:spPr>
      </p:pic>
      <p:pic>
        <p:nvPicPr>
          <p:cNvPr id="9" name="Picture 8"/>
          <p:cNvPicPr>
            <a:picLocks noChangeAspect="1"/>
          </p:cNvPicPr>
          <p:nvPr/>
        </p:nvPicPr>
        <p:blipFill>
          <a:blip r:embed="rId5"/>
          <a:stretch>
            <a:fillRect/>
          </a:stretch>
        </p:blipFill>
        <p:spPr>
          <a:xfrm>
            <a:off x="153138" y="4369364"/>
            <a:ext cx="3381375" cy="23622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CPU</a:t>
            </a:r>
            <a:endParaRPr lang="en-US" dirty="0"/>
          </a:p>
        </p:txBody>
      </p:sp>
      <p:sp>
        <p:nvSpPr>
          <p:cNvPr id="3" name="Content Placeholder 2"/>
          <p:cNvSpPr>
            <a:spLocks noGrp="1"/>
          </p:cNvSpPr>
          <p:nvPr>
            <p:ph idx="1"/>
          </p:nvPr>
        </p:nvSpPr>
        <p:spPr/>
        <p:txBody>
          <a:bodyPr>
            <a:normAutofit fontScale="85000" lnSpcReduction="10000"/>
          </a:bodyPr>
          <a:lstStyle/>
          <a:p>
            <a:r>
              <a:rPr lang="en-US" dirty="0"/>
              <a:t>The </a:t>
            </a:r>
            <a:r>
              <a:rPr lang="en-US" dirty="0" smtClean="0"/>
              <a:t>central processing </a:t>
            </a:r>
            <a:r>
              <a:rPr lang="en-US" dirty="0"/>
              <a:t>unit (CPU) is the </a:t>
            </a:r>
            <a:r>
              <a:rPr lang="en-US" dirty="0" smtClean="0"/>
              <a:t>brain </a:t>
            </a:r>
            <a:r>
              <a:rPr lang="en-US" dirty="0"/>
              <a:t>of a computer. It is the part of the </a:t>
            </a:r>
            <a:r>
              <a:rPr lang="en-US" dirty="0" smtClean="0"/>
              <a:t>computer that carries out </a:t>
            </a:r>
            <a:r>
              <a:rPr lang="en-US" dirty="0"/>
              <a:t>calculations, executes </a:t>
            </a:r>
            <a:r>
              <a:rPr lang="en-US" dirty="0" smtClean="0"/>
              <a:t>instructions </a:t>
            </a:r>
            <a:r>
              <a:rPr lang="en-US" dirty="0"/>
              <a:t>and processes </a:t>
            </a:r>
            <a:r>
              <a:rPr lang="en-US" dirty="0" smtClean="0"/>
              <a:t>data</a:t>
            </a:r>
            <a:r>
              <a:rPr lang="en-US" dirty="0"/>
              <a:t>. It includes the </a:t>
            </a:r>
            <a:r>
              <a:rPr lang="en-US" dirty="0" smtClean="0"/>
              <a:t>arithmetic </a:t>
            </a:r>
            <a:r>
              <a:rPr lang="en-US" dirty="0"/>
              <a:t>logic unit (ALU) and </a:t>
            </a:r>
            <a:r>
              <a:rPr lang="en-US" dirty="0" smtClean="0"/>
              <a:t>control </a:t>
            </a:r>
            <a:r>
              <a:rPr lang="en-US" dirty="0"/>
              <a:t>unit (CU). </a:t>
            </a:r>
            <a:endParaRPr lang="en-US" dirty="0" smtClean="0"/>
          </a:p>
          <a:p>
            <a:endParaRPr lang="en-US" dirty="0"/>
          </a:p>
          <a:p>
            <a:pPr algn="just"/>
            <a:r>
              <a:rPr lang="en-US" dirty="0"/>
              <a:t>The ALU performs calculations and logical </a:t>
            </a:r>
            <a:r>
              <a:rPr lang="en-US" dirty="0" smtClean="0"/>
              <a:t>operations</a:t>
            </a:r>
            <a:r>
              <a:rPr lang="en-US" dirty="0"/>
              <a:t>. The CU runs the </a:t>
            </a:r>
            <a:r>
              <a:rPr lang="en-US" dirty="0" smtClean="0"/>
              <a:t>fetch-execute </a:t>
            </a:r>
            <a:r>
              <a:rPr lang="en-US" dirty="0"/>
              <a:t>cycle which fetches </a:t>
            </a:r>
            <a:r>
              <a:rPr lang="en-US" dirty="0" smtClean="0"/>
              <a:t>instructions </a:t>
            </a:r>
            <a:r>
              <a:rPr lang="en-US" dirty="0"/>
              <a:t>from memory and executes </a:t>
            </a:r>
            <a:r>
              <a:rPr lang="en-US" dirty="0" smtClean="0"/>
              <a:t>them</a:t>
            </a:r>
            <a:r>
              <a:rPr lang="en-US" dirty="0"/>
              <a:t>. Input data is taken from </a:t>
            </a:r>
            <a:r>
              <a:rPr lang="en-US" dirty="0" smtClean="0"/>
              <a:t>input devices </a:t>
            </a:r>
            <a:r>
              <a:rPr lang="en-US" dirty="0"/>
              <a:t>(such as a keyboard) or storage and processed by the CPU, which </a:t>
            </a:r>
            <a:r>
              <a:rPr lang="en-US" dirty="0" smtClean="0"/>
              <a:t>produces output </a:t>
            </a:r>
            <a:r>
              <a:rPr lang="en-US" dirty="0"/>
              <a:t>data that can be stored or sent to an output device (such as a </a:t>
            </a:r>
            <a:r>
              <a:rPr lang="en-US" dirty="0" smtClean="0"/>
              <a:t>monitor</a:t>
            </a:r>
            <a:r>
              <a:rPr lang="en-US" dirty="0"/>
              <a:t>). CPUs usually </a:t>
            </a:r>
            <a:r>
              <a:rPr lang="en-US" dirty="0" smtClean="0"/>
              <a:t>consist </a:t>
            </a:r>
            <a:r>
              <a:rPr lang="en-US" dirty="0"/>
              <a:t>of </a:t>
            </a:r>
            <a:r>
              <a:rPr lang="en-US" dirty="0" smtClean="0"/>
              <a:t>multiple </a:t>
            </a:r>
            <a:r>
              <a:rPr lang="en-US" dirty="0"/>
              <a:t>cores . Each core is a separate processor, so a quad-core CPU has four processors. Processors are measured by the number of instructions they can process per second (hertz). A </a:t>
            </a:r>
            <a:r>
              <a:rPr lang="en-US" dirty="0" smtClean="0"/>
              <a:t>3GHz </a:t>
            </a:r>
            <a:r>
              <a:rPr lang="en-US" dirty="0"/>
              <a:t>(</a:t>
            </a:r>
            <a:r>
              <a:rPr lang="en-US" dirty="0" smtClean="0"/>
              <a:t>gigahertz</a:t>
            </a:r>
            <a:r>
              <a:rPr lang="en-US" dirty="0"/>
              <a:t>) processor can process up to 3 </a:t>
            </a:r>
            <a:r>
              <a:rPr lang="en-US" dirty="0" smtClean="0"/>
              <a:t>billion instructions </a:t>
            </a:r>
            <a:r>
              <a:rPr lang="en-US" dirty="0"/>
              <a:t>per second . </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CPU</a:t>
            </a:r>
            <a:endParaRPr lang="en-US" dirty="0"/>
          </a:p>
        </p:txBody>
      </p:sp>
      <p:sp>
        <p:nvSpPr>
          <p:cNvPr id="3" name="Content Placeholder 2"/>
          <p:cNvSpPr>
            <a:spLocks noGrp="1"/>
          </p:cNvSpPr>
          <p:nvPr>
            <p:ph idx="1"/>
          </p:nvPr>
        </p:nvSpPr>
        <p:spPr>
          <a:xfrm>
            <a:off x="680085" y="2040890"/>
            <a:ext cx="10584180" cy="4958080"/>
          </a:xfrm>
        </p:spPr>
        <p:txBody>
          <a:bodyPr>
            <a:normAutofit fontScale="67500" lnSpcReduction="20000"/>
          </a:bodyPr>
          <a:lstStyle/>
          <a:p>
            <a:pPr algn="ctr"/>
            <a:r>
              <a:rPr lang="en-US" sz="4100" dirty="0">
                <a:latin typeface="Calibri" panose="020F0502020204030204" charset="0"/>
                <a:cs typeface="Calibri" panose="020F0502020204030204" charset="0"/>
              </a:rPr>
              <a:t>Companies that make </a:t>
            </a:r>
            <a:r>
              <a:rPr lang="en-US" sz="4100" dirty="0" smtClean="0">
                <a:latin typeface="Calibri" panose="020F0502020204030204" charset="0"/>
                <a:cs typeface="Calibri" panose="020F0502020204030204" charset="0"/>
              </a:rPr>
              <a:t>processors</a:t>
            </a:r>
            <a:endParaRPr lang="en-US" sz="4100" dirty="0" smtClean="0">
              <a:latin typeface="Calibri" panose="020F0502020204030204" charset="0"/>
              <a:cs typeface="Calibri" panose="020F0502020204030204" charset="0"/>
            </a:endParaRPr>
          </a:p>
          <a:p>
            <a:pPr marL="0" lvl="0" indent="0" eaLnBrk="0" fontAlgn="base" hangingPunct="0">
              <a:lnSpc>
                <a:spcPct val="100000"/>
              </a:lnSpc>
              <a:spcBef>
                <a:spcPct val="0"/>
              </a:spcBef>
              <a:spcAft>
                <a:spcPct val="0"/>
              </a:spcAft>
              <a:buNone/>
            </a:pPr>
            <a:r>
              <a:rPr lang="en-US" altLang="en-US" sz="3100" dirty="0">
                <a:latin typeface="Calibri" panose="020F0502020204030204" charset="0"/>
                <a:cs typeface="Calibri" panose="020F0502020204030204" charset="0"/>
              </a:rPr>
              <a:t>Intel</a:t>
            </a:r>
            <a:endParaRPr lang="en-US" altLang="en-US" dirty="0">
              <a:latin typeface="Calibri" panose="020F0502020204030204" charset="0"/>
              <a:cs typeface="Calibri" panose="020F0502020204030204" charset="0"/>
            </a:endParaRPr>
          </a:p>
          <a:p>
            <a:pPr marL="0" lvl="0" indent="0" eaLnBrk="0" fontAlgn="base" hangingPunct="0">
              <a:lnSpc>
                <a:spcPct val="100000"/>
              </a:lnSpc>
              <a:spcBef>
                <a:spcPct val="0"/>
              </a:spcBef>
              <a:spcAft>
                <a:spcPct val="0"/>
              </a:spcAft>
              <a:buNone/>
            </a:pPr>
            <a:r>
              <a:rPr lang="en-US" altLang="en-US" dirty="0">
                <a:latin typeface="Calibri" panose="020F0502020204030204" charset="0"/>
                <a:cs typeface="Calibri" panose="020F0502020204030204" charset="0"/>
              </a:rPr>
              <a:t>  </a:t>
            </a:r>
            <a:endParaRPr lang="en-US" altLang="en-US" dirty="0">
              <a:latin typeface="Calibri" panose="020F0502020204030204" charset="0"/>
              <a:cs typeface="Calibri" panose="020F0502020204030204" charset="0"/>
            </a:endParaRPr>
          </a:p>
          <a:p>
            <a:pPr marL="0" lvl="0" indent="0" eaLnBrk="0" fontAlgn="base" hangingPunct="0">
              <a:lnSpc>
                <a:spcPct val="100000"/>
              </a:lnSpc>
              <a:spcBef>
                <a:spcPct val="0"/>
              </a:spcBef>
              <a:spcAft>
                <a:spcPct val="0"/>
              </a:spcAft>
              <a:buNone/>
            </a:pPr>
            <a:r>
              <a:rPr lang="en-US" altLang="en-US" sz="3100" dirty="0" err="1">
                <a:latin typeface="Calibri" panose="020F0502020204030204" charset="0"/>
                <a:cs typeface="Calibri" panose="020F0502020204030204" charset="0"/>
              </a:rPr>
              <a:t>Nvidia</a:t>
            </a:r>
            <a:endParaRPr lang="en-US" altLang="en-US" dirty="0">
              <a:latin typeface="Calibri" panose="020F0502020204030204" charset="0"/>
              <a:cs typeface="Calibri" panose="020F0502020204030204" charset="0"/>
            </a:endParaRPr>
          </a:p>
          <a:p>
            <a:pPr marL="0" lvl="0" indent="0" eaLnBrk="0" fontAlgn="base" hangingPunct="0">
              <a:lnSpc>
                <a:spcPct val="100000"/>
              </a:lnSpc>
              <a:spcBef>
                <a:spcPct val="0"/>
              </a:spcBef>
              <a:spcAft>
                <a:spcPct val="0"/>
              </a:spcAft>
              <a:buNone/>
            </a:pPr>
            <a:r>
              <a:rPr lang="en-US" altLang="en-US" dirty="0">
                <a:latin typeface="Calibri" panose="020F0502020204030204" charset="0"/>
                <a:cs typeface="Calibri" panose="020F0502020204030204" charset="0"/>
              </a:rPr>
              <a:t>  </a:t>
            </a:r>
            <a:endParaRPr lang="en-US" altLang="en-US" dirty="0">
              <a:latin typeface="Calibri" panose="020F0502020204030204" charset="0"/>
              <a:cs typeface="Calibri" panose="020F0502020204030204" charset="0"/>
            </a:endParaRPr>
          </a:p>
          <a:p>
            <a:pPr marL="0" lvl="0" indent="0" eaLnBrk="0" fontAlgn="base" hangingPunct="0">
              <a:lnSpc>
                <a:spcPct val="100000"/>
              </a:lnSpc>
              <a:spcBef>
                <a:spcPct val="0"/>
              </a:spcBef>
              <a:spcAft>
                <a:spcPct val="0"/>
              </a:spcAft>
              <a:buNone/>
            </a:pPr>
            <a:r>
              <a:rPr lang="en-US" altLang="en-US" sz="3100" dirty="0">
                <a:latin typeface="Calibri" panose="020F0502020204030204" charset="0"/>
                <a:cs typeface="Calibri" panose="020F0502020204030204" charset="0"/>
              </a:rPr>
              <a:t>Qualcomm</a:t>
            </a:r>
            <a:endParaRPr lang="en-US" altLang="en-US" dirty="0">
              <a:latin typeface="Calibri" panose="020F0502020204030204" charset="0"/>
              <a:cs typeface="Calibri" panose="020F0502020204030204" charset="0"/>
            </a:endParaRPr>
          </a:p>
          <a:p>
            <a:pPr marL="0" lvl="0" indent="0" eaLnBrk="0" fontAlgn="base" hangingPunct="0">
              <a:lnSpc>
                <a:spcPct val="100000"/>
              </a:lnSpc>
              <a:spcBef>
                <a:spcPct val="0"/>
              </a:spcBef>
              <a:spcAft>
                <a:spcPct val="0"/>
              </a:spcAft>
              <a:buNone/>
            </a:pPr>
            <a:r>
              <a:rPr lang="en-US" altLang="en-US" dirty="0">
                <a:latin typeface="Calibri" panose="020F0502020204030204" charset="0"/>
                <a:cs typeface="Calibri" panose="020F0502020204030204" charset="0"/>
              </a:rPr>
              <a:t>  </a:t>
            </a:r>
            <a:endParaRPr lang="en-US" altLang="en-US" dirty="0">
              <a:latin typeface="Calibri" panose="020F0502020204030204" charset="0"/>
              <a:cs typeface="Calibri" panose="020F0502020204030204" charset="0"/>
            </a:endParaRPr>
          </a:p>
          <a:p>
            <a:pPr marL="0" lvl="0" indent="0" eaLnBrk="0" fontAlgn="base" hangingPunct="0">
              <a:lnSpc>
                <a:spcPct val="100000"/>
              </a:lnSpc>
              <a:spcBef>
                <a:spcPct val="0"/>
              </a:spcBef>
              <a:spcAft>
                <a:spcPct val="0"/>
              </a:spcAft>
              <a:buNone/>
            </a:pPr>
            <a:r>
              <a:rPr lang="en-US" altLang="en-US" sz="3100" dirty="0">
                <a:latin typeface="Calibri" panose="020F0502020204030204" charset="0"/>
                <a:cs typeface="Calibri" panose="020F0502020204030204" charset="0"/>
              </a:rPr>
              <a:t>Texas Instruments</a:t>
            </a:r>
            <a:endParaRPr lang="en-US" altLang="en-US" dirty="0">
              <a:latin typeface="Calibri" panose="020F0502020204030204" charset="0"/>
              <a:cs typeface="Calibri" panose="020F0502020204030204" charset="0"/>
            </a:endParaRPr>
          </a:p>
          <a:p>
            <a:pPr marL="0" lvl="0" indent="0" eaLnBrk="0" fontAlgn="base" hangingPunct="0">
              <a:lnSpc>
                <a:spcPct val="100000"/>
              </a:lnSpc>
              <a:spcBef>
                <a:spcPct val="0"/>
              </a:spcBef>
              <a:spcAft>
                <a:spcPct val="0"/>
              </a:spcAft>
              <a:buNone/>
            </a:pPr>
            <a:r>
              <a:rPr lang="en-US" altLang="en-US" dirty="0">
                <a:latin typeface="Calibri" panose="020F0502020204030204" charset="0"/>
                <a:cs typeface="Calibri" panose="020F0502020204030204" charset="0"/>
              </a:rPr>
              <a:t>  </a:t>
            </a:r>
            <a:endParaRPr lang="en-US" altLang="en-US" dirty="0">
              <a:latin typeface="Calibri" panose="020F0502020204030204" charset="0"/>
              <a:cs typeface="Calibri" panose="020F0502020204030204" charset="0"/>
            </a:endParaRPr>
          </a:p>
          <a:p>
            <a:pPr marL="0" lvl="0" indent="0" eaLnBrk="0" fontAlgn="base" hangingPunct="0">
              <a:lnSpc>
                <a:spcPct val="100000"/>
              </a:lnSpc>
              <a:spcBef>
                <a:spcPct val="0"/>
              </a:spcBef>
              <a:spcAft>
                <a:spcPct val="0"/>
              </a:spcAft>
              <a:buNone/>
            </a:pPr>
            <a:r>
              <a:rPr lang="en-US" altLang="en-US" sz="3100" dirty="0">
                <a:latin typeface="Calibri" panose="020F0502020204030204" charset="0"/>
                <a:cs typeface="Calibri" panose="020F0502020204030204" charset="0"/>
              </a:rPr>
              <a:t>AMD</a:t>
            </a:r>
            <a:endParaRPr lang="en-US" altLang="en-US" dirty="0">
              <a:latin typeface="Calibri" panose="020F0502020204030204" charset="0"/>
              <a:cs typeface="Calibri" panose="020F0502020204030204" charset="0"/>
            </a:endParaRPr>
          </a:p>
          <a:p>
            <a:pPr marL="0" lvl="0" indent="0" eaLnBrk="0" fontAlgn="base" hangingPunct="0">
              <a:lnSpc>
                <a:spcPct val="100000"/>
              </a:lnSpc>
              <a:spcBef>
                <a:spcPct val="0"/>
              </a:spcBef>
              <a:spcAft>
                <a:spcPct val="0"/>
              </a:spcAft>
              <a:buNone/>
            </a:pPr>
            <a:r>
              <a:rPr lang="en-US" altLang="en-US" dirty="0">
                <a:latin typeface="Calibri" panose="020F0502020204030204" charset="0"/>
                <a:cs typeface="Calibri" panose="020F0502020204030204" charset="0"/>
              </a:rPr>
              <a:t>  </a:t>
            </a:r>
            <a:endParaRPr lang="en-US" altLang="en-US" dirty="0">
              <a:latin typeface="Calibri" panose="020F0502020204030204" charset="0"/>
              <a:cs typeface="Calibri" panose="020F0502020204030204" charset="0"/>
            </a:endParaRPr>
          </a:p>
          <a:p>
            <a:pPr marL="0" lvl="0" indent="0" eaLnBrk="0" fontAlgn="base" hangingPunct="0">
              <a:lnSpc>
                <a:spcPct val="100000"/>
              </a:lnSpc>
              <a:spcBef>
                <a:spcPct val="0"/>
              </a:spcBef>
              <a:spcAft>
                <a:spcPct val="0"/>
              </a:spcAft>
              <a:buNone/>
            </a:pPr>
            <a:r>
              <a:rPr lang="en-US" altLang="en-US" sz="3100" dirty="0">
                <a:latin typeface="Calibri" panose="020F0502020204030204" charset="0"/>
                <a:cs typeface="Calibri" panose="020F0502020204030204" charset="0"/>
              </a:rPr>
              <a:t>IBM</a:t>
            </a:r>
            <a:endParaRPr lang="en-US" altLang="en-US" dirty="0">
              <a:latin typeface="Calibri" panose="020F0502020204030204" charset="0"/>
              <a:cs typeface="Calibri" panose="020F0502020204030204" charset="0"/>
            </a:endParaRPr>
          </a:p>
          <a:p>
            <a:pPr marL="0" lvl="0" indent="0" eaLnBrk="0" fontAlgn="base" hangingPunct="0">
              <a:lnSpc>
                <a:spcPct val="100000"/>
              </a:lnSpc>
              <a:spcBef>
                <a:spcPct val="0"/>
              </a:spcBef>
              <a:spcAft>
                <a:spcPct val="0"/>
              </a:spcAft>
              <a:buNone/>
            </a:pPr>
            <a:r>
              <a:rPr lang="en-US" altLang="en-US" dirty="0">
                <a:latin typeface="Calibri" panose="020F0502020204030204" charset="0"/>
                <a:cs typeface="Calibri" panose="020F0502020204030204" charset="0"/>
              </a:rPr>
              <a:t>  </a:t>
            </a:r>
            <a:endParaRPr lang="en-US" altLang="en-US" dirty="0">
              <a:latin typeface="Calibri" panose="020F0502020204030204" charset="0"/>
              <a:cs typeface="Calibri" panose="020F0502020204030204" charset="0"/>
            </a:endParaRPr>
          </a:p>
          <a:p>
            <a:pPr marL="0" lvl="0" indent="0" eaLnBrk="0" fontAlgn="base" hangingPunct="0">
              <a:lnSpc>
                <a:spcPct val="100000"/>
              </a:lnSpc>
              <a:spcBef>
                <a:spcPct val="0"/>
              </a:spcBef>
              <a:spcAft>
                <a:spcPct val="0"/>
              </a:spcAft>
              <a:buNone/>
            </a:pPr>
            <a:r>
              <a:rPr lang="en-US" altLang="en-US" sz="3100" dirty="0">
                <a:latin typeface="Calibri" panose="020F0502020204030204" charset="0"/>
                <a:cs typeface="Calibri" panose="020F0502020204030204" charset="0"/>
              </a:rPr>
              <a:t>Samsung</a:t>
            </a:r>
            <a:endParaRPr lang="en-US" altLang="en-US" dirty="0">
              <a:latin typeface="Calibri" panose="020F0502020204030204" charset="0"/>
              <a:cs typeface="Calibri" panose="020F0502020204030204" charset="0"/>
            </a:endParaRPr>
          </a:p>
          <a:p>
            <a:pPr marL="0" lvl="0" indent="0" eaLnBrk="0" fontAlgn="base" hangingPunct="0">
              <a:lnSpc>
                <a:spcPct val="100000"/>
              </a:lnSpc>
              <a:spcBef>
                <a:spcPct val="0"/>
              </a:spcBef>
              <a:spcAft>
                <a:spcPct val="0"/>
              </a:spcAft>
              <a:buNone/>
            </a:pPr>
            <a:r>
              <a:rPr lang="en-US" altLang="en-US" dirty="0">
                <a:latin typeface="Calibri" panose="020F0502020204030204" charset="0"/>
                <a:cs typeface="Calibri" panose="020F0502020204030204" charset="0"/>
              </a:rPr>
              <a:t>  </a:t>
            </a:r>
            <a:endParaRPr lang="en-US" altLang="en-US" dirty="0">
              <a:latin typeface="Calibri" panose="020F0502020204030204" charset="0"/>
              <a:cs typeface="Calibri" panose="020F0502020204030204" charset="0"/>
            </a:endParaRPr>
          </a:p>
          <a:p>
            <a:pPr marL="0" lvl="0" indent="0" eaLnBrk="0" fontAlgn="base" hangingPunct="0">
              <a:lnSpc>
                <a:spcPct val="100000"/>
              </a:lnSpc>
              <a:spcBef>
                <a:spcPct val="0"/>
              </a:spcBef>
              <a:spcAft>
                <a:spcPct val="0"/>
              </a:spcAft>
              <a:buNone/>
            </a:pPr>
            <a:r>
              <a:rPr lang="en-US" altLang="en-US" sz="3100" dirty="0">
                <a:latin typeface="Calibri" panose="020F0502020204030204" charset="0"/>
                <a:cs typeface="Calibri" panose="020F0502020204030204" charset="0"/>
              </a:rPr>
              <a:t>TSMC</a:t>
            </a:r>
            <a:endParaRPr lang="en-US" altLang="en-US" dirty="0">
              <a:latin typeface="Calibri" panose="020F0502020204030204" charset="0"/>
              <a:cs typeface="Calibri" panose="020F0502020204030204" charset="0"/>
            </a:endParaRPr>
          </a:p>
          <a:p>
            <a:pPr marL="0" lvl="0" indent="0" eaLnBrk="0" fontAlgn="base" hangingPunct="0">
              <a:lnSpc>
                <a:spcPct val="100000"/>
              </a:lnSpc>
              <a:spcBef>
                <a:spcPct val="0"/>
              </a:spcBef>
              <a:spcAft>
                <a:spcPct val="0"/>
              </a:spcAft>
              <a:buNone/>
            </a:pPr>
            <a:r>
              <a:rPr lang="en-US" altLang="en-US" dirty="0">
                <a:latin typeface="Calibri" panose="020F0502020204030204" charset="0"/>
                <a:cs typeface="Calibri" panose="020F0502020204030204" charset="0"/>
              </a:rPr>
              <a:t>  </a:t>
            </a:r>
            <a:endParaRPr lang="en-US" altLang="en-US" dirty="0">
              <a:latin typeface="Calibri" panose="020F0502020204030204" charset="0"/>
              <a:cs typeface="Calibri" panose="020F0502020204030204" charset="0"/>
            </a:endParaRPr>
          </a:p>
          <a:p>
            <a:pPr marL="0" lvl="0" indent="0" eaLnBrk="0" fontAlgn="base" hangingPunct="0">
              <a:lnSpc>
                <a:spcPct val="100000"/>
              </a:lnSpc>
              <a:spcBef>
                <a:spcPct val="0"/>
              </a:spcBef>
              <a:spcAft>
                <a:spcPct val="0"/>
              </a:spcAft>
              <a:buNone/>
            </a:pPr>
            <a:r>
              <a:rPr lang="en-US" altLang="en-US" sz="3100" dirty="0" err="1">
                <a:latin typeface="Calibri" panose="020F0502020204030204" charset="0"/>
                <a:cs typeface="Calibri" panose="020F0502020204030204" charset="0"/>
              </a:rPr>
              <a:t>STMicroelectroni</a:t>
            </a:r>
            <a:endParaRPr lang="en-US" sz="3100" dirty="0" smtClean="0">
              <a:latin typeface="Calibri" panose="020F0502020204030204" charset="0"/>
              <a:cs typeface="Calibri" panose="020F0502020204030204" charset="0"/>
            </a:endParaRPr>
          </a:p>
          <a:p>
            <a:endParaRPr lang="en-US" sz="3100" dirty="0" smtClean="0">
              <a:latin typeface="Calibri" panose="020F0502020204030204" charset="0"/>
              <a:cs typeface="Calibri" panose="020F0502020204030204" charset="0"/>
            </a:endParaRPr>
          </a:p>
        </p:txBody>
      </p:sp>
      <p:sp>
        <p:nvSpPr>
          <p:cNvPr id="4" name="AutoShape 1" descr="data:image/png;base64,iVBORw0KGgoAAAANSUhEUgAAADsAAAAXCAMAAACClcfMAAAAaVBMVEX///8AAAD19fUwMDB4eHgYGBhYWFjV1dXQ0NDt7e3q6uo9PT3KysrFxcWfn5+9vb2QkJDg6PMAW7AAaLUAYLLs8fenp6dlZWWIiIhRUVFeXl7h4eGurq4ATasAU60iIiJwcHBHR0cpKSkcjsCbAAABT0lEQVQ4jaWU63aEIAyEg5ciqwLVrfd2Xd//IZsYsOuptG47P3REPg4howCvKHhGWuuG3dt7VX0czJDGGHWERkKIm2Orur4eTJlxShZi45/Z5Ax7rev6j2xI/2Xlb2xnrQVorO0iMO0St9PGJjRGmuZ7PGj1jUUrAHq8KrqgUuVY1AWtEU7dAZsCvOAt93PEjtXbsOiDrBCDtindNbP5PVZQ8gtNDRc2yBb0TG55OCt6MZJRtGwUYNdyQPGmfY9KvybAuO7omHUtoeXVxnYEsBq0bYC98EC+Ws+2Yqc8wKojdt6zyzOspXrll86wVKfBp4w7w5EKZ2PH0sHEEocW7jf+DeJ1IyfY0edKcqKGdJ8NmYVZ6H0mtzhzSJiV05Q9fguuR4uzrWNh9EFPfL0p/s5KZMuiwNzIoihdERlaPpVyavgbHCfbWcOeAMTwxD8BpKkQRxKD01UAAAAASUVORK5CYII="/>
          <p:cNvSpPr>
            <a:spLocks noChangeAspect="1" noChangeArrowheads="1"/>
          </p:cNvSpPr>
          <p:nvPr/>
        </p:nvSpPr>
        <p:spPr bwMode="auto">
          <a:xfrm>
            <a:off x="-1081826" y="515155"/>
            <a:ext cx="571500" cy="2190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6" name="AutoShape 3" descr="data:image/png;base64,iVBORw0KGgoAAAANSUhEUgAAAD0AAAAiCAMAAADbPCGVAAAAkFBMVEX///8AAADs7Oz8/fqw1IhttQD7+/vo6Oh0dHRxtwBoswB2uQCioqK1tbXW1tYiIiKKioqrq6sqKiqBvjDS5r2amprd3d3MzMzE36er0oDk8NeizXC52ZmOxE/J4rHt9eTb68yAgIBLS0vDw8MQEBBmZmZeXl6ayWO115CKwkOTxllbrgBVVVX1+fAYGBg6Ojpt/reaAAABJklEQVRIie3SW2+CMBgG4Pcr2EIBOcpBOQgF53Ru///fraBbInfqxbKE96Jpmz5t2q/AC2Gv4EUv+m90XphTCuMJvTV3trR15OO6rOqiaPaO7TgrA63v+51ifQAMEetDFUXRIcXga+L73kw3TtK8JU11xPukLQoCIhYROLWMXI8ClwgdARvqopmOza2NU9KckcurBhR5GxKKMjHqFBmpDz1NlqL1vd6eDfuyk/blKOt40hxr8gSFLWHS63Gsdab3IWt27zK+VGWyj09ALX90iM+ut646YwdKtR5oDJ+9Wu0kRWU2hj5anz3ctL68QkqbcCQtvohTAK7IDfl9xYy6zItYytVYMSYALjj4rcMZY3q9bsTIBEvn9f79LeYzv+XxLHrR/0R/A8+mEeTIw665AAAAAElFTkSuQmCC"/>
          <p:cNvSpPr>
            <a:spLocks noChangeAspect="1" noChangeArrowheads="1"/>
          </p:cNvSpPr>
          <p:nvPr/>
        </p:nvSpPr>
        <p:spPr bwMode="auto">
          <a:xfrm>
            <a:off x="-954826" y="-732620"/>
            <a:ext cx="571500" cy="3238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7" name="AutoShape 4" descr="data:image/png;base64,iVBORw0KGgoAAAANSUhEUgAAADwAAAALCAMAAAAUXR5VAAAAdVBMVEX///9/j+bIzvNAXd54ieUAMNg3V92osu3y8/wALdeYpOrByPLb3/cAKtf19v2vuO8APNlhd+JHYt5ofOOPnOkgSNsnTNu3v/BccuHP1PXi5vkAONkPQNr6+v4ANNiFlOfr7fufq+xNZ99UbeAAI9YwUtxvgeSm3NiVAAABQklEQVQokY2RwZaDIAxFIyAoolhE0YqtVOv/f+IkdlZ1MZOFISE35+EDANa9uS/gO1K6tK6RlXqqxof57gvxN1vVJyb6y9J/wONnpsmZpdMtgHE7ty+Ciy6PHutaMoCF4zsMnRRfcLDD6d5+lgwqbZikanJhQowED6Nhaq21UfsEoUVxWYvM0Fq4z/OdpnEpKo/2hLlVb0xqhiybyoXk3z4fl/oKHjZfpj5x8GL0AE+H8B5MfU/jCWtKjOBqJknHk5a5Ym98x94gg/DLvvZTiABrjpf+JQ9Q9M9ay3K0rUPZ2VpPxFGba72hVKfwwdFA57CZ462J8dj6A6BonZe9gtsspHyAOMDXYpSwRTHIJQ8ArmygKTlZpNGg7nRLW4cFFEmv7E511VRgcPGk00p1gAZZMIxeRNYGVLeGX8PCxeb/xA8O6hQhgHoB/QAAAABJRU5ErkJggg=="/>
          <p:cNvSpPr>
            <a:spLocks noChangeAspect="1" noChangeArrowheads="1"/>
          </p:cNvSpPr>
          <p:nvPr/>
        </p:nvSpPr>
        <p:spPr bwMode="auto">
          <a:xfrm>
            <a:off x="-954826" y="-397658"/>
            <a:ext cx="571500" cy="1047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8" name="AutoShape 5" descr="data:image/png;base64,iVBORw0KGgoAAAANSUhEUgAAADwAAAAWCAMAAACrFQ8QAAAAk1BMVEX///8AAADU1NTm5uba2tru7u6+Ny+pqam/v7+Pj4/6+vq5Ggm7JBnIyMi2AACdnZ2WlpaAgIDanJq8KiC5FgD05OP68vLDTEbAQDmvr661tbW9MilpaWhMTEwgIB9aWlpycnI9PDzXlZLv1tXco6HThoPVjovjuLboxMPOdnLEU07gr67Qf3vLbWknJiVFRUUzMzKJwCdVAAAB00lEQVQ4jaWT6XLiMBCEWxeShWVJ5go+kIEEshuCef+n2zFmq/IDarNkqqyRVP1ZrRkb+Gksd+XuebiYzbFYPAlPJ7P969ti+SQ8fz0siqJ8ArbT2XFZLI/T/4bfJ6vVJH/f18vD7IWMc72utFbfpH/lk0n9++N0yifTPaBNYMa47569qvN8dziu6rq4VlwyyJSSd1uHZCC3tOe7Rt43XuxPJ2BRfO6va85gGSDQtSYDuksFQy+4Dw9RlGX9cZsTrFjsONBvAJWZDa1ZtA/hcp5/4isMRTXrGUdIHY0w6fz44i/z8gtsmVJ0YWmYTWQ8VQ7mHiw0H5It/7qGyYQMWRZcRp7Detjgvsvu2mb8sZ9/BpNuqxAqRe2RbUqtaZumszECjWxoROt4T63jW4HMkCDFQXuDBWPQojWwEsQIJtH6MHQJHRPQTAhqnSKZrYyludpWsHaEpW4vWmq28RhgsMwnNcIxNVRzgmMjhU8b7YZvCP6qvcEkkFBrFkbY+B4ZwRGdYEkOsFVWeLRUoAGG0szfYMpnGQVaPcKcDjdnpXo0iC0GWAjHA3AZT47C9tQGyOA4Zau4z+h30BoqOHqsi9SdIJWgNacSaK5JJuCCwKj9UfwBTAkeHHOdxGYAAAAASUVORK5CYII="/>
          <p:cNvSpPr>
            <a:spLocks noChangeAspect="1" noChangeArrowheads="1"/>
          </p:cNvSpPr>
          <p:nvPr/>
        </p:nvSpPr>
        <p:spPr bwMode="auto">
          <a:xfrm>
            <a:off x="-954826" y="-62695"/>
            <a:ext cx="571500" cy="2095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9" name="AutoShape 6" descr="data:image/jpeg;base64,/9j/4AAQSkZJRgABAQAAAQABAAD/2wCEAAkGBxMSEhUSExMWFRUXGBcVFRYVFRUVFxcVFxUXFxUVGBUdHSghGRolHRUVITEhJSkrLi4uFx8zODMtNygtLisBCgoKDg0OGBAQGy0lICUvLS0tLS0vLS0tLS0tLS0tLS0tLS0tLS0tLS0tLS0tLS0tLS0tLS0tLS0tLS0tLS0tLf/AABEIAKEBOQMBIgACEQEDEQH/xAAcAAAABwEBAAAAAAAAAAAAAAAAAQIDBAUGBwj/xABKEAABAgMDBwkEBwcCBQUAAAABAAIDESEEEjEFBkFRYYGREyIycZKhosHwM2Kx0QdCUnKj4eIUFSNjwtLxU5M0Q3OCgxckJbLD/8QAGgEAAgMBAQAAAAAAAAAAAAAAAAQBAgMFBv/EAC8RAAICAQMBBwQBBAMAAAAAAAABAgMRBCExEgUTMjNBUXEiYYHwQhTR4fEjNLH/2gAMAwEAAhEDEQA/AIYaBNMttAvS2qmjZUJnt0qIIxnOa9Y5o8ZHSNp9RsTaBIb05BewVMtCyItj9aeY2I7SUdWSn9K47tmnj5ThjSMVE/e0+iqRuT3k1VtAsIYEJFZxriuchWm1xDIkUpMKyypl+zOglggycRIUAltmo9gy1CgON9l+khhQqmy/lJloi3w0MGEgQO+gWVjS3fCGNPW5YSXJVETQdDI0KZCyjCh83kXE6C52P3btFZmDy0NzmMcQAC4Sq3rS9erqsfSmdG7T3VpPGUZ5CSUUlMGQUkclIsdnvFWLrC0aFZRbMp3Ri8MpZI5K5FhaVCtViLcMEOLCN8ZbB2a1hokVEjvvGaSQhJRkvGCTyhJajEMqXk+BedJXbbG0aFZQyZ26lVvBS2SwEmZwU+JYWqXHcGhV1qLiJzVsJIX7ydjznBIh2dg0JQazYqcxTrKReKjrNO4b5ZprLHY04hSIcdjvW1ZAuKWyM4YFHWZy0ed8mkj2Vjk3AszYbr4AOwqkZb3jSnP3k6anqiQtPatkzVPtlliiUSFcOsCir7fmJZLRWDFAcdEwo8C2Mc2RlNVMW0Fj5scRLCRWVlcZLc1087FJ42ZQ5zZoxbI6XSGsLOuaRiJLpxzgc+kUB42p39yWW0tm2QdpaUhZ2fGW8Hg6dfaU4bWx/JypBazKeZsVszDaSOpZm0WZzDJwIXOt09lfiR1KdTXaswYygggsDcCCCCADBQRIKQOjMybrT7MnBauNm9EbgLwrgosSwvZ0mkDqXqouD4PFTvtXJVQMnieCnCwnQNak0B3hTGRRLipbxwL9blyyLZ7KNKetYEj1qttmU7pUW1WqLdv3XXdcjLij5JjXJrZFflWGJzWbtVs/ihgJAo0y0knDdRW8aKXGZVDZbI82pr7puiKAT1VNFzO054hhep6Psur6t/Q7Hm5ZIEJgaGgukJ80uPWcU7nLZWRILg2bXym1zQRI6JnVsUXJcGC8Te0lwqOcanXKcp7U+XwohaIsEG7OUywkaiJEnBeVzvk9T3e2DlllilwM8QZHRoCfkpGUbByUeMACGOeXMmCAWkDAnETnUJmS9jpZOVMX9jyWpio2yX3H7BFuuV3EAcFnQpcK2kJuLOddU5PKJkNr2nGYU+G0OFVWMtw0pwZQAV8oXnXN+g5a7A2So4jJGSs7RlGdAq1xmZrOePQZ06ml9RIydFuuV7EfMUWZCsLBajO6VMH6FdRV1fUgrY54NU261zEpKytg5pKpCiWxNOJR4EopJSElQZEkIpJckUkBkSkkJZQIUEiZoiUoNTgszjoRhh1JcjCNjyDMFLfBI0JLIZOCNycpot7DnJGhi7MOG0TRxG2e1c1zbrzwVO9hGKS10qhH2Zm6o8xeH9iJnNmg+zOA0Oq3Udk1mrRZnMMnCS6nByyy0MbBtNQJSdpCdyjkCzxQGwXB4GIOKSs0MZ7rZjdfaUq8RsWTkKC2WW8yXs50IOOtsj3LJR4DmG64EHUQuZbp51P6jq0amu5ZgxpBBBYG56DsmchAAe2ZrXBMZVy6YjbgaADjpWTstum6utW8NwK9Uq4ZykeIslbFdLZqIOSIUSCCAQSAZ7epUEdvJktJnIyTjstvYy6DIS4b1nLTlMkk7VEIyTfUwcFal0Ibyk/nBaK0ZyQXWTkrpvXQ3ASppmsg95JmUkBEt2ORrxFIDjVR35SiWYOc1rXseZua4dF0g2+04igAUuFCLnXWguccA0EngK9ycyrYORYRHYedNoZNpN6nSlVspzlik9aq5VtT/B0NHKcLE4F/kPOCGWXIlJiRmMQdKtIbLLCDXtcObMtA0GUp7d6o80bFAtkAQybsaGGtcDpGDXdRkri25vw4MGI80LWOM5zkZGq8m1iWD1cZ5jlGOttoL3E1lW6DoE8EykZHvR5t5ocMLzg2/wDdJpNSY1nc3pNI0V19YXsKLK3FRgzyF8LFJuaGJIJZCKS3F8iUEqSCkkSglEIkBkJLgukQUmSOSCHuXgIc3rVTabMWp/J8QzloU61NElo90JpuqeCjkiThbWiWyzOOAPBZ4G+pDCNW9gzfjRTIMIGkmnxWusuaMBoAfeJlU4AKspqPJHX7GAg2cuUg5NOtb05twXezcRwKr8qZDdCYXNN4ATOsKY2QexhOdq3SMxDswaifamhRbTaC4yClQLKAKrX4IccLMxbIjXfmnYENgM0l1laRRQY9leMCSh7FElLZPBYWqExwVHaIBaUbYjmlXVmaIjahV8Rqm6PXKM6nIUZzTNpI3p+3Wa66mCiELNpocjJSRq8hZ3Ohi7EF8a9Kg5w/s1rJ5twnA4KiCU981GIvlFO6xJOLwUGVsgRIMyBeZrCqJLfWe3FvNdzm6QUvlLN/p9yRn2fBvMXgfhr7IrE45+6EinqXcVJh2xzfUvyUefrDuKLDZxH5Lop4Oc4qXI9FtLnafLvCZHrT8EPXohHLfTr7wjJKSXAQ9afzTb7c2C5jnMEQXqsJIBGkE4jQnZT29/yKzucEecQM+yNuJrp3JbVWOFbaGdLWp2JM2FszwihhZBhQrOHCX8FoDt78VSWu2F4YxhuNhzDQMbzhN0RxPSc6eKrYbr0RtdBHCoS7NEF8g4BwPcuE3ndnbUUlsHZoj4USbXuDp9IEgz0Lu2febEaPY3tgPN4NDroFYoFXQydExhtAmuEvcHRRqc9oG9wA+K9VhZyim02XjJpbHlCyBwdJpIAxGFQdWgzT5tDr9XEHXNdR+kvM4Q3Pt0BpLTN0djdB0xWjvI3rk9vig1CunvsUaLaxxr0wcQU/JU1htEntOh1DXToV4B6/wu7pLOutfY4mrr6LNuGJkhJKl6/wil60dyaFgpIpJckJIARJAJcvJXuZeRRarS1jwTDaC58qUFAJ6K/BRKSjFtkxi5NJDObUVjIk4jbzTSvxWxi5LskUTDg2epwHcrwZjWQYNeP/ACFc5yzkx8OI6GTK6ZdY0Hgsa7Y3P6W0ymo086X1TSwzUjIsBkrkJj9ronkrmBZmtHQa3qGG9cvbAfocV0GFmS8sBba31AMiKTIBxngouxDHVIKK5WZ6FkkF7BMRIoMzhMCQ3JUa3wmATcCKbVhLRY3wXlj53gaz+PUUb7SJSx0CWk6loqItZyLSunF9KW5oMqZZh3C2GCMJEUWNtmV4pvN5R104iZWoi5mWx7A4cmJid0ukRpkaYrK5MyNGtER0KE0Oe2ZImBgZGp2ojOtJ9L4N4ae3qzYt3wIsEOkyl2yPISCv25o2xolyB3OYfNUmUchWpk3PgRGjXdmO6a072GNmiFRNzbkmV0O0uGlToFuBxVZJS8l5OfaIghMLQ505XnXQSBOU9anqxuXlTGexNutNaJ9sRrVIiZh28f8ALB6ojfNRYmaNvGNnfuLD/UqrUQ90VlobPXIshr1HtOTG6EQyJbIZmbPF7JPwR2i1vhyERjmnU5pB71dWRkYy091b+ngo48ItMk2pVsih5moxCzaHYN43EorqlRIAuzUWahovGWSeK/kQ7uNUPVJt7jRHdntHUHjiKoDZ3GfhdVWMQiJbOsFveKIS098pjtNRih/MsPA0QIlXDrBb4hRBJLySYfKN5QTZMXpSdT4rG26I2Na4jmiTC95b90E3cdgC0GUIl2G53u0Mg6pp0gs1k4Sm7V8lzO0J+GJ0ez6/FL8C8jwjEtbYYcBecWzdMATGmXUpdns5baXQXNm6bgQK84YASx/NN5oQS60coWktaHFxGidBXWuk2Hk2OMSG1rXO6bgLz54TmZyouRKzDwdqFXWjJxclGFFhNfDLXcpBJFDIGKyU5Gm9ekBEXKso2uBDhEmQaJOLKm88Va6I7FxmMAum2Sbmg6wq9TkE6+kVbSCxwNaafgvMWc1lEG1R4DeiyI4N+6ZOaNwcBuXpu3tkw9S8055u/wDkLST/AKh/+jFeHJmykhEmgxbVbfJFjMZgiOPJtu3g5zSbxAwBEp1Co8zclMtEYl5BayXMLnMv3piV8dEjHauhZXYyFZ+RYAGNZd5NwJLTMXS06dKZp1Mq5dEfXBlbpI2Q7yfCyY/H1P5FH69YFK2ddMe414IpeVPydXgV6E84EPXrFDH1P4V7koj/AAfkfIoH1P5GvAoASPX5y8wupfRbk67AfGIrEcQPuN/Oa5jChFzg0VcSA0bSZDGuO1d6yXYxAgshDBjQO6pSesniKj7juhrzNy9hhuVmG1Osv1gxsTrmTMcJFZb6R7JduWiVOg87cWnyWdiWi0tt5tfJRZcoT0HezBukYfZXTcr2FtpgPhHB7aT0HFp4pZLuJxkjeS/qa5wa+DjQtbV2vJrpwYZ1sYfCFwSNCLHOa6jmktI2ih9SXdM3XTssA/y2fALfXPMYsW7NrUJyKnPbIBtEMxIQ/isFPeb9nr1LPfR/m4Xu/ao7aNJENrhLnA1eQdWhaLNzOLlI0ayxDKJDe8MP2mA03hWmXMqsssExX6KNaMXO0NCX7yyMe6G+5plPvvbksCuWZgm7lKI3/rDg/wDJdFyDazGs8KK7F7Q4ywmcVznNUXcrxB78ceJxRSvpmvsTfL6q2vc6Dl7LLbKxr3NLg512hAlQmdepQcnZ3WeM4MM2E0F8CROqeChfSaZWRp1RG+Y81zmBGvBbafTQtry+RXWau2m3bg3ue2aDIjHR4DQ2I2rmtEg8DGg+suYF0iHAyIIIIoZzxXcM17UYtlhOdUyLTtLSW+S5JnPk0QrRFa3APMhqBqPitNLJ5lXL0K6uMcRtjtk6JmNnULUzkopAjMAxPTb9obdYWsBXJchZpuNljWqJNp5NxggEgzA6Z8lQPjx2YRYktj3fNZvSxnJ9DNVrHVGKmuTvJXLvpch/xYLtbHDg5XX0XWyJEhxuUe55D2yvEmQLcFX/AEuw/wDh3ffHwKzpj0XdJvdNWUdSObSRFLISHLpHLRNsxaWEFR7jVGmimp6iFVy8lgZTrIHaDDPEURunKs5e8A8doVRs2Tl7jg4dlySANk9hMN3A0KCoY2VHukPHZNUTdkhsBLD2TRG8fa8bf62pVZaZbJRW/NACrPY2xXBjwJGc7zbtBXEUKn2rN2wioDidTHFjT161VkUk3H3XEcWFMC2uFNy4XalVkrYuPseg7JnWqpKT9SwFohQC5obcY4gi40kSAldpORFTPTNVMfO5jCWwWl21xutO7Eqmy3lp7yYYm0AydrOxQbLDF2ZCRjDHI9O3G0OCxiZWixTzjOhwFAJaBoXqjJbv4TPut+AXliwOHOAAqF2bI/0lQBDYwwY15jJH2ciWNqBz9MqTVmjFPPJ0HKHQK8z/AEkTh5RtA1ljhtBhMrxBXYI30nWQw3uc2Ixok2ZumrpyoDNcaz7ynDtds5WGbzSxgntF75hEcgxjNK3hkVwkOcJEnEATmB1rZWm0F8ORB0ET5xn1TrKqw2Q7NOKSPqgHAmhWrnOmIGqTxwoQm9LppSsU/Qw1OqhClwzv7CZaO7HwurwKKWju/S7yKUDOmOwG94HV4IA6O7DwO8l3jzwWzuw8LqcChKVMNnR7jQozSmGzDwuodyPDZ4e4zadyCDS/R5k7lbW0kc2EC80IE8G0wxJw1LqGWcqw7LD5WKSGzaKVJJ2Llea+c/7CHgQWuLyCSXFlAKAULe9KzrzrdbGsbc5NrSTK90jgDOUikraZ2W7rYfqvhVVt4jcDP6x6XvHWxw71bZHy3BtV7kXE3SL02uaa4Yrhxps8Pw5pVzmpl39ijcoQSxzbrmiQnpBB6MwepRZo4qL6eQr1supdXBa/SZknk7QIzRzYorh0248RIrfZounYrP8A9MLE50Z4We12cw+SitdMOYXcnIOG0E6FLzdz4s8CzQoMRsS8wSJDWyNTgZqk4WSqSxui9dlcLpST2aMpnBGdCt8Z7CWvbFLgRiDjor8UjODOCLbHNdEkA0ABrZyB0u6z1JnOC2NjWiJFbMNe68L1DgBgTLgVXu9ej5FOwgsJtbiM5vMkns2dqzJdOw2f7kuBIWJyZzctOGuLE72kq4zRzqssGyw4UWJde28CLrjpJ81nYVvhnKv7Q138Plb16uBZImWOOxJ1wkpT29GPWWR6K9+GjZfSVDnYnSxD2HxLmNgsMQkBrS4mgAEyux/vyyuFYrCNpQGVrI2oiwh1S8lFF0qo9PSyNTTC6XV1rArN6wmBZ4cN3SAm77zpk/FYcNh2nKUnVY6I7fdaZbptVpnJnm0NMOzzLjQxMABpujEnas7mmJWqCfe/pcPNa01TUZ2S2bTFtTdW5V1Q3SaOl5UhzgRGgf8ALcAB906Fx4sJxaR1tPyXbVEyjaocGG6LEkAOqp0AbUvptQ68pLORzWaNXYk3jBk/o4bLlm4dA/EJ36SbMHwoROh572n5Kks+c7xaOXkLpoWCQ5gwFNK0GeFrZFskOKwzaXgg9bXCSYlCSvjNrkThbF6ScIveP9zlz7EJqFaoN0rQPbVRbbZg4LoSjsc2q95WTPOSJqRHs5am+TOpY4OlGSa2LGJL634jZHttSgDL60t0VvzRtBlzbwHuOD29k1SBKdLpOwmE7hgpMMhw/dl/2Ou8WOROlplP3gYbu0KFG8/a/EZMbnhG0GVL0vccIjeyaoIA8HTOXvtDx2m1RNdSk5CfRcHjsmoQbKdLs/dJhu7JokWtvNcDQkGV9l04fbbQqG9slo84MHaHXnuOtxOrSdCntAuBVxanjFJEl5yXJ6VE6yA3pbJqO60kPc4OqSajAzoUxyrgZgpIUYAetVpc6c3Tn1AU2BIsjRMb0UpouSIwKkC3zfjDlqyEwZTJFRXEYLTkTqa7SA8dptQsvm0BysnA3pTYQ67IjEVoZg6VqXUNaH3gYZ7baFdjQ+WcXX+b+AhUaxuiD+4IN1CuwG8Ow6oSnt0ni4A/iN80Ma4jXSIOIk4J0SEt1DgDLwPpwRilMNnQ8J5p3IxXCuwSeOy6oQbqB3A//m/yQAnD3fB82lDDZ4e8TaUoUphsHMPZdzSiwOo74Z82lABYVw29HxCbTvCAps24eJsxxCMiVcOsXPEJtKBpXDbh420O8IAIUr34eJtOIQ29+HiExxCOWnvw8bfMINbp7/1N8wgAMYdHreJjiFIhWMnZ8P7VMstnpPv/AFN8wpLHAHzw8TacQrpC07nwiv8A3f60d8x3qbZLKG47PUj5FSL4lPvw8TacQodotV3D5DiKHuUmLlOexJtce6Nu/wDz3lVP7Wb3r13Ju0Wgu6u7zB7kxL0fkfIqGzeulJblvDiB3r0FJgWkw3B7TJzTMHaqFkQjT8f8pTrQ716+IU5ytyr07zlM0UbPm2NMhEB62NVVlrOK0WoNEV4IbgGi6J6ztVW46fXy+CKXr181kqoJ5SHe8m44bZcWPoo42UnthmEDzC4OI94TrsxTNinKRSI8ls1lCEdpsP8AbBJQ4mUVFjYlMOVHJjUNPEtoUQPTtxqo4UYtNFJ/eOxSpr1Ilp5Z+kkGRP1CdoMJ3ySokwOdeA/mN5RvaFUZJAkS9o1RG8o3tBBjdLRvgv8A6Csy4UJv2QeuE8EdhyKQJ+qTtnCfxwKDpE1ukz+u0wn9oJx0wK3gPebyrOIqFIMTEmBzpgfzG3x221QY37M5fy3B7d7ChCH2fwn/ABhlE6Rxuk+8DCfxUAvYwNoEnu+8fiUkIR+m77ztM9J0omrzj5PTR4FpM0pNxlBIsT0I7+uiQwpyaALPNyz3o17Q0E9G9iCBNukVK1jPd4MdLjDesrm27+MMJXTi4t1SqNK1jxhenL3miIO22oXY0K/4/wAnE17fe/gQAAdAOycJ3fzSjeNJx1uaWn/cbTilNwpMj3SIreyahEw6G+B10/7bqJ0SA4TqajW4CINzm1CIV2jrEQcDzgjMgayBnpnBdxwKDxpdxe34RWoIyENQrsBn+G+vBBtKYbAS3wPodyVKY0kbQIre0OcEBUUqPdIiDsOqEBkRhsOycM8DzSgRIzwO9h7Q5pSm6gdwMvw3pyBCrLDjDPZPNKAbwNCGce808bacVIgQDOZ4n+9vmFYwrKG6JY64Z49Ep3kwKkS2nmHtt5pVsGErs7IVDbSffj4214hQLRDJqDvx8Ta8Qp7jIT75S/EbTiFHia+/Hxt8wpMYvG5Dg2gjHj+pvmE3aYk69/6m+YT1og3ucOPS8ba8QojoRxx2ivibUbwoYxBRbyMy09/6hTiER9YAcRNp7ksjT3/qb5hFt7x/c3zCrg2E+tH5t+CB9ej5FHt78O8U4hFLhwHGrSpJEketPz+KDBX164hGfWj8uBQP+J/n5FGQLNlG09eXwTUWCSJoWeLPr7/n8VNDhJaciTbizORRIkJhxUy1tm4y9eutRHtOr1661izpQeUhlyQnmwScAnP2N2zj+arhmnXFepcQLKZTaHN2wn329kpDoAJkeTeds4T/AJKbCDXVAY464buTf2SkWmLKQc49UZkx2gtDn9bz+/7C5GQkb7RqiNERvaFUk2SVWt3wX/0OT9kdSbQ5tMYTw5u9pS48Rrp1huO0GE/ipK9TyVbpEyJY46ojTDd2gnjCcBW+0S+sBFZxxRucQal7Rqe0RGcQnYY0tG+C/wCLCqo0cv392Oc5WYBGiASleMpCQrWgUZqm5wH/ANxFxPOxIkcBiFCYvO2eN/J6mreEX9kKCbimqcT5sE4JjTwdduyOGsHrVVFvgs5JckVqcammlOtUEss83yeXZdmMZyF4yumdNOha5kp0uz9wmG7smhWNyMZR4fWRjdxB+toW2iTlzpy/mNERu5zarr6DwP5OL2j5i+Bt/vSn/MaWO7baJbgZVnL3gIre0OcEcMGXNnL+W4Pb2DUImynS7P3SYT+BoU8c/IUPDmzl7hEQb2OqETMZCU/dJY7sOolRPex/mNundEbRG4GVb0tsorOIqEBkQ6QxkD7wMJ3abzSje37WGt7abojUcPDm4fy3TG+G6qDZA0kD7pMJ3ZNCpAKRI0kdQit49IKfk9sxSuxpvjsOqoDxWZkD7wLD220KkQ4sulhreL47baoRSxZReMIwEuppunD/AE30UWI2RxkdVYZ4dEqO22U0kborf7gnmWkSkMNTXXhvhuqNysLdLQ2Jg1pjU8w8RzSjtDaTw2nm+NtDvTbYwnQyOppuHsOoUtz9x3wz/aUE4ZHZEnjxP97fNSBCmJ9+PjbUb1EuXXTNDtF09ptCn2xpbNuHjbTigtJewcazA1x24+NteKhxLNpHHHxNrxCsi6de/wDW3zCbLZ178fG3zCCI2NFQR/n9Ta8Qk7e/9TfMKdabP9bvx8ba8VEI09+Pjb5hVaGozUkNy09+HeKHeERG7gB5tPclbe/9TfMIYV7/ANQpxCMFwMdIj4fkacCrFrpj18DVVo9aO8UKsWDm7O75K0TG5LYiw2c4+vW8I3tGz13fBSbnr8j5FVNueQ6h+P8An4oeyCv65YJJIHr18Ujlx6n8lXMN5wBNCRP18wtJ+4YH+p3sVVJvg1nCMPERHxw6l6G46ojeTfxREluPKsH+6z5onRdBf/2x2f1I2w7tQ17dsF99vZKgphL9/f8AxiYbQatDHHXDcYb94S4kY4OccMIzJjthJJDtMOIdT28m/ilVYP8AmQ+v+KzjigH+/v8AgJjCKta4DXCffb2CimCfqOO2cJ6DGBxmGscdcJ3Ju7KU9+hzj92Mz+sID9/f1GEzhaRaIgIIqKOMzVo06VBYrPOiHdtDqNEw080zGGg7lVtXn7liyXyz01DzXH4Q4Fr8lWUmx3TfAeHnohzDMmW0YLILoGSYN2EyQwaKwn1w0tKZ0MOqT+BTtCzohH5OdESTrCrDOOxcnGJE5O53ObdM/rCXWqxiUnBwk4sdhNTipL1JtgfKKwiXSGImMZYb1vYbfsy/8T5Hewrn1kJvslPpNwxxGC6FEINCWnZFbcd2wuj2fxI5PafMRLpTrdn7wMJ3aFClOBlzpy99oiN7QqEuRH2wNsorPmkwxpaB1wnXTvYV0jl5CYPszl/LcHjsOSWgaLs/dJhP4YFKfImt0n32mG7tCiU8GVb0vfAiN7QqgMiIg+1+I2X4jUCDL60tsorOOIS2D7M5fy3XhvY5JaBP6s9k4TuGBUhkJg+z+G6Y/wBtySJTpKeycJ3DApbx9r8Rv9bUZBlpluit+agMjbxrx1uF09ttClkmVZy1uF8dttQhDH2fw3fFjkTQJ6J7Jwn8MCgkABOsimqK3gecFZWJkxIasGmfGG7yVbEGvH3xdPbbRTLNHljUaLwDxucKqUZ2Za2Jb4GgSnqBLD2HUUf9kqNB3wz/AGlTRFmNJHWIjeB5wUjJ5F4aRSYaZih0sfXgpyYJtDP7A9rbxEsKkXD2hQo7PYHvJPRl9Z3N8baHeizjyja7PEvQ2zhkSAuzbLqWKy9npHisMK42GDjdbKawnd0rcap0k7X9JvORs8PnRIzDLEAi9uc3FVjct2ONE5J0K7OjIjTXZekuZ2O0OLg2ZM12HN/NyEyC2KGB8THnTFZLOFvWsjF2lVGz3Zm8pWQwnlp3HZ99vmFEI09/6m+YWjtmRbRFeXFsjtIHiaVX2rIkZky5hpp/U35JjKMIz23Kp2vvw8TaHeFMs8cSx8hxFCob6fPDxN8wmSSK4bcPEKHeFOcGjgposLRHkPQ/SVTx3zNdw/I04FOPceru7xNp3qbkiwMfefEdchsE3HDgKtKrJ5NIxjUssroFme9wa1pJOGM++verH92Wv7MTx/JKt2f0CC0NskKbhQPcJYHUoP8A6p2v7EPgUpLVVReMm6o1E1lRx8l/b/ZblUZA6Z60EE6/EjnQ8mRJzhwHWnshdBGgoXjJl5KKy3e1CvI3sz1BEgiPLIs/gc2zg9seoear2o0F5/UebL5PU0eVH4FnSt1Z+k3qb8Aggm9B4pCPaXgX5GPpB9nB63fBYoIILLW+czTs3/rR/fUkWfpN+834hdPtnstxQQTXZv8AIU7W8Vf5IWQtKZyn7Qdfmgguj6HLXmssrZ7PcomQ9O9BBS+UZry2M2n2yl5W6AQQUov/ACiLsHsuChZN9o7ejQUexHpMGUvaN3KRlP2aCCPct6xDsHsz1JnIvTKCCj2KvwzJg9qFOt+LPWlGgrC8vQ1sP2PFcPzs9u/rKCCQs8DOvoPMXwV2Qf8AiIf3gvRlm6I3fBBBZ1+D8m+v82PwVOX+id3mizf9k71rQQW/ojmerMFG9s/rPwVfZPaFBBMM2r4fwNQcXqbYf+CtX3fNBBVlwzWfp8o5yUEEF5tnoz//2Q=="/>
          <p:cNvSpPr>
            <a:spLocks noChangeAspect="1" noChangeArrowheads="1"/>
          </p:cNvSpPr>
          <p:nvPr/>
        </p:nvSpPr>
        <p:spPr bwMode="auto">
          <a:xfrm>
            <a:off x="-954826" y="272267"/>
            <a:ext cx="1114425" cy="5715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0" name="AutoShape 7" descr="data:image/png;base64,iVBORw0KGgoAAAANSUhEUgAAADwAAAA8CAMAAAANIilAAAAAY1BMVEX////f399wcHDs7Oz5+fnLy8soKCiMjIzc3NxqamrIyMiJiYnp6en09PQiIiIAAADT09MQEBA9PT01NTVCQkLAwMCfn59+fn5JSUkXFxdWVlaYmJhlZWUvLy+mpqaSkpKzs7Nn8N5YAAABAUlEQVRIie2TSXLEIAxFhQUeENCecA+ecv9TRpBl3FDVi2TDWyDZqu+SpQ9AoVAoFP6Vo6uqqiOzVZETwYZ0E1xbQ+lIiI0IGNnGKFoBMW0t1+I7kxDfB+fc8yVuNeNc7V42piOAHzg+7wmxlIgoJUiLaMODiSkaCYg/pRTd+AhBT5MCqOdJQj/N87jAzmeXlAL0SoWAWmnvleZ/tFoppdtw9hnxQmf8BjUB4kkJooOaldaVlk/E/UINiTMrvmpbG27ay3zbVwObvuw+EjwyA3uzqrCouKzkqq5M4txwwHED2DlLmeS3PYMrW+Qh8OQy9ry+GJtnJUDuYhQKhULhD/gGUpoPB0Rl2mgAAAAASUVORK5CYII="/>
          <p:cNvSpPr>
            <a:spLocks noChangeAspect="1" noChangeArrowheads="1"/>
          </p:cNvSpPr>
          <p:nvPr/>
        </p:nvSpPr>
        <p:spPr bwMode="auto">
          <a:xfrm>
            <a:off x="-954826" y="607230"/>
            <a:ext cx="571500" cy="571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png;base64,iVBORw0KGgoAAAANSUhEUgAAADwAAAAUCAMAAADm3a4bAAAAclBMVEX///8DTqIATKEAS6EATaIASaAAR58ARJ4AP5wAQZ3z9fk8ZqwAPJsALpeFmsaertDk6PEAOZoAMpjc4e1jgbnL0+Wuu9h8k8IAJpUZVaU1YqtrhrvEzeLU2+lyjL5VdrQAHpMqXKhNcLGWp823w9yLoMi9AA9JAAAB+0lEQVQ4jY2Ui7KjIAxAwxtBC/iiqGht7f//4oK2nXt32+lmRjHoyYMkAnwR1Uz9zY+LXgNCKAzX1pvJfqNAdWbWwslCcM4IRjTBFBPCRFGKcfoMRtMyJwUnmXgjlJchvgMbs5SJ+4C9BNfd32TneSnIF+4QMvwOdpalYMkoIfuFEGf5q6Qgmvdwesefpin6Ge5YcTbogeBVD2zVGhM8t0XS8KBJ0JoPA+arX+QBc/8kbQ8WJsnTo5MpmZyQCKDA1gZIhOoOQCPUbdraij1qoR5Vmc8GgtnkAhvosmtgtRHEDOMpOgOsg+oE9tSpqofL1GTXrHgU2zhOdFpqcYcRvIu2acEAJsmLLJ6w6aYM67vnCEl9+FU6WyrrCWK9QQ19HW2/wQlCcTGgXp41bDuslONp88i2yCcqNnATnBt1gVhF66E5ATrBcgNmoNhholSGz1Fd5me6R1VZPonuDE1l4WxV8nKHNWTb7prum0tqn8LISny1dk5gP/jVt5IGhFHAIZA0BYESNqY9hsarRFwSISV3fPtRXfRsQ5wbAtPU+4jS9JBWRBnbw2KHfSnn3y2p8f/1oii5/2eSuvobTZmQ5dU074YohvLTBFHChXSsNW+n75BpFGWaeELwPu9pDBjnopBO6Nl06jP4EDsZ316H/U+z6mX0t35qvmJ/ACeSH3ZGsTPKAAAAAElFTkSuQmCC"/>
          <p:cNvSpPr>
            <a:spLocks noChangeAspect="1" noChangeArrowheads="1"/>
          </p:cNvSpPr>
          <p:nvPr/>
        </p:nvSpPr>
        <p:spPr bwMode="auto">
          <a:xfrm>
            <a:off x="-954826" y="942193"/>
            <a:ext cx="571500" cy="190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AutoShape 9" descr="data:image/png;base64,iVBORw0KGgoAAAANSUhEUgAAADwAAAAwCAMAAAB64Ok7AAABAlBMVEX8/v/////+///dGSrgREndHy7bAAAAAADg4eHX19fq6+vS0tKcm5qjo6TbABSsrKy4trX7+PfcABuTl5gAAAWys7TExMS7u7xhZ2iJi4v10tF0eHiRkZEAICbv8fJvcnMOJywAExr46OjcDCLiLTjvsrLGAAAzQEJ+f39XXF0AAA0AChMhMjVOVljpk5Twvr723d3nhoezoqHAhIbFnp+cp6fLWl/Wy8viX2Twqaq+c3TLR03VkZObh4biUFbleHqXLjKbU1WvTlHFAA6kZ2q5HCiVdXXZq6rPeXzHlZbpbnGaOj7HYmV0hYWoHya8ysrKNDunu7t3S029ABaqChesg4FT9ZlJAAAE1ElEQVRIiZWWD3vSSBDGdzckJNlsNsk2u4SE0BKQtNJCVSrUO3qKeuqJlav3/b/KzYY/UgVtl6cwhfwyszOz8wahA4tgWAQRtPp8zAKAcp6xOFVlzGT+CB5jJ+2zUnqKJrSkqTo9jdHDcIIpE0SELKf1Ix56YYa4KxOO8QPc5nAdxx78OScthRmYMaIOOZe/dY4lD9UGPjr7DuPYTn5DY54y3jpuB+0gjTMvToMUzJJnAnLXzvJfhY6TXLrorMUqz9SGt8ozcZzKTPPDvjHPMMBHALO9MGfhIRqrLA0SxvunDdZQaSwgbAXRQq1FKUoFm1HtA4ETuw23l26ucP+kcd+zffRU545h5e2nsce38PEKJmsY2auqARw4+2jMaWJnNpOUuYOzczdzYuVk8E1ie46q1xkYYNJyD0yQ/i1zNGwLV5truLQFjWV1Fw1Lie9zVbZWKa7C5j+UCq2zzXCcu41dmFxYQzh6nB+G8RYOctezv5eLjCx/SIidtWNoKygVK6u20h3Gdzss0H1XMi/jmzYlnUvfjIZh+AxuO+48H76wwXMM5lUHPLNwXaqXnXgVNsrpi2azQzQ/sQrTNC1YeDw0raLr+9YUX09f+dbI+WPmW9HkTxxcdH2rmI51qXozfbFl3nQIml4AXFz0en8Fr33j1eL2jW9M4rlvmMbMn/v6R/PG8iPDNP23KpUzP3r3no4io7BGiBALvm7iXGLD9EdjfPu3b+BlLwJY2uhNBPQNR87nwjQmmNWK6IMDrTO0TKOGULiCbYrhOuMay3z0EccA+yPosOUnw7R0qeyuYXTxh8iYuRSiJ5eW39vClKJ/fPBSfLbzGI013JROPr4sTAvxnDozgFHXiHq2JAxDxDplG5jJRa+ArRn+FyEXfxRm9MJjanEFm7lNlDeuGWZXRWbxnAslNm2yhh0dDJt2IVNFbRs2jrXnKmztGfuQWwh7dbK2ngnsWVcibs6A/rT8AcZrGDZu2tqNZpsrOOphVHLr+SJux4uvUJXFtQ47E1yHHS1T6DAd9lLnvPt+qTAh4aQLd9BJNpvhR2xGn8HH7ZVRzJZT7dkBzzcbzzXtGUplGlHtZtq7tIqwOhaQJcv6it8VRffqplsUZmc5geAvAebg0G8q5LwEH344xhOd0yLyrUk1zci0Vhiz4a389/rLfP7k7ttr8fLLkzt4veHBtyd387v5W/kM/p/PX72X4r9388g3PzU3Z4PoquUxQwKN0dK2OXyAmUuajysT5OYWVWbIbVvFuCry7hRiq/Osds/zdoaBYrDNMNgzvDEVqwm3hQm10RoO6c4kSfcMMZxKmNJ6bpdqcHyuyiDzgpNBezW3hWoNGpVZunvmPoyan0YvrrfERjGOjpNqDLG9gxuz7Qzrt+7DeobVWxpWCdorOIScBm1eeixl/f45a/PE44N+I2jH0GEJq8ygTQ/oDXahCiB09RPQw5PB7ujdyE3OD4ospqeQ7fApqGR6PNgjN+KAUq1pFVOnXhdh4+zYDSRIR+YmMKklyI0r7F+xQNsDKUGrjs5d4XAtN8lKbhTIzfn+RO/QSNCdUu3IDeN79fHeIlCNn/XZcaBGD3iWgme4OEkSLpjwWFK9Mk8I96EPgXjPOoySR68d9qL2yDXdUdnLyHjUiir4f8fCi/GDkqmLAAAAAElFTkSuQmCC"/>
          <p:cNvSpPr>
            <a:spLocks noChangeAspect="1" noChangeArrowheads="1"/>
          </p:cNvSpPr>
          <p:nvPr/>
        </p:nvSpPr>
        <p:spPr bwMode="auto">
          <a:xfrm>
            <a:off x="-954826" y="1277155"/>
            <a:ext cx="571500" cy="457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3" name="AutoShape 10" descr="data:image/png;base64,iVBORw0KGgoAAAANSUhEUgAAADwAAAAtCAMAAADFqPh+AAAAbFBMVEX///8DI0sADkEACD+tsLmYnamEipkAE0ObnqgAADgAADQAADwAADYAH0nk5eiRlaIAGUbZ2t0cLVG3ucF4fo9bY3nv8PHJy9HBw8nT1doAAC07RmOLkJ5CTGdWXnSjprFscoUqN1cxPlwAACBFeQgbAAABtElEQVRIie2V2XKrMAyGZVDYEThOvKRJyel5/3esBE3TmYJmmpledNr/Bhv4tFoA8KdfK3KoKKjssWnzbZ2cxu5LY/oy21CeaeyQG1M/nXdbihrMfls9rW251nTpQRYu/fj8KEuNySa+2uKjDvJoOp+LotLgQ2ly6cWhKe9qL2L2xKtup8GNMeUwh5+Zd7VxMctt8AqL3Kd+Py+P7Ts8yl6241Vz/K/nV7I5Rbje6ExCQdmpfUj1EuZCF8vOnCTWFzbbv2iOr+Nbkkt4RT4HfRSzndxGhfXNLct86fVesqjDzWynOd7dK5xdbjfm+s1my0KD6/w+PY1EzmfV5HJmKjHbkBb1UN21k8JK5+bWSvzjRXP8Wc/j0togdW++NmvCdJYXRy5Xffgae2rbWspF/9u6Vkfik3wMLMnYh/DwiH+3grdAaiffxtGuPCPr4Ao0fxxdJLYEGMjFECE4COixArQQ49oBFxh9RXygEDxO4CamXAohYpoGmMieaXAEwyY8USRa4GqC5AIli86yOxQYnV+F2YNFSAg2ADq2EAJWiTynyqgFyytM4HAt55UKofpb+tMP0iuHCBkbj8tsUAAAAABJRU5ErkJggg=="/>
          <p:cNvSpPr>
            <a:spLocks noChangeAspect="1" noChangeArrowheads="1"/>
          </p:cNvSpPr>
          <p:nvPr/>
        </p:nvSpPr>
        <p:spPr bwMode="auto">
          <a:xfrm>
            <a:off x="-954826" y="1612118"/>
            <a:ext cx="571500" cy="4286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5" name="Text Box 4"/>
          <p:cNvSpPr txBox="1"/>
          <p:nvPr/>
        </p:nvSpPr>
        <p:spPr>
          <a:xfrm>
            <a:off x="4403725" y="2237740"/>
            <a:ext cx="4064000" cy="368300"/>
          </a:xfrm>
          <a:prstGeom prst="rect">
            <a:avLst/>
          </a:prstGeom>
          <a:noFill/>
        </p:spPr>
        <p:txBody>
          <a:bodyPr wrap="square" rtlCol="0">
            <a:spAutoFit/>
          </a:bodyPr>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Motherboard</a:t>
            </a:r>
            <a:endParaRPr lang="en-US" dirty="0"/>
          </a:p>
        </p:txBody>
      </p:sp>
      <p:sp>
        <p:nvSpPr>
          <p:cNvPr id="3" name="Content Placeholder 2"/>
          <p:cNvSpPr>
            <a:spLocks noGrp="1"/>
          </p:cNvSpPr>
          <p:nvPr>
            <p:ph idx="1"/>
          </p:nvPr>
        </p:nvSpPr>
        <p:spPr/>
        <p:txBody>
          <a:bodyPr>
            <a:normAutofit lnSpcReduction="10000"/>
          </a:bodyPr>
          <a:lstStyle/>
          <a:p>
            <a:pPr algn="just"/>
            <a:r>
              <a:rPr lang="en-US" dirty="0"/>
              <a:t>The </a:t>
            </a:r>
            <a:r>
              <a:rPr lang="en-US" dirty="0" smtClean="0"/>
              <a:t>motherboard </a:t>
            </a:r>
            <a:r>
              <a:rPr lang="en-US" dirty="0"/>
              <a:t>is a printed circuit board (PCB) which connects the main components of a </a:t>
            </a:r>
            <a:r>
              <a:rPr lang="en-US" dirty="0" smtClean="0"/>
              <a:t>computer</a:t>
            </a:r>
            <a:r>
              <a:rPr lang="en-US" dirty="0"/>
              <a:t>. Some of these components may be an </a:t>
            </a:r>
            <a:r>
              <a:rPr lang="en-US" dirty="0" smtClean="0"/>
              <a:t>integral </a:t>
            </a:r>
            <a:r>
              <a:rPr lang="en-US" dirty="0"/>
              <a:t>part of the </a:t>
            </a:r>
            <a:r>
              <a:rPr lang="en-US" dirty="0" smtClean="0"/>
              <a:t>motherboard</a:t>
            </a:r>
            <a:r>
              <a:rPr lang="en-US" dirty="0"/>
              <a:t>. Such components can include </a:t>
            </a:r>
            <a:r>
              <a:rPr lang="en-US" dirty="0" smtClean="0"/>
              <a:t>Universal </a:t>
            </a:r>
            <a:r>
              <a:rPr lang="en-US" dirty="0"/>
              <a:t>Serial Bus (USB) </a:t>
            </a:r>
            <a:r>
              <a:rPr lang="en-US" dirty="0" smtClean="0"/>
              <a:t>ports </a:t>
            </a:r>
            <a:r>
              <a:rPr lang="en-US" dirty="0"/>
              <a:t>, a </a:t>
            </a:r>
            <a:r>
              <a:rPr lang="en-US" dirty="0" smtClean="0"/>
              <a:t>network port </a:t>
            </a:r>
            <a:r>
              <a:rPr lang="en-US" dirty="0"/>
              <a:t>and an integrated </a:t>
            </a:r>
            <a:r>
              <a:rPr lang="en-US" dirty="0" smtClean="0"/>
              <a:t>graphics </a:t>
            </a:r>
            <a:r>
              <a:rPr lang="en-US" dirty="0"/>
              <a:t>card. A </a:t>
            </a:r>
            <a:r>
              <a:rPr lang="en-US" dirty="0" smtClean="0"/>
              <a:t>motherboard </a:t>
            </a:r>
            <a:r>
              <a:rPr lang="en-US" dirty="0"/>
              <a:t>will always include the </a:t>
            </a:r>
            <a:r>
              <a:rPr lang="en-US" dirty="0" smtClean="0"/>
              <a:t>main </a:t>
            </a:r>
            <a:r>
              <a:rPr lang="en-US" dirty="0"/>
              <a:t>bus which is used to transfer data between hardware components . Other hardware components can be </a:t>
            </a:r>
            <a:r>
              <a:rPr lang="en-US" dirty="0" smtClean="0"/>
              <a:t>connected </a:t>
            </a:r>
            <a:r>
              <a:rPr lang="en-US" dirty="0"/>
              <a:t>directly to </a:t>
            </a:r>
            <a:r>
              <a:rPr lang="en-US" dirty="0" smtClean="0"/>
              <a:t>the </a:t>
            </a:r>
            <a:r>
              <a:rPr lang="en-US" dirty="0"/>
              <a:t>motherboard, </a:t>
            </a:r>
            <a:r>
              <a:rPr lang="en-US" dirty="0" smtClean="0"/>
              <a:t>including </a:t>
            </a:r>
            <a:r>
              <a:rPr lang="en-US" dirty="0"/>
              <a:t>random access memory (RAM), the CPU and expansion cards. </a:t>
            </a:r>
            <a:r>
              <a:rPr lang="en-US" dirty="0" smtClean="0"/>
              <a:t>Expansion </a:t>
            </a:r>
            <a:r>
              <a:rPr lang="en-US" dirty="0"/>
              <a:t>cards offer additional </a:t>
            </a:r>
            <a:r>
              <a:rPr lang="en-US" dirty="0" smtClean="0"/>
              <a:t>functionality</a:t>
            </a:r>
            <a:r>
              <a:rPr lang="en-US" dirty="0"/>
              <a:t>, such as enhanced graphics processing and </a:t>
            </a:r>
            <a:r>
              <a:rPr lang="en-US" dirty="0" smtClean="0"/>
              <a:t>additional </a:t>
            </a:r>
            <a:r>
              <a:rPr lang="en-US" dirty="0"/>
              <a:t>USB ports .</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RAM (Random Access Memory)</a:t>
            </a:r>
            <a:endParaRPr lang="en-US" dirty="0"/>
          </a:p>
        </p:txBody>
      </p:sp>
      <p:sp>
        <p:nvSpPr>
          <p:cNvPr id="3" name="Content Placeholder 2"/>
          <p:cNvSpPr>
            <a:spLocks noGrp="1"/>
          </p:cNvSpPr>
          <p:nvPr>
            <p:ph idx="1"/>
          </p:nvPr>
        </p:nvSpPr>
        <p:spPr/>
        <p:txBody>
          <a:bodyPr>
            <a:normAutofit fontScale="92500" lnSpcReduction="20000"/>
          </a:bodyPr>
          <a:lstStyle/>
          <a:p>
            <a:r>
              <a:rPr lang="en-US" dirty="0"/>
              <a:t>Random access memory (RAM) is memory that is used to store currently active programs and data. The more RAM that is available to the computer, the more data and programs can be used at the same time. </a:t>
            </a:r>
            <a:endParaRPr lang="en-US" dirty="0" smtClean="0"/>
          </a:p>
          <a:p>
            <a:pPr algn="just"/>
            <a:r>
              <a:rPr lang="en-US" dirty="0" smtClean="0"/>
              <a:t>This </a:t>
            </a:r>
            <a:r>
              <a:rPr lang="en-US" dirty="0"/>
              <a:t>is </a:t>
            </a:r>
            <a:r>
              <a:rPr lang="en-US" dirty="0" smtClean="0"/>
              <a:t>particularly important </a:t>
            </a:r>
            <a:r>
              <a:rPr lang="en-US" dirty="0"/>
              <a:t>in multi tasking </a:t>
            </a:r>
            <a:r>
              <a:rPr lang="en-US" dirty="0" smtClean="0"/>
              <a:t>environments</a:t>
            </a:r>
            <a:r>
              <a:rPr lang="en-US" dirty="0"/>
              <a:t>, when several </a:t>
            </a:r>
            <a:r>
              <a:rPr lang="en-US" dirty="0" err="1"/>
              <a:t>prog</a:t>
            </a:r>
            <a:r>
              <a:rPr lang="en-US" dirty="0"/>
              <a:t> rams may be </a:t>
            </a:r>
            <a:r>
              <a:rPr lang="en-US" dirty="0" smtClean="0"/>
              <a:t>open </a:t>
            </a:r>
            <a:r>
              <a:rPr lang="en-US" dirty="0"/>
              <a:t>at the same time. When the RAM becomes full , programs or data that are no longer active will be removed to make space for new programs or data. If the RAM becomes full and there are no inactive programs or data to remove, then an area of secondary storage (e.g. hard disc drive (HDD) or solid state drive (SSD)) known as </a:t>
            </a:r>
            <a:r>
              <a:rPr lang="en-US" dirty="0" smtClean="0"/>
              <a:t>virtual </a:t>
            </a:r>
            <a:r>
              <a:rPr lang="en-US" dirty="0"/>
              <a:t>memory is used to expand the amount of memory available to the CPU. </a:t>
            </a:r>
            <a:r>
              <a:rPr lang="en-US" dirty="0" smtClean="0"/>
              <a:t>Virtual memory </a:t>
            </a:r>
            <a:r>
              <a:rPr lang="en-US" dirty="0"/>
              <a:t>is very slow because secondary storage access times are </a:t>
            </a:r>
            <a:r>
              <a:rPr lang="en-US" dirty="0" smtClean="0"/>
              <a:t>thousands </a:t>
            </a:r>
            <a:r>
              <a:rPr lang="en-US" dirty="0"/>
              <a:t>of times slower than RAM access times. </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RAM </a:t>
            </a:r>
            <a:r>
              <a:rPr lang="en-US" dirty="0" err="1" smtClean="0"/>
              <a:t>cont</a:t>
            </a:r>
            <a:r>
              <a:rPr lang="en-US" dirty="0" smtClean="0"/>
              <a:t>…</a:t>
            </a:r>
            <a:endParaRPr lang="en-US" dirty="0"/>
          </a:p>
        </p:txBody>
      </p:sp>
      <p:sp>
        <p:nvSpPr>
          <p:cNvPr id="3" name="Content Placeholder 2"/>
          <p:cNvSpPr>
            <a:spLocks noGrp="1"/>
          </p:cNvSpPr>
          <p:nvPr>
            <p:ph idx="1"/>
          </p:nvPr>
        </p:nvSpPr>
        <p:spPr/>
        <p:txBody>
          <a:bodyPr/>
          <a:lstStyle/>
          <a:p>
            <a:pPr algn="just"/>
            <a:r>
              <a:rPr lang="en-US" dirty="0"/>
              <a:t>RAM is volatile , which means the content of t he memory is lost if the re is no power to the RAM. When you are using a </a:t>
            </a:r>
            <a:r>
              <a:rPr lang="en-US" dirty="0" smtClean="0"/>
              <a:t>computer </a:t>
            </a:r>
            <a:r>
              <a:rPr lang="en-US" dirty="0"/>
              <a:t>and experience a power cut, this is why the data you are currently using is lost unless it has recently been saved to secondary </a:t>
            </a:r>
            <a:r>
              <a:rPr lang="en-US" dirty="0" err="1"/>
              <a:t>sto</a:t>
            </a:r>
            <a:r>
              <a:rPr lang="en-US" dirty="0"/>
              <a:t> rage. Read only memory Read only </a:t>
            </a:r>
            <a:r>
              <a:rPr lang="en-US" dirty="0" smtClean="0"/>
              <a:t>memory </a:t>
            </a:r>
            <a:r>
              <a:rPr lang="en-US" dirty="0"/>
              <a:t>(ROM) is memory that, once it has been </a:t>
            </a:r>
            <a:r>
              <a:rPr lang="en-US" dirty="0" smtClean="0"/>
              <a:t>written </a:t>
            </a:r>
            <a:r>
              <a:rPr lang="en-US" dirty="0"/>
              <a:t>to, can no longer be changed . </a:t>
            </a:r>
            <a:endParaRPr lang="en-US" dirty="0" smtClean="0"/>
          </a:p>
          <a:p>
            <a:pPr algn="just"/>
            <a:r>
              <a:rPr lang="en-US" dirty="0" smtClean="0"/>
              <a:t>It </a:t>
            </a:r>
            <a:r>
              <a:rPr lang="en-US" dirty="0"/>
              <a:t>is permanent and it is non-volatile , which means that </a:t>
            </a:r>
            <a:r>
              <a:rPr lang="en-US" dirty="0" smtClean="0"/>
              <a:t>when </a:t>
            </a:r>
            <a:r>
              <a:rPr lang="en-US" dirty="0"/>
              <a:t>there is no </a:t>
            </a:r>
            <a:r>
              <a:rPr lang="en-US" dirty="0" smtClean="0"/>
              <a:t>power </a:t>
            </a:r>
            <a:r>
              <a:rPr lang="en-US" dirty="0"/>
              <a:t>to the </a:t>
            </a:r>
            <a:r>
              <a:rPr lang="en-US" dirty="0" smtClean="0"/>
              <a:t>computer</a:t>
            </a:r>
            <a:r>
              <a:rPr lang="en-US" dirty="0"/>
              <a:t>, the contents of the ROM will be retained. This is </a:t>
            </a:r>
            <a:r>
              <a:rPr lang="en-US" dirty="0" smtClean="0"/>
              <a:t>because </a:t>
            </a:r>
            <a:r>
              <a:rPr lang="en-US" dirty="0"/>
              <a:t>it is powered by a small long-life </a:t>
            </a:r>
            <a:r>
              <a:rPr lang="en-US" dirty="0" smtClean="0"/>
              <a:t>battery</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ROM ( Read Only Memory)</a:t>
            </a:r>
            <a:endParaRPr lang="en-US" dirty="0"/>
          </a:p>
        </p:txBody>
      </p:sp>
      <p:sp>
        <p:nvSpPr>
          <p:cNvPr id="3" name="Content Placeholder 2"/>
          <p:cNvSpPr>
            <a:spLocks noGrp="1"/>
          </p:cNvSpPr>
          <p:nvPr>
            <p:ph idx="1"/>
          </p:nvPr>
        </p:nvSpPr>
        <p:spPr/>
        <p:txBody>
          <a:bodyPr/>
          <a:lstStyle/>
          <a:p>
            <a:pPr marL="0" indent="0">
              <a:buNone/>
            </a:pPr>
            <a:r>
              <a:rPr lang="en-US"/>
              <a:t>Read only memo ry (ROM) is memory that, once it has been</a:t>
            </a:r>
            <a:endParaRPr lang="en-US"/>
          </a:p>
          <a:p>
            <a:pPr marL="0" indent="0">
              <a:buNone/>
            </a:pPr>
            <a:r>
              <a:rPr lang="en-US"/>
              <a:t>written to, can no longer be changed . It is permanent and it</a:t>
            </a:r>
            <a:endParaRPr lang="en-US"/>
          </a:p>
          <a:p>
            <a:pPr marL="0" indent="0" algn="just">
              <a:buNone/>
            </a:pPr>
            <a:r>
              <a:rPr lang="en-US"/>
              <a:t>is non-volatile , which means that wh en there is no powe r</a:t>
            </a:r>
            <a:endParaRPr lang="en-US"/>
          </a:p>
          <a:p>
            <a:pPr marL="0" indent="0">
              <a:buNone/>
            </a:pPr>
            <a:r>
              <a:rPr lang="en-US"/>
              <a:t>to the comput er, the contents of the ROM will be retained.</a:t>
            </a:r>
            <a:endParaRPr lang="en-US"/>
          </a:p>
          <a:p>
            <a:pPr marL="0" indent="0">
              <a:buNone/>
            </a:pPr>
            <a:r>
              <a:rPr lang="en-US"/>
              <a:t>This is becau se it is powered by a small long-life battery.</a:t>
            </a:r>
            <a:endParaRPr lang="en-US"/>
          </a:p>
          <a:p>
            <a:pPr marL="0" indent="0">
              <a:buNone/>
            </a:pPr>
            <a:r>
              <a:rPr lang="en-US"/>
              <a:t>ROM is also used in small dev ices such as calcu lators</a:t>
            </a:r>
            <a:endParaRPr lang="en-US"/>
          </a:p>
          <a:p>
            <a:pPr marL="0" indent="0">
              <a:buNone/>
            </a:pPr>
            <a:r>
              <a:rPr lang="en-US"/>
              <a:t>whe re there is only one program o r set of instructions. </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Functions of ROM</a:t>
            </a:r>
            <a:endParaRPr lang="en-US"/>
          </a:p>
        </p:txBody>
      </p:sp>
      <p:sp>
        <p:nvSpPr>
          <p:cNvPr id="3" name="Content Placeholder 2"/>
          <p:cNvSpPr>
            <a:spLocks noGrp="1"/>
          </p:cNvSpPr>
          <p:nvPr>
            <p:ph idx="1"/>
          </p:nvPr>
        </p:nvSpPr>
        <p:spPr>
          <a:xfrm>
            <a:off x="680085" y="2336800"/>
            <a:ext cx="9613900" cy="4109085"/>
          </a:xfrm>
        </p:spPr>
        <p:txBody>
          <a:bodyPr>
            <a:normAutofit fontScale="90000" lnSpcReduction="20000"/>
          </a:bodyPr>
          <a:p>
            <a:r>
              <a:rPr lang="en-US" sz="3200"/>
              <a:t>– Storage of permanent data and instructions. ROM chips arе designed to storе data and instructions pеrmanеntly that arе writtеn oncе and cannot bе еasily modified. ...</a:t>
            </a:r>
            <a:endParaRPr lang="en-US" sz="3200"/>
          </a:p>
          <a:p>
            <a:r>
              <a:rPr lang="en-US" sz="3200"/>
              <a:t>– Role in booting up the computer system. ...</a:t>
            </a:r>
            <a:endParaRPr lang="en-US" sz="3200"/>
          </a:p>
          <a:p>
            <a:r>
              <a:rPr lang="en-US" sz="3200"/>
              <a:t>– Support for firmware and software programs. ...</a:t>
            </a:r>
            <a:endParaRPr lang="en-US" sz="3200"/>
          </a:p>
          <a:p>
            <a:r>
              <a:rPr lang="en-US" sz="3200"/>
              <a:t>– Preservation of critical system information.</a:t>
            </a:r>
            <a:endParaRPr lang="en-US" sz="3200"/>
          </a:p>
          <a:p>
            <a:r>
              <a:rPr lang="en-US" sz="3200"/>
              <a:t>BIOS (basic input/output system) is the program a computer's microprocessor uses to start the computer system after it is powered on.</a:t>
            </a:r>
            <a:endParaRPr lang="en-US" sz="3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Types of ROM</a:t>
            </a:r>
            <a:endParaRPr lang="en-US"/>
          </a:p>
        </p:txBody>
      </p:sp>
      <p:sp>
        <p:nvSpPr>
          <p:cNvPr id="3" name="Content Placeholder 2"/>
          <p:cNvSpPr>
            <a:spLocks noGrp="1"/>
          </p:cNvSpPr>
          <p:nvPr>
            <p:ph idx="1"/>
          </p:nvPr>
        </p:nvSpPr>
        <p:spPr/>
        <p:txBody>
          <a:bodyPr>
            <a:noAutofit/>
          </a:bodyPr>
          <a:p>
            <a:pPr marL="0" indent="0">
              <a:buNone/>
            </a:pPr>
            <a:r>
              <a:rPr lang="en-US" sz="3200"/>
              <a:t>There are four main types of ROM: </a:t>
            </a:r>
            <a:endParaRPr lang="en-US" sz="3200"/>
          </a:p>
          <a:p>
            <a:r>
              <a:rPr lang="en-US" sz="3200"/>
              <a:t>Masked Read Only Memory (MROM), </a:t>
            </a:r>
            <a:endParaRPr lang="en-US" sz="3200"/>
          </a:p>
          <a:p>
            <a:r>
              <a:rPr lang="en-US" sz="3200"/>
              <a:t>Programmable Read Only Memory (PROM), </a:t>
            </a:r>
            <a:endParaRPr lang="en-US" sz="3200"/>
          </a:p>
          <a:p>
            <a:r>
              <a:rPr lang="en-US" sz="3200"/>
              <a:t>Erasable Programmable Read Only Memory (EPROM), </a:t>
            </a:r>
            <a:endParaRPr lang="en-US" sz="3200"/>
          </a:p>
          <a:p>
            <a:r>
              <a:rPr lang="en-US" sz="3200"/>
              <a:t>Electrically Erasable Programmable Read Only Memory (EEPROM).</a:t>
            </a:r>
            <a:endParaRPr lang="en-US" sz="3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Types of ROM </a:t>
            </a:r>
            <a:endParaRPr lang="en-US"/>
          </a:p>
        </p:txBody>
      </p:sp>
      <p:sp>
        <p:nvSpPr>
          <p:cNvPr id="3" name="Content Placeholder 2"/>
          <p:cNvSpPr>
            <a:spLocks noGrp="1"/>
          </p:cNvSpPr>
          <p:nvPr>
            <p:ph idx="1"/>
          </p:nvPr>
        </p:nvSpPr>
        <p:spPr>
          <a:xfrm>
            <a:off x="328930" y="1911985"/>
            <a:ext cx="11159490" cy="5935345"/>
          </a:xfrm>
        </p:spPr>
        <p:txBody>
          <a:bodyPr>
            <a:normAutofit/>
          </a:bodyPr>
          <a:p>
            <a:r>
              <a:rPr lang="en-US" sz="3200"/>
              <a:t>Mask ROM is a read-only memory whose contents are programmed by the integrated circuit manufacturer (rather than by the user). The desired memory contents are furnished by the customer to the device manufacturer.</a:t>
            </a:r>
            <a:endParaRPr lang="en-US" sz="3200"/>
          </a:p>
          <a:p>
            <a:endParaRPr lang="en-US" sz="3200"/>
          </a:p>
          <a:p>
            <a:r>
              <a:rPr lang="en-US" sz="3200"/>
              <a:t>PROM full form is programmable read-only memory. It is a type of non-volatile computer memory. This means that once data has been written to PROM, it cannot be erased. PROM is used to store programs or firmware for microcontrollers and other digital devices.</a:t>
            </a:r>
            <a:endParaRPr lang="en-US" sz="32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Types of ROM cont..</a:t>
            </a:r>
            <a:endParaRPr lang="en-US"/>
          </a:p>
        </p:txBody>
      </p:sp>
      <p:sp>
        <p:nvSpPr>
          <p:cNvPr id="3" name="Content Placeholder 2"/>
          <p:cNvSpPr>
            <a:spLocks noGrp="1"/>
          </p:cNvSpPr>
          <p:nvPr>
            <p:ph idx="1"/>
          </p:nvPr>
        </p:nvSpPr>
        <p:spPr>
          <a:xfrm>
            <a:off x="393065" y="2246630"/>
            <a:ext cx="10887710" cy="5182870"/>
          </a:xfrm>
        </p:spPr>
        <p:txBody>
          <a:bodyPr>
            <a:normAutofit fontScale="90000"/>
          </a:bodyPr>
          <a:p>
            <a:pPr algn="just"/>
            <a:r>
              <a:rPr lang="en-US" sz="2800"/>
              <a:t>EPROM, form of computer memory that does not lose its content when the power supply is cut off and that can be erased and reused. EPROMs are generally employed for programs designed for repeated use but that can be upgraded with a later version of a program.</a:t>
            </a:r>
            <a:endParaRPr lang="en-US" sz="2800"/>
          </a:p>
          <a:p>
            <a:pPr algn="just"/>
            <a:endParaRPr lang="en-US" sz="2800"/>
          </a:p>
          <a:p>
            <a:pPr algn="just"/>
            <a:r>
              <a:rPr lang="en-US" sz="2800"/>
              <a:t>EEPROM (electrically erasable programmable read-only memory) is a user-modifiable ROM. It can be erased and reprogrammed (written to) repeatedly by applying an electrical voltage that is higher than normal. However,EEPROM is a type of non-volatile ROM that enables individual bytes of data to be erased and reprogrammed. That is why EEPROM chips are known as byte erasable ...</a:t>
            </a:r>
            <a:endParaRPr lang="en-US" sz="2800"/>
          </a:p>
          <a:p>
            <a:endParaRPr lang="en-US"/>
          </a:p>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Class Activity one</a:t>
            </a:r>
            <a:endParaRPr lang="en-US"/>
          </a:p>
        </p:txBody>
      </p:sp>
      <p:sp>
        <p:nvSpPr>
          <p:cNvPr id="3" name="Content Placeholder 2"/>
          <p:cNvSpPr>
            <a:spLocks noGrp="1"/>
          </p:cNvSpPr>
          <p:nvPr>
            <p:ph idx="1"/>
          </p:nvPr>
        </p:nvSpPr>
        <p:spPr>
          <a:xfrm>
            <a:off x="508635" y="2000250"/>
            <a:ext cx="11174730" cy="4605020"/>
          </a:xfrm>
        </p:spPr>
        <p:txBody>
          <a:bodyPr>
            <a:normAutofit/>
          </a:bodyPr>
          <a:p>
            <a:r>
              <a:rPr lang="en-US"/>
              <a:t>Let us have four group(1,2,3,4)</a:t>
            </a:r>
            <a:endParaRPr lang="en-US"/>
          </a:p>
          <a:p>
            <a:r>
              <a:rPr lang="en-US"/>
              <a:t>Group 1,2 we tell us two purpose of  PROM </a:t>
            </a:r>
            <a:endParaRPr lang="en-US"/>
          </a:p>
          <a:p>
            <a:r>
              <a:rPr lang="en-US">
                <a:sym typeface="+mn-ea"/>
              </a:rPr>
              <a:t>Group 3,4 we tell us two purpose of  EPROM </a:t>
            </a:r>
            <a:endParaRPr lang="en-US"/>
          </a:p>
          <a:p>
            <a:endParaRPr lang="en-US"/>
          </a:p>
          <a:p>
            <a:endParaRPr lang="en-US"/>
          </a:p>
          <a:p>
            <a:pPr marL="0" indent="0">
              <a:buNone/>
            </a:pPr>
            <a:r>
              <a:rPr lang="en-US"/>
              <a:t>ROM in our mobile phone is what________________ then, state the reason from your own point of view (group 1,2)</a:t>
            </a:r>
            <a:endParaRPr lang="en-US"/>
          </a:p>
          <a:p>
            <a:pPr marL="0" indent="0">
              <a:buNone/>
            </a:pPr>
            <a:endParaRPr lang="en-US"/>
          </a:p>
          <a:p>
            <a:pPr marL="0" indent="0">
              <a:buNone/>
            </a:pPr>
            <a:r>
              <a:rPr lang="en-US"/>
              <a:t>BIOS stand form what________________the the type of ROM that host BIOS is what_______________________ state the reason from your own point of view </a:t>
            </a:r>
            <a:endParaRPr lang="en-US"/>
          </a:p>
          <a:p>
            <a:pPr marL="0" indent="0">
              <a:buNone/>
            </a:pPr>
            <a:endParaRPr lang="en-US"/>
          </a:p>
          <a:p>
            <a:pPr marL="0" indent="0">
              <a:buNone/>
            </a:pP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Graphic Card</a:t>
            </a:r>
            <a:endParaRPr lang="en-US"/>
          </a:p>
        </p:txBody>
      </p:sp>
      <p:sp>
        <p:nvSpPr>
          <p:cNvPr id="3" name="Content Placeholder 2"/>
          <p:cNvSpPr>
            <a:spLocks noGrp="1"/>
          </p:cNvSpPr>
          <p:nvPr>
            <p:ph idx="1"/>
          </p:nvPr>
        </p:nvSpPr>
        <p:spPr>
          <a:xfrm>
            <a:off x="388620" y="1833880"/>
            <a:ext cx="11414760" cy="4793615"/>
          </a:xfrm>
        </p:spPr>
        <p:txBody>
          <a:bodyPr/>
          <a:p>
            <a:pPr marL="0" indent="0" algn="just">
              <a:buNone/>
            </a:pPr>
            <a:r>
              <a:rPr lang="en-US" sz="3200"/>
              <a:t>A graphics card is also known as a video card, display adapter or graphics adapter. It is a printed circuit boa rd that co nnects to one of the motherboard 's expansion slots. Its purpose is to generate the signals needed to display the output image from the computer. </a:t>
            </a:r>
            <a:endParaRPr lang="en-US" sz="3200"/>
          </a:p>
          <a:p>
            <a:pPr marL="0" indent="0" algn="just">
              <a:buNone/>
            </a:pPr>
            <a:r>
              <a:rPr lang="en-US" sz="3200"/>
              <a:t>Often the  graphics adapter is integrated into the motherboard and does not require a separate card . However, by using a separate card, the graphics performance can be impro ved as a separate processor can be used for graphics (a graphics processing unit ).</a:t>
            </a:r>
            <a:endParaRPr lang="en-US" sz="32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Graphic Card cont...</a:t>
            </a:r>
            <a:endParaRPr lang="en-US"/>
          </a:p>
        </p:txBody>
      </p:sp>
      <p:sp>
        <p:nvSpPr>
          <p:cNvPr id="3" name="Content Placeholder 2"/>
          <p:cNvSpPr>
            <a:spLocks noGrp="1"/>
          </p:cNvSpPr>
          <p:nvPr>
            <p:ph idx="1"/>
          </p:nvPr>
        </p:nvSpPr>
        <p:spPr>
          <a:xfrm>
            <a:off x="680085" y="2143760"/>
            <a:ext cx="10713085" cy="5016500"/>
          </a:xfrm>
        </p:spPr>
        <p:txBody>
          <a:bodyPr>
            <a:noAutofit/>
          </a:bodyPr>
          <a:p>
            <a:pPr marL="0" indent="0" algn="just">
              <a:buNone/>
            </a:pPr>
            <a:r>
              <a:rPr lang="en-US" sz="2800"/>
              <a:t>Graphics cards include a variety of options for output.</a:t>
            </a:r>
            <a:endParaRPr lang="en-US" sz="2800"/>
          </a:p>
          <a:p>
            <a:pPr marL="0" indent="0" algn="just">
              <a:buNone/>
            </a:pPr>
            <a:r>
              <a:rPr lang="en-US" sz="2800"/>
              <a:t>Standard video graphics array (SVGA) output to a monitor</a:t>
            </a:r>
            <a:endParaRPr lang="en-US" sz="2800"/>
          </a:p>
          <a:p>
            <a:pPr marL="0" indent="0" algn="just">
              <a:buNone/>
            </a:pPr>
            <a:r>
              <a:rPr lang="en-US" sz="2800"/>
              <a:t>is achieved through the RGB port which transmits red.</a:t>
            </a:r>
            <a:endParaRPr lang="en-US" sz="2800"/>
          </a:p>
          <a:p>
            <a:pPr marL="0" indent="0" algn="just">
              <a:buNone/>
            </a:pPr>
            <a:r>
              <a:rPr lang="en-US" sz="2800"/>
              <a:t>green and blue signals to the monitor in an analogue</a:t>
            </a:r>
            <a:endParaRPr lang="en-US" sz="2800"/>
          </a:p>
          <a:p>
            <a:pPr marL="0" indent="0" algn="just">
              <a:buNone/>
            </a:pPr>
            <a:r>
              <a:rPr lang="en-US" sz="2800"/>
              <a:t>format. High definition display is achieved through a</a:t>
            </a:r>
            <a:endParaRPr lang="en-US" sz="2800"/>
          </a:p>
          <a:p>
            <a:pPr marL="0" indent="0" algn="just">
              <a:buNone/>
            </a:pPr>
            <a:r>
              <a:rPr lang="en-US" sz="2800"/>
              <a:t>high-definition multimedia interface (HDMI) port. Another</a:t>
            </a:r>
            <a:endParaRPr lang="en-US" sz="2800"/>
          </a:p>
          <a:p>
            <a:pPr marL="0" indent="0" algn="just">
              <a:buNone/>
            </a:pPr>
            <a:r>
              <a:rPr lang="en-US" sz="2800"/>
              <a:t>option is Digital Video Interface (DVI) which supports high</a:t>
            </a:r>
            <a:endParaRPr lang="en-US" sz="2800"/>
          </a:p>
          <a:p>
            <a:pPr marL="0" indent="0" algn="just">
              <a:buNone/>
            </a:pPr>
            <a:r>
              <a:rPr lang="en-US" sz="2800"/>
              <a:t>resolution displays using digital signals. </a:t>
            </a:r>
            <a:endParaRPr lang="en-US" sz="2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Sound Card</a:t>
            </a:r>
            <a:endParaRPr lang="en-US"/>
          </a:p>
        </p:txBody>
      </p:sp>
      <p:sp>
        <p:nvSpPr>
          <p:cNvPr id="3" name="Content Placeholder 2"/>
          <p:cNvSpPr>
            <a:spLocks noGrp="1"/>
          </p:cNvSpPr>
          <p:nvPr>
            <p:ph idx="1"/>
          </p:nvPr>
        </p:nvSpPr>
        <p:spPr>
          <a:xfrm>
            <a:off x="473075" y="2025015"/>
            <a:ext cx="10457815" cy="5093970"/>
          </a:xfrm>
        </p:spPr>
        <p:txBody>
          <a:bodyPr>
            <a:noAutofit/>
          </a:bodyPr>
          <a:p>
            <a:pPr algn="just"/>
            <a:r>
              <a:rPr lang="en-US" sz="2800"/>
              <a:t>The purpose of a sound card is to generate the signals needed to output sound from the computer to a speaker or set of speakers. It is often an integrated part of the motherboard and will include a single output for audiou (green socket) . a single input for a microphone (red socket) and a single input for line level devices (blue socket). </a:t>
            </a:r>
            <a:endParaRPr lang="en-US" sz="2800"/>
          </a:p>
          <a:p>
            <a:pPr algn="just"/>
            <a:r>
              <a:rPr lang="en-US" sz="2800"/>
              <a:t>If higher quality or surround sound is required, then it is usually necessary to have a separate sound card which connects to one of the motherboard's expansion slots.This will enable multiple outputs for front, rear, cent re and sub-woofer speakers. </a:t>
            </a:r>
            <a:endParaRPr lang="en-US" sz="28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Hard disk drive</a:t>
            </a:r>
            <a:endParaRPr lang="en-US"/>
          </a:p>
        </p:txBody>
      </p:sp>
      <p:sp>
        <p:nvSpPr>
          <p:cNvPr id="3" name="Content Placeholder 2"/>
          <p:cNvSpPr>
            <a:spLocks noGrp="1"/>
          </p:cNvSpPr>
          <p:nvPr>
            <p:ph idx="1"/>
          </p:nvPr>
        </p:nvSpPr>
        <p:spPr/>
        <p:txBody>
          <a:bodyPr>
            <a:normAutofit/>
          </a:bodyPr>
          <a:p>
            <a:pPr algn="just"/>
            <a:r>
              <a:rPr lang="en-US"/>
              <a:t>A hard disk drive (HDD) is the most common form of secondary storage for a computer due to its relatively low cost per MB (megabyte ). In 2015, hard disk drives could store up to 8 TB (terabyt es) of data with access speeds of6 GB/s. The hard disk drive consists of two main parts: the device that is the electronics which store the data, and the disk that is the medium onto which the data is stored. The device (or drive) includes a read-write head which sits at the end of an access arm and magnetises sectors on the disk (platter ). </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Hardisk</a:t>
            </a:r>
            <a:endParaRPr lang="en-US"/>
          </a:p>
        </p:txBody>
      </p:sp>
      <p:pic>
        <p:nvPicPr>
          <p:cNvPr id="4" name="Content Placeholder 3"/>
          <p:cNvPicPr>
            <a:picLocks noChangeAspect="1"/>
          </p:cNvPicPr>
          <p:nvPr>
            <p:ph idx="1"/>
          </p:nvPr>
        </p:nvPicPr>
        <p:blipFill>
          <a:blip r:embed="rId1"/>
          <a:stretch>
            <a:fillRect/>
          </a:stretch>
        </p:blipFill>
        <p:spPr>
          <a:xfrm>
            <a:off x="1151255" y="2348865"/>
            <a:ext cx="5068570" cy="3397250"/>
          </a:xfrm>
          <a:prstGeom prst="rect">
            <a:avLst/>
          </a:prstGeom>
        </p:spPr>
      </p:pic>
      <p:pic>
        <p:nvPicPr>
          <p:cNvPr id="5" name="Picture 4"/>
          <p:cNvPicPr>
            <a:picLocks noChangeAspect="1"/>
          </p:cNvPicPr>
          <p:nvPr/>
        </p:nvPicPr>
        <p:blipFill>
          <a:blip r:embed="rId2"/>
          <a:stretch>
            <a:fillRect/>
          </a:stretch>
        </p:blipFill>
        <p:spPr>
          <a:xfrm>
            <a:off x="6696075" y="2348865"/>
            <a:ext cx="5052060" cy="33972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Harddisk cont...</a:t>
            </a:r>
            <a:endParaRPr lang="en-US"/>
          </a:p>
        </p:txBody>
      </p:sp>
      <p:sp>
        <p:nvSpPr>
          <p:cNvPr id="3" name="Content Placeholder 2"/>
          <p:cNvSpPr>
            <a:spLocks noGrp="1"/>
          </p:cNvSpPr>
          <p:nvPr>
            <p:ph idx="1"/>
          </p:nvPr>
        </p:nvSpPr>
        <p:spPr>
          <a:xfrm>
            <a:off x="680085" y="2336800"/>
            <a:ext cx="10824210" cy="4520565"/>
          </a:xfrm>
        </p:spPr>
        <p:txBody>
          <a:bodyPr>
            <a:normAutofit lnSpcReduction="10000"/>
          </a:bodyPr>
          <a:p>
            <a:r>
              <a:rPr lang="en-US"/>
              <a:t>A  magnetic disk is made up of disks (platters), the read and writes heads which are held in place by an arm (actuator), and the spindle which holds platters together. The platters are coated with magnetic materials on both sides for data storage. The actuator makes sure that the read and write head moves to the disk location where data need to be read or written to.</a:t>
            </a:r>
            <a:endParaRPr lang="en-US"/>
          </a:p>
          <a:p>
            <a:endParaRPr lang="en-US"/>
          </a:p>
          <a:p>
            <a:r>
              <a:rPr lang="en-US"/>
              <a:t>The platters are divided into tracks and sectors which are used to define a certain location. The more tracks and sectors the higher the disk capacity. Also, the number of platters depends on the intended capacity of the disk. The disk and all other components are enclosed together in a hard drive.Low-level formatting is done to a new disk to create tracks and sectors to enable the R/W head to write data. The other type of formatting is high-level formatting which is done to the disk that you want to install the operating system.Parts of a magnetic disk drive</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6006" y="-272932"/>
            <a:ext cx="9613861" cy="1080938"/>
          </a:xfrm>
        </p:spPr>
        <p:txBody>
          <a:bodyPr/>
          <a:p>
            <a:r>
              <a:rPr lang="en-US"/>
              <a:t>Hardisk</a:t>
            </a:r>
            <a:endParaRPr lang="en-US"/>
          </a:p>
        </p:txBody>
      </p:sp>
      <p:sp>
        <p:nvSpPr>
          <p:cNvPr id="4" name="Content Placeholder 3"/>
          <p:cNvSpPr/>
          <p:nvPr>
            <p:ph idx="1"/>
          </p:nvPr>
        </p:nvSpPr>
        <p:spPr>
          <a:xfrm>
            <a:off x="168275" y="807720"/>
            <a:ext cx="10990580" cy="6314440"/>
          </a:xfrm>
        </p:spPr>
        <p:txBody>
          <a:bodyPr>
            <a:normAutofit/>
          </a:bodyPr>
          <a:p>
            <a:r>
              <a:rPr lang="en-US" b="1"/>
              <a:t>Platter:</a:t>
            </a:r>
            <a:r>
              <a:rPr lang="en-US"/>
              <a:t> It is a metallic disk that can be magnetized or demagnetized to read or write data on it</a:t>
            </a:r>
            <a:endParaRPr lang="en-US"/>
          </a:p>
          <a:p>
            <a:r>
              <a:rPr lang="en-US"/>
              <a:t>Tracks: These are concentric circles that run around the surface of the platter</a:t>
            </a:r>
            <a:endParaRPr lang="en-US"/>
          </a:p>
          <a:p>
            <a:r>
              <a:rPr lang="en-US"/>
              <a:t>Sector: it is the specific location where data is stored. It is identified by indicating the platter and the track number.</a:t>
            </a:r>
            <a:endParaRPr lang="en-US"/>
          </a:p>
          <a:p>
            <a:r>
              <a:rPr lang="en-US"/>
              <a:t>Read/Write head: This is the electronic head that is used to read or write data to the specific sector of the disk.</a:t>
            </a:r>
            <a:endParaRPr lang="en-US"/>
          </a:p>
          <a:p>
            <a:r>
              <a:rPr lang="en-US"/>
              <a:t>Spindle: It is the central point where the platter rotates from. It holds platters together to enable them to rotate</a:t>
            </a:r>
            <a:endParaRPr lang="en-US"/>
          </a:p>
          <a:p>
            <a:r>
              <a:rPr lang="en-US"/>
              <a:t>Actuator (Read/write arm): this is the mechanism that holds the head in position</a:t>
            </a:r>
            <a:endParaRPr lang="en-US"/>
          </a:p>
          <a:p>
            <a:r>
              <a:rPr lang="en-US"/>
              <a:t>Cylinder: this is a collection of tracks from different platters that are under the read/write head at a particular time.</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SSD(Solid State Drive)</a:t>
            </a:r>
            <a:endParaRPr lang="en-US"/>
          </a:p>
        </p:txBody>
      </p:sp>
      <p:sp>
        <p:nvSpPr>
          <p:cNvPr id="3" name="Content Placeholder 2"/>
          <p:cNvSpPr>
            <a:spLocks noGrp="1"/>
          </p:cNvSpPr>
          <p:nvPr>
            <p:ph idx="1"/>
          </p:nvPr>
        </p:nvSpPr>
        <p:spPr>
          <a:xfrm>
            <a:off x="234315" y="1715770"/>
            <a:ext cx="11460480" cy="5511165"/>
          </a:xfrm>
        </p:spPr>
        <p:txBody>
          <a:bodyPr>
            <a:normAutofit fontScale="95000"/>
          </a:bodyPr>
          <a:p>
            <a:pPr algn="just"/>
            <a:r>
              <a:rPr lang="en-US"/>
              <a:t>Solid state drive A solid state drive (SSD) is another secondary storage device that is non-volatile. However, there are no moving  parts and the data is stored onto flash memory. It is also not necessary to store data in the same cylinder in order to maximise access speed as the data can be stored anywhere on the flash memory and access speeds will not be affected. SSDs are also non -magnetic and so are not susceptible to damage from to close, strong magnetic fields. In 2015, SSDs could store up to 8TB, but due to the newer technology were far more expensive than HDDs and were more common in capacities of 128, 256 or 512 GB. </a:t>
            </a:r>
            <a:endParaRPr lang="en-US"/>
          </a:p>
          <a:p>
            <a:pPr algn="just"/>
            <a:r>
              <a:rPr lang="en-US"/>
              <a:t>SSDs have access speeds of around 400 -600 MBps (two to three times faster than a HDD). This means they are used in higher performance computer s. A frequent compromise between speed, capacity and price is to have a smaller SSD to store the operating system and softwa re (for speed of access) and use a larger HDD to store data. </a:t>
            </a:r>
            <a:endParaRPr lang="en-US"/>
          </a:p>
          <a:p>
            <a:pPr algn="just"/>
            <a:r>
              <a:rPr lang="en-US"/>
              <a:t>SSDs also require a lot less power than HDDs and so are preferred in laptop and tab let computers. </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External Hardware Device(</a:t>
            </a:r>
            <a:r>
              <a:rPr lang="en-US">
                <a:sym typeface="+mn-ea"/>
              </a:rPr>
              <a:t>Cloud)</a:t>
            </a:r>
            <a:endParaRPr lang="en-US"/>
          </a:p>
        </p:txBody>
      </p:sp>
      <p:sp>
        <p:nvSpPr>
          <p:cNvPr id="3" name="Content Placeholder 2"/>
          <p:cNvSpPr>
            <a:spLocks noGrp="1"/>
          </p:cNvSpPr>
          <p:nvPr>
            <p:ph idx="1"/>
          </p:nvPr>
        </p:nvSpPr>
        <p:spPr>
          <a:xfrm>
            <a:off x="314325" y="1940560"/>
            <a:ext cx="10829290" cy="4815840"/>
          </a:xfrm>
        </p:spPr>
        <p:txBody>
          <a:bodyPr>
            <a:normAutofit/>
          </a:bodyPr>
          <a:p>
            <a:pPr marL="0" indent="0" algn="just">
              <a:buNone/>
            </a:pPr>
            <a:r>
              <a:rPr lang="en-US" sz="3600"/>
              <a:t>Cloud computing is a term that refers to anything where computing services are hosted over the internet and not in the same physical location as the computer being used. </a:t>
            </a:r>
            <a:endParaRPr lang="en-US" sz="3600"/>
          </a:p>
          <a:p>
            <a:pPr marL="0" indent="0" algn="just">
              <a:buNone/>
            </a:pPr>
            <a:r>
              <a:rPr lang="en-US" sz="3600"/>
              <a:t>Data is stored on banks of servers that are accessed remotely. The physical devices that store the data are owned by a hosting company rather than the person or organisation using the data .</a:t>
            </a:r>
            <a:endParaRPr lang="en-US" sz="36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Cloud </a:t>
            </a:r>
            <a:endParaRPr lang="en-US"/>
          </a:p>
        </p:txBody>
      </p:sp>
      <p:sp>
        <p:nvSpPr>
          <p:cNvPr id="3" name="Content Placeholder 2"/>
          <p:cNvSpPr>
            <a:spLocks noGrp="1"/>
          </p:cNvSpPr>
          <p:nvPr>
            <p:ph idx="1"/>
          </p:nvPr>
        </p:nvSpPr>
        <p:spPr>
          <a:xfrm>
            <a:off x="680085" y="1677035"/>
            <a:ext cx="10170795" cy="5180965"/>
          </a:xfrm>
        </p:spPr>
        <p:txBody>
          <a:bodyPr>
            <a:normAutofit fontScale="90000"/>
          </a:bodyPr>
          <a:p>
            <a:pPr marL="0" indent="0">
              <a:buNone/>
            </a:pPr>
            <a:r>
              <a:rPr lang="en-US"/>
              <a:t>Examples of cloud storage for personal use include:</a:t>
            </a:r>
            <a:endParaRPr lang="en-US"/>
          </a:p>
          <a:p>
            <a:pPr marL="0" indent="0">
              <a:buNone/>
            </a:pPr>
            <a:r>
              <a:rPr lang="en-US"/>
              <a:t>• OneDrive</a:t>
            </a:r>
            <a:endParaRPr lang="en-US"/>
          </a:p>
          <a:p>
            <a:pPr marL="0" indent="0">
              <a:buNone/>
            </a:pPr>
            <a:r>
              <a:rPr lang="en-US"/>
              <a:t>• Google Drive</a:t>
            </a:r>
            <a:endParaRPr lang="en-US"/>
          </a:p>
          <a:p>
            <a:pPr marL="0" indent="0">
              <a:buNone/>
            </a:pPr>
            <a:r>
              <a:rPr lang="en-US"/>
              <a:t>• Dropbox</a:t>
            </a:r>
            <a:endParaRPr lang="en-US"/>
          </a:p>
          <a:p>
            <a:pPr marL="0" indent="0">
              <a:buNone/>
            </a:pPr>
            <a:r>
              <a:rPr lang="en-US"/>
              <a:t>• Box </a:t>
            </a:r>
            <a:endParaRPr lang="en-US"/>
          </a:p>
          <a:p>
            <a:pPr marL="0" indent="0" algn="ctr">
              <a:buNone/>
            </a:pPr>
            <a:r>
              <a:rPr lang="en-US" u="sng"/>
              <a:t>Cloud services providers</a:t>
            </a:r>
            <a:endParaRPr lang="en-US" u="sng"/>
          </a:p>
          <a:p>
            <a:pPr marL="0" indent="0" algn="l">
              <a:buNone/>
            </a:pPr>
            <a:r>
              <a:rPr lang="en-US" u="sng"/>
              <a:t>1. AWS (amazon web services)</a:t>
            </a:r>
            <a:endParaRPr lang="en-US" u="sng"/>
          </a:p>
          <a:p>
            <a:pPr marL="0" indent="0" algn="l">
              <a:buNone/>
            </a:pPr>
            <a:r>
              <a:rPr lang="en-US" u="sng"/>
              <a:t>2. Azure(Microsoft)</a:t>
            </a:r>
            <a:endParaRPr lang="en-US" u="sng"/>
          </a:p>
          <a:p>
            <a:pPr marL="0" indent="0" algn="l">
              <a:buNone/>
            </a:pPr>
            <a:r>
              <a:rPr lang="en-US" u="sng"/>
              <a:t>3. Google Cloud</a:t>
            </a:r>
            <a:endParaRPr lang="en-US" u="sng"/>
          </a:p>
          <a:p>
            <a:pPr marL="0" indent="0" algn="l">
              <a:buNone/>
            </a:pPr>
            <a:r>
              <a:rPr lang="en-US" u="sng">
                <a:sym typeface="+mn-ea"/>
              </a:rPr>
              <a:t>4. Cloudflare</a:t>
            </a:r>
            <a:endParaRPr lang="en-US" u="sng"/>
          </a:p>
          <a:p>
            <a:pPr marL="0" indent="0" algn="l">
              <a:buNone/>
            </a:pPr>
            <a:r>
              <a:rPr lang="en-US" u="sng">
                <a:sym typeface="+mn-ea"/>
              </a:rPr>
              <a:t>5. UpCloud</a:t>
            </a:r>
            <a:endParaRPr lang="en-US" u="sng"/>
          </a:p>
          <a:p>
            <a:pPr marL="0" indent="0" algn="l">
              <a:buNone/>
            </a:pPr>
            <a:r>
              <a:rPr lang="en-US" u="sng"/>
              <a:t>6. LotusFlare</a:t>
            </a:r>
            <a:endParaRPr lang="en-US" u="sng"/>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External Hardware Device(</a:t>
            </a:r>
            <a:r>
              <a:rPr lang="en-US">
                <a:sym typeface="+mn-ea"/>
              </a:rPr>
              <a:t>Monitor</a:t>
            </a:r>
            <a:r>
              <a:rPr lang="en-US">
                <a:sym typeface="+mn-ea"/>
              </a:rPr>
              <a:t>)</a:t>
            </a:r>
            <a:endParaRPr lang="en-US"/>
          </a:p>
        </p:txBody>
      </p:sp>
      <p:sp>
        <p:nvSpPr>
          <p:cNvPr id="3" name="Content Placeholder 2"/>
          <p:cNvSpPr>
            <a:spLocks noGrp="1"/>
          </p:cNvSpPr>
          <p:nvPr>
            <p:ph idx="1"/>
          </p:nvPr>
        </p:nvSpPr>
        <p:spPr>
          <a:xfrm>
            <a:off x="460375" y="2125980"/>
            <a:ext cx="11050270" cy="5935345"/>
          </a:xfrm>
        </p:spPr>
        <p:txBody>
          <a:bodyPr>
            <a:normAutofit/>
          </a:bodyPr>
          <a:p>
            <a:pPr marL="0" indent="0" algn="just">
              <a:buNone/>
            </a:pPr>
            <a:r>
              <a:rPr lang="en-US"/>
              <a:t>Monitor:  is certai nly an essential part of most computer systems as it enab les the user to visualise the output. It is connecled to the computer using one of the ports on a graphics card. Monitor sizes are measured diagonally and , apart from some very old 'legacy ' monitor s, they now have flat screens which minimalise the amount of desk space that is used and they are light enoug h to be mounted on a wall or a desk using a bracket or on a shelf.</a:t>
            </a:r>
            <a:endParaRPr lang="en-US"/>
          </a:p>
          <a:p>
            <a:pPr marL="0" indent="0">
              <a:buNone/>
            </a:pPr>
            <a:r>
              <a:rPr lang="en-US"/>
              <a:t>A monitor will be limited by its resolution . This is the number of pixels it can display and is measured horizontally by vertically. For example, a high definition (HD) monitor can display 1920 x 1080 pixels. Some monitors also include a touch interface (known as a touch screen), which means that the user can select items by directly interact ing with the display on the screen. These are often integrated into tablet computers and mobile phones.</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External Hardware Device(Keyboard)</a:t>
            </a:r>
            <a:endParaRPr lang="en-US"/>
          </a:p>
        </p:txBody>
      </p:sp>
      <p:sp>
        <p:nvSpPr>
          <p:cNvPr id="3" name="Content Placeholder 2"/>
          <p:cNvSpPr>
            <a:spLocks noGrp="1"/>
          </p:cNvSpPr>
          <p:nvPr>
            <p:ph idx="1"/>
          </p:nvPr>
        </p:nvSpPr>
        <p:spPr/>
        <p:txBody>
          <a:bodyPr/>
          <a:p>
            <a:pPr algn="just"/>
            <a:r>
              <a:rPr lang="en-US" sz="3200"/>
              <a:t>A computer keyboard is an input device used to enter characters and functions into the computer system by pressing buttons, or keys. It is the primary device used to enter text. A keyboard typically contains keys for individual letters, numbers and special characters, as well as keys for specific functions</a:t>
            </a:r>
            <a:endParaRPr lang="en-US" sz="32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External Hardware Device(Mouse)</a:t>
            </a:r>
            <a:endParaRPr lang="en-US"/>
          </a:p>
        </p:txBody>
      </p:sp>
      <p:sp>
        <p:nvSpPr>
          <p:cNvPr id="3" name="Content Placeholder 2"/>
          <p:cNvSpPr>
            <a:spLocks noGrp="1"/>
          </p:cNvSpPr>
          <p:nvPr>
            <p:ph idx="1"/>
          </p:nvPr>
        </p:nvSpPr>
        <p:spPr>
          <a:xfrm>
            <a:off x="401320" y="2186305"/>
            <a:ext cx="9892665" cy="4159885"/>
          </a:xfrm>
        </p:spPr>
        <p:txBody>
          <a:bodyPr>
            <a:normAutofit/>
          </a:bodyPr>
          <a:p>
            <a:pPr marL="0" indent="0" algn="just">
              <a:buNone/>
            </a:pPr>
            <a:r>
              <a:rPr lang="en-US" sz="3200"/>
              <a:t>A mouse is a pointing device which allows objects to be selected and manipulated on the screen. The mouse controls a pointer which is displayed on the screen. When the mouse is moved, the pointer moves and objects such as menus can be selected on the screen using one of the mouse buttons. Like a keyboard, a mouse can be connected using a USB port, by wireless Bluetooth or by other wireless technology. </a:t>
            </a:r>
            <a:endParaRPr lang="en-US" sz="32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57741" y="753228"/>
            <a:ext cx="9613861" cy="1080938"/>
          </a:xfrm>
        </p:spPr>
        <p:txBody>
          <a:bodyPr/>
          <a:p>
            <a:r>
              <a:rPr lang="en-US">
                <a:sym typeface="+mn-ea"/>
              </a:rPr>
              <a:t>External Hardware Device(Printer)</a:t>
            </a:r>
            <a:endParaRPr lang="en-US"/>
          </a:p>
        </p:txBody>
      </p:sp>
      <p:sp>
        <p:nvSpPr>
          <p:cNvPr id="3" name="Content Placeholder 2"/>
          <p:cNvSpPr>
            <a:spLocks noGrp="1"/>
          </p:cNvSpPr>
          <p:nvPr>
            <p:ph idx="1"/>
          </p:nvPr>
        </p:nvSpPr>
        <p:spPr>
          <a:xfrm>
            <a:off x="240030" y="2038985"/>
            <a:ext cx="11431270" cy="5273040"/>
          </a:xfrm>
        </p:spPr>
        <p:txBody>
          <a:bodyPr>
            <a:normAutofit/>
          </a:bodyPr>
          <a:p>
            <a:pPr marL="0" indent="0">
              <a:buNone/>
            </a:pPr>
            <a:r>
              <a:rPr lang="en-US">
                <a:sym typeface="+mn-ea"/>
              </a:rPr>
              <a:t>A printer produces a hard copy (printout) from a computer usually onto paper. A simplex printer can print on a single side of paper , whereas a printer with a duplex unit can print on both sides of each sheet of paper .Some pr inters include additional functions such as a scanner.</a:t>
            </a:r>
            <a:endParaRPr lang="en-US">
              <a:sym typeface="+mn-ea"/>
            </a:endParaRPr>
          </a:p>
          <a:p>
            <a:pPr marL="0" indent="0">
              <a:buNone/>
            </a:pPr>
            <a:r>
              <a:rPr lang="en-US">
                <a:sym typeface="+mn-ea"/>
              </a:rPr>
              <a:t>Laser printer</a:t>
            </a:r>
            <a:endParaRPr lang="en-US">
              <a:sym typeface="+mn-ea"/>
            </a:endParaRPr>
          </a:p>
          <a:p>
            <a:pPr marL="0" indent="0">
              <a:buNone/>
            </a:pPr>
            <a:r>
              <a:rPr lang="en-US">
                <a:sym typeface="+mn-ea"/>
              </a:rPr>
              <a:t>A laser printer negatively charges a cylindrical drum which then attracts electrically charged toner (powde red ink). The toner is then heated so that it melts onto the paper.</a:t>
            </a:r>
            <a:endParaRPr lang="en-US">
              <a:sym typeface="+mn-ea"/>
            </a:endParaRPr>
          </a:p>
          <a:p>
            <a:pPr marL="0" indent="0">
              <a:buNone/>
            </a:pPr>
            <a:r>
              <a:rPr lang="en-US">
                <a:sym typeface="+mn-ea"/>
              </a:rPr>
              <a:t>Inkjet printer</a:t>
            </a:r>
            <a:endParaRPr lang="en-US">
              <a:sym typeface="+mn-ea"/>
            </a:endParaRPr>
          </a:p>
          <a:p>
            <a:pPr marL="0" indent="0">
              <a:buNone/>
            </a:pPr>
            <a:r>
              <a:rPr lang="en-US">
                <a:sym typeface="+mn-ea"/>
              </a:rPr>
              <a:t>Cartridges full of ink in four different colours (black, cyan,magenta, yellow) are used to 'squirt ' ink onto the paper to form the required printout. </a:t>
            </a:r>
            <a:endParaRPr lang="en-US">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Classification of Printers </a:t>
            </a:r>
            <a:endParaRPr lang="en-US"/>
          </a:p>
        </p:txBody>
      </p:sp>
      <p:pic>
        <p:nvPicPr>
          <p:cNvPr id="5" name="Content Placeholder 4"/>
          <p:cNvPicPr>
            <a:picLocks noChangeAspect="1"/>
          </p:cNvPicPr>
          <p:nvPr>
            <p:ph idx="1"/>
          </p:nvPr>
        </p:nvPicPr>
        <p:blipFill>
          <a:blip r:embed="rId1"/>
          <a:stretch>
            <a:fillRect/>
          </a:stretch>
        </p:blipFill>
        <p:spPr>
          <a:xfrm>
            <a:off x="1508125" y="1688465"/>
            <a:ext cx="9175115" cy="526859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Impact Printer</a:t>
            </a:r>
            <a:endParaRPr lang="en-US"/>
          </a:p>
        </p:txBody>
      </p:sp>
      <p:sp>
        <p:nvSpPr>
          <p:cNvPr id="4" name="Content Placeholder 2"/>
          <p:cNvSpPr>
            <a:spLocks noGrp="1"/>
          </p:cNvSpPr>
          <p:nvPr/>
        </p:nvSpPr>
        <p:spPr>
          <a:xfrm>
            <a:off x="416161" y="1833953"/>
            <a:ext cx="9613861" cy="35993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r>
              <a:rPr lang="en-US"/>
              <a:t>Impact Printer  e.g Ball printers, Dot-matrix, Daisy wheel printers, Line printers, Drum printers, and Chain printers </a:t>
            </a:r>
            <a:endParaRPr lang="en-US"/>
          </a:p>
          <a:p>
            <a:endParaRPr lang="en-US"/>
          </a:p>
          <a:p>
            <a:r>
              <a:rPr lang="en-US"/>
              <a:t>Non- Impact Printer e.g  inkjet, thermal, mobile, laser, large-format, etc.</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Dot matrix printer</a:t>
            </a:r>
            <a:endParaRPr lang="en-US"/>
          </a:p>
        </p:txBody>
      </p:sp>
      <p:sp>
        <p:nvSpPr>
          <p:cNvPr id="3" name="Content Placeholder 2"/>
          <p:cNvSpPr>
            <a:spLocks noGrp="1"/>
          </p:cNvSpPr>
          <p:nvPr>
            <p:ph idx="1"/>
          </p:nvPr>
        </p:nvSpPr>
        <p:spPr>
          <a:xfrm>
            <a:off x="263525" y="1833880"/>
            <a:ext cx="10865485" cy="5239385"/>
          </a:xfrm>
        </p:spPr>
        <p:txBody>
          <a:bodyPr>
            <a:normAutofit/>
          </a:bodyPr>
          <a:p>
            <a:pPr marL="0" indent="0" algn="just">
              <a:buNone/>
            </a:pPr>
            <a:r>
              <a:rPr lang="en-US"/>
              <a:t>Dot matrix printer Before laser and inkjet printers, dot matrix printers were commonplace . They are a type of impact printer which means that the printout is achieved by hittingthe paper and the operation is very noisy . This is done by a set of pins being driven onto a ribbon which then transfers its ink to the paper . </a:t>
            </a:r>
            <a:endParaRPr lang="en-US"/>
          </a:p>
          <a:p>
            <a:pPr marL="0" indent="0" algn="just">
              <a:buNone/>
            </a:pPr>
            <a:r>
              <a:rPr lang="en-US"/>
              <a:t>The main advantage of dot matrix printers is that they can print on duplicate and triplicate paper (carbon copies) due to the impact.</a:t>
            </a:r>
            <a:endParaRPr lang="en-US"/>
          </a:p>
          <a:p>
            <a:pPr marL="0" indent="0" algn="just">
              <a:buNone/>
            </a:pPr>
            <a:r>
              <a:rPr lang="en-US"/>
              <a:t>They are also very robust printers and so last for a long time . </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External Hardware Device(Plotter)</a:t>
            </a:r>
            <a:endParaRPr lang="en-US"/>
          </a:p>
        </p:txBody>
      </p:sp>
      <p:sp>
        <p:nvSpPr>
          <p:cNvPr id="3" name="Content Placeholder 2"/>
          <p:cNvSpPr>
            <a:spLocks noGrp="1"/>
          </p:cNvSpPr>
          <p:nvPr>
            <p:ph idx="1"/>
          </p:nvPr>
        </p:nvSpPr>
        <p:spPr>
          <a:xfrm>
            <a:off x="578721" y="4319343"/>
            <a:ext cx="9613861" cy="3599316"/>
          </a:xfrm>
        </p:spPr>
        <p:txBody>
          <a:bodyPr/>
          <a:p>
            <a:pPr algn="just"/>
            <a:r>
              <a:rPr lang="en-US">
                <a:sym typeface="+mn-ea"/>
              </a:rPr>
              <a:t>Plotter In the 1990s, a plotter used to 'plot' lines onto large sheets of paper by moving the paper backwards and forwards and drawing using pens to create vector drawings. Today, plotters are inkjet printers designed to be used with largesheets of paper. typically A2, Al and AO. If only black and white printouts are required, then light-emitting diode (LED) plotters are much faster and have cheaper running costs than inkJet plotters. </a:t>
            </a:r>
            <a:endParaRPr lang="en-US"/>
          </a:p>
        </p:txBody>
      </p:sp>
      <p:pic>
        <p:nvPicPr>
          <p:cNvPr id="5" name="Picture 4"/>
          <p:cNvPicPr>
            <a:picLocks noChangeAspect="1"/>
          </p:cNvPicPr>
          <p:nvPr/>
        </p:nvPicPr>
        <p:blipFill>
          <a:blip r:embed="rId1"/>
          <a:stretch>
            <a:fillRect/>
          </a:stretch>
        </p:blipFill>
        <p:spPr>
          <a:xfrm>
            <a:off x="3077845" y="1682750"/>
            <a:ext cx="4647565" cy="265747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Differences and Similarities between printers </a:t>
            </a:r>
            <a:endParaRPr lang="en-US"/>
          </a:p>
        </p:txBody>
      </p:sp>
      <p:pic>
        <p:nvPicPr>
          <p:cNvPr id="4" name="Content Placeholder 3"/>
          <p:cNvPicPr>
            <a:picLocks noChangeAspect="1"/>
          </p:cNvPicPr>
          <p:nvPr>
            <p:ph idx="1"/>
          </p:nvPr>
        </p:nvPicPr>
        <p:blipFill>
          <a:blip r:embed="rId1"/>
          <a:stretch>
            <a:fillRect/>
          </a:stretch>
        </p:blipFill>
        <p:spPr>
          <a:xfrm>
            <a:off x="1292860" y="1702435"/>
            <a:ext cx="8388350" cy="528574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680085" y="753110"/>
            <a:ext cx="10543540" cy="497205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sym typeface="+mn-ea"/>
              </a:rPr>
              <a:t>External Hardware Device(Speaker, Camera,Webcam)</a:t>
            </a:r>
            <a:endParaRPr lang="en-US"/>
          </a:p>
        </p:txBody>
      </p:sp>
      <p:sp>
        <p:nvSpPr>
          <p:cNvPr id="3" name="Content Placeholder 2"/>
          <p:cNvSpPr>
            <a:spLocks noGrp="1"/>
          </p:cNvSpPr>
          <p:nvPr>
            <p:ph idx="1"/>
          </p:nvPr>
        </p:nvSpPr>
        <p:spPr>
          <a:xfrm>
            <a:off x="680085" y="1834515"/>
            <a:ext cx="10888980" cy="4818380"/>
          </a:xfrm>
        </p:spPr>
        <p:txBody>
          <a:bodyPr>
            <a:normAutofit fontScale="90000"/>
          </a:bodyPr>
          <a:p>
            <a:pPr marL="0" indent="0">
              <a:buNone/>
            </a:pPr>
            <a:r>
              <a:rPr lang="en-US" u="sng"/>
              <a:t>Speakers </a:t>
            </a:r>
            <a:r>
              <a:rPr lang="en-US"/>
              <a:t>are used to provide sound output from a computer. These can be as simple as a pair of stereo speakers or full surround sound. </a:t>
            </a:r>
            <a:endParaRPr lang="en-US"/>
          </a:p>
          <a:p>
            <a:pPr marL="0" indent="0" algn="just">
              <a:buNone/>
            </a:pPr>
            <a:r>
              <a:rPr lang="en-US" u="sng"/>
              <a:t>Camera </a:t>
            </a:r>
            <a:r>
              <a:rPr lang="en-US"/>
              <a:t>A camera can be used to capture still or moving images (movies). When connected to the computer , the images or movies can be transferr ed from the camera to the computer's storage. The images can then be viewed onscreen, man ipulated and shared. A dig ital sti ll camera is optimised for capturing still images but usually has the capability of capturing movies too, whereas a digitalvideo camera is optimised for captur ing mov ies but can also capture still images . </a:t>
            </a:r>
            <a:endParaRPr lang="en-US"/>
          </a:p>
          <a:p>
            <a:pPr marL="0" indent="0" algn="just">
              <a:buNone/>
            </a:pPr>
            <a:r>
              <a:rPr lang="en-US" u="sng"/>
              <a:t>A webcam</a:t>
            </a:r>
            <a:r>
              <a:rPr lang="en-US"/>
              <a:t> is a camera that is connected to the com puter for the pu rpose of captur ing still or moving images whi le using the computer . It will no t be as high quality as a dedicated dig ital camera or digital video camera . It will usually have an integrated microphone for capturing sound . Its main purpose is for users to engage in online video chat or video conferences They can also be used assecurity cameras. </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sym typeface="+mn-ea"/>
              </a:rPr>
              <a:t>External Hardware Device(Scanner,OCR,OMR)</a:t>
            </a:r>
            <a:endParaRPr lang="en-US"/>
          </a:p>
        </p:txBody>
      </p:sp>
      <p:pic>
        <p:nvPicPr>
          <p:cNvPr id="6" name="Content Placeholder 5"/>
          <p:cNvPicPr>
            <a:picLocks noChangeAspect="1"/>
          </p:cNvPicPr>
          <p:nvPr>
            <p:ph idx="1"/>
          </p:nvPr>
        </p:nvPicPr>
        <p:blipFill>
          <a:blip r:embed="rId1"/>
          <a:stretch>
            <a:fillRect/>
          </a:stretch>
        </p:blipFill>
        <p:spPr>
          <a:xfrm>
            <a:off x="3338830" y="1821815"/>
            <a:ext cx="2319020" cy="1607185"/>
          </a:xfrm>
          <a:prstGeom prst="rect">
            <a:avLst/>
          </a:prstGeom>
        </p:spPr>
      </p:pic>
      <p:sp>
        <p:nvSpPr>
          <p:cNvPr id="7" name="Text Box 6"/>
          <p:cNvSpPr txBox="1"/>
          <p:nvPr/>
        </p:nvSpPr>
        <p:spPr>
          <a:xfrm>
            <a:off x="331470" y="3517265"/>
            <a:ext cx="11601450" cy="3340735"/>
          </a:xfrm>
          <a:prstGeom prst="rect">
            <a:avLst/>
          </a:prstGeom>
        </p:spPr>
        <p:txBody>
          <a:bodyPr>
            <a:noAutofit/>
          </a:bodyPr>
          <a:p>
            <a:pPr algn="just"/>
            <a:r>
              <a:rPr sz="2400"/>
              <a:t>A scanner is used to capture two dimensional (2D)</a:t>
            </a:r>
            <a:r>
              <a:rPr lang="en-US" sz="2400"/>
              <a:t> </a:t>
            </a:r>
            <a:r>
              <a:rPr sz="2400"/>
              <a:t>documents in the form of an image. They perform a</a:t>
            </a:r>
            <a:r>
              <a:rPr lang="en-US" sz="2400"/>
              <a:t> </a:t>
            </a:r>
            <a:r>
              <a:rPr sz="2400"/>
              <a:t>similar function to a digital camera but are specifically</a:t>
            </a:r>
            <a:r>
              <a:rPr lang="en-US" sz="2400"/>
              <a:t> </a:t>
            </a:r>
            <a:r>
              <a:rPr sz="2400"/>
              <a:t>designed to take clos</a:t>
            </a:r>
            <a:r>
              <a:rPr lang="en-US" sz="2400"/>
              <a:t>e-up image</a:t>
            </a:r>
            <a:r>
              <a:rPr sz="2400"/>
              <a:t> of 2D </a:t>
            </a:r>
            <a:r>
              <a:rPr lang="en-US" sz="2400"/>
              <a:t>document</a:t>
            </a:r>
            <a:r>
              <a:rPr sz="2400"/>
              <a:t> . Fl</a:t>
            </a:r>
            <a:r>
              <a:rPr lang="en-US" sz="2400"/>
              <a:t>at</a:t>
            </a:r>
            <a:r>
              <a:rPr sz="2400"/>
              <a:t>bed scanners can capture a full-colour image and save</a:t>
            </a:r>
            <a:r>
              <a:rPr lang="en-US" sz="2400"/>
              <a:t> </a:t>
            </a:r>
            <a:r>
              <a:rPr sz="2400"/>
              <a:t>the image as a file on </a:t>
            </a:r>
            <a:r>
              <a:rPr lang="en-US" sz="2400"/>
              <a:t>the computer storage.</a:t>
            </a:r>
            <a:r>
              <a:rPr sz="2400"/>
              <a:t> If the </a:t>
            </a:r>
            <a:r>
              <a:rPr lang="en-US" sz="2400"/>
              <a:t>image </a:t>
            </a:r>
            <a:r>
              <a:rPr sz="2400"/>
              <a:t>contains </a:t>
            </a:r>
            <a:r>
              <a:rPr lang="en-US" sz="2400"/>
              <a:t>lot</a:t>
            </a:r>
            <a:r>
              <a:rPr sz="2400"/>
              <a:t> of text. then it is poss</a:t>
            </a:r>
            <a:r>
              <a:rPr lang="en-US" sz="2400"/>
              <a:t>iblerun Optical C</a:t>
            </a:r>
            <a:r>
              <a:rPr sz="2400"/>
              <a:t>haracter </a:t>
            </a:r>
            <a:r>
              <a:rPr lang="en-US" sz="2400"/>
              <a:t>R</a:t>
            </a:r>
            <a:r>
              <a:rPr sz="2400"/>
              <a:t>ecognition (OCR) to recognise the text. Some</a:t>
            </a:r>
            <a:r>
              <a:rPr lang="en-US" sz="2400"/>
              <a:t> </a:t>
            </a:r>
            <a:r>
              <a:rPr sz="2400"/>
              <a:t>flat-bed scanners include an automatic docum ent feeder(ADF) that enables documents with multiple pages to be</a:t>
            </a:r>
            <a:r>
              <a:rPr lang="en-US" sz="2400"/>
              <a:t> </a:t>
            </a:r>
            <a:r>
              <a:rPr sz="2400"/>
              <a:t>scanned in one operation .</a:t>
            </a:r>
            <a:endParaRPr sz="24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Optical character reader</a:t>
            </a:r>
            <a:endParaRPr lang="en-US"/>
          </a:p>
        </p:txBody>
      </p:sp>
      <p:sp>
        <p:nvSpPr>
          <p:cNvPr id="3" name="Content Placeholder 2"/>
          <p:cNvSpPr>
            <a:spLocks noGrp="1"/>
          </p:cNvSpPr>
          <p:nvPr>
            <p:ph idx="1"/>
          </p:nvPr>
        </p:nvSpPr>
        <p:spPr>
          <a:xfrm>
            <a:off x="680085" y="1721485"/>
            <a:ext cx="10873740" cy="4214495"/>
          </a:xfrm>
        </p:spPr>
        <p:txBody>
          <a:bodyPr>
            <a:noAutofit/>
          </a:bodyPr>
          <a:p>
            <a:pPr marL="0" indent="0" algn="just">
              <a:buNone/>
            </a:pPr>
            <a:r>
              <a:rPr lang="en-US" sz="3200"/>
              <a:t>An optical character reader (OCR) is a device that enables characters on a document to be identified and understood by the computer as letters, numbers,characters and words. This isn't really a device in itself, but is a scanne r comb ined with softw are that performs optical character recognit ion (also OCR). The picture of the document is analysed and characters are recognised by the software and turned into a document so that the text can be searched or edited. </a:t>
            </a:r>
            <a:endParaRPr lang="en-US" sz="32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Magnetic Ink Character Reader (MICR)</a:t>
            </a:r>
            <a:endParaRPr lang="en-US"/>
          </a:p>
        </p:txBody>
      </p:sp>
      <p:pic>
        <p:nvPicPr>
          <p:cNvPr id="4" name="Content Placeholder 3"/>
          <p:cNvPicPr>
            <a:picLocks noChangeAspect="1"/>
          </p:cNvPicPr>
          <p:nvPr>
            <p:ph idx="1"/>
          </p:nvPr>
        </p:nvPicPr>
        <p:blipFill>
          <a:blip r:embed="rId1"/>
          <a:stretch>
            <a:fillRect/>
          </a:stretch>
        </p:blipFill>
        <p:spPr>
          <a:xfrm>
            <a:off x="3510280" y="1629410"/>
            <a:ext cx="3657600" cy="2333625"/>
          </a:xfrm>
          <a:prstGeom prst="rect">
            <a:avLst/>
          </a:prstGeom>
        </p:spPr>
      </p:pic>
      <p:sp>
        <p:nvSpPr>
          <p:cNvPr id="5" name="Text Box 4"/>
          <p:cNvSpPr txBox="1"/>
          <p:nvPr/>
        </p:nvSpPr>
        <p:spPr>
          <a:xfrm>
            <a:off x="464185" y="3963035"/>
            <a:ext cx="10662285" cy="3099435"/>
          </a:xfrm>
          <a:prstGeom prst="rect">
            <a:avLst/>
          </a:prstGeom>
        </p:spPr>
        <p:txBody>
          <a:bodyPr>
            <a:noAutofit/>
          </a:bodyPr>
          <a:p>
            <a:pPr algn="just"/>
            <a:r>
              <a:rPr sz="2400"/>
              <a:t>Magnetic ink is used to print numbers at the bottom of checks. The numb ers are printed using the MICR E-138 or CMC-7 font. The ink contains iron oxide which means that it is easily detected when using a magnetic ink cha racter reader (MICR) and the characters can be und ersto od. It is important that mistakes aren't made and so MICR provides a much better level of accu racy than OCR. </a:t>
            </a:r>
            <a:endParaRPr sz="24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Optical Mark Reader (OMR)</a:t>
            </a:r>
            <a:endParaRPr lang="en-US"/>
          </a:p>
        </p:txBody>
      </p:sp>
      <p:pic>
        <p:nvPicPr>
          <p:cNvPr id="4" name="Content Placeholder 3"/>
          <p:cNvPicPr>
            <a:picLocks noChangeAspect="1"/>
          </p:cNvPicPr>
          <p:nvPr>
            <p:ph idx="1"/>
          </p:nvPr>
        </p:nvPicPr>
        <p:blipFill>
          <a:blip r:embed="rId1"/>
          <a:stretch>
            <a:fillRect/>
          </a:stretch>
        </p:blipFill>
        <p:spPr>
          <a:xfrm>
            <a:off x="3662680" y="1837690"/>
            <a:ext cx="3398520" cy="2440305"/>
          </a:xfrm>
          <a:prstGeom prst="rect">
            <a:avLst/>
          </a:prstGeom>
        </p:spPr>
      </p:pic>
      <p:sp>
        <p:nvSpPr>
          <p:cNvPr id="5" name="Text Box 4"/>
          <p:cNvSpPr txBox="1"/>
          <p:nvPr/>
        </p:nvSpPr>
        <p:spPr>
          <a:xfrm>
            <a:off x="156210" y="4281805"/>
            <a:ext cx="11776710" cy="2713355"/>
          </a:xfrm>
          <a:prstGeom prst="rect">
            <a:avLst/>
          </a:prstGeom>
        </p:spPr>
        <p:txBody>
          <a:bodyPr wrap="square">
            <a:noAutofit/>
          </a:bodyPr>
          <a:p>
            <a:pPr algn="just"/>
            <a:r>
              <a:rPr sz="2400"/>
              <a:t>An optical mark reader (OMR) detects the marks that are made on a multiple choice document such as a multiple choice answer paper for an exam in ation. A scanner-like device is used to reflect a beam of light o nt o the marked sheet and detect where the marks have be en made. So ftw ar e is then used to t ranslate the po sition of t he mark to the info rmat io n that it repr ese nt s. OM R devices are only really suitable for multiple choice responses as they cannot interpret lett ers that form words. </a:t>
            </a:r>
            <a:endParaRPr sz="24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57741" y="753228"/>
            <a:ext cx="9613861" cy="1080938"/>
          </a:xfrm>
        </p:spPr>
        <p:txBody>
          <a:bodyPr/>
          <a:p>
            <a:r>
              <a:rPr lang="en-US">
                <a:sym typeface="+mn-ea"/>
              </a:rPr>
              <a:t>Barcode Reader</a:t>
            </a:r>
            <a:endParaRPr lang="en-US"/>
          </a:p>
        </p:txBody>
      </p:sp>
      <p:sp>
        <p:nvSpPr>
          <p:cNvPr id="3" name="Content Placeholder 2"/>
          <p:cNvSpPr>
            <a:spLocks noGrp="1"/>
          </p:cNvSpPr>
          <p:nvPr>
            <p:ph idx="1"/>
          </p:nvPr>
        </p:nvSpPr>
        <p:spPr>
          <a:xfrm>
            <a:off x="225425" y="1833880"/>
            <a:ext cx="10918190" cy="4628515"/>
          </a:xfrm>
        </p:spPr>
        <p:txBody>
          <a:bodyPr>
            <a:noAutofit/>
          </a:bodyPr>
          <a:p>
            <a:pPr marL="0" indent="0" algn="just">
              <a:buNone/>
            </a:pPr>
            <a:endParaRPr lang="en-US" sz="1000"/>
          </a:p>
          <a:p>
            <a:pPr marL="0" indent="0" algn="just">
              <a:buNone/>
            </a:pPr>
            <a:r>
              <a:rPr lang="en-US" sz="2500"/>
              <a:t>A barcode reader is used to detect the width of lines and gaps that form a barcode. A laser beam is shone onto the barcode and a photodiode is used to measure the amount of light that is reflected back. Black lines will not reflect any light but white gaps will. A barcode represents letters and number s which usually identify some thing, such as a book or other product . </a:t>
            </a:r>
            <a:endParaRPr lang="en-US" sz="2500"/>
          </a:p>
          <a:p>
            <a:pPr marL="0" indent="0" algn="just">
              <a:buNone/>
            </a:pPr>
            <a:r>
              <a:rPr lang="en-US" sz="2500"/>
              <a:t>The barcode scanner usually inclu des it s own hardcoded circuitry so that it can send the letters and numb ers directly to the computer without the need for additional software . </a:t>
            </a:r>
            <a:endParaRPr lang="en-US" sz="2500"/>
          </a:p>
        </p:txBody>
      </p:sp>
      <p:pic>
        <p:nvPicPr>
          <p:cNvPr id="4" name="Picture 3"/>
          <p:cNvPicPr>
            <a:picLocks noChangeAspect="1"/>
          </p:cNvPicPr>
          <p:nvPr/>
        </p:nvPicPr>
        <p:blipFill>
          <a:blip r:embed="rId1"/>
          <a:stretch>
            <a:fillRect/>
          </a:stretch>
        </p:blipFill>
        <p:spPr>
          <a:xfrm>
            <a:off x="6298565" y="5077460"/>
            <a:ext cx="4742180" cy="175704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sym typeface="+mn-ea"/>
              </a:rPr>
              <a:t>External Hardware Device(</a:t>
            </a:r>
            <a:r>
              <a:rPr lang="en-US">
                <a:sym typeface="+mn-ea"/>
              </a:rPr>
              <a:t>Pen drive)</a:t>
            </a:r>
            <a:endParaRPr lang="en-US"/>
          </a:p>
        </p:txBody>
      </p:sp>
      <p:sp>
        <p:nvSpPr>
          <p:cNvPr id="3" name="Content Placeholder 2"/>
          <p:cNvSpPr>
            <a:spLocks noGrp="1"/>
          </p:cNvSpPr>
          <p:nvPr>
            <p:ph idx="1"/>
          </p:nvPr>
        </p:nvSpPr>
        <p:spPr>
          <a:xfrm>
            <a:off x="504825" y="2000250"/>
            <a:ext cx="10537190" cy="4653915"/>
          </a:xfrm>
        </p:spPr>
        <p:txBody>
          <a:bodyPr>
            <a:normAutofit/>
          </a:bodyPr>
          <a:p>
            <a:pPr marL="0" indent="0" algn="just">
              <a:buNone/>
            </a:pPr>
            <a:r>
              <a:rPr lang="en-US" sz="2600"/>
              <a:t>A pen drive is a nick name for a USD flash drive. It is a small data sto rage device about the size of a thu mb which stores data on flash memory and includes an integrated USB interface. The USB interface means th at the flash drive is recognisable on all computers with a USB port and therefore data can be transported easily between computers. </a:t>
            </a:r>
            <a:endParaRPr lang="en-US" sz="2600"/>
          </a:p>
          <a:p>
            <a:pPr marL="0" indent="0" algn="just">
              <a:buNone/>
            </a:pPr>
            <a:r>
              <a:rPr lang="en-US" sz="2600"/>
              <a:t>Flash memory is very fast and so t he limiting facto r is the speed of the USB port. As a flash drive does not have any moving parts it is safe to tr anspo rt, although its size means t hat it can be easily lost. It also does not relyon magnetising and therefore is not susceptible to damage if it comes in contact with a strong magnetic field.</a:t>
            </a:r>
            <a:endParaRPr lang="en-US" sz="26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ltLang="en-US"/>
              <a:t>precious.a@westerfieldcollege.com</a:t>
            </a:r>
            <a:endParaRPr lang="en-US" altLang="en-US"/>
          </a:p>
          <a:p>
            <a:r>
              <a:rPr lang="en-US" altLang="en-US"/>
              <a:t>preye.d@westerfieldcollege.co</a:t>
            </a:r>
            <a:endParaRPr lang="en-US"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Blu-ray disc drive</a:t>
            </a:r>
            <a:endParaRPr lang="en-US"/>
          </a:p>
        </p:txBody>
      </p:sp>
      <p:sp>
        <p:nvSpPr>
          <p:cNvPr id="3" name="Content Placeholder 2"/>
          <p:cNvSpPr>
            <a:spLocks noGrp="1"/>
          </p:cNvSpPr>
          <p:nvPr>
            <p:ph idx="1"/>
          </p:nvPr>
        </p:nvSpPr>
        <p:spPr>
          <a:xfrm>
            <a:off x="429895" y="2066290"/>
            <a:ext cx="11512550" cy="5137785"/>
          </a:xfrm>
        </p:spPr>
        <p:txBody>
          <a:bodyPr>
            <a:normAutofit fontScale="75000"/>
          </a:bodyPr>
          <a:p>
            <a:pPr marL="0" indent="0" algn="just">
              <a:buNone/>
            </a:pPr>
            <a:r>
              <a:rPr lang="en-US"/>
              <a:t>A Blu-ray disc is an optica l storage medium. It is the same  size and shape as a compact disc (CD) and digital versatile disc (DVD). The Blu-ray disc was introduced because it can store HD video and therefore a whole film can be stored on the Blu-ray disc. A single layer Blu-ray disc can store 25 GB of data and a dual-layer Blu-ray disc can store 50 GB of data . This compares to a DVD which can store 4.7 GB of data and a CD whic h can sto re 700 MB of data (or 80min utes of audio ). A Blu ray disc drive is required to read data from or write data to a Blu-ray di sc. It uses lasers to read data that has been written in 'pits'. A basic Blu-ray disc drive can read data at 4.5 MB/ s, whereas a 16x Blu-ray drive can read data at 72 MB/ s. This is much slower than a HDD but the discs are very cheap to purchase compared with a whole HDD.</a:t>
            </a:r>
            <a:endParaRPr lang="en-US"/>
          </a:p>
          <a:p>
            <a:pPr marL="0" indent="0" algn="just">
              <a:buNone/>
            </a:pPr>
            <a:r>
              <a:rPr lang="en-US"/>
              <a:t>A standard Blu-ray disc is read only and used to distribute HD movies . However, it is possible to buy recordable (Bluray) discs that can be written to once and are useful for archive and backup purposes, or rewritable (Blu-ray) discs which can be rewritten to and erased making them useful for both backup and data transfer purposes.</a:t>
            </a:r>
            <a:endParaRPr lang="en-US"/>
          </a:p>
          <a:p>
            <a:pPr marL="0" indent="0">
              <a:buNone/>
            </a:pPr>
            <a:endParaRPr lang="en-US"/>
          </a:p>
          <a:p>
            <a:pPr marL="0" indent="0">
              <a:buNone/>
            </a:pPr>
            <a:r>
              <a:rPr lang="en-US" b="1"/>
              <a:t>DISCUSSION POINT:</a:t>
            </a:r>
            <a:endParaRPr lang="en-US" b="1"/>
          </a:p>
          <a:p>
            <a:pPr marL="0" indent="0">
              <a:buNone/>
            </a:pPr>
            <a:r>
              <a:rPr lang="en-US"/>
              <a:t>Find out about the next advancement in optical storage,</a:t>
            </a:r>
            <a:endParaRPr lang="en-US"/>
          </a:p>
          <a:p>
            <a:pPr marL="0" indent="0">
              <a:buNone/>
            </a:pPr>
            <a:r>
              <a:rPr lang="en-US"/>
              <a:t>the holographic versatile disc (HVD)</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2400">
                <a:sym typeface="+mn-ea"/>
              </a:rPr>
              <a:t>External Hardware Device(</a:t>
            </a:r>
            <a:r>
              <a:rPr lang="en-US" sz="2400">
                <a:sym typeface="+mn-ea"/>
              </a:rPr>
              <a:t>Memory card,Portable Hardisk Drive)</a:t>
            </a:r>
            <a:endParaRPr lang="en-US" sz="2400">
              <a:sym typeface="+mn-ea"/>
            </a:endParaRPr>
          </a:p>
        </p:txBody>
      </p:sp>
      <p:sp>
        <p:nvSpPr>
          <p:cNvPr id="3" name="Content Placeholder 2"/>
          <p:cNvSpPr>
            <a:spLocks noGrp="1"/>
          </p:cNvSpPr>
          <p:nvPr>
            <p:ph idx="1"/>
          </p:nvPr>
        </p:nvSpPr>
        <p:spPr>
          <a:xfrm>
            <a:off x="475615" y="1979295"/>
            <a:ext cx="11240135" cy="5013960"/>
          </a:xfrm>
        </p:spPr>
        <p:txBody>
          <a:bodyPr>
            <a:normAutofit/>
          </a:bodyPr>
          <a:p>
            <a:pPr marL="0" indent="0" algn="just">
              <a:buNone/>
            </a:pPr>
            <a:r>
              <a:rPr lang="en-US" u="sng"/>
              <a:t>A Memory Card</a:t>
            </a:r>
            <a:r>
              <a:rPr lang="en-US"/>
              <a:t> is flash memory on a small card. They are typ ically used in digital came ras, digital video cameras and mobile phones . They take up very little space so are well suited to fitt ing into a small device, as well as being  portable so that data can be transferred to a computer. There are many differe nt formats of cards, but most devices favour Secure Digital (SD) and microSD cards. MicroSD cards are only 15 x 11 x 0.7 mm in size. </a:t>
            </a:r>
            <a:endParaRPr lang="en-US"/>
          </a:p>
          <a:p>
            <a:pPr marL="0" indent="0" algn="just">
              <a:buNone/>
            </a:pPr>
            <a:r>
              <a:rPr lang="en-US" u="sng"/>
              <a:t>Portable Hard Disk Drive</a:t>
            </a:r>
            <a:endParaRPr lang="en-US" u="sng"/>
          </a:p>
          <a:p>
            <a:pPr marL="0" indent="0" algn="just">
              <a:buNone/>
            </a:pPr>
            <a:r>
              <a:rPr lang="en-US"/>
              <a:t>Hard disk drives were introduced earlier in this chapter . As we ll as an internal HDD, it is possible to have an external HDD. An external HDD can be connected to the comp uter using a USB or External Serial Advanced Techno logy Attachmen t (eSATA) port. An external HDD can store a lot mo re data than a USB flash drive, but it is more susceptible to damage due to it having moving parts and its vulnerability to strong magnetic fields.</a:t>
            </a:r>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External Hardware Device(Storage Devices)</a:t>
            </a:r>
            <a:endParaRPr lang="en-US"/>
          </a:p>
        </p:txBody>
      </p:sp>
      <p:sp>
        <p:nvSpPr>
          <p:cNvPr id="3" name="Content Placeholder 2"/>
          <p:cNvSpPr>
            <a:spLocks noGrp="1"/>
          </p:cNvSpPr>
          <p:nvPr>
            <p:ph idx="1"/>
          </p:nvPr>
        </p:nvSpPr>
        <p:spPr>
          <a:xfrm>
            <a:off x="203835" y="2336800"/>
            <a:ext cx="11492230" cy="3599180"/>
          </a:xfrm>
        </p:spPr>
        <p:txBody>
          <a:bodyPr/>
          <a:p>
            <a:pPr marL="0" indent="0">
              <a:buNone/>
            </a:pPr>
            <a:r>
              <a:rPr lang="en-US"/>
              <a:t>Remember</a:t>
            </a:r>
            <a:endParaRPr lang="en-US"/>
          </a:p>
          <a:p>
            <a:pPr marL="0" indent="0">
              <a:buNone/>
            </a:pPr>
            <a:r>
              <a:rPr lang="en-US"/>
              <a:t>The main purpose of a stora ge device is to store data or software that can be used by a computer . A storage device is known as secondary storage, which is non -volatile and so dat a is not lost when the comput er is turned off. </a:t>
            </a: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sym typeface="+mn-ea"/>
              </a:rPr>
              <a:t>Comparing Storage Devices </a:t>
            </a:r>
            <a:endParaRPr lang="en-US"/>
          </a:p>
        </p:txBody>
      </p:sp>
      <p:pic>
        <p:nvPicPr>
          <p:cNvPr id="4" name="Content Placeholder 3"/>
          <p:cNvPicPr>
            <a:picLocks noChangeAspect="1"/>
          </p:cNvPicPr>
          <p:nvPr>
            <p:ph idx="1"/>
          </p:nvPr>
        </p:nvPicPr>
        <p:blipFill>
          <a:blip r:embed="rId1"/>
          <a:stretch>
            <a:fillRect/>
          </a:stretch>
        </p:blipFill>
        <p:spPr>
          <a:xfrm>
            <a:off x="500380" y="1551305"/>
            <a:ext cx="10977880" cy="523303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Comparing Storage Devices </a:t>
            </a:r>
            <a:endParaRPr lang="en-US"/>
          </a:p>
        </p:txBody>
      </p:sp>
      <p:pic>
        <p:nvPicPr>
          <p:cNvPr id="4" name="Content Placeholder 3"/>
          <p:cNvPicPr>
            <a:picLocks noChangeAspect="1"/>
          </p:cNvPicPr>
          <p:nvPr>
            <p:ph idx="1"/>
          </p:nvPr>
        </p:nvPicPr>
        <p:blipFill>
          <a:blip r:embed="rId1"/>
          <a:stretch>
            <a:fillRect/>
          </a:stretch>
        </p:blipFill>
        <p:spPr>
          <a:xfrm>
            <a:off x="245745" y="1833880"/>
            <a:ext cx="10997565" cy="5005070"/>
          </a:xfrm>
          <a:prstGeom prst="rect">
            <a:avLst/>
          </a:prstGeom>
        </p:spPr>
      </p:pic>
    </p:spTree>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TM04033917[[fn=Berlin]]</Template>
  <TotalTime>0</TotalTime>
  <Words>23344</Words>
  <Application>WPS Presentation</Application>
  <PresentationFormat>Widescreen</PresentationFormat>
  <Paragraphs>294</Paragraphs>
  <Slides>49</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49</vt:i4>
      </vt:variant>
    </vt:vector>
  </HeadingPairs>
  <TitlesOfParts>
    <vt:vector size="57" baseType="lpstr">
      <vt:lpstr>Arial</vt:lpstr>
      <vt:lpstr>SimSun</vt:lpstr>
      <vt:lpstr>Wingdings</vt:lpstr>
      <vt:lpstr>Calibri</vt:lpstr>
      <vt:lpstr>Trebuchet MS</vt:lpstr>
      <vt:lpstr>Microsoft YaHei</vt:lpstr>
      <vt:lpstr>Arial Unicode MS</vt:lpstr>
      <vt:lpstr>Berlin</vt:lpstr>
      <vt:lpstr>Chapter two Hardware and software </vt:lpstr>
      <vt:lpstr>Learning objective </vt:lpstr>
      <vt:lpstr>Key Terms</vt:lpstr>
      <vt:lpstr>Hardware Device</vt:lpstr>
      <vt:lpstr>Internal Hardware Devices </vt:lpstr>
      <vt:lpstr>CPU</vt:lpstr>
      <vt:lpstr>CPU</vt:lpstr>
      <vt:lpstr>Motherboard</vt:lpstr>
      <vt:lpstr>RAM (Random Access Memory)</vt:lpstr>
      <vt:lpstr>RAM cont…</vt:lpstr>
      <vt:lpstr>ROM ( Read Only Memory)</vt:lpstr>
      <vt:lpstr>Functions of ROM</vt:lpstr>
      <vt:lpstr>Types of ROM</vt:lpstr>
      <vt:lpstr>Types of ROM </vt:lpstr>
      <vt:lpstr>Types of ROM cont..</vt:lpstr>
      <vt:lpstr>Class Activity one</vt:lpstr>
      <vt:lpstr>Graphic Card</vt:lpstr>
      <vt:lpstr>Graphic Card cont...</vt:lpstr>
      <vt:lpstr>Sound Card</vt:lpstr>
      <vt:lpstr>Hard disk drive</vt:lpstr>
      <vt:lpstr>Hardisk</vt:lpstr>
      <vt:lpstr>Harddisk cont...</vt:lpstr>
      <vt:lpstr>Hardisk</vt:lpstr>
      <vt:lpstr>SSD(Solid State Drive)</vt:lpstr>
      <vt:lpstr>External Hardware Device(Cloud)</vt:lpstr>
      <vt:lpstr>Cloud </vt:lpstr>
      <vt:lpstr>External Hardware Device(Monitor)</vt:lpstr>
      <vt:lpstr>External Hardware Device(Keyboard)</vt:lpstr>
      <vt:lpstr>External Hardware Device(Mouse)</vt:lpstr>
      <vt:lpstr>External Hardware Device(Printer)</vt:lpstr>
      <vt:lpstr>Classification of Printers </vt:lpstr>
      <vt:lpstr>Impact Printer</vt:lpstr>
      <vt:lpstr>Dot matrix printer</vt:lpstr>
      <vt:lpstr>External Hardware Device(Plotter)</vt:lpstr>
      <vt:lpstr>Differences and Similarities between printers </vt:lpstr>
      <vt:lpstr>PowerPoint 演示文稿</vt:lpstr>
      <vt:lpstr>External Hardware Device(Speaker, Camera,Webcam)</vt:lpstr>
      <vt:lpstr>External Hardware Device(Scanner,OCR,OMR)</vt:lpstr>
      <vt:lpstr>Optical character reader</vt:lpstr>
      <vt:lpstr>Magnetic Ink Character Reader (MICR)</vt:lpstr>
      <vt:lpstr>Optical Mark Reader (OMR)</vt:lpstr>
      <vt:lpstr>Barcode Reader</vt:lpstr>
      <vt:lpstr>External Hardware Device(Pen drive)</vt:lpstr>
      <vt:lpstr>PowerPoint 演示文稿</vt:lpstr>
      <vt:lpstr>Blu-ray disc drive</vt:lpstr>
      <vt:lpstr>External Hardware Device(Memory card,Portable Hardisk Drive)</vt:lpstr>
      <vt:lpstr>External Hardware Device(Storage Devices)</vt:lpstr>
      <vt:lpstr>Comparing Storage Devices </vt:lpstr>
      <vt:lpstr>Comparing Storage Devices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two Hardware and software</dc:title>
  <dc:creator>user</dc:creator>
  <cp:lastModifiedBy>durodola kehinde</cp:lastModifiedBy>
  <cp:revision>48</cp:revision>
  <dcterms:created xsi:type="dcterms:W3CDTF">2024-10-06T19:39:00Z</dcterms:created>
  <dcterms:modified xsi:type="dcterms:W3CDTF">2024-12-04T13:35:34Z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52A55CB168E34A60A4C049A83ADFD26D_12</vt:lpwstr>
  </property>
  <property fmtid="{D5CDD505-2E9C-101B-9397-08002B2CF9AE}" pid="3" name="KSOProductBuildVer">
    <vt:lpwstr>1033-12.2.0.18911</vt:lpwstr>
  </property>
</Properties>
</file>