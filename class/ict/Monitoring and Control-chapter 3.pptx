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4" r:id="rId10"/>
    <p:sldId id="263" r:id="rId11"/>
    <p:sldId id="265" r:id="rId12"/>
    <p:sldId id="266" r:id="rId13"/>
    <p:sldId id="267" r:id="rId14"/>
    <p:sldId id="268" r:id="rId15"/>
    <p:sldId id="269" r:id="rId16"/>
    <p:sldId id="270" r:id="rId17"/>
    <p:sldId id="271"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42A54C80-263E-416B-A8E0-580EDEADCB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Monitoring and Control</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Sensors</a:t>
            </a:r>
            <a:endParaRPr lang="en-US" dirty="0"/>
          </a:p>
        </p:txBody>
      </p:sp>
      <p:pic>
        <p:nvPicPr>
          <p:cNvPr id="4" name="Content Placeholder 3"/>
          <p:cNvPicPr>
            <a:picLocks noGrp="1" noChangeAspect="1"/>
          </p:cNvPicPr>
          <p:nvPr>
            <p:ph idx="1"/>
          </p:nvPr>
        </p:nvPicPr>
        <p:blipFill>
          <a:blip r:embed="rId1"/>
          <a:stretch>
            <a:fillRect/>
          </a:stretch>
        </p:blipFill>
        <p:spPr>
          <a:xfrm>
            <a:off x="2252932" y="1148328"/>
            <a:ext cx="5445472" cy="57096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Sensor </a:t>
            </a:r>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a:t>A sensor is an input device that records data about the surrounding physical </a:t>
            </a:r>
            <a:r>
              <a:rPr lang="en-US" dirty="0" smtClean="0"/>
              <a:t>environment</a:t>
            </a:r>
            <a:r>
              <a:rPr lang="en-US" dirty="0"/>
              <a:t>. The sensor inputs </a:t>
            </a:r>
            <a:r>
              <a:rPr lang="en-US" dirty="0" smtClean="0"/>
              <a:t>this </a:t>
            </a:r>
            <a:r>
              <a:rPr lang="en-US" dirty="0"/>
              <a:t>data into a computer system to be processed. Once the data has been processed, if necessary, an output can be </a:t>
            </a:r>
            <a:r>
              <a:rPr lang="en-US" dirty="0" smtClean="0"/>
              <a:t>triggered </a:t>
            </a:r>
            <a:r>
              <a:rPr lang="en-US" dirty="0"/>
              <a:t>as a response. </a:t>
            </a:r>
            <a:endParaRPr lang="en-US" dirty="0" smtClean="0"/>
          </a:p>
          <a:p>
            <a:pPr algn="just"/>
            <a:r>
              <a:rPr lang="en-US" sz="1400" i="1" dirty="0" smtClean="0"/>
              <a:t>TIP </a:t>
            </a:r>
            <a:r>
              <a:rPr lang="en-US" sz="1400" i="1" dirty="0"/>
              <a:t>Sensors can </a:t>
            </a:r>
            <a:r>
              <a:rPr lang="en-US" sz="1400" i="1" dirty="0" smtClean="0"/>
              <a:t>automatically </a:t>
            </a:r>
            <a:r>
              <a:rPr lang="en-US" sz="1400" i="1" dirty="0"/>
              <a:t>enter data </a:t>
            </a:r>
            <a:r>
              <a:rPr lang="en-US" sz="1400" i="1" dirty="0" smtClean="0"/>
              <a:t>into </a:t>
            </a:r>
            <a:r>
              <a:rPr lang="en-US" sz="1400" i="1" dirty="0"/>
              <a:t>a computer system, removing the need for a human to manually enter </a:t>
            </a:r>
            <a:r>
              <a:rPr lang="en-US" sz="1400" i="1" dirty="0" smtClean="0"/>
              <a:t>the </a:t>
            </a:r>
            <a:r>
              <a:rPr lang="en-US" sz="1400" i="1" dirty="0"/>
              <a:t>data. They can be very beneficial as it can increase </a:t>
            </a:r>
            <a:r>
              <a:rPr lang="en-US" sz="1400" i="1" dirty="0" smtClean="0"/>
              <a:t>the </a:t>
            </a:r>
            <a:r>
              <a:rPr lang="en-US" sz="1400" i="1" dirty="0"/>
              <a:t>accuracy of the data by removing </a:t>
            </a:r>
            <a:r>
              <a:rPr lang="en-US" sz="1400" i="1" dirty="0" smtClean="0"/>
              <a:t>the possibility </a:t>
            </a:r>
            <a:r>
              <a:rPr lang="en-US" sz="1400" i="1" dirty="0"/>
              <a:t>of hum an error. </a:t>
            </a:r>
            <a:endParaRPr lang="en-US" sz="1400" i="1" dirty="0" smtClean="0"/>
          </a:p>
          <a:p>
            <a:r>
              <a:rPr lang="en-US" dirty="0" smtClean="0"/>
              <a:t>Using </a:t>
            </a:r>
            <a:r>
              <a:rPr lang="en-US" dirty="0"/>
              <a:t>sensors can also be very beneficial in environments that could be harmful and dangerous for a human, for example in a nuclear plant to detect </a:t>
            </a:r>
            <a:r>
              <a:rPr lang="en-US" dirty="0" smtClean="0"/>
              <a:t>radiation </a:t>
            </a:r>
            <a:r>
              <a:rPr lang="en-US" dirty="0"/>
              <a:t>levels, or inside an active volcano to </a:t>
            </a:r>
            <a:r>
              <a:rPr lang="en-US" dirty="0" smtClean="0"/>
              <a:t>detect </a:t>
            </a:r>
            <a:r>
              <a:rPr lang="en-US" dirty="0"/>
              <a:t>changes in </a:t>
            </a:r>
            <a:r>
              <a:rPr lang="en-US" dirty="0" smtClean="0"/>
              <a:t>activity</a:t>
            </a:r>
            <a:r>
              <a:rPr lang="en-US" dirty="0"/>
              <a:t>. </a:t>
            </a:r>
            <a:r>
              <a:rPr lang="en-US" dirty="0" smtClean="0"/>
              <a:t>Monitoring </a:t>
            </a:r>
            <a:r>
              <a:rPr lang="en-US" dirty="0"/>
              <a:t>and control technologies make use of many different sensors. </a:t>
            </a:r>
            <a:r>
              <a:rPr lang="en-US" dirty="0" smtClean="0"/>
              <a:t>Monitoring </a:t>
            </a:r>
            <a:r>
              <a:rPr lang="en-US" dirty="0"/>
              <a:t>technologies use sensors to monitor an environment, often collecting data about the environment.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1"/>
          <a:stretch>
            <a:fillRect/>
          </a:stretch>
        </p:blipFill>
        <p:spPr>
          <a:xfrm>
            <a:off x="959756" y="1564267"/>
            <a:ext cx="8686521" cy="52923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Sensor</a:t>
            </a:r>
            <a:endParaRPr lang="en-US" dirty="0"/>
          </a:p>
        </p:txBody>
      </p:sp>
      <p:pic>
        <p:nvPicPr>
          <p:cNvPr id="4" name="Content Placeholder 3"/>
          <p:cNvPicPr>
            <a:picLocks noGrp="1" noChangeAspect="1"/>
          </p:cNvPicPr>
          <p:nvPr>
            <p:ph idx="1"/>
          </p:nvPr>
        </p:nvPicPr>
        <p:blipFill>
          <a:blip r:embed="rId1"/>
          <a:stretch>
            <a:fillRect/>
          </a:stretch>
        </p:blipFill>
        <p:spPr>
          <a:xfrm>
            <a:off x="1035956" y="1270000"/>
            <a:ext cx="7463354" cy="53824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sensor</a:t>
            </a:r>
            <a:endParaRPr lang="en-US" dirty="0"/>
          </a:p>
        </p:txBody>
      </p:sp>
      <p:pic>
        <p:nvPicPr>
          <p:cNvPr id="4" name="Content Placeholder 3"/>
          <p:cNvPicPr>
            <a:picLocks noGrp="1" noChangeAspect="1"/>
          </p:cNvPicPr>
          <p:nvPr>
            <p:ph idx="1"/>
          </p:nvPr>
        </p:nvPicPr>
        <p:blipFill>
          <a:blip r:embed="rId1"/>
          <a:stretch>
            <a:fillRect/>
          </a:stretch>
        </p:blipFill>
        <p:spPr>
          <a:xfrm>
            <a:off x="2508623" y="184764"/>
            <a:ext cx="5102791" cy="65955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16386"/>
            <a:ext cx="8596668" cy="704045"/>
          </a:xfrm>
        </p:spPr>
        <p:txBody>
          <a:bodyPr>
            <a:normAutofit fontScale="90000"/>
          </a:bodyPr>
          <a:lstStyle/>
          <a:p>
            <a:r>
              <a:rPr lang="en-US" dirty="0" smtClean="0"/>
              <a:t>Assignment 1: Give at least 3 examples of each application software discussed in class </a:t>
            </a:r>
            <a:br>
              <a:rPr lang="en-US" dirty="0" smtClean="0"/>
            </a:br>
            <a:r>
              <a:rPr lang="en-US" u="sng" dirty="0" smtClean="0"/>
              <a:t>Assignment 2:</a:t>
            </a:r>
            <a:br>
              <a:rPr lang="en-US" dirty="0" smtClean="0"/>
            </a:br>
            <a:r>
              <a:rPr lang="en-US" dirty="0"/>
              <a:t>Using Command prompt : create a folder in MY DOCUMENT call it ICT001-folder copy any files from your desktop into the </a:t>
            </a:r>
            <a:r>
              <a:rPr lang="en-US" dirty="0" smtClean="0"/>
              <a:t>file (using CMD only). </a:t>
            </a:r>
            <a:r>
              <a:rPr lang="en-US" dirty="0"/>
              <a:t>Write the steps of how you accomplish the </a:t>
            </a:r>
            <a:r>
              <a:rPr lang="en-US" dirty="0" smtClean="0"/>
              <a:t>task</a:t>
            </a:r>
            <a:br>
              <a:rPr lang="en-US" dirty="0" smtClean="0"/>
            </a:br>
            <a:r>
              <a:rPr lang="en-US" u="sng" dirty="0" smtClean="0"/>
              <a:t>Assignment 3: </a:t>
            </a:r>
            <a:br>
              <a:rPr lang="en-US" dirty="0" smtClean="0"/>
            </a:br>
            <a:r>
              <a:rPr lang="en-US" dirty="0" smtClean="0"/>
              <a:t>Draw </a:t>
            </a:r>
            <a:r>
              <a:rPr lang="en-US" dirty="0"/>
              <a:t>a simple flowchart for the assignment two above </a:t>
            </a:r>
            <a:br>
              <a:rPr lang="en-US" dirty="0"/>
            </a:br>
            <a:br>
              <a:rPr lang="en-US" dirty="0"/>
            </a:br>
            <a:endParaRPr lang="en-US" dirty="0"/>
          </a:p>
        </p:txBody>
      </p:sp>
      <p:sp>
        <p:nvSpPr>
          <p:cNvPr id="3" name="Content Placeholder 2"/>
          <p:cNvSpPr>
            <a:spLocks noGrp="1"/>
          </p:cNvSpPr>
          <p:nvPr>
            <p:ph idx="1"/>
          </p:nvPr>
        </p:nvSpPr>
        <p:spPr>
          <a:xfrm>
            <a:off x="342482" y="5491308"/>
            <a:ext cx="8596668" cy="2733383"/>
          </a:xfrm>
        </p:spPr>
        <p:txBody>
          <a:bodyPr>
            <a:normAutofit/>
          </a:bodyPr>
          <a:lstStyle/>
          <a:p>
            <a:endParaRPr lang="en-US" sz="1100" dirty="0"/>
          </a:p>
          <a:p>
            <a:r>
              <a:rPr lang="en-US" sz="2400" dirty="0" smtClean="0"/>
              <a:t>Submission Date: assignment 1,2,3 all should be submitted by </a:t>
            </a:r>
            <a:r>
              <a:rPr lang="en-US" sz="2400" dirty="0" err="1" smtClean="0"/>
              <a:t>nextweek</a:t>
            </a:r>
            <a:r>
              <a:rPr lang="en-US" sz="2400" dirty="0" smtClean="0"/>
              <a:t> Monday 11-11-2024 </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259080"/>
            <a:ext cx="8596630" cy="715645"/>
          </a:xfrm>
        </p:spPr>
        <p:txBody>
          <a:bodyPr/>
          <a:p>
            <a:r>
              <a:rPr lang="en-US"/>
              <a:t>Motion Sensor</a:t>
            </a:r>
            <a:endParaRPr lang="en-US"/>
          </a:p>
        </p:txBody>
      </p:sp>
      <p:sp>
        <p:nvSpPr>
          <p:cNvPr id="3" name="Content Placeholder 2"/>
          <p:cNvSpPr>
            <a:spLocks noGrp="1"/>
          </p:cNvSpPr>
          <p:nvPr>
            <p:ph idx="1"/>
          </p:nvPr>
        </p:nvSpPr>
        <p:spPr>
          <a:xfrm>
            <a:off x="746125" y="974725"/>
            <a:ext cx="10699750" cy="4119245"/>
          </a:xfrm>
        </p:spPr>
        <p:txBody>
          <a:bodyPr>
            <a:noAutofit/>
          </a:bodyPr>
          <a:p>
            <a:pPr marL="0" indent="0">
              <a:buNone/>
            </a:pPr>
            <a:r>
              <a:rPr lang="en-US" sz="2000"/>
              <a:t>Motion sensors</a:t>
            </a:r>
            <a:endParaRPr lang="en-US" sz="2000"/>
          </a:p>
          <a:p>
            <a:pPr marL="0" indent="0">
              <a:buNone/>
            </a:pPr>
            <a:r>
              <a:rPr lang="en-US" sz="2000"/>
              <a:t>A motion sensor detects movement. It can do this either passively or actively . A passive motion sensor reads the energy in its surrounding environment and detects changes caused by movement. An active motion sensor emits energy into the surrou nding enviro nment to detect any movement. An example of a passive motion sensor is a passive infrared senso r. </a:t>
            </a:r>
            <a:endParaRPr lang="en-US" sz="2000"/>
          </a:p>
          <a:p>
            <a:pPr marL="0" indent="0">
              <a:buNone/>
            </a:pPr>
            <a:r>
              <a:rPr lang="en-US" sz="2000"/>
              <a:t>This is a sensor that detects the presence of infrared energy if it appears in its surrounding enviro nment. An exam ple of an active motion sensor is a microwave sensor. This is a sensor that emits microwaves and detects the changes in th e reflection it receives back when bounci ng off nearby objects .</a:t>
            </a:r>
            <a:endParaRPr lang="en-US" sz="2000"/>
          </a:p>
          <a:p>
            <a:pPr marL="0" indent="0">
              <a:buNone/>
            </a:pPr>
            <a:r>
              <a:rPr lang="en-US" sz="2000"/>
              <a:t>Passive infrared sensors are commonly used in security systems. These sensors are normally wall mounted in the corner of a room. As an intruder walks in front of a sensor, the sensor detect s the infrared energy emitted by the intruder. The dete ct ion of infrared energy by the sensor can then trigger an alarm to sound .</a:t>
            </a:r>
            <a:endParaRPr lang="en-US" sz="2000"/>
          </a:p>
          <a:p>
            <a:pPr marL="0" indent="0">
              <a:buNone/>
            </a:pPr>
            <a:r>
              <a:rPr lang="en-US" sz="2000"/>
              <a:t>Active motion sensors can also be used in security systems. A microwave sensor cont inuou sly emits microwaves into a room. As an intruder walks through the microwaves, they will be reflected back much more qu ickly to the sensor and it will detect the change. This change in reflection of the microwaves can then cause an alarm to sound </a:t>
            </a:r>
            <a:endParaRPr 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609600"/>
            <a:ext cx="8596630" cy="650875"/>
          </a:xfrm>
        </p:spPr>
        <p:txBody>
          <a:bodyPr/>
          <a:lstStyle/>
          <a:p>
            <a:r>
              <a:rPr lang="en-US"/>
              <a:t>Motion Sensor </a:t>
            </a:r>
            <a:endParaRPr lang="en-US"/>
          </a:p>
        </p:txBody>
      </p:sp>
      <p:sp>
        <p:nvSpPr>
          <p:cNvPr id="3" name="Content Placeholder 2"/>
          <p:cNvSpPr>
            <a:spLocks noGrp="1"/>
          </p:cNvSpPr>
          <p:nvPr>
            <p:ph idx="1"/>
          </p:nvPr>
        </p:nvSpPr>
        <p:spPr>
          <a:xfrm>
            <a:off x="677334" y="1488124"/>
            <a:ext cx="8596668" cy="3880773"/>
          </a:xfrm>
        </p:spPr>
        <p:txBody>
          <a:bodyPr>
            <a:noAutofit/>
          </a:bodyPr>
          <a:lstStyle/>
          <a:p>
            <a:pPr marL="0" indent="0">
              <a:buNone/>
            </a:pPr>
            <a:r>
              <a:rPr lang="en-US" sz="2400"/>
              <a:t>Motio n senso rs can be used in lots of other monitoring and control systems. These include:</a:t>
            </a:r>
            <a:endParaRPr lang="en-US" sz="2400"/>
          </a:p>
          <a:p>
            <a:pPr>
              <a:buFont typeface="Wingdings" panose="05000000000000000000" charset="0"/>
              <a:buChar char="v"/>
            </a:pPr>
            <a:r>
              <a:rPr lang="en-US" sz="2400"/>
              <a:t>CCTV system s, to manoeu vre th e cam era to th e direction</a:t>
            </a:r>
            <a:endParaRPr lang="en-US" sz="2400"/>
          </a:p>
          <a:p>
            <a:pPr>
              <a:buFont typeface="Wingdings" panose="05000000000000000000" charset="0"/>
              <a:buChar char="v"/>
            </a:pPr>
            <a:r>
              <a:rPr lang="en-US" sz="2400"/>
              <a:t>of motion that is detected</a:t>
            </a:r>
            <a:endParaRPr lang="en-US" sz="2400"/>
          </a:p>
          <a:p>
            <a:pPr>
              <a:buFont typeface="Wingdings" panose="05000000000000000000" charset="0"/>
              <a:buChar char="v"/>
            </a:pPr>
            <a:r>
              <a:rPr lang="en-US" sz="2400"/>
              <a:t>opening and closing automatic doors</a:t>
            </a:r>
            <a:endParaRPr lang="en-US" sz="2400"/>
          </a:p>
          <a:p>
            <a:pPr>
              <a:buFont typeface="Wingdings" panose="05000000000000000000" charset="0"/>
              <a:buChar char="v"/>
            </a:pPr>
            <a:r>
              <a:rPr lang="en-US" sz="2400"/>
              <a:t>automa tically turning lights on or off in a room when a</a:t>
            </a:r>
            <a:endParaRPr lang="en-US" sz="2400"/>
          </a:p>
          <a:p>
            <a:pPr>
              <a:buFont typeface="Wingdings" panose="05000000000000000000" charset="0"/>
              <a:buChar char="v"/>
            </a:pPr>
            <a:r>
              <a:rPr lang="en-US" sz="2400"/>
              <a:t>person enters or leaves</a:t>
            </a:r>
            <a:endParaRPr lang="en-US" sz="2400"/>
          </a:p>
          <a:p>
            <a:pPr>
              <a:buFont typeface="Wingdings" panose="05000000000000000000" charset="0"/>
              <a:buChar char="v"/>
            </a:pPr>
            <a:r>
              <a:rPr lang="en-US" sz="2400"/>
              <a:t>automatically turning wa ter taps on or off</a:t>
            </a:r>
            <a:endParaRPr lang="en-US" sz="2400"/>
          </a:p>
          <a:p>
            <a:pPr>
              <a:buFont typeface="Wingdings" panose="05000000000000000000" charset="0"/>
              <a:buChar char="v"/>
            </a:pPr>
            <a:r>
              <a:rPr lang="en-US" sz="2400"/>
              <a:t>automat ed barriers in a car park.</a:t>
            </a:r>
            <a:endParaRPr 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609600"/>
            <a:ext cx="8596630" cy="571500"/>
          </a:xfrm>
        </p:spPr>
        <p:txBody>
          <a:bodyPr>
            <a:normAutofit fontScale="90000"/>
          </a:bodyPr>
          <a:p>
            <a:r>
              <a:rPr lang="en-US">
                <a:sym typeface="+mn-ea"/>
              </a:rPr>
              <a:t>Pressure sensors</a:t>
            </a:r>
            <a:endParaRPr lang="en-US"/>
          </a:p>
        </p:txBody>
      </p:sp>
      <p:sp>
        <p:nvSpPr>
          <p:cNvPr id="3" name="Content Placeholder 2"/>
          <p:cNvSpPr>
            <a:spLocks noGrp="1"/>
          </p:cNvSpPr>
          <p:nvPr>
            <p:ph idx="1"/>
          </p:nvPr>
        </p:nvSpPr>
        <p:spPr>
          <a:xfrm>
            <a:off x="677545" y="1444625"/>
            <a:ext cx="10173970" cy="4596765"/>
          </a:xfrm>
        </p:spPr>
        <p:txBody>
          <a:bodyPr>
            <a:noAutofit/>
          </a:bodyPr>
          <a:p>
            <a:endParaRPr lang="en-US"/>
          </a:p>
          <a:p>
            <a:pPr marL="0" indent="0" algn="just">
              <a:buNone/>
            </a:pPr>
            <a:r>
              <a:rPr lang="en-US" sz="2800"/>
              <a:t>A pressure sensor measures pressure, normally of a liquid or a gas. The measure of pressure is based upon the force it takes to stop a liquid or gas from expanding. Most modern pressure sensors use a principal called piezoresistance . In piezores istance , a specific level of press ure is linked to a spec ific level of charge through a substance . If a change in the level of charge is detected, thi s is interpreted as a change in pressure. Pressure sensors can be used in things such as pipes to measure the flow of liquid or gas through them, to make sure they do not flow too quickly. </a:t>
            </a:r>
            <a:endParaRPr 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Pressure Sensor </a:t>
            </a:r>
            <a:endParaRPr lang="en-US"/>
          </a:p>
        </p:txBody>
      </p:sp>
      <p:sp>
        <p:nvSpPr>
          <p:cNvPr id="3" name="Content Placeholder 2"/>
          <p:cNvSpPr>
            <a:spLocks noGrp="1"/>
          </p:cNvSpPr>
          <p:nvPr>
            <p:ph idx="1"/>
          </p:nvPr>
        </p:nvSpPr>
        <p:spPr>
          <a:xfrm>
            <a:off x="677545" y="1252855"/>
            <a:ext cx="10541635" cy="4788535"/>
          </a:xfrm>
        </p:spPr>
        <p:txBody>
          <a:bodyPr>
            <a:noAutofit/>
          </a:bodyPr>
          <a:p>
            <a:pPr marL="0" indent="0">
              <a:buNone/>
            </a:pPr>
            <a:r>
              <a:rPr lang="en-US" sz="2400"/>
              <a:t>Pressure sensors can be used in many different monitoring and control technologies. These include:</a:t>
            </a:r>
            <a:endParaRPr lang="en-US" sz="2400"/>
          </a:p>
          <a:p>
            <a:pPr marL="0" indent="0">
              <a:buNone/>
            </a:pPr>
            <a:r>
              <a:rPr lang="en-US" sz="2400" b="1">
                <a:solidFill>
                  <a:srgbClr val="FF0000"/>
                </a:solidFill>
              </a:rPr>
              <a:t>The vehicle industry</a:t>
            </a:r>
            <a:r>
              <a:rPr lang="en-US" sz="2400"/>
              <a:t>: They are used to form part of the</a:t>
            </a:r>
            <a:endParaRPr lang="en-US" sz="2400"/>
          </a:p>
          <a:p>
            <a:pPr marL="0" indent="0">
              <a:buNone/>
            </a:pPr>
            <a:r>
              <a:rPr lang="en-US" sz="2400"/>
              <a:t>safety system of a vehicle. Pressure sensors are used</a:t>
            </a:r>
            <a:endParaRPr lang="en-US" sz="2400"/>
          </a:p>
          <a:p>
            <a:pPr marL="0" indent="0">
              <a:buNone/>
            </a:pPr>
            <a:r>
              <a:rPr lang="en-US" sz="2400"/>
              <a:t>to mon itor the oil and coolant in the vehicle. They are</a:t>
            </a:r>
            <a:endParaRPr lang="en-US" sz="2400"/>
          </a:p>
          <a:p>
            <a:pPr marL="0" indent="0">
              <a:buNone/>
            </a:pPr>
            <a:r>
              <a:rPr lang="en-US" sz="2400"/>
              <a:t>used to regulat e the power given to the engine based</a:t>
            </a:r>
            <a:endParaRPr lang="en-US" sz="2400"/>
          </a:p>
          <a:p>
            <a:pPr marL="0" indent="0">
              <a:buNone/>
            </a:pPr>
            <a:r>
              <a:rPr lang="en-US" sz="2400"/>
              <a:t>on the pressure placed on the accelerator and brake.</a:t>
            </a:r>
            <a:endParaRPr lang="en-US" sz="2400"/>
          </a:p>
          <a:p>
            <a:pPr marL="0" indent="0">
              <a:buNone/>
            </a:pPr>
            <a:r>
              <a:rPr lang="en-US" sz="2400"/>
              <a:t>The airbag safety system also uses pressure sensors.</a:t>
            </a:r>
            <a:endParaRPr lang="en-US" sz="2400"/>
          </a:p>
          <a:p>
            <a:pPr marL="0" indent="0">
              <a:buNone/>
            </a:pPr>
            <a:r>
              <a:rPr lang="en-US" sz="2400"/>
              <a:t>The air bags will be triggered to inflat e when a high</a:t>
            </a:r>
            <a:endParaRPr lang="en-US" sz="2400"/>
          </a:p>
          <a:p>
            <a:pPr marL="0" indent="0">
              <a:buNone/>
            </a:pPr>
            <a:r>
              <a:rPr lang="en-US" sz="2400"/>
              <a:t>amount of pressure is app lied to certain part s of the</a:t>
            </a:r>
            <a:endParaRPr lang="en-US" sz="2400"/>
          </a:p>
          <a:p>
            <a:pPr marL="0" indent="0">
              <a:buNone/>
            </a:pPr>
            <a:r>
              <a:rPr lang="en-US" sz="2400"/>
              <a:t>vehicle.</a:t>
            </a:r>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609600"/>
            <a:ext cx="8596630" cy="650875"/>
          </a:xfrm>
        </p:spPr>
        <p:txBody>
          <a:bodyPr/>
          <a:p>
            <a:r>
              <a:rPr lang="en-US"/>
              <a:t>Pressure Sensor </a:t>
            </a:r>
            <a:endParaRPr lang="en-US"/>
          </a:p>
        </p:txBody>
      </p:sp>
      <p:sp>
        <p:nvSpPr>
          <p:cNvPr id="3" name="Content Placeholder 2"/>
          <p:cNvSpPr>
            <a:spLocks noGrp="1"/>
          </p:cNvSpPr>
          <p:nvPr>
            <p:ph idx="1"/>
          </p:nvPr>
        </p:nvSpPr>
        <p:spPr>
          <a:xfrm>
            <a:off x="677545" y="1260475"/>
            <a:ext cx="10555605" cy="5083175"/>
          </a:xfrm>
        </p:spPr>
        <p:txBody>
          <a:bodyPr>
            <a:noAutofit/>
          </a:bodyPr>
          <a:p>
            <a:pPr algn="just"/>
            <a:r>
              <a:rPr lang="en-US" sz="2400" b="1">
                <a:solidFill>
                  <a:srgbClr val="FF0000"/>
                </a:solidFill>
              </a:rPr>
              <a:t>Chemical and nuclear plants.</a:t>
            </a:r>
            <a:r>
              <a:rPr lang="en-US" sz="2400"/>
              <a:t> They are used to monitor and control the flow of gases and liquids in industrial plants. This means that substances that are being transported in the plant, or any chemical reactions that are carried out, are done extremely safely. This makes sure that a high level of safety is maintained in the industrial plant at all ti mes.</a:t>
            </a:r>
            <a:endParaRPr lang="en-US" sz="2400"/>
          </a:p>
          <a:p>
            <a:pPr algn="just"/>
            <a:r>
              <a:rPr lang="en-US" sz="2400" b="1">
                <a:solidFill>
                  <a:srgbClr val="FF0000"/>
                </a:solidFill>
              </a:rPr>
              <a:t>Aviation and marine industry.</a:t>
            </a:r>
            <a:r>
              <a:rPr lang="en-US" sz="2400"/>
              <a:t> They are used to monitor and con tro l the atmosphere within an aeroplane or submarine. This is to make sure that the correct breat hing conditions are maintained .</a:t>
            </a:r>
            <a:endParaRPr lang="en-US" sz="2400"/>
          </a:p>
          <a:p>
            <a:pPr algn="just"/>
            <a:r>
              <a:rPr lang="en-US" sz="2400" b="1">
                <a:solidFill>
                  <a:srgbClr val="FF0000"/>
                </a:solidFill>
              </a:rPr>
              <a:t>Touch screens.</a:t>
            </a:r>
            <a:r>
              <a:rPr lang="en-US" sz="2400"/>
              <a:t> A touch screen that uses pressure sensors is built up of mu lti ple layers. When pressure is applied to the top layer of the screen it is pushed into the bott om layer of the screen, creating a connection that generates an electrical signal. This electrical signal informs the device of the location where the pressure has been app lied to the screen. </a:t>
            </a:r>
            <a:endParaRPr 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Moisture and humidity sensors</a:t>
            </a:r>
            <a:br>
              <a:rPr lang="en-US"/>
            </a:br>
            <a:endParaRPr lang="en-US"/>
          </a:p>
        </p:txBody>
      </p:sp>
      <p:sp>
        <p:nvSpPr>
          <p:cNvPr id="3" name="Content Placeholder 2"/>
          <p:cNvSpPr>
            <a:spLocks noGrp="1"/>
          </p:cNvSpPr>
          <p:nvPr>
            <p:ph idx="1"/>
          </p:nvPr>
        </p:nvSpPr>
        <p:spPr>
          <a:xfrm>
            <a:off x="677545" y="1488440"/>
            <a:ext cx="9153525" cy="4852035"/>
          </a:xfrm>
        </p:spPr>
        <p:txBody>
          <a:bodyPr>
            <a:noAutofit/>
          </a:bodyPr>
          <a:p>
            <a:pPr marL="0" indent="0" algn="just">
              <a:buNone/>
            </a:pPr>
            <a:r>
              <a:rPr lang="en-US" sz="2400"/>
              <a:t>Humidity sensors monitor and measure the humidity that is in the air. To monitor the humidity they measure both the moisture and temperature in the air. The percentag e of moisture present in the air at a certain</a:t>
            </a:r>
            <a:endParaRPr lang="en-US" sz="2400"/>
          </a:p>
          <a:p>
            <a:pPr marL="0" indent="0" algn="just">
              <a:buNone/>
            </a:pPr>
            <a:r>
              <a:rPr lang="en-US" sz="2400"/>
              <a:t>temperature is expressed as the level of humidity. Humidity sensors normally use capac itive measurement. This type of measurement uses two electrical conductors that have a non-conductive film separating them. Moisture collects on the film and changes the level of volt age between the electrical conductors . </a:t>
            </a:r>
            <a:endParaRPr lang="en-US" sz="2400"/>
          </a:p>
          <a:p>
            <a:pPr marL="0" indent="0" algn="just">
              <a:buNone/>
            </a:pPr>
            <a:r>
              <a:rPr lang="en-US" sz="2400"/>
              <a:t>The measurement of the change in voltage is converted into a measurement of humidity. Humidity sensors can be used both in the home and the workplac e to monitor and control humidity levels, including : </a:t>
            </a:r>
            <a:endParaRPr 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609600"/>
            <a:ext cx="8596630" cy="602615"/>
          </a:xfrm>
        </p:spPr>
        <p:txBody>
          <a:bodyPr>
            <a:normAutofit fontScale="90000"/>
          </a:bodyPr>
          <a:p>
            <a:r>
              <a:rPr lang="en-US"/>
              <a:t>Application of Moisure and Humidity Sensor </a:t>
            </a:r>
            <a:endParaRPr lang="en-US"/>
          </a:p>
        </p:txBody>
      </p:sp>
      <p:sp>
        <p:nvSpPr>
          <p:cNvPr id="3" name="Content Placeholder 2"/>
          <p:cNvSpPr>
            <a:spLocks noGrp="1"/>
          </p:cNvSpPr>
          <p:nvPr>
            <p:ph idx="1"/>
          </p:nvPr>
        </p:nvSpPr>
        <p:spPr>
          <a:xfrm>
            <a:off x="677545" y="1212215"/>
            <a:ext cx="10428605" cy="4111625"/>
          </a:xfrm>
        </p:spPr>
        <p:txBody>
          <a:bodyPr>
            <a:noAutofit/>
          </a:bodyPr>
          <a:p>
            <a:pPr marL="0" indent="0">
              <a:buNone/>
            </a:pPr>
            <a:endParaRPr lang="en-US"/>
          </a:p>
          <a:p>
            <a:pPr marL="0" indent="0">
              <a:buNone/>
            </a:pPr>
            <a:r>
              <a:rPr lang="en-US" sz="2400" b="1">
                <a:solidFill>
                  <a:srgbClr val="FF0000"/>
                </a:solidFill>
              </a:rPr>
              <a:t>Wine cellars.</a:t>
            </a:r>
            <a:r>
              <a:rPr lang="en-US" sz="2400">
                <a:solidFill>
                  <a:srgbClr val="FF0000"/>
                </a:solidFill>
              </a:rPr>
              <a:t> </a:t>
            </a:r>
            <a:r>
              <a:rPr lang="en-US" sz="2400"/>
              <a:t>The humidity level in the atmosphere of a wine cellar is very important. Too much or too little humidity can cause the wine to spoil. The humid ity level needs to be kept at a constant and correct level in order to keep the wine at its best.</a:t>
            </a:r>
            <a:endParaRPr lang="en-US" sz="2400"/>
          </a:p>
          <a:p>
            <a:pPr marL="0" indent="0">
              <a:buNone/>
            </a:pPr>
            <a:r>
              <a:rPr lang="en-US" sz="2400" b="1">
                <a:solidFill>
                  <a:srgbClr val="FF0000"/>
                </a:solidFill>
              </a:rPr>
              <a:t>Meteorological stations.</a:t>
            </a:r>
            <a:r>
              <a:rPr lang="en-US" sz="2400"/>
              <a:t> They are used to help monitor and predict weather conditions by measuring humidity levels.</a:t>
            </a:r>
            <a:endParaRPr lang="en-US" sz="2400"/>
          </a:p>
          <a:p>
            <a:pPr marL="0" indent="0">
              <a:buNone/>
            </a:pPr>
            <a:r>
              <a:rPr lang="en-US" sz="2400" b="1">
                <a:solidFill>
                  <a:srgbClr val="FF0000"/>
                </a:solidFill>
              </a:rPr>
              <a:t>Controlling allergies.</a:t>
            </a:r>
            <a:r>
              <a:rPr lang="en-US" sz="2400"/>
              <a:t> An atm osphere that is high in hum idity can encourage the growth of bacteria and mould . This can trigger allergies. Humidity sensors can be used to monito r and control the level of humidity in a room .</a:t>
            </a:r>
            <a:endParaRPr lang="en-US" sz="2400"/>
          </a:p>
          <a:p>
            <a:pPr marL="0" indent="0">
              <a:buNone/>
            </a:pPr>
            <a:r>
              <a:rPr lang="en-US" sz="2400" b="1">
                <a:solidFill>
                  <a:srgbClr val="FF0000"/>
                </a:solidFill>
              </a:rPr>
              <a:t>Manufacturing.</a:t>
            </a:r>
            <a:r>
              <a:rPr lang="en-US" sz="2400"/>
              <a:t> In the manufacturing of many products the level of moisture in the atmosphere is very impo,iant. If humidity is too high or too low it could adversely effect the product.</a:t>
            </a:r>
            <a:r>
              <a:rPr lang="en-US"/>
              <a:t> </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Temperature sensors</a:t>
            </a:r>
            <a:br>
              <a:rPr lang="en-US"/>
            </a:br>
            <a:endParaRPr lang="en-US"/>
          </a:p>
        </p:txBody>
      </p:sp>
      <p:sp>
        <p:nvSpPr>
          <p:cNvPr id="3" name="Content Placeholder 2"/>
          <p:cNvSpPr>
            <a:spLocks noGrp="1"/>
          </p:cNvSpPr>
          <p:nvPr>
            <p:ph idx="1"/>
          </p:nvPr>
        </p:nvSpPr>
        <p:spPr>
          <a:xfrm>
            <a:off x="677545" y="1488440"/>
            <a:ext cx="11160760" cy="3880485"/>
          </a:xfrm>
        </p:spPr>
        <p:txBody>
          <a:bodyPr>
            <a:noAutofit/>
          </a:bodyPr>
          <a:p>
            <a:pPr marL="0" indent="0">
              <a:buNone/>
            </a:pPr>
            <a:r>
              <a:rPr lang="en-US" sz="3200"/>
              <a:t>Temperature sensors monitor and measure the</a:t>
            </a:r>
            <a:endParaRPr lang="en-US" sz="3200"/>
          </a:p>
          <a:p>
            <a:pPr marL="0" indent="0">
              <a:buNone/>
            </a:pPr>
            <a:r>
              <a:rPr lang="en-US" sz="3200"/>
              <a:t>temperature of an env iro nment. They do this by measuring how much heat is present. Temperature</a:t>
            </a:r>
            <a:endParaRPr lang="en-US" sz="3200"/>
          </a:p>
          <a:p>
            <a:pPr marL="0" indent="0" algn="just">
              <a:buNone/>
            </a:pPr>
            <a:r>
              <a:rPr lang="en-US" sz="3200"/>
              <a:t>sensors are used in a great number of control systems, many of them in our home appliances. These</a:t>
            </a:r>
            <a:endParaRPr lang="en-US" sz="3200"/>
          </a:p>
          <a:p>
            <a:pPr marL="0" indent="0">
              <a:buNone/>
            </a:pPr>
            <a:r>
              <a:rPr lang="en-US" sz="3200"/>
              <a:t>include:</a:t>
            </a:r>
            <a:endParaRPr lang="en-US" sz="3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609600"/>
            <a:ext cx="8596630" cy="651510"/>
          </a:xfrm>
        </p:spPr>
        <p:txBody>
          <a:bodyPr/>
          <a:p>
            <a:r>
              <a:rPr lang="en-US"/>
              <a:t>Application of Temperature Sensor</a:t>
            </a:r>
            <a:endParaRPr lang="en-US"/>
          </a:p>
        </p:txBody>
      </p:sp>
      <p:sp>
        <p:nvSpPr>
          <p:cNvPr id="3" name="Content Placeholder 2"/>
          <p:cNvSpPr>
            <a:spLocks noGrp="1"/>
          </p:cNvSpPr>
          <p:nvPr>
            <p:ph idx="1"/>
          </p:nvPr>
        </p:nvSpPr>
        <p:spPr>
          <a:xfrm>
            <a:off x="677545" y="1488440"/>
            <a:ext cx="10923905" cy="3880485"/>
          </a:xfrm>
        </p:spPr>
        <p:txBody>
          <a:bodyPr>
            <a:noAutofit/>
          </a:bodyPr>
          <a:p>
            <a:pPr marL="0" indent="0">
              <a:buNone/>
            </a:pPr>
            <a:r>
              <a:rPr lang="en-US" sz="2400" b="1">
                <a:solidFill>
                  <a:srgbClr val="FF0000"/>
                </a:solidFill>
              </a:rPr>
              <a:t>Washing machi ne and dishwasher.</a:t>
            </a:r>
            <a:r>
              <a:rPr lang="en-US" sz="2400"/>
              <a:t> A temperature sensor is used in a washing machine and a dishwas her to measure th e temperature of the water. A microproc essor in the washi ng mach ine or dishwasher will receive th e data sent by the tem perature sensor and can trigger an action to heat up or cool down the water if necessary .</a:t>
            </a:r>
            <a:endParaRPr lang="en-US" sz="2400"/>
          </a:p>
          <a:p>
            <a:pPr marL="0" indent="0">
              <a:buNone/>
            </a:pPr>
            <a:r>
              <a:rPr lang="en-US" sz="2400" b="1">
                <a:solidFill>
                  <a:srgbClr val="FF0000"/>
                </a:solidFill>
              </a:rPr>
              <a:t>Dryer</a:t>
            </a:r>
            <a:r>
              <a:rPr lang="en-US" sz="2400"/>
              <a:t>. A temperat ure sensor is used in a dryer to measure the temperat ure of th e hot air flowing into the dryer. A mic roprocesso r in the dryer wi ll receive the data sent by the tempera ture sensor and can tri gger an action to heat up or cool down the air if necessary.</a:t>
            </a:r>
            <a:endParaRPr lang="en-US" sz="2400"/>
          </a:p>
          <a:p>
            <a:pPr marL="0" indent="0">
              <a:buNone/>
            </a:pPr>
            <a:r>
              <a:rPr lang="en-US" sz="2400" b="1">
                <a:solidFill>
                  <a:srgbClr val="FF0000"/>
                </a:solidFill>
              </a:rPr>
              <a:t>• Refrigerato r and freezer.</a:t>
            </a:r>
            <a:r>
              <a:rPr lang="en-US" sz="2400"/>
              <a:t> A temperatu re sensor is used in a refrigerator or freezer· to measure th e ambient tempe rature inside. A microprocessor in the refrigerator  or freezer wi ll receive th e data sent by the temperature  sensor and can trigger an act ion to heat up or cool down the air if necessary.</a:t>
            </a:r>
            <a:r>
              <a:rPr lang="en-US"/>
              <a:t> </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609600"/>
            <a:ext cx="8596630" cy="555625"/>
          </a:xfrm>
        </p:spPr>
        <p:txBody>
          <a:bodyPr>
            <a:normAutofit fontScale="90000"/>
          </a:bodyPr>
          <a:p>
            <a:r>
              <a:rPr lang="en-US">
                <a:sym typeface="+mn-ea"/>
              </a:rPr>
              <a:t>Light sensors</a:t>
            </a:r>
            <a:br>
              <a:rPr lang="en-US"/>
            </a:br>
            <a:endParaRPr lang="en-US"/>
          </a:p>
        </p:txBody>
      </p:sp>
      <p:sp>
        <p:nvSpPr>
          <p:cNvPr id="3" name="Content Placeholder 2"/>
          <p:cNvSpPr>
            <a:spLocks noGrp="1"/>
          </p:cNvSpPr>
          <p:nvPr>
            <p:ph idx="1"/>
          </p:nvPr>
        </p:nvSpPr>
        <p:spPr>
          <a:xfrm>
            <a:off x="677545" y="1165225"/>
            <a:ext cx="11146155" cy="4374515"/>
          </a:xfrm>
        </p:spPr>
        <p:txBody>
          <a:bodyPr>
            <a:noAutofit/>
          </a:bodyPr>
          <a:p>
            <a:pPr marL="0" indent="0" algn="just">
              <a:buNone/>
            </a:pPr>
            <a:r>
              <a:rPr lang="en-US" sz="3200"/>
              <a:t>Light sensors monitor and m easure light. There are different types o f light senso r and they measure light in different ways . The mos t co mm on type of ligh t sensor is a photoresistor. Thi s ty pe of light sensor will change its resistance when light shine s on and is normally used to measure t he int ensity o f light. Th is is important indevices such as digital cameras or street lights. </a:t>
            </a:r>
            <a:endParaRPr lang="en-US" sz="3200"/>
          </a:p>
          <a:p>
            <a:pPr marL="0" indent="0" algn="just">
              <a:buNone/>
            </a:pPr>
            <a:r>
              <a:rPr lang="en-US" sz="3200"/>
              <a:t>The camera can adjust the level of flash needed depending on the level of light currently detected by the light sensor. A street light can detect when it gets dark enough to need to switch the light on.</a:t>
            </a:r>
            <a:endParaRPr lang="en-US" sz="3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8629</Words>
  <Application>WPS Presentation</Application>
  <PresentationFormat>Widescreen</PresentationFormat>
  <Paragraphs>91</Paragraphs>
  <Slides>18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Wingdings 3</vt:lpstr>
      <vt:lpstr>Arial</vt:lpstr>
      <vt:lpstr>Wingdings</vt:lpstr>
      <vt:lpstr>Trebuchet MS</vt:lpstr>
      <vt:lpstr>Microsoft YaHei</vt:lpstr>
      <vt:lpstr>Arial Unicode MS</vt:lpstr>
      <vt:lpstr>Calibri</vt:lpstr>
      <vt:lpstr>Facet</vt:lpstr>
      <vt:lpstr>Monitoring and Control</vt:lpstr>
      <vt:lpstr>Sensors</vt:lpstr>
      <vt:lpstr>Sensor cont….</vt:lpstr>
      <vt:lpstr>PowerPoint 演示文稿</vt:lpstr>
      <vt:lpstr>Sensor</vt:lpstr>
      <vt:lpstr>sensor</vt:lpstr>
      <vt:lpstr>Assignment 1: Give at least 3 examples of each application software discussed in class  Assignment 2: Using Command prompt : create a folder in MY DOCUMENT call it ICT001-folder copy any files from your desktop into the file (using CMD only). Write the steps of how you accomplish the task Assignment 3:  Draw a simple flowchart for the assignment two above   </vt:lpstr>
      <vt:lpstr>Motion Sensor</vt:lpstr>
      <vt:lpstr>Motion Sensor </vt:lpstr>
      <vt:lpstr>Pressure sensors</vt:lpstr>
      <vt:lpstr>Pressure Sensor </vt:lpstr>
      <vt:lpstr>Pressure Sensor </vt:lpstr>
      <vt:lpstr>Moisture and humidity sensors </vt:lpstr>
      <vt:lpstr>Application of Moisure and Humidity Sensor </vt:lpstr>
      <vt:lpstr>Temperature sensors </vt:lpstr>
      <vt:lpstr>Application of Temperature Sensor</vt:lpstr>
      <vt:lpstr>Light sensors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Monitoring and Control</dc:title>
  <dc:creator>user</dc:creator>
  <cp:lastModifiedBy>durodola kehinde</cp:lastModifiedBy>
  <cp:revision>14</cp:revision>
  <dcterms:created xsi:type="dcterms:W3CDTF">2024-11-05T19:20:00Z</dcterms:created>
  <dcterms:modified xsi:type="dcterms:W3CDTF">2024-11-10T21:33:14Z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0BFBEB0011EC4BF19C3646D4852F3B6C_12</vt:lpwstr>
  </property>
  <property fmtid="{D5CDD505-2E9C-101B-9397-08002B2CF9AE}" pid="3" name="KSOProductBuildVer">
    <vt:lpwstr>1033-12.2.0.18607</vt:lpwstr>
  </property>
</Properties>
</file>