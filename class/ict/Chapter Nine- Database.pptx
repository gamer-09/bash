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4" r:id="rId16"/>
    <p:sldId id="275" r:id="rId17"/>
    <p:sldId id="276" r:id="rId18"/>
    <p:sldId id="270" r:id="rId19"/>
    <p:sldId id="271" r:id="rId20"/>
    <p:sldId id="272" r:id="rId21"/>
    <p:sldId id="273"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87" d="100"/>
          <a:sy n="87" d="100"/>
        </p:scale>
        <p:origin x="96"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AC18B5E-5466-4C91-AF41-FD936088C19D}"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38778908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C18B5E-5466-4C91-AF41-FD936088C19D}"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2338860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AC18B5E-5466-4C91-AF41-FD936088C19D}"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2774674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AC18B5E-5466-4C91-AF41-FD936088C19D}" type="datetimeFigureOut">
              <a:rPr lang="en-US" smtClean="0"/>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506632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AC18B5E-5466-4C91-AF41-FD936088C19D}" type="datetimeFigureOut">
              <a:rPr lang="en-US" smtClean="0"/>
              <a:t>6/3/2025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133014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AC18B5E-5466-4C91-AF41-FD936088C19D}" type="datetimeFigureOut">
              <a:rPr lang="en-US" smtClean="0"/>
              <a:t>6/3/2025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17595829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AC18B5E-5466-4C91-AF41-FD936088C19D}" type="datetimeFigureOut">
              <a:rPr lang="en-US" smtClean="0"/>
              <a:t>6/3/2025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781536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AC18B5E-5466-4C91-AF41-FD936088C19D}" type="datetimeFigureOut">
              <a:rPr lang="en-US" smtClean="0"/>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870863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AC18B5E-5466-4C91-AF41-FD936088C19D}" type="datetimeFigureOut">
              <a:rPr lang="en-US" smtClean="0"/>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38005464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AC18B5E-5466-4C91-AF41-FD936088C19D}"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2109171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AC18B5E-5466-4C91-AF41-FD936088C19D}"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8AE68-EBBC-4EF8-BE5E-BCC0A788AE4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3373440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AC18B5E-5466-4C91-AF41-FD936088C19D}"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3531571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AC18B5E-5466-4C91-AF41-FD936088C19D}"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8AE68-EBBC-4EF8-BE5E-BCC0A788AE4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836616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AC18B5E-5466-4C91-AF41-FD936088C19D}"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33403599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C18B5E-5466-4C91-AF41-FD936088C19D}"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2375848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AC18B5E-5466-4C91-AF41-FD936088C19D}" type="datetimeFigureOut">
              <a:rPr lang="en-US" smtClean="0"/>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88AE68-EBBC-4EF8-BE5E-BCC0A788AE4B}" type="slidenum">
              <a:rPr lang="en-US" smtClean="0"/>
              <a:t>‹#›</a:t>
            </a:fld>
            <a:endParaRPr lang="en-US"/>
          </a:p>
        </p:txBody>
      </p:sp>
    </p:spTree>
    <p:extLst>
      <p:ext uri="{BB962C8B-B14F-4D97-AF65-F5344CB8AC3E}">
        <p14:creationId xmlns:p14="http://schemas.microsoft.com/office/powerpoint/2010/main" val="2470748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AC18B5E-5466-4C91-AF41-FD936088C19D}" type="datetimeFigureOut">
              <a:rPr lang="en-US" smtClean="0"/>
              <a:t>6/3/2025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6E88AE68-EBBC-4EF8-BE5E-BCC0A788AE4B}" type="slidenum">
              <a:rPr lang="en-US" smtClean="0"/>
              <a:t>‹#›</a:t>
            </a:fld>
            <a:endParaRPr lang="en-US"/>
          </a:p>
        </p:txBody>
      </p:sp>
    </p:spTree>
    <p:extLst>
      <p:ext uri="{BB962C8B-B14F-4D97-AF65-F5344CB8AC3E}">
        <p14:creationId xmlns:p14="http://schemas.microsoft.com/office/powerpoint/2010/main" val="22254519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6" y="2404534"/>
            <a:ext cx="9143761" cy="1646302"/>
          </a:xfrm>
        </p:spPr>
        <p:txBody>
          <a:bodyPr/>
          <a:lstStyle/>
          <a:p>
            <a:r>
              <a:rPr lang="en-US" dirty="0" smtClean="0"/>
              <a:t>Database and file Concepts</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4419126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Notes</a:t>
            </a:r>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3885452" y="-135674"/>
            <a:ext cx="4572000" cy="6793098"/>
          </a:xfrm>
          <a:prstGeom prst="rect">
            <a:avLst/>
          </a:prstGeom>
        </p:spPr>
      </p:pic>
    </p:spTree>
    <p:extLst>
      <p:ext uri="{BB962C8B-B14F-4D97-AF65-F5344CB8AC3E}">
        <p14:creationId xmlns:p14="http://schemas.microsoft.com/office/powerpoint/2010/main" val="21904771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Relationships within a database</a:t>
            </a:r>
          </a:p>
        </p:txBody>
      </p:sp>
      <p:sp>
        <p:nvSpPr>
          <p:cNvPr id="3" name="Content Placeholder 2"/>
          <p:cNvSpPr>
            <a:spLocks noGrp="1"/>
          </p:cNvSpPr>
          <p:nvPr>
            <p:ph idx="1"/>
          </p:nvPr>
        </p:nvSpPr>
        <p:spPr/>
        <p:txBody>
          <a:bodyPr/>
          <a:lstStyle/>
          <a:p>
            <a:endParaRPr lang="en-US"/>
          </a:p>
        </p:txBody>
      </p:sp>
      <p:sp>
        <p:nvSpPr>
          <p:cNvPr id="4" name="Rectangle 3"/>
          <p:cNvSpPr/>
          <p:nvPr/>
        </p:nvSpPr>
        <p:spPr>
          <a:xfrm>
            <a:off x="824248" y="2690335"/>
            <a:ext cx="8319752" cy="3046988"/>
          </a:xfrm>
          <a:prstGeom prst="rect">
            <a:avLst/>
          </a:prstGeom>
        </p:spPr>
        <p:txBody>
          <a:bodyPr wrap="square">
            <a:spAutoFit/>
          </a:bodyPr>
          <a:lstStyle/>
          <a:p>
            <a:pPr algn="just"/>
            <a:r>
              <a:rPr lang="en-US" sz="3200" dirty="0"/>
              <a:t>The </a:t>
            </a:r>
            <a:r>
              <a:rPr lang="en-US" sz="3200" dirty="0" smtClean="0"/>
              <a:t>three relationships </a:t>
            </a:r>
            <a:r>
              <a:rPr lang="en-US" sz="3200" dirty="0"/>
              <a:t>Relationships within a database can be used to connect entities together . A foreign key is an attribute (field) in one entity </a:t>
            </a:r>
            <a:r>
              <a:rPr lang="en-US" sz="3200" dirty="0" smtClean="0"/>
              <a:t>that </a:t>
            </a:r>
            <a:r>
              <a:rPr lang="en-US" sz="3200" dirty="0"/>
              <a:t>connects to a primary key in another </a:t>
            </a:r>
            <a:r>
              <a:rPr lang="en-US" sz="3200" dirty="0" smtClean="0"/>
              <a:t>entity</a:t>
            </a:r>
            <a:r>
              <a:rPr lang="en-US" sz="3200" dirty="0"/>
              <a:t>. This allows related data to be looked up and found.</a:t>
            </a:r>
          </a:p>
        </p:txBody>
      </p:sp>
    </p:spTree>
    <p:extLst>
      <p:ext uri="{BB962C8B-B14F-4D97-AF65-F5344CB8AC3E}">
        <p14:creationId xmlns:p14="http://schemas.microsoft.com/office/powerpoint/2010/main" val="8727614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a:t>
            </a:r>
            <a:endParaRPr lang="en-US" dirty="0"/>
          </a:p>
        </p:txBody>
      </p:sp>
      <p:pic>
        <p:nvPicPr>
          <p:cNvPr id="4" name="Content Placeholder 3"/>
          <p:cNvPicPr>
            <a:picLocks noGrp="1" noChangeAspect="1"/>
          </p:cNvPicPr>
          <p:nvPr>
            <p:ph idx="1"/>
          </p:nvPr>
        </p:nvPicPr>
        <p:blipFill>
          <a:blip r:embed="rId2"/>
          <a:stretch>
            <a:fillRect/>
          </a:stretch>
        </p:blipFill>
        <p:spPr>
          <a:xfrm>
            <a:off x="3485356" y="-69661"/>
            <a:ext cx="5542734" cy="6994824"/>
          </a:xfrm>
          <a:prstGeom prst="rect">
            <a:avLst/>
          </a:prstGeom>
        </p:spPr>
      </p:pic>
    </p:spTree>
    <p:extLst>
      <p:ext uri="{BB962C8B-B14F-4D97-AF65-F5344CB8AC3E}">
        <p14:creationId xmlns:p14="http://schemas.microsoft.com/office/powerpoint/2010/main" val="35606043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Relationship </a:t>
            </a:r>
            <a:endParaRPr lang="en-US" dirty="0"/>
          </a:p>
        </p:txBody>
      </p:sp>
      <p:sp>
        <p:nvSpPr>
          <p:cNvPr id="3" name="Content Placeholder 2"/>
          <p:cNvSpPr>
            <a:spLocks noGrp="1"/>
          </p:cNvSpPr>
          <p:nvPr>
            <p:ph idx="1"/>
          </p:nvPr>
        </p:nvSpPr>
        <p:spPr/>
        <p:txBody>
          <a:bodyPr>
            <a:noAutofit/>
          </a:bodyPr>
          <a:lstStyle/>
          <a:p>
            <a:pPr algn="just"/>
            <a:r>
              <a:rPr lang="en-US" sz="3200" dirty="0"/>
              <a:t>One-to-one A one-to-one relationship is when each record in one table only connects to one record in another table. Each foreign key value will link to one primary key value and each </a:t>
            </a:r>
            <a:r>
              <a:rPr lang="en-US" sz="3200" dirty="0" smtClean="0"/>
              <a:t>primary </a:t>
            </a:r>
            <a:r>
              <a:rPr lang="en-US" sz="3200" dirty="0"/>
              <a:t>key value will only be linked to by one foreign key value. The foreign key can exist on either side of the relation ship.</a:t>
            </a:r>
          </a:p>
        </p:txBody>
      </p:sp>
    </p:spTree>
    <p:extLst>
      <p:ext uri="{BB962C8B-B14F-4D97-AF65-F5344CB8AC3E}">
        <p14:creationId xmlns:p14="http://schemas.microsoft.com/office/powerpoint/2010/main" val="8475614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to One</a:t>
            </a:r>
            <a:endParaRPr lang="en-US" dirty="0"/>
          </a:p>
        </p:txBody>
      </p:sp>
      <p:pic>
        <p:nvPicPr>
          <p:cNvPr id="4" name="Content Placeholder 3"/>
          <p:cNvPicPr>
            <a:picLocks noGrp="1" noChangeAspect="1"/>
          </p:cNvPicPr>
          <p:nvPr>
            <p:ph idx="1"/>
          </p:nvPr>
        </p:nvPicPr>
        <p:blipFill>
          <a:blip r:embed="rId2"/>
          <a:stretch>
            <a:fillRect/>
          </a:stretch>
        </p:blipFill>
        <p:spPr>
          <a:xfrm>
            <a:off x="3509168" y="-17312"/>
            <a:ext cx="5351497" cy="6828371"/>
          </a:xfrm>
          <a:prstGeom prst="rect">
            <a:avLst/>
          </a:prstGeom>
        </p:spPr>
      </p:pic>
    </p:spTree>
    <p:extLst>
      <p:ext uri="{BB962C8B-B14F-4D97-AF65-F5344CB8AC3E}">
        <p14:creationId xmlns:p14="http://schemas.microsoft.com/office/powerpoint/2010/main" val="1637787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to many</a:t>
            </a:r>
            <a:endParaRPr lang="en-US" dirty="0"/>
          </a:p>
        </p:txBody>
      </p:sp>
      <p:sp>
        <p:nvSpPr>
          <p:cNvPr id="3" name="Content Placeholder 2"/>
          <p:cNvSpPr>
            <a:spLocks noGrp="1"/>
          </p:cNvSpPr>
          <p:nvPr>
            <p:ph idx="1"/>
          </p:nvPr>
        </p:nvSpPr>
        <p:spPr/>
        <p:txBody>
          <a:bodyPr>
            <a:normAutofit/>
          </a:bodyPr>
          <a:lstStyle/>
          <a:p>
            <a:pPr algn="just"/>
            <a:r>
              <a:rPr lang="en-US" sz="2800" dirty="0"/>
              <a:t>One-to-many A one- to-m any </a:t>
            </a:r>
            <a:r>
              <a:rPr lang="en-US" sz="2800" dirty="0" smtClean="0"/>
              <a:t>relationship </a:t>
            </a:r>
            <a:r>
              <a:rPr lang="en-US" sz="2800" dirty="0"/>
              <a:t>is w hen each record in one </a:t>
            </a:r>
            <a:r>
              <a:rPr lang="en-US" sz="2800" dirty="0" smtClean="0"/>
              <a:t>table </a:t>
            </a:r>
            <a:r>
              <a:rPr lang="en-US" sz="2800" dirty="0"/>
              <a:t>can </a:t>
            </a:r>
            <a:r>
              <a:rPr lang="en-US" sz="2800" dirty="0" smtClean="0"/>
              <a:t>connect </a:t>
            </a:r>
            <a:r>
              <a:rPr lang="en-US" sz="2800" dirty="0"/>
              <a:t>to man y (zero or more ) </a:t>
            </a:r>
            <a:r>
              <a:rPr lang="en-US" sz="2800" dirty="0" smtClean="0"/>
              <a:t>records </a:t>
            </a:r>
            <a:r>
              <a:rPr lang="en-US" sz="2800" dirty="0"/>
              <a:t>in </a:t>
            </a:r>
            <a:r>
              <a:rPr lang="en-US" sz="2800" dirty="0" smtClean="0"/>
              <a:t>another </a:t>
            </a:r>
            <a:r>
              <a:rPr lang="en-US" sz="2800" dirty="0"/>
              <a:t>table . A foreign key will exist within the </a:t>
            </a:r>
            <a:r>
              <a:rPr lang="en-US" sz="2800" dirty="0" smtClean="0"/>
              <a:t>table </a:t>
            </a:r>
            <a:r>
              <a:rPr lang="en-US" sz="2800" dirty="0"/>
              <a:t>on the many side of </a:t>
            </a:r>
            <a:r>
              <a:rPr lang="en-US" sz="2800" dirty="0" smtClean="0"/>
              <a:t>the relationship </a:t>
            </a:r>
            <a:r>
              <a:rPr lang="en-US" sz="2800" dirty="0"/>
              <a:t>and will </a:t>
            </a:r>
            <a:r>
              <a:rPr lang="en-US" sz="2800" dirty="0" smtClean="0"/>
              <a:t>connect </a:t>
            </a:r>
            <a:r>
              <a:rPr lang="en-US" sz="2800" dirty="0"/>
              <a:t>to a primary key in </a:t>
            </a:r>
            <a:r>
              <a:rPr lang="en-US" sz="2800" dirty="0" smtClean="0"/>
              <a:t>the </a:t>
            </a:r>
            <a:r>
              <a:rPr lang="en-US" sz="2800" dirty="0"/>
              <a:t>one side of the relations hi p. This is </a:t>
            </a:r>
            <a:r>
              <a:rPr lang="en-US" sz="2800" dirty="0" smtClean="0"/>
              <a:t>the </a:t>
            </a:r>
            <a:r>
              <a:rPr lang="en-US" sz="2800" dirty="0"/>
              <a:t>most common type of </a:t>
            </a:r>
            <a:r>
              <a:rPr lang="en-US" sz="2800" dirty="0" smtClean="0"/>
              <a:t>relationship within relational databases</a:t>
            </a:r>
            <a:r>
              <a:rPr lang="en-US" sz="2800" dirty="0"/>
              <a:t>.</a:t>
            </a:r>
          </a:p>
        </p:txBody>
      </p:sp>
    </p:spTree>
    <p:extLst>
      <p:ext uri="{BB962C8B-B14F-4D97-AF65-F5344CB8AC3E}">
        <p14:creationId xmlns:p14="http://schemas.microsoft.com/office/powerpoint/2010/main" val="693059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One to many</a:t>
            </a:r>
            <a:endParaRPr lang="en-US" dirty="0"/>
          </a:p>
        </p:txBody>
      </p:sp>
      <p:pic>
        <p:nvPicPr>
          <p:cNvPr id="4" name="Content Placeholder 3"/>
          <p:cNvPicPr>
            <a:picLocks noGrp="1" noChangeAspect="1"/>
          </p:cNvPicPr>
          <p:nvPr>
            <p:ph idx="1"/>
          </p:nvPr>
        </p:nvPicPr>
        <p:blipFill>
          <a:blip r:embed="rId2"/>
          <a:stretch>
            <a:fillRect/>
          </a:stretch>
        </p:blipFill>
        <p:spPr>
          <a:xfrm>
            <a:off x="140477" y="1428303"/>
            <a:ext cx="4835191" cy="2708319"/>
          </a:xfrm>
          <a:prstGeom prst="rect">
            <a:avLst/>
          </a:prstGeom>
        </p:spPr>
      </p:pic>
      <p:pic>
        <p:nvPicPr>
          <p:cNvPr id="5" name="Picture 4"/>
          <p:cNvPicPr>
            <a:picLocks noChangeAspect="1"/>
          </p:cNvPicPr>
          <p:nvPr/>
        </p:nvPicPr>
        <p:blipFill>
          <a:blip r:embed="rId3"/>
          <a:stretch>
            <a:fillRect/>
          </a:stretch>
        </p:blipFill>
        <p:spPr>
          <a:xfrm>
            <a:off x="4801986" y="128790"/>
            <a:ext cx="7000736" cy="6593982"/>
          </a:xfrm>
          <a:prstGeom prst="rect">
            <a:avLst/>
          </a:prstGeom>
        </p:spPr>
      </p:pic>
    </p:spTree>
    <p:extLst>
      <p:ext uri="{BB962C8B-B14F-4D97-AF65-F5344CB8AC3E}">
        <p14:creationId xmlns:p14="http://schemas.microsoft.com/office/powerpoint/2010/main" val="3632627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Many to Many</a:t>
            </a:r>
            <a:endParaRPr lang="en-US" dirty="0"/>
          </a:p>
        </p:txBody>
      </p:sp>
      <p:sp>
        <p:nvSpPr>
          <p:cNvPr id="3" name="Content Placeholder 2"/>
          <p:cNvSpPr>
            <a:spLocks noGrp="1"/>
          </p:cNvSpPr>
          <p:nvPr>
            <p:ph idx="1"/>
          </p:nvPr>
        </p:nvSpPr>
        <p:spPr/>
        <p:txBody>
          <a:bodyPr>
            <a:normAutofit/>
          </a:bodyPr>
          <a:lstStyle/>
          <a:p>
            <a:pPr algn="just"/>
            <a:r>
              <a:rPr lang="en-US" sz="2800" dirty="0"/>
              <a:t>Many-to-many </a:t>
            </a:r>
            <a:r>
              <a:rPr lang="en-US" sz="2800" dirty="0" smtClean="0"/>
              <a:t>Many-to-m </a:t>
            </a:r>
            <a:r>
              <a:rPr lang="en-US" sz="2800" dirty="0"/>
              <a:t>any relationships are only conceptual. They are not used in </a:t>
            </a:r>
            <a:r>
              <a:rPr lang="en-US" sz="2800" dirty="0" smtClean="0"/>
              <a:t>relational </a:t>
            </a:r>
            <a:r>
              <a:rPr lang="en-US" sz="2800" dirty="0"/>
              <a:t>databases because they are converted into two sets of one-to-many </a:t>
            </a:r>
            <a:r>
              <a:rPr lang="en-US" sz="2800" dirty="0" smtClean="0"/>
              <a:t>relationships</a:t>
            </a:r>
            <a:r>
              <a:rPr lang="en-US" sz="2800" dirty="0"/>
              <a:t>. In a many-to- many relationship, each record in one tab le can connect to many records in another table but each record in the other table can also connect to many records in the original table</a:t>
            </a:r>
          </a:p>
        </p:txBody>
      </p:sp>
    </p:spTree>
    <p:extLst>
      <p:ext uri="{BB962C8B-B14F-4D97-AF65-F5344CB8AC3E}">
        <p14:creationId xmlns:p14="http://schemas.microsoft.com/office/powerpoint/2010/main" val="29056462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Many to many</a:t>
            </a:r>
            <a:endParaRPr lang="en-US" dirty="0"/>
          </a:p>
        </p:txBody>
      </p:sp>
      <p:pic>
        <p:nvPicPr>
          <p:cNvPr id="4" name="Content Placeholder 3"/>
          <p:cNvPicPr>
            <a:picLocks noGrp="1" noChangeAspect="1"/>
          </p:cNvPicPr>
          <p:nvPr>
            <p:ph idx="1"/>
          </p:nvPr>
        </p:nvPicPr>
        <p:blipFill>
          <a:blip r:embed="rId2"/>
          <a:stretch>
            <a:fillRect/>
          </a:stretch>
        </p:blipFill>
        <p:spPr>
          <a:xfrm>
            <a:off x="3788278" y="0"/>
            <a:ext cx="5485724" cy="4984124"/>
          </a:xfrm>
          <a:prstGeom prst="rect">
            <a:avLst/>
          </a:prstGeom>
        </p:spPr>
      </p:pic>
      <p:pic>
        <p:nvPicPr>
          <p:cNvPr id="5" name="Picture 4"/>
          <p:cNvPicPr>
            <a:picLocks noChangeAspect="1"/>
          </p:cNvPicPr>
          <p:nvPr/>
        </p:nvPicPr>
        <p:blipFill>
          <a:blip r:embed="rId3"/>
          <a:stretch>
            <a:fillRect/>
          </a:stretch>
        </p:blipFill>
        <p:spPr>
          <a:xfrm>
            <a:off x="3720809" y="4810260"/>
            <a:ext cx="5553193" cy="2047740"/>
          </a:xfrm>
          <a:prstGeom prst="rect">
            <a:avLst/>
          </a:prstGeom>
        </p:spPr>
      </p:pic>
    </p:spTree>
    <p:extLst>
      <p:ext uri="{BB962C8B-B14F-4D97-AF65-F5344CB8AC3E}">
        <p14:creationId xmlns:p14="http://schemas.microsoft.com/office/powerpoint/2010/main" val="2116020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and use relationship </a:t>
            </a:r>
            <a:endParaRPr lang="en-US" dirty="0"/>
          </a:p>
        </p:txBody>
      </p:sp>
      <p:pic>
        <p:nvPicPr>
          <p:cNvPr id="4" name="Content Placeholder 3"/>
          <p:cNvPicPr>
            <a:picLocks noGrp="1" noChangeAspect="1"/>
          </p:cNvPicPr>
          <p:nvPr>
            <p:ph idx="1"/>
          </p:nvPr>
        </p:nvPicPr>
        <p:blipFill>
          <a:blip r:embed="rId2"/>
          <a:stretch>
            <a:fillRect/>
          </a:stretch>
        </p:blipFill>
        <p:spPr>
          <a:xfrm>
            <a:off x="6570651" y="426312"/>
            <a:ext cx="5406701" cy="6105413"/>
          </a:xfrm>
          <a:prstGeom prst="rect">
            <a:avLst/>
          </a:prstGeom>
        </p:spPr>
      </p:pic>
      <p:pic>
        <p:nvPicPr>
          <p:cNvPr id="5" name="Picture 4"/>
          <p:cNvPicPr>
            <a:picLocks noChangeAspect="1"/>
          </p:cNvPicPr>
          <p:nvPr/>
        </p:nvPicPr>
        <p:blipFill>
          <a:blip r:embed="rId3"/>
          <a:stretch>
            <a:fillRect/>
          </a:stretch>
        </p:blipFill>
        <p:spPr>
          <a:xfrm>
            <a:off x="432635" y="1579093"/>
            <a:ext cx="5752538" cy="4345189"/>
          </a:xfrm>
          <a:prstGeom prst="rect">
            <a:avLst/>
          </a:prstGeom>
        </p:spPr>
      </p:pic>
    </p:spTree>
    <p:extLst>
      <p:ext uri="{BB962C8B-B14F-4D97-AF65-F5344CB8AC3E}">
        <p14:creationId xmlns:p14="http://schemas.microsoft.com/office/powerpoint/2010/main" val="1543104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Relationship Diagram(ERD)</a:t>
            </a:r>
            <a:endParaRPr lang="en-US" dirty="0"/>
          </a:p>
        </p:txBody>
      </p:sp>
      <p:sp>
        <p:nvSpPr>
          <p:cNvPr id="6" name="Rectangle 5"/>
          <p:cNvSpPr/>
          <p:nvPr/>
        </p:nvSpPr>
        <p:spPr>
          <a:xfrm>
            <a:off x="677334" y="1698580"/>
            <a:ext cx="8834907" cy="3046988"/>
          </a:xfrm>
          <a:prstGeom prst="rect">
            <a:avLst/>
          </a:prstGeom>
        </p:spPr>
        <p:txBody>
          <a:bodyPr wrap="square">
            <a:spAutoFit/>
          </a:bodyPr>
          <a:lstStyle/>
          <a:p>
            <a:pPr algn="just"/>
            <a:r>
              <a:rPr lang="en-US" sz="3200" dirty="0"/>
              <a:t>Create and interpret an entity relationship diagram An entity relationship diagram (ERD) shows the </a:t>
            </a:r>
            <a:r>
              <a:rPr lang="en-US" sz="3200" dirty="0" smtClean="0"/>
              <a:t>relationships </a:t>
            </a:r>
            <a:r>
              <a:rPr lang="en-US" sz="3200"/>
              <a:t>(</a:t>
            </a:r>
            <a:r>
              <a:rPr lang="en-US" sz="3200" smtClean="0"/>
              <a:t>connections</a:t>
            </a:r>
            <a:r>
              <a:rPr lang="en-US" sz="3200" dirty="0"/>
              <a:t>) between each entity. Each entity is represented by a rectangle. Each relationship is represented by </a:t>
            </a:r>
            <a:r>
              <a:rPr lang="en-US" sz="3200" dirty="0" smtClean="0"/>
              <a:t>a </a:t>
            </a:r>
            <a:r>
              <a:rPr lang="en-US" sz="3200" dirty="0"/>
              <a:t>line.</a:t>
            </a:r>
          </a:p>
        </p:txBody>
      </p:sp>
    </p:spTree>
    <p:extLst>
      <p:ext uri="{BB962C8B-B14F-4D97-AF65-F5344CB8AC3E}">
        <p14:creationId xmlns:p14="http://schemas.microsoft.com/office/powerpoint/2010/main" val="642648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893823" y="1726129"/>
            <a:ext cx="3803191" cy="5131871"/>
          </a:xfrm>
          <a:prstGeom prst="rect">
            <a:avLst/>
          </a:prstGeom>
        </p:spPr>
      </p:pic>
      <p:pic>
        <p:nvPicPr>
          <p:cNvPr id="5" name="Picture 4"/>
          <p:cNvPicPr>
            <a:picLocks noChangeAspect="1"/>
          </p:cNvPicPr>
          <p:nvPr/>
        </p:nvPicPr>
        <p:blipFill>
          <a:blip r:embed="rId3"/>
          <a:stretch>
            <a:fillRect/>
          </a:stretch>
        </p:blipFill>
        <p:spPr>
          <a:xfrm>
            <a:off x="2893822" y="266723"/>
            <a:ext cx="3803191" cy="1459406"/>
          </a:xfrm>
          <a:prstGeom prst="rect">
            <a:avLst/>
          </a:prstGeom>
        </p:spPr>
      </p:pic>
    </p:spTree>
    <p:extLst>
      <p:ext uri="{BB962C8B-B14F-4D97-AF65-F5344CB8AC3E}">
        <p14:creationId xmlns:p14="http://schemas.microsoft.com/office/powerpoint/2010/main" val="11774124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176530" y="360620"/>
            <a:ext cx="6400799" cy="6555301"/>
          </a:xfrm>
          <a:prstGeom prst="rect">
            <a:avLst/>
          </a:prstGeom>
        </p:spPr>
      </p:pic>
    </p:spTree>
    <p:extLst>
      <p:ext uri="{BB962C8B-B14F-4D97-AF65-F5344CB8AC3E}">
        <p14:creationId xmlns:p14="http://schemas.microsoft.com/office/powerpoint/2010/main" val="6417193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Many to many</a:t>
            </a:r>
            <a:endParaRPr lang="en-US" dirty="0"/>
          </a:p>
        </p:txBody>
      </p:sp>
      <p:sp>
        <p:nvSpPr>
          <p:cNvPr id="3" name="Content Placeholder 2"/>
          <p:cNvSpPr>
            <a:spLocks noGrp="1"/>
          </p:cNvSpPr>
          <p:nvPr>
            <p:ph idx="1"/>
          </p:nvPr>
        </p:nvSpPr>
        <p:spPr/>
        <p:txBody>
          <a:bodyPr>
            <a:normAutofit lnSpcReduction="10000"/>
          </a:bodyPr>
          <a:lstStyle/>
          <a:p>
            <a:pPr algn="just"/>
            <a:r>
              <a:rPr lang="en-US" sz="2400" dirty="0"/>
              <a:t>An ERO will </a:t>
            </a:r>
            <a:r>
              <a:rPr lang="en-US" sz="2400" dirty="0" smtClean="0"/>
              <a:t>usually </a:t>
            </a:r>
            <a:r>
              <a:rPr lang="en-US" sz="2400" dirty="0"/>
              <a:t>have </a:t>
            </a:r>
            <a:r>
              <a:rPr lang="en-US" sz="2400" dirty="0" smtClean="0"/>
              <a:t>more </a:t>
            </a:r>
            <a:r>
              <a:rPr lang="en-US" sz="2400" dirty="0"/>
              <a:t>than just two tab les. The ERO in Figure 9.14 shows the relationships that exist within a bank. Each branch of the bank can have many </a:t>
            </a:r>
            <a:r>
              <a:rPr lang="en-US" sz="2400" dirty="0" smtClean="0"/>
              <a:t>customers</a:t>
            </a:r>
            <a:r>
              <a:rPr lang="en-US" sz="2400" dirty="0"/>
              <a:t>. Each customer can have many accounts. Each </a:t>
            </a:r>
            <a:r>
              <a:rPr lang="en-US" sz="2400" dirty="0" smtClean="0"/>
              <a:t>account </a:t>
            </a:r>
            <a:r>
              <a:rPr lang="en-US" sz="2400" dirty="0"/>
              <a:t>can have many </a:t>
            </a:r>
            <a:r>
              <a:rPr lang="en-US" sz="2400" dirty="0" smtClean="0"/>
              <a:t>transactions taking </a:t>
            </a:r>
            <a:r>
              <a:rPr lang="en-US" sz="2400" dirty="0"/>
              <a:t>place . Each </a:t>
            </a:r>
            <a:r>
              <a:rPr lang="en-US" sz="2400" dirty="0" smtClean="0"/>
              <a:t>account </a:t>
            </a:r>
            <a:r>
              <a:rPr lang="en-US" sz="2400" dirty="0"/>
              <a:t>can be of only one </a:t>
            </a:r>
            <a:r>
              <a:rPr lang="en-US" sz="2400" dirty="0" smtClean="0"/>
              <a:t>type </a:t>
            </a:r>
            <a:r>
              <a:rPr lang="en-US" sz="2400" dirty="0" err="1"/>
              <a:t>bul</a:t>
            </a:r>
            <a:r>
              <a:rPr lang="en-US" sz="2400" dirty="0"/>
              <a:t> each type of account can exist as </a:t>
            </a:r>
            <a:r>
              <a:rPr lang="en-US" sz="2400" dirty="0" smtClean="0"/>
              <a:t>many accounts.</a:t>
            </a:r>
            <a:r>
              <a:rPr lang="en-US" sz="2400" dirty="0"/>
              <a:t> When a many-to-many relationship exists, it is necessary to break it </a:t>
            </a:r>
            <a:r>
              <a:rPr lang="en-US" sz="2400" dirty="0" err="1"/>
              <a:t>dow</a:t>
            </a:r>
            <a:r>
              <a:rPr lang="en-US" sz="2400" dirty="0"/>
              <a:t> n into two one-to-many </a:t>
            </a:r>
            <a:r>
              <a:rPr lang="en-US" sz="2400" dirty="0" err="1"/>
              <a:t>relatio</a:t>
            </a:r>
            <a:r>
              <a:rPr lang="en-US" sz="2400" dirty="0"/>
              <a:t> </a:t>
            </a:r>
            <a:r>
              <a:rPr lang="en-US" sz="2400" dirty="0" err="1"/>
              <a:t>nships</a:t>
            </a:r>
            <a:r>
              <a:rPr lang="en-US" sz="2400" dirty="0"/>
              <a:t>. The general rule for this is to put a LINK table between the two entities as shown in Figure 9.16. </a:t>
            </a:r>
          </a:p>
          <a:p>
            <a:pPr algn="just"/>
            <a:endParaRPr lang="en-US" sz="2400" dirty="0"/>
          </a:p>
        </p:txBody>
      </p:sp>
    </p:spTree>
    <p:extLst>
      <p:ext uri="{BB962C8B-B14F-4D97-AF65-F5344CB8AC3E}">
        <p14:creationId xmlns:p14="http://schemas.microsoft.com/office/powerpoint/2010/main" val="1928394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Many to many</a:t>
            </a:r>
            <a:endParaRPr lang="en-US" dirty="0"/>
          </a:p>
        </p:txBody>
      </p:sp>
      <p:pic>
        <p:nvPicPr>
          <p:cNvPr id="4" name="Content Placeholder 3"/>
          <p:cNvPicPr>
            <a:picLocks noGrp="1" noChangeAspect="1"/>
          </p:cNvPicPr>
          <p:nvPr>
            <p:ph idx="1"/>
          </p:nvPr>
        </p:nvPicPr>
        <p:blipFill>
          <a:blip r:embed="rId2"/>
          <a:stretch>
            <a:fillRect/>
          </a:stretch>
        </p:blipFill>
        <p:spPr>
          <a:xfrm>
            <a:off x="1910536" y="2057165"/>
            <a:ext cx="5430422" cy="2329826"/>
          </a:xfrm>
          <a:prstGeom prst="rect">
            <a:avLst/>
          </a:prstGeom>
        </p:spPr>
      </p:pic>
    </p:spTree>
    <p:extLst>
      <p:ext uri="{BB962C8B-B14F-4D97-AF65-F5344CB8AC3E}">
        <p14:creationId xmlns:p14="http://schemas.microsoft.com/office/powerpoint/2010/main" val="1635418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Many to Many</a:t>
            </a:r>
            <a:endParaRPr lang="en-US" dirty="0"/>
          </a:p>
        </p:txBody>
      </p:sp>
      <p:pic>
        <p:nvPicPr>
          <p:cNvPr id="4" name="Content Placeholder 3"/>
          <p:cNvPicPr>
            <a:picLocks noGrp="1" noChangeAspect="1"/>
          </p:cNvPicPr>
          <p:nvPr>
            <p:ph idx="1"/>
          </p:nvPr>
        </p:nvPicPr>
        <p:blipFill>
          <a:blip r:embed="rId2"/>
          <a:stretch>
            <a:fillRect/>
          </a:stretch>
        </p:blipFill>
        <p:spPr>
          <a:xfrm>
            <a:off x="4445437" y="609600"/>
            <a:ext cx="5123565" cy="6820543"/>
          </a:xfrm>
          <a:prstGeom prst="rect">
            <a:avLst/>
          </a:prstGeom>
        </p:spPr>
      </p:pic>
    </p:spTree>
    <p:extLst>
      <p:ext uri="{BB962C8B-B14F-4D97-AF65-F5344CB8AC3E}">
        <p14:creationId xmlns:p14="http://schemas.microsoft.com/office/powerpoint/2010/main" val="4075429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Many to many</a:t>
            </a:r>
            <a:endParaRPr lang="en-US" dirty="0"/>
          </a:p>
        </p:txBody>
      </p:sp>
      <p:pic>
        <p:nvPicPr>
          <p:cNvPr id="6" name="Content Placeholder 5"/>
          <p:cNvPicPr>
            <a:picLocks noGrp="1" noChangeAspect="1"/>
          </p:cNvPicPr>
          <p:nvPr>
            <p:ph idx="1"/>
          </p:nvPr>
        </p:nvPicPr>
        <p:blipFill>
          <a:blip r:embed="rId2"/>
          <a:stretch>
            <a:fillRect/>
          </a:stretch>
        </p:blipFill>
        <p:spPr>
          <a:xfrm>
            <a:off x="3837903" y="1115632"/>
            <a:ext cx="6297769" cy="5387473"/>
          </a:xfrm>
          <a:prstGeom prst="rect">
            <a:avLst/>
          </a:prstGeom>
        </p:spPr>
      </p:pic>
    </p:spTree>
    <p:extLst>
      <p:ext uri="{BB962C8B-B14F-4D97-AF65-F5344CB8AC3E}">
        <p14:creationId xmlns:p14="http://schemas.microsoft.com/office/powerpoint/2010/main" val="3115068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970467" y="1020331"/>
            <a:ext cx="7508383" cy="5301446"/>
          </a:xfrm>
          <a:prstGeom prst="rect">
            <a:avLst/>
          </a:prstGeom>
        </p:spPr>
      </p:pic>
    </p:spTree>
    <p:extLst>
      <p:ext uri="{BB962C8B-B14F-4D97-AF65-F5344CB8AC3E}">
        <p14:creationId xmlns:p14="http://schemas.microsoft.com/office/powerpoint/2010/main" val="4128015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060621" y="1732552"/>
            <a:ext cx="6980348" cy="4748536"/>
          </a:xfrm>
          <a:prstGeom prst="rect">
            <a:avLst/>
          </a:prstGeom>
        </p:spPr>
      </p:pic>
    </p:spTree>
    <p:extLst>
      <p:ext uri="{BB962C8B-B14F-4D97-AF65-F5344CB8AC3E}">
        <p14:creationId xmlns:p14="http://schemas.microsoft.com/office/powerpoint/2010/main" val="3390871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
            </a:r>
            <a:endParaRPr lang="en-US" dirty="0"/>
          </a:p>
        </p:txBody>
      </p:sp>
      <p:sp>
        <p:nvSpPr>
          <p:cNvPr id="4" name="Content Placeholder 3"/>
          <p:cNvSpPr>
            <a:spLocks noGrp="1"/>
          </p:cNvSpPr>
          <p:nvPr>
            <p:ph idx="1"/>
          </p:nvPr>
        </p:nvSpPr>
        <p:spPr/>
        <p:txBody>
          <a:bodyPr>
            <a:normAutofit/>
          </a:bodyPr>
          <a:lstStyle/>
          <a:p>
            <a:pPr algn="just"/>
            <a:r>
              <a:rPr lang="en-US" sz="3200" dirty="0"/>
              <a:t>In Microsoft Access, a form is a user interface object that allows users to interact with and manipulate data stored in tables or queries, providing a more user-friendly way to view, enter, and edit information compared to directly working with the tables themselves. </a:t>
            </a:r>
          </a:p>
        </p:txBody>
      </p:sp>
    </p:spTree>
    <p:extLst>
      <p:ext uri="{BB962C8B-B14F-4D97-AF65-F5344CB8AC3E}">
        <p14:creationId xmlns:p14="http://schemas.microsoft.com/office/powerpoint/2010/main" val="24494340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
            </a:r>
            <a:endParaRPr lang="en-US" dirty="0"/>
          </a:p>
        </p:txBody>
      </p:sp>
      <p:sp>
        <p:nvSpPr>
          <p:cNvPr id="3" name="Content Placeholder 2"/>
          <p:cNvSpPr>
            <a:spLocks noGrp="1"/>
          </p:cNvSpPr>
          <p:nvPr>
            <p:ph idx="1"/>
          </p:nvPr>
        </p:nvSpPr>
        <p:spPr>
          <a:xfrm>
            <a:off x="677333" y="1146221"/>
            <a:ext cx="9213641" cy="4895142"/>
          </a:xfrm>
        </p:spPr>
        <p:txBody>
          <a:bodyPr>
            <a:normAutofit/>
          </a:bodyPr>
          <a:lstStyle/>
          <a:p>
            <a:r>
              <a:rPr lang="en-US" b="1" dirty="0"/>
              <a:t>Purpose:</a:t>
            </a:r>
            <a:endParaRPr lang="en-US" dirty="0"/>
          </a:p>
          <a:p>
            <a:pPr marL="0" indent="0" fontAlgn="ctr">
              <a:buNone/>
            </a:pPr>
            <a:r>
              <a:rPr lang="en-US" dirty="0"/>
              <a:t>Forms serve as a visual interface for interacting with your database, making it easier for users to add, modify, and view data. </a:t>
            </a:r>
          </a:p>
          <a:p>
            <a:r>
              <a:rPr lang="en-US" b="1" u="sng" dirty="0"/>
              <a:t>Data Interaction:</a:t>
            </a:r>
            <a:endParaRPr lang="en-US" u="sng" dirty="0"/>
          </a:p>
          <a:p>
            <a:pPr marL="0" indent="0" fontAlgn="ctr">
              <a:buNone/>
            </a:pPr>
            <a:r>
              <a:rPr lang="en-US" dirty="0"/>
              <a:t>Forms can be "bound" to a table or query, meaning they display and allow interaction with the data stored in that source. </a:t>
            </a:r>
          </a:p>
          <a:p>
            <a:r>
              <a:rPr lang="en-US" b="1" u="sng" dirty="0"/>
              <a:t>User Experience</a:t>
            </a:r>
            <a:r>
              <a:rPr lang="en-US" b="1" dirty="0"/>
              <a:t>:</a:t>
            </a:r>
            <a:endParaRPr lang="en-US" dirty="0"/>
          </a:p>
          <a:p>
            <a:pPr marL="0" indent="0" fontAlgn="ctr">
              <a:buNone/>
            </a:pPr>
            <a:r>
              <a:rPr lang="en-US" dirty="0"/>
              <a:t>Forms can be customized to present data in a specific way, such as displaying only certain fields or organizing data in a particular layout. </a:t>
            </a:r>
          </a:p>
          <a:p>
            <a:r>
              <a:rPr lang="en-US" b="1" u="sng" dirty="0"/>
              <a:t>Controls</a:t>
            </a:r>
            <a:r>
              <a:rPr lang="en-US" b="1" dirty="0"/>
              <a:t>:</a:t>
            </a:r>
            <a:endParaRPr lang="en-US" dirty="0"/>
          </a:p>
          <a:p>
            <a:pPr marL="0" indent="0">
              <a:buNone/>
            </a:pPr>
            <a:r>
              <a:rPr lang="en-US" dirty="0"/>
              <a:t>Forms can contain various controls (like text boxes, buttons, list boxes, etc.) to facilitate data entry and navigation.</a:t>
            </a:r>
          </a:p>
          <a:p>
            <a:endParaRPr lang="en-US" dirty="0"/>
          </a:p>
        </p:txBody>
      </p:sp>
    </p:spTree>
    <p:extLst>
      <p:ext uri="{BB962C8B-B14F-4D97-AF65-F5344CB8AC3E}">
        <p14:creationId xmlns:p14="http://schemas.microsoft.com/office/powerpoint/2010/main" val="15248464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6418" y="801808"/>
            <a:ext cx="8596668" cy="3880773"/>
          </a:xfrm>
        </p:spPr>
        <p:txBody>
          <a:bodyPr>
            <a:noAutofit/>
          </a:bodyPr>
          <a:lstStyle/>
          <a:p>
            <a:pPr marL="0" indent="0">
              <a:buNone/>
            </a:pPr>
            <a:r>
              <a:rPr lang="en-US" sz="1600" b="1" dirty="0"/>
              <a:t>Data Entry:</a:t>
            </a:r>
            <a:endParaRPr lang="en-US" sz="1600" dirty="0"/>
          </a:p>
          <a:p>
            <a:pPr marL="0" indent="0" fontAlgn="ctr">
              <a:buNone/>
            </a:pPr>
            <a:r>
              <a:rPr lang="en-US" sz="1600" dirty="0"/>
              <a:t>Forms can streamline data entry by providing a structured and intuitive interface, reducing errors and improving efficiency. </a:t>
            </a:r>
          </a:p>
          <a:p>
            <a:pPr marL="0" indent="0">
              <a:buNone/>
            </a:pPr>
            <a:r>
              <a:rPr lang="en-US" sz="1600" b="1" dirty="0"/>
              <a:t>Data Display:</a:t>
            </a:r>
            <a:endParaRPr lang="en-US" sz="1600" dirty="0"/>
          </a:p>
          <a:p>
            <a:pPr marL="0" indent="0" fontAlgn="ctr">
              <a:buNone/>
            </a:pPr>
            <a:r>
              <a:rPr lang="en-US" sz="1600" dirty="0"/>
              <a:t>Forms allow users to view data in a more organized and readable format than a raw table. </a:t>
            </a:r>
          </a:p>
          <a:p>
            <a:pPr marL="0" indent="0">
              <a:buNone/>
            </a:pPr>
            <a:r>
              <a:rPr lang="en-US" sz="1600" b="1" dirty="0"/>
              <a:t>Automation:</a:t>
            </a:r>
            <a:endParaRPr lang="en-US" sz="1600" dirty="0"/>
          </a:p>
          <a:p>
            <a:pPr marL="0" indent="0" fontAlgn="ctr">
              <a:buNone/>
            </a:pPr>
            <a:r>
              <a:rPr lang="en-US" sz="1600" dirty="0"/>
              <a:t>Forms can also include features like command buttons and other functionalities to automate frequently performed actions. </a:t>
            </a:r>
          </a:p>
          <a:p>
            <a:pPr marL="0" indent="0">
              <a:buNone/>
            </a:pPr>
            <a:r>
              <a:rPr lang="en-US" sz="1600" b="1" dirty="0"/>
              <a:t>Access Control:</a:t>
            </a:r>
            <a:endParaRPr lang="en-US" sz="1600" dirty="0"/>
          </a:p>
          <a:p>
            <a:pPr marL="0" indent="0" fontAlgn="ctr">
              <a:buNone/>
            </a:pPr>
            <a:r>
              <a:rPr lang="en-US" sz="1600" dirty="0"/>
              <a:t>Forms can be designed to restrict access to certain fields or operations, enhancing data security and integrity. </a:t>
            </a:r>
          </a:p>
          <a:p>
            <a:pPr marL="0" indent="0">
              <a:buNone/>
            </a:pPr>
            <a:r>
              <a:rPr lang="en-US" sz="1600" b="1" dirty="0"/>
              <a:t>Examples:</a:t>
            </a:r>
            <a:endParaRPr lang="en-US" sz="1600" dirty="0"/>
          </a:p>
          <a:p>
            <a:pPr marL="0" indent="0">
              <a:buNone/>
            </a:pPr>
            <a:r>
              <a:rPr lang="en-US" sz="1600" dirty="0"/>
              <a:t>Imagine a customer database where you want to create a form to easily add new customer information, or a form to view and edit order details, or a form to display product information. </a:t>
            </a:r>
          </a:p>
          <a:p>
            <a:pPr marL="0" indent="0">
              <a:buNone/>
            </a:pPr>
            <a:endParaRPr lang="en-US" sz="1600" dirty="0"/>
          </a:p>
        </p:txBody>
      </p:sp>
    </p:spTree>
    <p:extLst>
      <p:ext uri="{BB962C8B-B14F-4D97-AF65-F5344CB8AC3E}">
        <p14:creationId xmlns:p14="http://schemas.microsoft.com/office/powerpoint/2010/main" val="254754678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1364</TotalTime>
  <Words>502</Words>
  <Application>Microsoft Office PowerPoint</Application>
  <PresentationFormat>Widescreen</PresentationFormat>
  <Paragraphs>43</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Trebuchet MS</vt:lpstr>
      <vt:lpstr>Wingdings 3</vt:lpstr>
      <vt:lpstr>Facet</vt:lpstr>
      <vt:lpstr>Database and file Concepts</vt:lpstr>
      <vt:lpstr>KEY Notes</vt:lpstr>
      <vt:lpstr>Relationships within a database</vt:lpstr>
      <vt:lpstr>Relationship</vt:lpstr>
      <vt:lpstr>Relationship </vt:lpstr>
      <vt:lpstr>One to One</vt:lpstr>
      <vt:lpstr>One to many</vt:lpstr>
      <vt:lpstr>One to many</vt:lpstr>
      <vt:lpstr>Many to Many</vt:lpstr>
      <vt:lpstr>Many to many</vt:lpstr>
      <vt:lpstr>Create and use relationship </vt:lpstr>
      <vt:lpstr>Entity Relationship Diagram(ERD)</vt:lpstr>
      <vt:lpstr>PowerPoint Presentation</vt:lpstr>
      <vt:lpstr>PowerPoint Presentation</vt:lpstr>
      <vt:lpstr>Many to many</vt:lpstr>
      <vt:lpstr>Many to many</vt:lpstr>
      <vt:lpstr>Many to Many</vt:lpstr>
      <vt:lpstr>Many to many</vt:lpstr>
      <vt:lpstr>PowerPoint Presentation</vt:lpstr>
      <vt:lpstr>PowerPoint Presentation</vt:lpstr>
      <vt:lpstr>form</vt:lpstr>
      <vt:lpstr>form</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and file Concepts</dc:title>
  <dc:creator>user</dc:creator>
  <cp:lastModifiedBy>user</cp:lastModifiedBy>
  <cp:revision>27</cp:revision>
  <dcterms:created xsi:type="dcterms:W3CDTF">2025-02-12T11:36:11Z</dcterms:created>
  <dcterms:modified xsi:type="dcterms:W3CDTF">2025-06-03T17:44:24Z</dcterms:modified>
</cp:coreProperties>
</file>